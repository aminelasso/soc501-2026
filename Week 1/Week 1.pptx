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f=1&amp;nofb=1&amp;ipt=065219f280aa06ae161e9d1090a4068ab454625c4ebcf782c935d99237aa86af" ContentType="image/jpeg"/>
  <Default Extension="jpg&amp;f=1&amp;nofb=1&amp;ipt=078967da0bd355809e6b6926b6eda9b90af3865772727abe59a00005327d2257" ContentType="image/jpeg"/>
  <Default Extension="jpg&amp;f=1&amp;nofb=1&amp;ipt=0faff8d171084cd8c8842e09e63dce9ebb796d94b16dd37def9f6ae752028266" ContentType="image/jpeg"/>
  <Default Extension="jpg&amp;f=1&amp;nofb=1&amp;ipt=339743e2d9834728b97d5ce16265337463bd80d4f38077fe6330a63c894680ba" ContentType="image/jpeg"/>
  <Default Extension="jpg&amp;f=1&amp;nofb=1&amp;ipt=43d3629c4e3641d981569313bf6d711041b080de0d3fa5e7f9c37f993461edca" ContentType="image/jpeg"/>
  <Default Extension="jpg&amp;f=1&amp;nofb=1&amp;ipt=6b4d7733c21768fd6fc4863241ec65df792aa15690de09aa132c04584fddb1a1" ContentType="image/jpeg"/>
  <Default Extension="jpg&amp;f=1&amp;nofb=1&amp;ipt=82dde942d500bbd3acf7678de2002bd2d0b6c412297f1ee297cf8662b7ad0754" ContentType="image/jpeg"/>
  <Default Extension="jpg&amp;f=1&amp;nofb=1&amp;ipt=c3074e9a8c37b365e739cdd4b86efd7dcfa87c42986895aa5b65b7118994ae2c" ContentType="image/jpeg"/>
  <Default Extension="jpg&amp;f=1&amp;nofb=1&amp;ipt=c9745f407c10f7747cd99adc95e90ea6884cf8a287678280556b2389d27366c8" ContentType="image/jpeg"/>
  <Default Extension="org&amp;utm_campaign=index&amp;utm_content=original" ContentType="image/jpeg"/>
  <Default Extension="png" ContentType="image/png"/>
  <Default Extension="png&amp;f=1&amp;nofb=1&amp;ipt=700c825c9cbf4747583666e6c8b07ea5e179f687b2cb959db5dd70bfadbb3339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48.png" ContentType="image/jpeg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9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81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9" r:id="rId54"/>
    <p:sldId id="320" r:id="rId55"/>
    <p:sldId id="315" r:id="rId56"/>
    <p:sldId id="327" r:id="rId57"/>
    <p:sldId id="328" r:id="rId58"/>
    <p:sldId id="316" r:id="rId59"/>
    <p:sldId id="317" r:id="rId60"/>
    <p:sldId id="318" r:id="rId61"/>
    <p:sldId id="330" r:id="rId62"/>
    <p:sldId id="329" r:id="rId63"/>
    <p:sldId id="324" r:id="rId64"/>
    <p:sldId id="331" r:id="rId65"/>
    <p:sldId id="332" r:id="rId66"/>
    <p:sldId id="333" r:id="rId67"/>
    <p:sldId id="335" r:id="rId68"/>
    <p:sldId id="334" r:id="rId69"/>
    <p:sldId id="336" r:id="rId70"/>
    <p:sldId id="337" r:id="rId71"/>
    <p:sldId id="338" r:id="rId72"/>
    <p:sldId id="360" r:id="rId73"/>
    <p:sldId id="339" r:id="rId74"/>
    <p:sldId id="321" r:id="rId75"/>
    <p:sldId id="341" r:id="rId76"/>
    <p:sldId id="340" r:id="rId77"/>
    <p:sldId id="322" r:id="rId78"/>
    <p:sldId id="342" r:id="rId79"/>
    <p:sldId id="343" r:id="rId80"/>
    <p:sldId id="346" r:id="rId81"/>
    <p:sldId id="344" r:id="rId82"/>
    <p:sldId id="345" r:id="rId83"/>
    <p:sldId id="325" r:id="rId84"/>
    <p:sldId id="347" r:id="rId85"/>
    <p:sldId id="348" r:id="rId86"/>
    <p:sldId id="349" r:id="rId87"/>
    <p:sldId id="350" r:id="rId88"/>
    <p:sldId id="351" r:id="rId89"/>
    <p:sldId id="352" r:id="rId90"/>
    <p:sldId id="357" r:id="rId91"/>
    <p:sldId id="359" r:id="rId92"/>
    <p:sldId id="358" r:id="rId93"/>
    <p:sldId id="353" r:id="rId94"/>
    <p:sldId id="354" r:id="rId95"/>
    <p:sldId id="355" r:id="rId96"/>
    <p:sldId id="356" r:id="rId9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9C50B-FB1D-4435-90BD-CA66E8F63A0A}" v="355" dt="2026-09-02T09:26:4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e SIJILMASSI" userId="e4021463-8212-4a47-8e05-1eade5e16ef5" providerId="ADAL" clId="{DE3AB4F5-6A8F-4C37-95B6-8B0AC4AF65F9}"/>
    <pc:docChg chg="undo custSel addSld delSld modSld">
      <pc:chgData name="Amine SIJILMASSI" userId="e4021463-8212-4a47-8e05-1eade5e16ef5" providerId="ADAL" clId="{DE3AB4F5-6A8F-4C37-95B6-8B0AC4AF65F9}" dt="2026-09-03T08:30:55.947" v="1610" actId="1076"/>
      <pc:docMkLst>
        <pc:docMk/>
      </pc:docMkLst>
      <pc:sldChg chg="modAnim">
        <pc:chgData name="Amine SIJILMASSI" userId="e4021463-8212-4a47-8e05-1eade5e16ef5" providerId="ADAL" clId="{DE3AB4F5-6A8F-4C37-95B6-8B0AC4AF65F9}" dt="2026-09-02T08:05:00.495" v="1586"/>
        <pc:sldMkLst>
          <pc:docMk/>
          <pc:sldMk cId="0" sldId="258"/>
        </pc:sldMkLst>
      </pc:sldChg>
      <pc:sldChg chg="modSp mod">
        <pc:chgData name="Amine SIJILMASSI" userId="e4021463-8212-4a47-8e05-1eade5e16ef5" providerId="ADAL" clId="{DE3AB4F5-6A8F-4C37-95B6-8B0AC4AF65F9}" dt="2026-09-02T09:21:36.072" v="1589" actId="1036"/>
        <pc:sldMkLst>
          <pc:docMk/>
          <pc:sldMk cId="0" sldId="260"/>
        </pc:sldMkLst>
        <pc:spChg chg="mod">
          <ac:chgData name="Amine SIJILMASSI" userId="e4021463-8212-4a47-8e05-1eade5e16ef5" providerId="ADAL" clId="{DE3AB4F5-6A8F-4C37-95B6-8B0AC4AF65F9}" dt="2026-09-02T09:21:36.072" v="1589" actId="1036"/>
          <ac:spMkLst>
            <pc:docMk/>
            <pc:sldMk cId="0" sldId="260"/>
            <ac:spMk id="62" creationId="{00000000-0000-0000-0000-000000000000}"/>
          </ac:spMkLst>
        </pc:spChg>
      </pc:sldChg>
      <pc:sldChg chg="addSp delSp mod">
        <pc:chgData name="Amine SIJILMASSI" userId="e4021463-8212-4a47-8e05-1eade5e16ef5" providerId="ADAL" clId="{DE3AB4F5-6A8F-4C37-95B6-8B0AC4AF65F9}" dt="2026-09-02T06:38:11.224" v="1" actId="22"/>
        <pc:sldMkLst>
          <pc:docMk/>
          <pc:sldMk cId="0" sldId="263"/>
        </pc:sldMkLst>
        <pc:picChg chg="add del">
          <ac:chgData name="Amine SIJILMASSI" userId="e4021463-8212-4a47-8e05-1eade5e16ef5" providerId="ADAL" clId="{DE3AB4F5-6A8F-4C37-95B6-8B0AC4AF65F9}" dt="2026-09-02T06:38:11.224" v="1" actId="22"/>
          <ac:picMkLst>
            <pc:docMk/>
            <pc:sldMk cId="0" sldId="263"/>
            <ac:picMk id="3" creationId="{D968ED5B-26A5-ADA5-22F9-A35C6E07354E}"/>
          </ac:picMkLst>
        </pc:picChg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69"/>
        </pc:sldMkLst>
      </pc:sldChg>
      <pc:sldChg chg="add del">
        <pc:chgData name="Amine SIJILMASSI" userId="e4021463-8212-4a47-8e05-1eade5e16ef5" providerId="ADAL" clId="{DE3AB4F5-6A8F-4C37-95B6-8B0AC4AF65F9}" dt="2026-09-02T06:39:29.317" v="3" actId="47"/>
        <pc:sldMkLst>
          <pc:docMk/>
          <pc:sldMk cId="0" sldId="270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1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2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3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4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5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6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7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8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79"/>
        </pc:sldMkLst>
      </pc:sldChg>
      <pc:sldChg chg="add">
        <pc:chgData name="Amine SIJILMASSI" userId="e4021463-8212-4a47-8e05-1eade5e16ef5" providerId="ADAL" clId="{DE3AB4F5-6A8F-4C37-95B6-8B0AC4AF65F9}" dt="2026-09-02T06:39:20.776" v="2"/>
        <pc:sldMkLst>
          <pc:docMk/>
          <pc:sldMk cId="0" sldId="280"/>
        </pc:sldMkLst>
      </pc:sldChg>
      <pc:sldChg chg="addSp delSp modSp new mod">
        <pc:chgData name="Amine SIJILMASSI" userId="e4021463-8212-4a47-8e05-1eade5e16ef5" providerId="ADAL" clId="{DE3AB4F5-6A8F-4C37-95B6-8B0AC4AF65F9}" dt="2026-09-02T06:40:42.381" v="109" actId="122"/>
        <pc:sldMkLst>
          <pc:docMk/>
          <pc:sldMk cId="3511946082" sldId="281"/>
        </pc:sldMkLst>
        <pc:spChg chg="del">
          <ac:chgData name="Amine SIJILMASSI" userId="e4021463-8212-4a47-8e05-1eade5e16ef5" providerId="ADAL" clId="{DE3AB4F5-6A8F-4C37-95B6-8B0AC4AF65F9}" dt="2026-09-02T06:39:44.348" v="7" actId="478"/>
          <ac:spMkLst>
            <pc:docMk/>
            <pc:sldMk cId="3511946082" sldId="281"/>
            <ac:spMk id="2" creationId="{676DA28F-C2F0-D82D-B0B7-22D2CD8D8E56}"/>
          </ac:spMkLst>
        </pc:spChg>
        <pc:spChg chg="del">
          <ac:chgData name="Amine SIJILMASSI" userId="e4021463-8212-4a47-8e05-1eade5e16ef5" providerId="ADAL" clId="{DE3AB4F5-6A8F-4C37-95B6-8B0AC4AF65F9}" dt="2026-09-02T06:39:42.764" v="6" actId="478"/>
          <ac:spMkLst>
            <pc:docMk/>
            <pc:sldMk cId="3511946082" sldId="281"/>
            <ac:spMk id="3" creationId="{DE287824-E1A7-52E3-3FCF-1FA8E3ECF18A}"/>
          </ac:spMkLst>
        </pc:spChg>
        <pc:spChg chg="add mod">
          <ac:chgData name="Amine SIJILMASSI" userId="e4021463-8212-4a47-8e05-1eade5e16ef5" providerId="ADAL" clId="{DE3AB4F5-6A8F-4C37-95B6-8B0AC4AF65F9}" dt="2026-09-02T06:40:42.381" v="109" actId="122"/>
          <ac:spMkLst>
            <pc:docMk/>
            <pc:sldMk cId="3511946082" sldId="281"/>
            <ac:spMk id="5" creationId="{31BE5E80-2104-135D-8FB2-28E4BDCD2CB6}"/>
          </ac:spMkLst>
        </pc:spChg>
        <pc:spChg chg="add mod">
          <ac:chgData name="Amine SIJILMASSI" userId="e4021463-8212-4a47-8e05-1eade5e16ef5" providerId="ADAL" clId="{DE3AB4F5-6A8F-4C37-95B6-8B0AC4AF65F9}" dt="2026-09-02T06:40:36.507" v="108" actId="113"/>
          <ac:spMkLst>
            <pc:docMk/>
            <pc:sldMk cId="3511946082" sldId="281"/>
            <ac:spMk id="7" creationId="{C8446F48-D198-EFBC-40C3-80990EA2CC00}"/>
          </ac:spMkLst>
        </pc:spChg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5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6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7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8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89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0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1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2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3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5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6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7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8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299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0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1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2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3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4"/>
        </pc:sldMkLst>
      </pc:sldChg>
      <pc:sldChg chg="add">
        <pc:chgData name="Amine SIJILMASSI" userId="e4021463-8212-4a47-8e05-1eade5e16ef5" providerId="ADAL" clId="{DE3AB4F5-6A8F-4C37-95B6-8B0AC4AF65F9}" dt="2026-09-02T06:41:53.924" v="110"/>
        <pc:sldMkLst>
          <pc:docMk/>
          <pc:sldMk cId="0" sldId="305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7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8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09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0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1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2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3"/>
        </pc:sldMkLst>
      </pc:sldChg>
      <pc:sldChg chg="add">
        <pc:chgData name="Amine SIJILMASSI" userId="e4021463-8212-4a47-8e05-1eade5e16ef5" providerId="ADAL" clId="{DE3AB4F5-6A8F-4C37-95B6-8B0AC4AF65F9}" dt="2026-09-02T06:42:41.203" v="111"/>
        <pc:sldMkLst>
          <pc:docMk/>
          <pc:sldMk cId="0" sldId="314"/>
        </pc:sldMkLst>
      </pc:sldChg>
      <pc:sldChg chg="modSp add mod modNotesTx">
        <pc:chgData name="Amine SIJILMASSI" userId="e4021463-8212-4a47-8e05-1eade5e16ef5" providerId="ADAL" clId="{DE3AB4F5-6A8F-4C37-95B6-8B0AC4AF65F9}" dt="2026-09-02T06:44:24.939" v="160" actId="20577"/>
        <pc:sldMkLst>
          <pc:docMk/>
          <pc:sldMk cId="2856063800" sldId="315"/>
        </pc:sldMkLst>
        <pc:spChg chg="mod">
          <ac:chgData name="Amine SIJILMASSI" userId="e4021463-8212-4a47-8e05-1eade5e16ef5" providerId="ADAL" clId="{DE3AB4F5-6A8F-4C37-95B6-8B0AC4AF65F9}" dt="2026-09-02T06:44:13.950" v="156" actId="20577"/>
          <ac:spMkLst>
            <pc:docMk/>
            <pc:sldMk cId="2856063800" sldId="315"/>
            <ac:spMk id="77" creationId="{9AC3F5A6-8D15-DE33-2B5E-CC0F091C9008}"/>
          </ac:spMkLst>
        </pc:spChg>
      </pc:sldChg>
      <pc:sldChg chg="addSp delSp modSp new mod">
        <pc:chgData name="Amine SIJILMASSI" userId="e4021463-8212-4a47-8e05-1eade5e16ef5" providerId="ADAL" clId="{DE3AB4F5-6A8F-4C37-95B6-8B0AC4AF65F9}" dt="2026-09-02T06:46:46.597" v="266" actId="1076"/>
        <pc:sldMkLst>
          <pc:docMk/>
          <pc:sldMk cId="3149631544" sldId="316"/>
        </pc:sldMkLst>
        <pc:spChg chg="del">
          <ac:chgData name="Amine SIJILMASSI" userId="e4021463-8212-4a47-8e05-1eade5e16ef5" providerId="ADAL" clId="{DE3AB4F5-6A8F-4C37-95B6-8B0AC4AF65F9}" dt="2026-09-02T06:44:32.193" v="162" actId="478"/>
          <ac:spMkLst>
            <pc:docMk/>
            <pc:sldMk cId="3149631544" sldId="316"/>
            <ac:spMk id="2" creationId="{566121A7-3407-C5E3-CC59-6FC433DFFBDD}"/>
          </ac:spMkLst>
        </pc:spChg>
        <pc:spChg chg="del">
          <ac:chgData name="Amine SIJILMASSI" userId="e4021463-8212-4a47-8e05-1eade5e16ef5" providerId="ADAL" clId="{DE3AB4F5-6A8F-4C37-95B6-8B0AC4AF65F9}" dt="2026-09-02T06:44:32.193" v="162" actId="478"/>
          <ac:spMkLst>
            <pc:docMk/>
            <pc:sldMk cId="3149631544" sldId="316"/>
            <ac:spMk id="3" creationId="{A1704A8D-10F3-EAA9-4204-AE25E8BBF08F}"/>
          </ac:spMkLst>
        </pc:spChg>
        <pc:spChg chg="add mod">
          <ac:chgData name="Amine SIJILMASSI" userId="e4021463-8212-4a47-8e05-1eade5e16ef5" providerId="ADAL" clId="{DE3AB4F5-6A8F-4C37-95B6-8B0AC4AF65F9}" dt="2026-09-02T06:46:46.597" v="266" actId="1076"/>
          <ac:spMkLst>
            <pc:docMk/>
            <pc:sldMk cId="3149631544" sldId="316"/>
            <ac:spMk id="5" creationId="{3EE05154-69E5-308C-6537-C1BFC5B392C1}"/>
          </ac:spMkLst>
        </pc:spChg>
        <pc:spChg chg="add mod">
          <ac:chgData name="Amine SIJILMASSI" userId="e4021463-8212-4a47-8e05-1eade5e16ef5" providerId="ADAL" clId="{DE3AB4F5-6A8F-4C37-95B6-8B0AC4AF65F9}" dt="2026-09-02T06:46:39.655" v="265" actId="1076"/>
          <ac:spMkLst>
            <pc:docMk/>
            <pc:sldMk cId="3149631544" sldId="316"/>
            <ac:spMk id="8" creationId="{D59FB3D1-389F-DB8B-0D22-BDAB34C1FDEF}"/>
          </ac:spMkLst>
        </pc:spChg>
        <pc:picChg chg="add mod">
          <ac:chgData name="Amine SIJILMASSI" userId="e4021463-8212-4a47-8e05-1eade5e16ef5" providerId="ADAL" clId="{DE3AB4F5-6A8F-4C37-95B6-8B0AC4AF65F9}" dt="2026-09-02T06:45:58.659" v="258" actId="1076"/>
          <ac:picMkLst>
            <pc:docMk/>
            <pc:sldMk cId="3149631544" sldId="316"/>
            <ac:picMk id="6" creationId="{D78938C9-AA76-7666-D29B-5E55670A13CF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42:43.996" v="1011"/>
        <pc:sldMkLst>
          <pc:docMk/>
          <pc:sldMk cId="3453053749" sldId="317"/>
        </pc:sldMkLst>
        <pc:spChg chg="del">
          <ac:chgData name="Amine SIJILMASSI" userId="e4021463-8212-4a47-8e05-1eade5e16ef5" providerId="ADAL" clId="{DE3AB4F5-6A8F-4C37-95B6-8B0AC4AF65F9}" dt="2026-09-02T06:47:10.611" v="268" actId="478"/>
          <ac:spMkLst>
            <pc:docMk/>
            <pc:sldMk cId="3453053749" sldId="317"/>
            <ac:spMk id="2" creationId="{4DAC97F8-20D8-586B-F5C2-6C743EA631DE}"/>
          </ac:spMkLst>
        </pc:spChg>
        <pc:spChg chg="add del mod">
          <ac:chgData name="Amine SIJILMASSI" userId="e4021463-8212-4a47-8e05-1eade5e16ef5" providerId="ADAL" clId="{DE3AB4F5-6A8F-4C37-95B6-8B0AC4AF65F9}" dt="2026-09-02T07:42:43.996" v="1011"/>
          <ac:spMkLst>
            <pc:docMk/>
            <pc:sldMk cId="3453053749" sldId="317"/>
            <ac:spMk id="2" creationId="{9175F262-177C-FB42-074B-E8973EB49C88}"/>
          </ac:spMkLst>
        </pc:spChg>
        <pc:spChg chg="del">
          <ac:chgData name="Amine SIJILMASSI" userId="e4021463-8212-4a47-8e05-1eade5e16ef5" providerId="ADAL" clId="{DE3AB4F5-6A8F-4C37-95B6-8B0AC4AF65F9}" dt="2026-09-02T06:47:10.611" v="268" actId="478"/>
          <ac:spMkLst>
            <pc:docMk/>
            <pc:sldMk cId="3453053749" sldId="317"/>
            <ac:spMk id="3" creationId="{2FAF7D02-3EFD-C44C-5B6F-36E7E419D9C8}"/>
          </ac:spMkLst>
        </pc:spChg>
        <pc:spChg chg="add mod">
          <ac:chgData name="Amine SIJILMASSI" userId="e4021463-8212-4a47-8e05-1eade5e16ef5" providerId="ADAL" clId="{DE3AB4F5-6A8F-4C37-95B6-8B0AC4AF65F9}" dt="2026-09-02T07:06:26.659" v="661" actId="1076"/>
          <ac:spMkLst>
            <pc:docMk/>
            <pc:sldMk cId="3453053749" sldId="317"/>
            <ac:spMk id="5" creationId="{36A0790D-13A7-48FA-C7E4-B38AB4D4393F}"/>
          </ac:spMkLst>
        </pc:spChg>
        <pc:spChg chg="add mod">
          <ac:chgData name="Amine SIJILMASSI" userId="e4021463-8212-4a47-8e05-1eade5e16ef5" providerId="ADAL" clId="{DE3AB4F5-6A8F-4C37-95B6-8B0AC4AF65F9}" dt="2026-09-02T06:52:34.187" v="353" actId="20577"/>
          <ac:spMkLst>
            <pc:docMk/>
            <pc:sldMk cId="3453053749" sldId="317"/>
            <ac:spMk id="8" creationId="{AE518F56-6AB0-0F2A-4364-E0D986B13906}"/>
          </ac:spMkLst>
        </pc:spChg>
        <pc:spChg chg="add mod">
          <ac:chgData name="Amine SIJILMASSI" userId="e4021463-8212-4a47-8e05-1eade5e16ef5" providerId="ADAL" clId="{DE3AB4F5-6A8F-4C37-95B6-8B0AC4AF65F9}" dt="2026-09-02T06:58:11.327" v="467" actId="20577"/>
          <ac:spMkLst>
            <pc:docMk/>
            <pc:sldMk cId="3453053749" sldId="317"/>
            <ac:spMk id="11" creationId="{69086FB3-EB9E-78CF-D8C4-146C1094541C}"/>
          </ac:spMkLst>
        </pc:spChg>
        <pc:spChg chg="add mod">
          <ac:chgData name="Amine SIJILMASSI" userId="e4021463-8212-4a47-8e05-1eade5e16ef5" providerId="ADAL" clId="{DE3AB4F5-6A8F-4C37-95B6-8B0AC4AF65F9}" dt="2026-09-02T07:42:31.415" v="1009" actId="20577"/>
          <ac:spMkLst>
            <pc:docMk/>
            <pc:sldMk cId="3453053749" sldId="317"/>
            <ac:spMk id="14" creationId="{CAD96E37-BF55-B112-48FE-91B9A5D5BB08}"/>
          </ac:spMkLst>
        </pc:spChg>
        <pc:spChg chg="add mod">
          <ac:chgData name="Amine SIJILMASSI" userId="e4021463-8212-4a47-8e05-1eade5e16ef5" providerId="ADAL" clId="{DE3AB4F5-6A8F-4C37-95B6-8B0AC4AF65F9}" dt="2026-09-02T07:09:03.246" v="695" actId="1076"/>
          <ac:spMkLst>
            <pc:docMk/>
            <pc:sldMk cId="3453053749" sldId="317"/>
            <ac:spMk id="19" creationId="{7DE70D2F-89EF-C977-B4CF-497323742BA0}"/>
          </ac:spMkLst>
        </pc:spChg>
        <pc:spChg chg="add mod">
          <ac:chgData name="Amine SIJILMASSI" userId="e4021463-8212-4a47-8e05-1eade5e16ef5" providerId="ADAL" clId="{DE3AB4F5-6A8F-4C37-95B6-8B0AC4AF65F9}" dt="2026-09-02T07:09:25.067" v="717" actId="20577"/>
          <ac:spMkLst>
            <pc:docMk/>
            <pc:sldMk cId="3453053749" sldId="317"/>
            <ac:spMk id="21" creationId="{82189C4F-AB3F-7F88-104C-F4BBCB92C784}"/>
          </ac:spMkLst>
        </pc:spChg>
        <pc:spChg chg="add mod">
          <ac:chgData name="Amine SIJILMASSI" userId="e4021463-8212-4a47-8e05-1eade5e16ef5" providerId="ADAL" clId="{DE3AB4F5-6A8F-4C37-95B6-8B0AC4AF65F9}" dt="2026-09-02T07:10:24.754" v="817" actId="20577"/>
          <ac:spMkLst>
            <pc:docMk/>
            <pc:sldMk cId="3453053749" sldId="317"/>
            <ac:spMk id="23" creationId="{C8FB4340-994E-B89F-FE47-07C8A1843344}"/>
          </ac:spMkLst>
        </pc:spChg>
        <pc:spChg chg="add mod">
          <ac:chgData name="Amine SIJILMASSI" userId="e4021463-8212-4a47-8e05-1eade5e16ef5" providerId="ADAL" clId="{DE3AB4F5-6A8F-4C37-95B6-8B0AC4AF65F9}" dt="2026-09-02T07:11:03.639" v="943" actId="20577"/>
          <ac:spMkLst>
            <pc:docMk/>
            <pc:sldMk cId="3453053749" sldId="317"/>
            <ac:spMk id="25" creationId="{6DB59AC4-5D81-95D0-991A-52FDEA827DF6}"/>
          </ac:spMkLst>
        </pc:spChg>
        <pc:picChg chg="add mod">
          <ac:chgData name="Amine SIJILMASSI" userId="e4021463-8212-4a47-8e05-1eade5e16ef5" providerId="ADAL" clId="{DE3AB4F5-6A8F-4C37-95B6-8B0AC4AF65F9}" dt="2026-09-02T07:42:17.638" v="963" actId="1076"/>
          <ac:picMkLst>
            <pc:docMk/>
            <pc:sldMk cId="3453053749" sldId="317"/>
            <ac:picMk id="3" creationId="{6ECF518C-4D5C-B6E5-2009-A96B5F0A9F1C}"/>
          </ac:picMkLst>
        </pc:picChg>
        <pc:picChg chg="add mod">
          <ac:chgData name="Amine SIJILMASSI" userId="e4021463-8212-4a47-8e05-1eade5e16ef5" providerId="ADAL" clId="{DE3AB4F5-6A8F-4C37-95B6-8B0AC4AF65F9}" dt="2026-09-02T06:52:30.988" v="350" actId="1076"/>
          <ac:picMkLst>
            <pc:docMk/>
            <pc:sldMk cId="3453053749" sldId="317"/>
            <ac:picMk id="6" creationId="{A480E7CC-8093-75CA-9604-8A0D54436C19}"/>
          </ac:picMkLst>
        </pc:picChg>
        <pc:picChg chg="add mod">
          <ac:chgData name="Amine SIJILMASSI" userId="e4021463-8212-4a47-8e05-1eade5e16ef5" providerId="ADAL" clId="{DE3AB4F5-6A8F-4C37-95B6-8B0AC4AF65F9}" dt="2026-09-02T06:56:57.386" v="357" actId="1076"/>
          <ac:picMkLst>
            <pc:docMk/>
            <pc:sldMk cId="3453053749" sldId="317"/>
            <ac:picMk id="9" creationId="{97828D2D-E1B9-A7B4-D600-828FBD1A4963}"/>
          </ac:picMkLst>
        </pc:picChg>
        <pc:picChg chg="add del mod">
          <ac:chgData name="Amine SIJILMASSI" userId="e4021463-8212-4a47-8e05-1eade5e16ef5" providerId="ADAL" clId="{DE3AB4F5-6A8F-4C37-95B6-8B0AC4AF65F9}" dt="2026-09-02T07:03:51.410" v="592" actId="478"/>
          <ac:picMkLst>
            <pc:docMk/>
            <pc:sldMk cId="3453053749" sldId="317"/>
            <ac:picMk id="12" creationId="{974E2875-648F-39B2-81C0-A0A8AEAE6D6E}"/>
          </ac:picMkLst>
        </pc:picChg>
        <pc:picChg chg="add del mod">
          <ac:chgData name="Amine SIJILMASSI" userId="e4021463-8212-4a47-8e05-1eade5e16ef5" providerId="ADAL" clId="{DE3AB4F5-6A8F-4C37-95B6-8B0AC4AF65F9}" dt="2026-09-02T07:42:04.502" v="956" actId="478"/>
          <ac:picMkLst>
            <pc:docMk/>
            <pc:sldMk cId="3453053749" sldId="317"/>
            <ac:picMk id="15" creationId="{1DE3D68A-170D-3C85-4ED9-C7498E0D144F}"/>
          </ac:picMkLst>
        </pc:picChg>
        <pc:picChg chg="add del mod">
          <ac:chgData name="Amine SIJILMASSI" userId="e4021463-8212-4a47-8e05-1eade5e16ef5" providerId="ADAL" clId="{DE3AB4F5-6A8F-4C37-95B6-8B0AC4AF65F9}" dt="2026-09-02T07:07:41.981" v="665" actId="478"/>
          <ac:picMkLst>
            <pc:docMk/>
            <pc:sldMk cId="3453053749" sldId="317"/>
            <ac:picMk id="16" creationId="{51D8AEF7-EDD8-7D2F-2424-091D3CB1B6B3}"/>
          </ac:picMkLst>
        </pc:picChg>
        <pc:picChg chg="add mod">
          <ac:chgData name="Amine SIJILMASSI" userId="e4021463-8212-4a47-8e05-1eade5e16ef5" providerId="ADAL" clId="{DE3AB4F5-6A8F-4C37-95B6-8B0AC4AF65F9}" dt="2026-09-02T07:08:50.237" v="669" actId="1076"/>
          <ac:picMkLst>
            <pc:docMk/>
            <pc:sldMk cId="3453053749" sldId="317"/>
            <ac:picMk id="17" creationId="{F9742661-FE89-831E-A3E7-FB008593AECD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55:21.983" v="1436" actId="20577"/>
        <pc:sldMkLst>
          <pc:docMk/>
          <pc:sldMk cId="250182674" sldId="318"/>
        </pc:sldMkLst>
        <pc:spChg chg="del">
          <ac:chgData name="Amine SIJILMASSI" userId="e4021463-8212-4a47-8e05-1eade5e16ef5" providerId="ADAL" clId="{DE3AB4F5-6A8F-4C37-95B6-8B0AC4AF65F9}" dt="2026-09-02T07:42:48.985" v="1013" actId="478"/>
          <ac:spMkLst>
            <pc:docMk/>
            <pc:sldMk cId="250182674" sldId="318"/>
            <ac:spMk id="2" creationId="{68A7D4B2-171E-115F-A3A5-50E9770802C2}"/>
          </ac:spMkLst>
        </pc:spChg>
        <pc:spChg chg="del">
          <ac:chgData name="Amine SIJILMASSI" userId="e4021463-8212-4a47-8e05-1eade5e16ef5" providerId="ADAL" clId="{DE3AB4F5-6A8F-4C37-95B6-8B0AC4AF65F9}" dt="2026-09-02T07:42:48.985" v="1013" actId="478"/>
          <ac:spMkLst>
            <pc:docMk/>
            <pc:sldMk cId="250182674" sldId="318"/>
            <ac:spMk id="3" creationId="{FA403B6C-6DB1-E38E-F7C6-EF250385A907}"/>
          </ac:spMkLst>
        </pc:spChg>
        <pc:spChg chg="add mod">
          <ac:chgData name="Amine SIJILMASSI" userId="e4021463-8212-4a47-8e05-1eade5e16ef5" providerId="ADAL" clId="{DE3AB4F5-6A8F-4C37-95B6-8B0AC4AF65F9}" dt="2026-09-02T07:49:03.032" v="1217" actId="313"/>
          <ac:spMkLst>
            <pc:docMk/>
            <pc:sldMk cId="250182674" sldId="318"/>
            <ac:spMk id="5" creationId="{7EBA89CD-36AA-9EE6-88D9-75EE23DFE24B}"/>
          </ac:spMkLst>
        </pc:spChg>
        <pc:spChg chg="add mod">
          <ac:chgData name="Amine SIJILMASSI" userId="e4021463-8212-4a47-8e05-1eade5e16ef5" providerId="ADAL" clId="{DE3AB4F5-6A8F-4C37-95B6-8B0AC4AF65F9}" dt="2026-09-02T07:50:22.857" v="1259" actId="20577"/>
          <ac:spMkLst>
            <pc:docMk/>
            <pc:sldMk cId="250182674" sldId="318"/>
            <ac:spMk id="7" creationId="{C325E509-9E14-2525-52C6-E9B0AF945BB9}"/>
          </ac:spMkLst>
        </pc:spChg>
        <pc:spChg chg="add mod">
          <ac:chgData name="Amine SIJILMASSI" userId="e4021463-8212-4a47-8e05-1eade5e16ef5" providerId="ADAL" clId="{DE3AB4F5-6A8F-4C37-95B6-8B0AC4AF65F9}" dt="2026-09-02T07:51:23.913" v="1321" actId="1076"/>
          <ac:spMkLst>
            <pc:docMk/>
            <pc:sldMk cId="250182674" sldId="318"/>
            <ac:spMk id="10" creationId="{E9F2E5A6-275D-BAEE-1F1B-F49A3A660882}"/>
          </ac:spMkLst>
        </pc:spChg>
        <pc:spChg chg="add mod">
          <ac:chgData name="Amine SIJILMASSI" userId="e4021463-8212-4a47-8e05-1eade5e16ef5" providerId="ADAL" clId="{DE3AB4F5-6A8F-4C37-95B6-8B0AC4AF65F9}" dt="2026-09-02T07:54:54.397" v="1385" actId="20577"/>
          <ac:spMkLst>
            <pc:docMk/>
            <pc:sldMk cId="250182674" sldId="318"/>
            <ac:spMk id="13" creationId="{8ACC4398-2A56-4623-50FC-E11748FA24A5}"/>
          </ac:spMkLst>
        </pc:spChg>
        <pc:spChg chg="add mod">
          <ac:chgData name="Amine SIJILMASSI" userId="e4021463-8212-4a47-8e05-1eade5e16ef5" providerId="ADAL" clId="{DE3AB4F5-6A8F-4C37-95B6-8B0AC4AF65F9}" dt="2026-09-02T07:55:21.983" v="1436" actId="20577"/>
          <ac:spMkLst>
            <pc:docMk/>
            <pc:sldMk cId="250182674" sldId="318"/>
            <ac:spMk id="17" creationId="{2FCF16D5-82E3-CEE3-E37E-99239EB920EB}"/>
          </ac:spMkLst>
        </pc:spChg>
        <pc:picChg chg="add mod">
          <ac:chgData name="Amine SIJILMASSI" userId="e4021463-8212-4a47-8e05-1eade5e16ef5" providerId="ADAL" clId="{DE3AB4F5-6A8F-4C37-95B6-8B0AC4AF65F9}" dt="2026-09-02T07:51:04.272" v="1272" actId="1076"/>
          <ac:picMkLst>
            <pc:docMk/>
            <pc:sldMk cId="250182674" sldId="318"/>
            <ac:picMk id="8" creationId="{E9093D74-1083-4569-4BD3-9A86EA3BB870}"/>
          </ac:picMkLst>
        </pc:picChg>
        <pc:picChg chg="add mod">
          <ac:chgData name="Amine SIJILMASSI" userId="e4021463-8212-4a47-8e05-1eade5e16ef5" providerId="ADAL" clId="{DE3AB4F5-6A8F-4C37-95B6-8B0AC4AF65F9}" dt="2026-09-02T07:52:48.331" v="1325" actId="1076"/>
          <ac:picMkLst>
            <pc:docMk/>
            <pc:sldMk cId="250182674" sldId="318"/>
            <ac:picMk id="11" creationId="{E6D363D6-97C0-3402-D0FC-7E113856FE4B}"/>
          </ac:picMkLst>
        </pc:picChg>
        <pc:picChg chg="add del mod">
          <ac:chgData name="Amine SIJILMASSI" userId="e4021463-8212-4a47-8e05-1eade5e16ef5" providerId="ADAL" clId="{DE3AB4F5-6A8F-4C37-95B6-8B0AC4AF65F9}" dt="2026-09-02T07:54:46.697" v="1367" actId="478"/>
          <ac:picMkLst>
            <pc:docMk/>
            <pc:sldMk cId="250182674" sldId="318"/>
            <ac:picMk id="14" creationId="{4508AAE2-6F8B-4ADC-A73F-ED941BA5C47B}"/>
          </ac:picMkLst>
        </pc:picChg>
        <pc:picChg chg="add mod">
          <ac:chgData name="Amine SIJILMASSI" userId="e4021463-8212-4a47-8e05-1eade5e16ef5" providerId="ADAL" clId="{DE3AB4F5-6A8F-4C37-95B6-8B0AC4AF65F9}" dt="2026-09-02T07:54:49.356" v="1370" actId="1076"/>
          <ac:picMkLst>
            <pc:docMk/>
            <pc:sldMk cId="250182674" sldId="318"/>
            <ac:picMk id="15" creationId="{D697229C-6FF7-7897-2334-207CDE616A5C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46:19.186" v="1172" actId="20577"/>
        <pc:sldMkLst>
          <pc:docMk/>
          <pc:sldMk cId="1396195825" sldId="319"/>
        </pc:sldMkLst>
        <pc:spChg chg="del">
          <ac:chgData name="Amine SIJILMASSI" userId="e4021463-8212-4a47-8e05-1eade5e16ef5" providerId="ADAL" clId="{DE3AB4F5-6A8F-4C37-95B6-8B0AC4AF65F9}" dt="2026-09-02T07:43:37.541" v="1015" actId="478"/>
          <ac:spMkLst>
            <pc:docMk/>
            <pc:sldMk cId="1396195825" sldId="319"/>
            <ac:spMk id="2" creationId="{D62D61A4-2535-068E-28D2-7C4E7CC752A1}"/>
          </ac:spMkLst>
        </pc:spChg>
        <pc:spChg chg="del">
          <ac:chgData name="Amine SIJILMASSI" userId="e4021463-8212-4a47-8e05-1eade5e16ef5" providerId="ADAL" clId="{DE3AB4F5-6A8F-4C37-95B6-8B0AC4AF65F9}" dt="2026-09-02T07:43:37.541" v="1015" actId="478"/>
          <ac:spMkLst>
            <pc:docMk/>
            <pc:sldMk cId="1396195825" sldId="319"/>
            <ac:spMk id="3" creationId="{B5D83D52-50CA-75D9-F6A1-CE75930BBE6C}"/>
          </ac:spMkLst>
        </pc:spChg>
        <pc:spChg chg="add mod">
          <ac:chgData name="Amine SIJILMASSI" userId="e4021463-8212-4a47-8e05-1eade5e16ef5" providerId="ADAL" clId="{DE3AB4F5-6A8F-4C37-95B6-8B0AC4AF65F9}" dt="2026-09-02T07:44:18.956" v="1126" actId="20577"/>
          <ac:spMkLst>
            <pc:docMk/>
            <pc:sldMk cId="1396195825" sldId="319"/>
            <ac:spMk id="5" creationId="{BE76D01E-AF4B-D0AD-406E-076EFBEC4CAC}"/>
          </ac:spMkLst>
        </pc:spChg>
        <pc:spChg chg="add mod">
          <ac:chgData name="Amine SIJILMASSI" userId="e4021463-8212-4a47-8e05-1eade5e16ef5" providerId="ADAL" clId="{DE3AB4F5-6A8F-4C37-95B6-8B0AC4AF65F9}" dt="2026-09-02T07:46:05.683" v="1152" actId="20577"/>
          <ac:spMkLst>
            <pc:docMk/>
            <pc:sldMk cId="1396195825" sldId="319"/>
            <ac:spMk id="9" creationId="{35C3EB75-490A-5689-43A2-C631D60FF45E}"/>
          </ac:spMkLst>
        </pc:spChg>
        <pc:spChg chg="add mod">
          <ac:chgData name="Amine SIJILMASSI" userId="e4021463-8212-4a47-8e05-1eade5e16ef5" providerId="ADAL" clId="{DE3AB4F5-6A8F-4C37-95B6-8B0AC4AF65F9}" dt="2026-09-02T07:46:19.186" v="1172" actId="20577"/>
          <ac:spMkLst>
            <pc:docMk/>
            <pc:sldMk cId="1396195825" sldId="319"/>
            <ac:spMk id="11" creationId="{9CBA32FB-F8E9-98D1-9E9B-D17B8EC277B2}"/>
          </ac:spMkLst>
        </pc:spChg>
        <pc:picChg chg="add mod">
          <ac:chgData name="Amine SIJILMASSI" userId="e4021463-8212-4a47-8e05-1eade5e16ef5" providerId="ADAL" clId="{DE3AB4F5-6A8F-4C37-95B6-8B0AC4AF65F9}" dt="2026-09-02T07:45:50.282" v="1138" actId="1076"/>
          <ac:picMkLst>
            <pc:docMk/>
            <pc:sldMk cId="1396195825" sldId="319"/>
            <ac:picMk id="6" creationId="{E162ED8E-99A1-6014-70FA-7701724C059D}"/>
          </ac:picMkLst>
        </pc:picChg>
        <pc:picChg chg="add mod">
          <ac:chgData name="Amine SIJILMASSI" userId="e4021463-8212-4a47-8e05-1eade5e16ef5" providerId="ADAL" clId="{DE3AB4F5-6A8F-4C37-95B6-8B0AC4AF65F9}" dt="2026-09-02T07:45:37.583" v="1135" actId="1076"/>
          <ac:picMkLst>
            <pc:docMk/>
            <pc:sldMk cId="1396195825" sldId="319"/>
            <ac:picMk id="7" creationId="{3DB2E2E4-7C90-7769-B22D-A972302A64EB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9:25:57.910" v="1590" actId="1076"/>
        <pc:sldMkLst>
          <pc:docMk/>
          <pc:sldMk cId="597538360" sldId="320"/>
        </pc:sldMkLst>
        <pc:spChg chg="del">
          <ac:chgData name="Amine SIJILMASSI" userId="e4021463-8212-4a47-8e05-1eade5e16ef5" providerId="ADAL" clId="{DE3AB4F5-6A8F-4C37-95B6-8B0AC4AF65F9}" dt="2026-09-02T07:46:29.577" v="1174" actId="478"/>
          <ac:spMkLst>
            <pc:docMk/>
            <pc:sldMk cId="597538360" sldId="320"/>
            <ac:spMk id="2" creationId="{075FE109-D46F-6BC8-B28F-464CBE84A04B}"/>
          </ac:spMkLst>
        </pc:spChg>
        <pc:spChg chg="del">
          <ac:chgData name="Amine SIJILMASSI" userId="e4021463-8212-4a47-8e05-1eade5e16ef5" providerId="ADAL" clId="{DE3AB4F5-6A8F-4C37-95B6-8B0AC4AF65F9}" dt="2026-09-02T07:46:29.577" v="1174" actId="478"/>
          <ac:spMkLst>
            <pc:docMk/>
            <pc:sldMk cId="597538360" sldId="320"/>
            <ac:spMk id="3" creationId="{29E16EFF-993E-7018-5988-A7C5CAAC420E}"/>
          </ac:spMkLst>
        </pc:spChg>
        <pc:picChg chg="add mod">
          <ac:chgData name="Amine SIJILMASSI" userId="e4021463-8212-4a47-8e05-1eade5e16ef5" providerId="ADAL" clId="{DE3AB4F5-6A8F-4C37-95B6-8B0AC4AF65F9}" dt="2026-09-02T09:25:57.910" v="1590" actId="1076"/>
          <ac:picMkLst>
            <pc:docMk/>
            <pc:sldMk cId="597538360" sldId="320"/>
            <ac:picMk id="4" creationId="{BC778E7C-F931-5998-AB4D-88EC7588D4D8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2T07:57:03.882" v="1477" actId="20577"/>
        <pc:sldMkLst>
          <pc:docMk/>
          <pc:sldMk cId="2042825276" sldId="321"/>
        </pc:sldMkLst>
        <pc:spChg chg="del">
          <ac:chgData name="Amine SIJILMASSI" userId="e4021463-8212-4a47-8e05-1eade5e16ef5" providerId="ADAL" clId="{DE3AB4F5-6A8F-4C37-95B6-8B0AC4AF65F9}" dt="2026-09-02T07:55:30.952" v="1438" actId="478"/>
          <ac:spMkLst>
            <pc:docMk/>
            <pc:sldMk cId="2042825276" sldId="321"/>
            <ac:spMk id="2" creationId="{957DCAF1-0597-76C4-D078-F9828931243A}"/>
          </ac:spMkLst>
        </pc:spChg>
        <pc:spChg chg="del">
          <ac:chgData name="Amine SIJILMASSI" userId="e4021463-8212-4a47-8e05-1eade5e16ef5" providerId="ADAL" clId="{DE3AB4F5-6A8F-4C37-95B6-8B0AC4AF65F9}" dt="2026-09-02T07:55:30.952" v="1438" actId="478"/>
          <ac:spMkLst>
            <pc:docMk/>
            <pc:sldMk cId="2042825276" sldId="321"/>
            <ac:spMk id="3" creationId="{2D9E7041-3F37-1B50-0213-1EEBB1B4C607}"/>
          </ac:spMkLst>
        </pc:spChg>
        <pc:spChg chg="add mod">
          <ac:chgData name="Amine SIJILMASSI" userId="e4021463-8212-4a47-8e05-1eade5e16ef5" providerId="ADAL" clId="{DE3AB4F5-6A8F-4C37-95B6-8B0AC4AF65F9}" dt="2026-09-02T07:57:03.882" v="1477" actId="20577"/>
          <ac:spMkLst>
            <pc:docMk/>
            <pc:sldMk cId="2042825276" sldId="321"/>
            <ac:spMk id="5" creationId="{A2477937-B4FC-176E-1038-910C5DC495D9}"/>
          </ac:spMkLst>
        </pc:spChg>
        <pc:spChg chg="add mod">
          <ac:chgData name="Amine SIJILMASSI" userId="e4021463-8212-4a47-8e05-1eade5e16ef5" providerId="ADAL" clId="{DE3AB4F5-6A8F-4C37-95B6-8B0AC4AF65F9}" dt="2026-09-02T07:55:48.024" v="1450" actId="403"/>
          <ac:spMkLst>
            <pc:docMk/>
            <pc:sldMk cId="2042825276" sldId="321"/>
            <ac:spMk id="7" creationId="{58026C39-1AFA-BFDB-F33C-97AAD2C3BBC4}"/>
          </ac:spMkLst>
        </pc:spChg>
        <pc:spChg chg="add mod">
          <ac:chgData name="Amine SIJILMASSI" userId="e4021463-8212-4a47-8e05-1eade5e16ef5" providerId="ADAL" clId="{DE3AB4F5-6A8F-4C37-95B6-8B0AC4AF65F9}" dt="2026-09-02T07:56:10.776" v="1458" actId="1076"/>
          <ac:spMkLst>
            <pc:docMk/>
            <pc:sldMk cId="2042825276" sldId="321"/>
            <ac:spMk id="9" creationId="{50BFB973-6103-7B61-FAEF-F0BE923DF30A}"/>
          </ac:spMkLst>
        </pc:spChg>
        <pc:spChg chg="add mod">
          <ac:chgData name="Amine SIJILMASSI" userId="e4021463-8212-4a47-8e05-1eade5e16ef5" providerId="ADAL" clId="{DE3AB4F5-6A8F-4C37-95B6-8B0AC4AF65F9}" dt="2026-09-02T07:56:26.783" v="1468" actId="1076"/>
          <ac:spMkLst>
            <pc:docMk/>
            <pc:sldMk cId="2042825276" sldId="321"/>
            <ac:spMk id="11" creationId="{AC2DC999-EEC2-7D06-3682-6810D43A89C1}"/>
          </ac:spMkLst>
        </pc:spChg>
        <pc:spChg chg="add mod">
          <ac:chgData name="Amine SIJILMASSI" userId="e4021463-8212-4a47-8e05-1eade5e16ef5" providerId="ADAL" clId="{DE3AB4F5-6A8F-4C37-95B6-8B0AC4AF65F9}" dt="2026-09-02T07:56:54.273" v="1475" actId="20577"/>
          <ac:spMkLst>
            <pc:docMk/>
            <pc:sldMk cId="2042825276" sldId="321"/>
            <ac:spMk id="13" creationId="{64B7C408-157D-EF9A-EF74-EB8AA78CC9AA}"/>
          </ac:spMkLst>
        </pc:spChg>
      </pc:sldChg>
      <pc:sldChg chg="addSp delSp modSp new mod">
        <pc:chgData name="Amine SIJILMASSI" userId="e4021463-8212-4a47-8e05-1eade5e16ef5" providerId="ADAL" clId="{DE3AB4F5-6A8F-4C37-95B6-8B0AC4AF65F9}" dt="2026-09-02T07:59:04.517" v="1585" actId="1076"/>
        <pc:sldMkLst>
          <pc:docMk/>
          <pc:sldMk cId="3179193367" sldId="322"/>
        </pc:sldMkLst>
        <pc:spChg chg="del">
          <ac:chgData name="Amine SIJILMASSI" userId="e4021463-8212-4a47-8e05-1eade5e16ef5" providerId="ADAL" clId="{DE3AB4F5-6A8F-4C37-95B6-8B0AC4AF65F9}" dt="2026-09-02T07:57:14.537" v="1479" actId="478"/>
          <ac:spMkLst>
            <pc:docMk/>
            <pc:sldMk cId="3179193367" sldId="322"/>
            <ac:spMk id="2" creationId="{6160B10A-32A3-60DE-CF7F-E258D67FA90B}"/>
          </ac:spMkLst>
        </pc:spChg>
        <pc:spChg chg="del">
          <ac:chgData name="Amine SIJILMASSI" userId="e4021463-8212-4a47-8e05-1eade5e16ef5" providerId="ADAL" clId="{DE3AB4F5-6A8F-4C37-95B6-8B0AC4AF65F9}" dt="2026-09-02T07:57:14.537" v="1479" actId="478"/>
          <ac:spMkLst>
            <pc:docMk/>
            <pc:sldMk cId="3179193367" sldId="322"/>
            <ac:spMk id="3" creationId="{052FA300-42D0-2D64-839B-182E86BADF8C}"/>
          </ac:spMkLst>
        </pc:spChg>
        <pc:spChg chg="add mod">
          <ac:chgData name="Amine SIJILMASSI" userId="e4021463-8212-4a47-8e05-1eade5e16ef5" providerId="ADAL" clId="{DE3AB4F5-6A8F-4C37-95B6-8B0AC4AF65F9}" dt="2026-09-02T07:57:25.278" v="1507" actId="20577"/>
          <ac:spMkLst>
            <pc:docMk/>
            <pc:sldMk cId="3179193367" sldId="322"/>
            <ac:spMk id="5" creationId="{572E376F-EE96-FFA3-DDEC-D9828B8AA23B}"/>
          </ac:spMkLst>
        </pc:spChg>
        <pc:spChg chg="add mod">
          <ac:chgData name="Amine SIJILMASSI" userId="e4021463-8212-4a47-8e05-1eade5e16ef5" providerId="ADAL" clId="{DE3AB4F5-6A8F-4C37-95B6-8B0AC4AF65F9}" dt="2026-09-02T07:58:16.294" v="1571" actId="20577"/>
          <ac:spMkLst>
            <pc:docMk/>
            <pc:sldMk cId="3179193367" sldId="322"/>
            <ac:spMk id="7" creationId="{CA4FBF67-C85A-1E56-35FF-7DBECAE3CBBB}"/>
          </ac:spMkLst>
        </pc:spChg>
        <pc:picChg chg="add del mod">
          <ac:chgData name="Amine SIJILMASSI" userId="e4021463-8212-4a47-8e05-1eade5e16ef5" providerId="ADAL" clId="{DE3AB4F5-6A8F-4C37-95B6-8B0AC4AF65F9}" dt="2026-09-02T07:58:50.566" v="1580" actId="478"/>
          <ac:picMkLst>
            <pc:docMk/>
            <pc:sldMk cId="3179193367" sldId="322"/>
            <ac:picMk id="8" creationId="{570BB985-2CCE-CCB2-E2D4-81D07BBA532C}"/>
          </ac:picMkLst>
        </pc:picChg>
        <pc:picChg chg="add mod">
          <ac:chgData name="Amine SIJILMASSI" userId="e4021463-8212-4a47-8e05-1eade5e16ef5" providerId="ADAL" clId="{DE3AB4F5-6A8F-4C37-95B6-8B0AC4AF65F9}" dt="2026-09-02T07:59:04.517" v="1585" actId="1076"/>
          <ac:picMkLst>
            <pc:docMk/>
            <pc:sldMk cId="3179193367" sldId="322"/>
            <ac:picMk id="9" creationId="{F265EF0B-D1B9-1F2C-E683-B642D5996710}"/>
          </ac:picMkLst>
        </pc:picChg>
      </pc:sldChg>
      <pc:sldChg chg="addSp delSp modSp new mod">
        <pc:chgData name="Amine SIJILMASSI" userId="e4021463-8212-4a47-8e05-1eade5e16ef5" providerId="ADAL" clId="{DE3AB4F5-6A8F-4C37-95B6-8B0AC4AF65F9}" dt="2026-09-03T08:30:55.947" v="1610" actId="1076"/>
        <pc:sldMkLst>
          <pc:docMk/>
          <pc:sldMk cId="4090751204" sldId="323"/>
        </pc:sldMkLst>
        <pc:spChg chg="del">
          <ac:chgData name="Amine SIJILMASSI" userId="e4021463-8212-4a47-8e05-1eade5e16ef5" providerId="ADAL" clId="{DE3AB4F5-6A8F-4C37-95B6-8B0AC4AF65F9}" dt="2026-09-02T09:26:25.200" v="1592" actId="478"/>
          <ac:spMkLst>
            <pc:docMk/>
            <pc:sldMk cId="4090751204" sldId="323"/>
            <ac:spMk id="2" creationId="{300ACBAC-6328-CE49-66E9-3137858BD46A}"/>
          </ac:spMkLst>
        </pc:spChg>
        <pc:spChg chg="del">
          <ac:chgData name="Amine SIJILMASSI" userId="e4021463-8212-4a47-8e05-1eade5e16ef5" providerId="ADAL" clId="{DE3AB4F5-6A8F-4C37-95B6-8B0AC4AF65F9}" dt="2026-09-02T09:26:25.200" v="1592" actId="478"/>
          <ac:spMkLst>
            <pc:docMk/>
            <pc:sldMk cId="4090751204" sldId="323"/>
            <ac:spMk id="3" creationId="{69F94E73-AE0A-8D98-8FEB-4710B69AFADC}"/>
          </ac:spMkLst>
        </pc:spChg>
        <pc:spChg chg="add mod">
          <ac:chgData name="Amine SIJILMASSI" userId="e4021463-8212-4a47-8e05-1eade5e16ef5" providerId="ADAL" clId="{DE3AB4F5-6A8F-4C37-95B6-8B0AC4AF65F9}" dt="2026-09-03T08:30:55.947" v="1610" actId="1076"/>
          <ac:spMkLst>
            <pc:docMk/>
            <pc:sldMk cId="4090751204" sldId="323"/>
            <ac:spMk id="4" creationId="{E8139946-F1DE-9CA8-CD5D-A144702DE657}"/>
          </ac:spMkLst>
        </pc:spChg>
      </pc:sldChg>
    </pc:docChg>
  </pc:docChgLst>
  <pc:docChgLst>
    <pc:chgData name="Amine SIJILMASSI" userId="S::amine.sijilmassi@um6p.ma::e4021463-8212-4a47-8e05-1eade5e16ef5" providerId="AD" clId="Web-{00000000-0000-0000-0000-000000000000}"/>
    <pc:docChg chg="delSld">
      <pc:chgData name="Amine SIJILMASSI" userId="S::amine.sijilmassi@um6p.ma::e4021463-8212-4a47-8e05-1eade5e16ef5" providerId="AD" clId="Web-{00000000-0000-0000-0000-000000000000}" dt="2026-09-02T06:25:14.171" v="0"/>
      <pc:docMkLst>
        <pc:docMk/>
      </pc:docMkLst>
      <pc:sldChg chg="del">
        <pc:chgData name="Amine SIJILMASSI" userId="S::amine.sijilmassi@um6p.ma::e4021463-8212-4a47-8e05-1eade5e16ef5" providerId="AD" clId="Web-{00000000-0000-0000-0000-000000000000}" dt="2026-09-02T06:25:14.171" v="0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déplacer la diapo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0DD9B4-9F21-41E0-8B07-D57FC0C64E1E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means, in this course, you will not have a lot lectures. Rather, you will work a lot on personal projects. I’m starting with this point because I suspect that this is the point that will be most unusual, and perhaps frustrating to you; because you will have to learn a lot by yourself. Don’t expect a class where you just learn your lesson and apply it. A lot of your time will be devoted to solve problems on your own. 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means that in this course you’ll get a lot of freedom to choose what you want to work on, what kind of data, and what techniques you want to use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one is very important. The ability to ask good, relevant and precise questions, and to communicate results effectively, is as important as writing a good program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fr-M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to ths point above, ultimately data analysis is a tool: the most complex tools are not necessarily the best; what matters is that the analysis we do helps us answer the question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88F44A-93CD-42FE-96B2-F83DBE581559}" type="slidenum">
              <a: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pPr indent="0" algn="r">
              <a:buNone/>
            </a:pPr>
            <a:fld id="{280DD9B4-9F21-41E0-8B07-D57FC0C64E1E}" type="slidenum">
              <a:rPr lang="fr-F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53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216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512000" y="3174840"/>
            <a:ext cx="7055640" cy="152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062D80-32AE-4F96-B305-52B5BAD03AF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692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338640" y="5255280"/>
            <a:ext cx="3401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7118640" y="5255280"/>
            <a:ext cx="2267640" cy="30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19D96C-F57F-4CBA-B8E6-BFA21FFAB019}" type="slidenum">
              <a:rPr lang="fr-MA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‹#›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  <a:def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64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  <a:def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31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979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9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5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722" y="-722"/>
            <a:ext cx="10082119" cy="5671297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3900" y="21661"/>
            <a:ext cx="8532426" cy="4687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427376" y="5273644"/>
            <a:ext cx="3225563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702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503988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258014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DBBBDCA1-0229-4EB2-9585-2A5FAD024C04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3989" y="1326895"/>
            <a:ext cx="9072337" cy="328862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16605"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3321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649814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866419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083024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299629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516234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76250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 object 16"/>
          <p:cNvSpPr/>
          <p:nvPr/>
        </p:nvSpPr>
        <p:spPr>
          <a:xfrm>
            <a:off x="-722" y="-722"/>
            <a:ext cx="10082119" cy="5671297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3358" y="21480"/>
            <a:ext cx="9264040" cy="1201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3384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3989" y="1304151"/>
            <a:ext cx="4384809" cy="3330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22924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458480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687720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916960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146200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375440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91516" y="1304151"/>
            <a:ext cx="4384809" cy="3330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-162454" algn="l">
              <a:spcBef>
                <a:spcPts val="7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229240" lvl="1" indent="-162454" algn="l">
              <a:spcBef>
                <a:spcPts val="5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458480" lvl="2" indent="-144403" algn="l">
              <a:spcBef>
                <a:spcPts val="4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687720" lvl="3" indent="-108302" algn="l">
              <a:spcBef>
                <a:spcPts val="2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916960" lvl="4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146200" lvl="5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375440" lvl="6" indent="-108302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7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ftr" idx="7"/>
          </p:nvPr>
        </p:nvSpPr>
        <p:spPr>
          <a:xfrm>
            <a:off x="3427376" y="5273644"/>
            <a:ext cx="3225563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702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dt" idx="8"/>
          </p:nvPr>
        </p:nvSpPr>
        <p:spPr>
          <a:xfrm>
            <a:off x="503988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7258014" y="5273644"/>
            <a:ext cx="2318312" cy="2833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702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ABCD9193-E3DA-465C-88A3-1F2718C0A6E2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97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7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8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9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2776F0-D0FA-42F0-BE19-BCEF9CD567A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3320" y="21240"/>
            <a:ext cx="9263520" cy="120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68600" y="1805400"/>
            <a:ext cx="8591760" cy="275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4572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9144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3716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8288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286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27432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5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dt" idx="11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BDB0F4-866C-48B7-A96B-71159FC0A82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3320" y="21240"/>
            <a:ext cx="9263520" cy="120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ftr" idx="13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dt" idx="14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5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EB7A17-C2B8-4881-8660-CE38A42DD261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-720" y="-720"/>
            <a:ext cx="10081440" cy="5670720"/>
          </a:xfrm>
          <a:custGeom>
            <a:avLst/>
            <a:gdLst>
              <a:gd name="textAreaLeft" fmla="*/ 0 w 10081440"/>
              <a:gd name="textAreaRight" fmla="*/ 10081800 w 10081440"/>
              <a:gd name="textAreaTop" fmla="*/ 0 h 5670720"/>
              <a:gd name="textAreaBottom" fmla="*/ 5671080 h 567072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3680" y="21600"/>
            <a:ext cx="8532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67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16"/>
          </p:nvPr>
        </p:nvSpPr>
        <p:spPr>
          <a:xfrm>
            <a:off x="3426840" y="5272920"/>
            <a:ext cx="32252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7"/>
          </p:nvPr>
        </p:nvSpPr>
        <p:spPr>
          <a:xfrm>
            <a:off x="5036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8"/>
          </p:nvPr>
        </p:nvSpPr>
        <p:spPr>
          <a:xfrm>
            <a:off x="7257240" y="5272920"/>
            <a:ext cx="231804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739C2B-72AB-426E-8A5C-8F61C5842EED}" type="slidenum">
              <a:rPr lang="fr-FR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2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8B1ED3-41E1-4D13-A7DD-283216F63C3F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inelasso/SOC501-2026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www.gapminder.org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social-trends/2021/10/05/rising-share-of-u-s-adults-are-living-%20without-a-spouse-or-partner/pst_10-05-21_unpartnered_adults-0-0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lervigen.com/spurious-correlations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&amp;f=1&amp;nofb=1&amp;ipt=0faff8d171084cd8c8842e09e63dce9ebb796d94b16dd37def9f6ae752028266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jpeg"/><Relationship Id="rId4" Type="http://schemas.openxmlformats.org/officeDocument/2006/relationships/image" Target="../media/image52.jp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org&amp;utm_campaign=index&amp;utm_content=origi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&amp;f=1&amp;nofb=1&amp;ipt=078967da0bd355809e6b6926b6eda9b90af3865772727abe59a00005327d2257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&amp;f=1&amp;nofb=1&amp;ipt=43d3629c4e3641d981569313bf6d711041b080de0d3fa5e7f9c37f993461edca"/><Relationship Id="rId2" Type="http://schemas.openxmlformats.org/officeDocument/2006/relationships/image" Target="../media/image58.jpg&amp;f=1&amp;nofb=1&amp;ipt=339743e2d9834728b97d5ce16265337463bd80d4f38077fe6330a63c894680ba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&amp;f=1&amp;nofb=1&amp;ipt=c9745f407c10f7747cd99adc95e90ea6884cf8a287678280556b2389d27366c8"/><Relationship Id="rId2" Type="http://schemas.openxmlformats.org/officeDocument/2006/relationships/image" Target="../media/image60.jpg&amp;f=1&amp;nofb=1&amp;ipt=82dde942d500bbd3acf7678de2002bd2d0b6c412297f1ee297cf8662b7ad0754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&amp;f=1&amp;nofb=1&amp;ipt=6b4d7733c21768fd6fc4863241ec65df792aa15690de09aa132c04584fddb1a1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jp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073/pnas.1911868117" TargetMode="External"/><Relationship Id="rId4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74.jpg&amp;f=1&amp;nofb=1&amp;ipt=065219f280aa06ae161e9d1090a4068ab454625c4ebcf782c935d99237aa86af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&amp;f=1&amp;nofb=1&amp;ipt=700c825c9cbf4747583666e6c8b07ea5e179f687b2cb959db5dd70bfadbb3339"/><Relationship Id="rId2" Type="http://schemas.openxmlformats.org/officeDocument/2006/relationships/image" Target="../media/image75.jpg&amp;f=1&amp;nofb=1&amp;ipt=c3074e9a8c37b365e739cdd4b86efd7dcfa87c42986895aa5b65b7118994ae2c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&amp;f=1&amp;nofb=1&amp;ipt=c3074e9a8c37b365e739cdd4b86efd7dcfa87c42986895aa5b65b7118994ae2c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3"/>
          <p:cNvSpPr/>
          <p:nvPr/>
        </p:nvSpPr>
        <p:spPr>
          <a:xfrm>
            <a:off x="1762560" y="1620000"/>
            <a:ext cx="65538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6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(DAT501) Sociology: Theory and Methods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2" descr="Université Mohammed VI Polytechnique — Wikipédia"/>
          <p:cNvPicPr/>
          <p:nvPr/>
        </p:nvPicPr>
        <p:blipFill>
          <a:blip r:embed="rId2"/>
          <a:stretch/>
        </p:blipFill>
        <p:spPr>
          <a:xfrm>
            <a:off x="7802640" y="0"/>
            <a:ext cx="2276640" cy="155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ZoneTexte 5"/>
          <p:cNvSpPr/>
          <p:nvPr/>
        </p:nvSpPr>
        <p:spPr>
          <a:xfrm>
            <a:off x="1762560" y="4534560"/>
            <a:ext cx="6553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Amine Sijilmassi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ZoneTexte 6"/>
          <p:cNvSpPr/>
          <p:nvPr/>
        </p:nvSpPr>
        <p:spPr>
          <a:xfrm>
            <a:off x="0" y="36313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Week 1: Introduction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ZoneTexte 7"/>
          <p:cNvSpPr/>
          <p:nvPr/>
        </p:nvSpPr>
        <p:spPr>
          <a:xfrm>
            <a:off x="1762560" y="4814280"/>
            <a:ext cx="6553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amine.sijilmassi@um6p.ma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ZoneTexte 1"/>
          <p:cNvSpPr/>
          <p:nvPr/>
        </p:nvSpPr>
        <p:spPr>
          <a:xfrm>
            <a:off x="0" y="235152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PART 1: Practical details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ZoneTexte 2"/>
          <p:cNvSpPr/>
          <p:nvPr/>
        </p:nvSpPr>
        <p:spPr>
          <a:xfrm>
            <a:off x="0" y="360"/>
            <a:ext cx="10079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4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Course principles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ZoneTexte 4"/>
          <p:cNvSpPr/>
          <p:nvPr/>
        </p:nvSpPr>
        <p:spPr>
          <a:xfrm>
            <a:off x="0" y="1268640"/>
            <a:ext cx="65538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1. « Social sciences »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ZoneTexte 10"/>
          <p:cNvSpPr/>
          <p:nvPr/>
        </p:nvSpPr>
        <p:spPr>
          <a:xfrm>
            <a:off x="0" y="3419280"/>
            <a:ext cx="774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4. Thinking like a social scientist is a skill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ZoneTexte 11"/>
          <p:cNvSpPr/>
          <p:nvPr/>
        </p:nvSpPr>
        <p:spPr>
          <a:xfrm>
            <a:off x="0" y="4139280"/>
            <a:ext cx="1008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5. What matters is what </a:t>
            </a:r>
            <a:r>
              <a:rPr lang="fr-MA" sz="2400" b="0" i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you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implement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ZoneTexte 12"/>
          <p:cNvSpPr/>
          <p:nvPr/>
        </p:nvSpPr>
        <p:spPr>
          <a:xfrm>
            <a:off x="0" y="2700000"/>
            <a:ext cx="6553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3. Not a list of theories and methods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ZoneTexte 30"/>
          <p:cNvSpPr/>
          <p:nvPr/>
        </p:nvSpPr>
        <p:spPr>
          <a:xfrm>
            <a:off x="0" y="1980000"/>
            <a:ext cx="100800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2. No distinction between theory and methods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oneTexte 13"/>
          <p:cNvSpPr/>
          <p:nvPr/>
        </p:nvSpPr>
        <p:spPr>
          <a:xfrm>
            <a:off x="0" y="360"/>
            <a:ext cx="1007964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Syllabus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06840" y="2678040"/>
            <a:ext cx="472968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fr-F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https://github.com/aminelasso/SOC501-2026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8"/>
          <p:cNvSpPr/>
          <p:nvPr/>
        </p:nvSpPr>
        <p:spPr>
          <a:xfrm>
            <a:off x="0" y="360"/>
            <a:ext cx="1007964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Organization of the class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ZoneTexte 9"/>
          <p:cNvSpPr/>
          <p:nvPr/>
        </p:nvSpPr>
        <p:spPr>
          <a:xfrm>
            <a:off x="0" y="1175400"/>
            <a:ext cx="1007964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(5 minutes) </a:t>
            </a:r>
            <a:r>
              <a:rPr lang="fr-MA" sz="21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short quizz </a:t>
            </a: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on Canvas on class material from the previous week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ZoneTexte 18"/>
          <p:cNvSpPr/>
          <p:nvPr/>
        </p:nvSpPr>
        <p:spPr>
          <a:xfrm>
            <a:off x="985" y="1727164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(~30 minutes) Lecture (or student presentations)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ZoneTexte 19"/>
          <p:cNvSpPr/>
          <p:nvPr/>
        </p:nvSpPr>
        <p:spPr>
          <a:xfrm>
            <a:off x="0" y="244872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(1h30-2h30) TD on a specific example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ZoneTexte 21"/>
          <p:cNvSpPr/>
          <p:nvPr/>
        </p:nvSpPr>
        <p:spPr>
          <a:xfrm>
            <a:off x="0" y="363024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Mandatory readings 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ZoneTexte 22"/>
          <p:cNvSpPr/>
          <p:nvPr/>
        </p:nvSpPr>
        <p:spPr>
          <a:xfrm>
            <a:off x="0" y="4131000"/>
            <a:ext cx="1007964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1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Add one observation in the weekly journal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ZoneTexte 23"/>
          <p:cNvSpPr/>
          <p:nvPr/>
        </p:nvSpPr>
        <p:spPr>
          <a:xfrm>
            <a:off x="0" y="306000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At home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ZoneTexte 24"/>
          <p:cNvSpPr/>
          <p:nvPr/>
        </p:nvSpPr>
        <p:spPr>
          <a:xfrm>
            <a:off x="0" y="72000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In class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ZoneTexte 14"/>
          <p:cNvSpPr/>
          <p:nvPr/>
        </p:nvSpPr>
        <p:spPr>
          <a:xfrm>
            <a:off x="0" y="360"/>
            <a:ext cx="10079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4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Evaluation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ZoneTexte 15"/>
          <p:cNvSpPr/>
          <p:nvPr/>
        </p:nvSpPr>
        <p:spPr>
          <a:xfrm>
            <a:off x="0" y="14551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(20%) 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Final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essay</a:t>
            </a: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(50 % </a:t>
            </a:r>
            <a:r>
              <a:rPr lang="fr-MA" sz="2400" b="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written</a:t>
            </a:r>
            <a:r>
              <a:rPr lang="fr-MA" sz="2400" b="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50 % oral)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ZoneTexte 16"/>
          <p:cNvSpPr/>
          <p:nvPr/>
        </p:nvSpPr>
        <p:spPr>
          <a:xfrm>
            <a:off x="0" y="19519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(30%)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Midterms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: 2-hour analysis of a paper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ZoneTexte 17"/>
          <p:cNvSpPr/>
          <p:nvPr/>
        </p:nvSpPr>
        <p:spPr>
          <a:xfrm>
            <a:off x="0" y="2448720"/>
            <a:ext cx="10079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(40%)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Final exam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: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3-hour analysis of a paper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ZoneTexte 20"/>
          <p:cNvSpPr/>
          <p:nvPr/>
        </p:nvSpPr>
        <p:spPr>
          <a:xfrm>
            <a:off x="0" y="2943360"/>
            <a:ext cx="100796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(10%) </a:t>
            </a:r>
            <a:r>
              <a:rPr lang="fr-MA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Participation &amp; attendance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Microsoft YaHei"/>
              </a:rPr>
              <a:t>(1/3 Class exercises ; 1/3 short tests ; </a:t>
            </a:r>
            <a:r>
              <a:rPr lang="fr-MA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1/3 Weekly Journal )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ZoneTexte 25"/>
          <p:cNvSpPr/>
          <p:nvPr/>
        </p:nvSpPr>
        <p:spPr>
          <a:xfrm>
            <a:off x="0" y="43416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FOR NEXT WEEK: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ZoneTexte 26"/>
          <p:cNvSpPr/>
          <p:nvPr/>
        </p:nvSpPr>
        <p:spPr>
          <a:xfrm>
            <a:off x="0" y="135504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Mandatory reading (see Syllabus)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ZoneTexte 27"/>
          <p:cNvSpPr/>
          <p:nvPr/>
        </p:nvSpPr>
        <p:spPr>
          <a:xfrm>
            <a:off x="0" y="206388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First addition to the « Weekly Journal »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ZoneTexte 28"/>
          <p:cNvSpPr/>
          <p:nvPr/>
        </p:nvSpPr>
        <p:spPr>
          <a:xfrm>
            <a:off x="360" y="2783880"/>
            <a:ext cx="1007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MA" sz="2400" b="0" u="none" strike="noStrike">
                <a:solidFill>
                  <a:srgbClr val="000000"/>
                </a:solidFill>
                <a:effectLst/>
                <a:uFillTx/>
                <a:latin typeface="Avenir Next LT Pro"/>
              </a:rPr>
              <a:t>Choose the topic of your final essay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ZoneTexte 29"/>
          <p:cNvSpPr/>
          <p:nvPr/>
        </p:nvSpPr>
        <p:spPr>
          <a:xfrm>
            <a:off x="0" y="2351520"/>
            <a:ext cx="10079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PART 2: What is social science?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2"/>
          <p:cNvSpPr/>
          <p:nvPr/>
        </p:nvSpPr>
        <p:spPr>
          <a:xfrm>
            <a:off x="3182486" y="2335919"/>
            <a:ext cx="3762814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2231" b="1">
                <a:solidFill>
                  <a:srgbClr val="000000"/>
                </a:solidFill>
                <a:latin typeface="Arial"/>
              </a:rPr>
              <a:t>Everyone</a:t>
            </a:r>
            <a:r>
              <a:rPr lang="fr-FR" sz="2231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2231">
                <a:solidFill>
                  <a:srgbClr val="000000"/>
                </a:solidFill>
                <a:latin typeface="Arial MT"/>
              </a:rPr>
              <a:t>talks</a:t>
            </a:r>
            <a:r>
              <a:rPr lang="fr-FR" sz="2231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31" spc="7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231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31" spc="-6">
                <a:solidFill>
                  <a:srgbClr val="000000"/>
                </a:solidFill>
                <a:latin typeface="Arial MT"/>
              </a:rPr>
              <a:t>society</a:t>
            </a:r>
            <a:endParaRPr lang="fr-FR" sz="223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object 3"/>
          <p:cNvPicPr/>
          <p:nvPr/>
        </p:nvPicPr>
        <p:blipFill>
          <a:blip r:embed="rId2"/>
          <a:stretch/>
        </p:blipFill>
        <p:spPr>
          <a:xfrm>
            <a:off x="287902" y="3001623"/>
            <a:ext cx="2863176" cy="20306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object 4"/>
          <p:cNvPicPr/>
          <p:nvPr/>
        </p:nvPicPr>
        <p:blipFill>
          <a:blip r:embed="rId3"/>
          <a:stretch/>
        </p:blipFill>
        <p:spPr>
          <a:xfrm>
            <a:off x="3225266" y="3022562"/>
            <a:ext cx="3515341" cy="198682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5"/>
          <p:cNvPicPr/>
          <p:nvPr/>
        </p:nvPicPr>
        <p:blipFill>
          <a:blip r:embed="rId4"/>
          <a:stretch/>
        </p:blipFill>
        <p:spPr>
          <a:xfrm>
            <a:off x="6943676" y="3001623"/>
            <a:ext cx="2586822" cy="203086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1003973"/>
          </a:xfrm>
          <a:prstGeom prst="rect">
            <a:avLst/>
          </a:prstGeom>
          <a:noFill/>
          <a:ln w="0">
            <a:noFill/>
          </a:ln>
        </p:spPr>
        <p:txBody>
          <a:bodyPr lIns="0" tIns="74910" rIns="0" bIns="0" anchor="t">
            <a:spAutoFit/>
          </a:bodyPr>
          <a:lstStyle/>
          <a:p>
            <a:pPr marL="1599626">
              <a:lnSpc>
                <a:spcPct val="100000"/>
              </a:lnSpc>
              <a:spcBef>
                <a:spcPts val="590"/>
              </a:spcBef>
            </a:pPr>
            <a:r>
              <a:rPr lang="fr-FR" sz="2808" b="1" spc="75">
                <a:solidFill>
                  <a:schemeClr val="dk1"/>
                </a:solidFill>
                <a:latin typeface="Arial"/>
              </a:rPr>
              <a:t>What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>
                <a:solidFill>
                  <a:schemeClr val="dk1"/>
                </a:solidFill>
                <a:latin typeface="Arial"/>
              </a:rPr>
              <a:t>does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75">
                <a:solidFill>
                  <a:schemeClr val="dk1"/>
                </a:solidFill>
                <a:latin typeface="Arial"/>
              </a:rPr>
              <a:t>it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53">
                <a:solidFill>
                  <a:schemeClr val="dk1"/>
                </a:solidFill>
                <a:latin typeface="Arial"/>
              </a:rPr>
              <a:t>mean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78">
                <a:solidFill>
                  <a:schemeClr val="dk1"/>
                </a:solidFill>
                <a:latin typeface="Arial"/>
              </a:rPr>
              <a:t>to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85">
                <a:solidFill>
                  <a:schemeClr val="dk1"/>
                </a:solidFill>
                <a:latin typeface="Arial"/>
              </a:rPr>
              <a:t>do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spc="-26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2808" b="1" spc="-78">
                <a:solidFill>
                  <a:schemeClr val="dk1"/>
                </a:solidFill>
                <a:latin typeface="Arial"/>
              </a:rPr>
              <a:t> </a:t>
            </a:r>
            <a:r>
              <a:rPr lang="fr-FR" sz="2808" b="1" i="1" u="sng" spc="-6">
                <a:solidFill>
                  <a:schemeClr val="dk1"/>
                </a:solidFill>
                <a:uFill>
                  <a:solidFill>
                    <a:srgbClr val="000000"/>
                  </a:solidFill>
                </a:uFill>
                <a:latin typeface="Trebuchet MS"/>
              </a:rPr>
              <a:t>science</a:t>
            </a:r>
            <a:r>
              <a:rPr lang="fr-FR" sz="2808" b="1" spc="-6">
                <a:solidFill>
                  <a:schemeClr val="dk1"/>
                </a:solidFill>
                <a:latin typeface="Arial"/>
              </a:rPr>
              <a:t>?</a:t>
            </a:r>
            <a:endParaRPr lang="fr-FR" sz="2808"/>
          </a:p>
          <a:p>
            <a:pPr marL="1621467">
              <a:lnSpc>
                <a:spcPct val="100000"/>
              </a:lnSpc>
              <a:spcBef>
                <a:spcPts val="539"/>
              </a:spcBef>
            </a:pPr>
            <a:r>
              <a:rPr lang="fr-FR" sz="2808" spc="-122">
                <a:solidFill>
                  <a:schemeClr val="dk1"/>
                </a:solidFill>
                <a:latin typeface="Arial MT"/>
              </a:rPr>
              <a:t>as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122">
                <a:solidFill>
                  <a:schemeClr val="dk1"/>
                </a:solidFill>
                <a:latin typeface="Arial MT"/>
              </a:rPr>
              <a:t>opposed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128">
                <a:solidFill>
                  <a:schemeClr val="dk1"/>
                </a:solidFill>
                <a:latin typeface="Arial MT"/>
              </a:rPr>
              <a:t>to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>
                <a:solidFill>
                  <a:schemeClr val="dk1"/>
                </a:solidFill>
                <a:latin typeface="Arial MT"/>
              </a:rPr>
              <a:t>just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78">
                <a:solidFill>
                  <a:schemeClr val="dk1"/>
                </a:solidFill>
                <a:latin typeface="Arial MT"/>
              </a:rPr>
              <a:t>“talking</a:t>
            </a:r>
            <a:r>
              <a:rPr lang="fr-FR" sz="2808" spc="-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98">
                <a:solidFill>
                  <a:schemeClr val="dk1"/>
                </a:solidFill>
                <a:latin typeface="Arial MT"/>
              </a:rPr>
              <a:t>about</a:t>
            </a:r>
            <a:r>
              <a:rPr lang="fr-FR" sz="2808" spc="-5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08" spc="-6">
                <a:solidFill>
                  <a:schemeClr val="dk1"/>
                </a:solidFill>
                <a:latin typeface="Arial MT"/>
              </a:rPr>
              <a:t>society”?</a:t>
            </a:r>
            <a:endParaRPr lang="fr-FR" sz="280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31BE5E80-2104-135D-8FB2-28E4BDCD2CB6}"/>
              </a:ext>
            </a:extLst>
          </p:cNvPr>
          <p:cNvSpPr/>
          <p:nvPr/>
        </p:nvSpPr>
        <p:spPr>
          <a:xfrm>
            <a:off x="-1" y="2335919"/>
            <a:ext cx="10080625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318" rIns="0" bIns="0" anchor="t">
            <a:spAutoFit/>
          </a:bodyPr>
          <a:lstStyle/>
          <a:p>
            <a:pPr marL="6318" algn="ctr">
              <a:spcBef>
                <a:spcPts val="50"/>
              </a:spcBef>
            </a:pPr>
            <a:r>
              <a:rPr lang="fr-FR" sz="2231" b="1" dirty="0">
                <a:solidFill>
                  <a:srgbClr val="000000"/>
                </a:solidFill>
                <a:latin typeface="Arial"/>
              </a:rPr>
              <a:t>Social science 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wants</a:t>
            </a:r>
            <a:r>
              <a:rPr lang="fr-FR" sz="2231" b="1" dirty="0">
                <a:solidFill>
                  <a:srgbClr val="000000"/>
                </a:solidFill>
                <a:latin typeface="Arial"/>
              </a:rPr>
              <a:t> to talk about society in a « 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disciplined</a:t>
            </a:r>
            <a:r>
              <a:rPr lang="fr-FR" sz="2231" b="1" dirty="0">
                <a:solidFill>
                  <a:srgbClr val="000000"/>
                </a:solidFill>
                <a:latin typeface="Arial"/>
              </a:rPr>
              <a:t> » </a:t>
            </a:r>
            <a:r>
              <a:rPr lang="fr-FR" sz="2231" b="1" dirty="0" err="1">
                <a:solidFill>
                  <a:srgbClr val="000000"/>
                </a:solidFill>
                <a:latin typeface="Arial"/>
              </a:rPr>
              <a:t>way</a:t>
            </a:r>
            <a:endParaRPr lang="fr-FR" sz="223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8446F48-D198-EFBC-40C3-80990EA2CC00}"/>
              </a:ext>
            </a:extLst>
          </p:cNvPr>
          <p:cNvSpPr/>
          <p:nvPr/>
        </p:nvSpPr>
        <p:spPr>
          <a:xfrm>
            <a:off x="0" y="3150471"/>
            <a:ext cx="10080625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318" rIns="0" bIns="0" anchor="t">
            <a:spAutoFit/>
          </a:bodyPr>
          <a:lstStyle/>
          <a:p>
            <a:pPr marL="6318" algn="ctr">
              <a:spcBef>
                <a:spcPts val="50"/>
              </a:spcBef>
            </a:pPr>
            <a:r>
              <a:rPr lang="fr-FR" sz="2231" dirty="0">
                <a:solidFill>
                  <a:srgbClr val="000000"/>
                </a:solidFill>
                <a:latin typeface="Arial"/>
              </a:rPr>
              <a:t>(or « </a:t>
            </a:r>
            <a:r>
              <a:rPr lang="fr-FR" sz="2231" dirty="0" err="1">
                <a:solidFill>
                  <a:srgbClr val="000000"/>
                </a:solidFill>
                <a:latin typeface="Arial"/>
              </a:rPr>
              <a:t>scientific</a:t>
            </a:r>
            <a:r>
              <a:rPr lang="fr-FR" sz="2231" dirty="0">
                <a:solidFill>
                  <a:srgbClr val="000000"/>
                </a:solidFill>
                <a:latin typeface="Arial"/>
              </a:rPr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351194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3121"/>
          </a:xfrm>
          <a:prstGeom prst="rect">
            <a:avLst/>
          </a:prstGeom>
          <a:noFill/>
          <a:ln w="0">
            <a:noFill/>
          </a:ln>
        </p:spPr>
        <p:txBody>
          <a:bodyPr lIns="0" tIns="158484" rIns="0" bIns="0" anchor="t">
            <a:spAutoFit/>
          </a:bodyPr>
          <a:lstStyle/>
          <a:p>
            <a:pPr marL="2925970">
              <a:lnSpc>
                <a:spcPct val="100000"/>
              </a:lnSpc>
              <a:spcBef>
                <a:spcPts val="63"/>
              </a:spcBef>
            </a:pPr>
            <a:r>
              <a:rPr lang="fr-FR" sz="3334" b="1" dirty="0">
                <a:solidFill>
                  <a:schemeClr val="dk1"/>
                </a:solidFill>
                <a:latin typeface="Arial"/>
              </a:rPr>
              <a:t>The</a:t>
            </a:r>
            <a:r>
              <a:rPr lang="fr-FR" sz="3334" b="1" spc="-153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dirty="0" err="1">
                <a:solidFill>
                  <a:schemeClr val="dk1"/>
                </a:solidFill>
                <a:latin typeface="Arial"/>
              </a:rPr>
              <a:t>scientific</a:t>
            </a:r>
            <a:r>
              <a:rPr lang="fr-FR" sz="3334" b="1" spc="-150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95" dirty="0" err="1">
                <a:solidFill>
                  <a:schemeClr val="dk1"/>
                </a:solidFill>
                <a:latin typeface="Arial"/>
              </a:rPr>
              <a:t>method</a:t>
            </a:r>
            <a:endParaRPr lang="fr-FR" sz="3334" dirty="0"/>
          </a:p>
        </p:txBody>
      </p:sp>
      <p:grpSp>
        <p:nvGrpSpPr>
          <p:cNvPr id="87" name="object 3"/>
          <p:cNvGrpSpPr/>
          <p:nvPr/>
        </p:nvGrpSpPr>
        <p:grpSpPr>
          <a:xfrm>
            <a:off x="3022016" y="1610469"/>
            <a:ext cx="3875089" cy="3210468"/>
            <a:chOff x="6026760" y="3211920"/>
            <a:chExt cx="7728480" cy="6402960"/>
          </a:xfrm>
        </p:grpSpPr>
        <p:pic>
          <p:nvPicPr>
            <p:cNvPr id="88" name="object 4"/>
            <p:cNvPicPr/>
            <p:nvPr/>
          </p:nvPicPr>
          <p:blipFill>
            <a:blip r:embed="rId2"/>
            <a:stretch/>
          </p:blipFill>
          <p:spPr>
            <a:xfrm>
              <a:off x="6026760" y="3211920"/>
              <a:ext cx="3880080" cy="640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" name="object 5"/>
            <p:cNvPicPr/>
            <p:nvPr/>
          </p:nvPicPr>
          <p:blipFill>
            <a:blip r:embed="rId3"/>
            <a:stretch/>
          </p:blipFill>
          <p:spPr>
            <a:xfrm>
              <a:off x="9875160" y="3270240"/>
              <a:ext cx="3880080" cy="6286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" name="object 6"/>
          <p:cNvSpPr/>
          <p:nvPr/>
        </p:nvSpPr>
        <p:spPr>
          <a:xfrm>
            <a:off x="3884471" y="4908842"/>
            <a:ext cx="363177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0">
                <a:solidFill>
                  <a:srgbClr val="000000"/>
                </a:solidFill>
                <a:latin typeface="Arial MT"/>
              </a:rPr>
              <a:t>1964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object 7"/>
          <p:cNvSpPr/>
          <p:nvPr/>
        </p:nvSpPr>
        <p:spPr>
          <a:xfrm>
            <a:off x="5634109" y="4908842"/>
            <a:ext cx="363177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0">
                <a:solidFill>
                  <a:srgbClr val="000000"/>
                </a:solidFill>
                <a:latin typeface="Arial MT"/>
              </a:rPr>
              <a:t>1970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3121"/>
          </a:xfrm>
          <a:prstGeom prst="rect">
            <a:avLst/>
          </a:prstGeom>
          <a:noFill/>
          <a:ln w="0">
            <a:noFill/>
          </a:ln>
        </p:spPr>
        <p:txBody>
          <a:bodyPr lIns="0" tIns="158484" rIns="0" bIns="0" anchor="t">
            <a:spAutoFit/>
          </a:bodyPr>
          <a:lstStyle/>
          <a:p>
            <a:pPr marL="2925970">
              <a:lnSpc>
                <a:spcPct val="100000"/>
              </a:lnSpc>
              <a:spcBef>
                <a:spcPts val="63"/>
              </a:spcBef>
            </a:pPr>
            <a:r>
              <a:rPr lang="fr-FR" sz="3334" b="1" dirty="0">
                <a:solidFill>
                  <a:schemeClr val="dk1"/>
                </a:solidFill>
                <a:latin typeface="Arial"/>
              </a:rPr>
              <a:t>The</a:t>
            </a:r>
            <a:r>
              <a:rPr lang="fr-FR" sz="3334" b="1" spc="-153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dirty="0" err="1">
                <a:solidFill>
                  <a:schemeClr val="dk1"/>
                </a:solidFill>
                <a:latin typeface="Arial"/>
              </a:rPr>
              <a:t>scientific</a:t>
            </a:r>
            <a:r>
              <a:rPr lang="fr-FR" sz="3334" b="1" spc="-150" dirty="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95" dirty="0" err="1">
                <a:solidFill>
                  <a:schemeClr val="dk1"/>
                </a:solidFill>
                <a:latin typeface="Arial"/>
              </a:rPr>
              <a:t>method</a:t>
            </a:r>
            <a:endParaRPr lang="fr-FR" sz="3334" dirty="0"/>
          </a:p>
        </p:txBody>
      </p:sp>
      <p:pic>
        <p:nvPicPr>
          <p:cNvPr id="93" name="object 3"/>
          <p:cNvPicPr/>
          <p:nvPr/>
        </p:nvPicPr>
        <p:blipFill>
          <a:blip r:embed="rId2"/>
          <a:stretch/>
        </p:blipFill>
        <p:spPr>
          <a:xfrm>
            <a:off x="6975986" y="1340433"/>
            <a:ext cx="2229602" cy="1145848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4" name="object 4"/>
          <p:cNvGrpSpPr/>
          <p:nvPr/>
        </p:nvGrpSpPr>
        <p:grpSpPr>
          <a:xfrm>
            <a:off x="1145303" y="703068"/>
            <a:ext cx="8229960" cy="4911911"/>
            <a:chOff x="2283840" y="1402200"/>
            <a:chExt cx="16413840" cy="9796320"/>
          </a:xfrm>
        </p:grpSpPr>
        <p:pic>
          <p:nvPicPr>
            <p:cNvPr id="95" name="object 5"/>
            <p:cNvPicPr/>
            <p:nvPr/>
          </p:nvPicPr>
          <p:blipFill>
            <a:blip r:embed="rId3"/>
            <a:stretch/>
          </p:blipFill>
          <p:spPr>
            <a:xfrm>
              <a:off x="2356920" y="2382480"/>
              <a:ext cx="9832680" cy="8001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object 6"/>
            <p:cNvPicPr/>
            <p:nvPr/>
          </p:nvPicPr>
          <p:blipFill>
            <a:blip r:embed="rId4"/>
            <a:stretch/>
          </p:blipFill>
          <p:spPr>
            <a:xfrm>
              <a:off x="2355120" y="1402200"/>
              <a:ext cx="16342560" cy="104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object 7"/>
            <p:cNvPicPr/>
            <p:nvPr/>
          </p:nvPicPr>
          <p:blipFill>
            <a:blip r:embed="rId5"/>
            <a:stretch/>
          </p:blipFill>
          <p:spPr>
            <a:xfrm>
              <a:off x="2283840" y="10011960"/>
              <a:ext cx="15849720" cy="1186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63715" y="160108"/>
            <a:ext cx="5260286" cy="553675"/>
          </a:xfrm>
          <a:prstGeom prst="rect">
            <a:avLst/>
          </a:prstGeom>
          <a:noFill/>
          <a:ln w="0">
            <a:noFill/>
          </a:ln>
        </p:spPr>
        <p:txBody>
          <a:bodyPr lIns="0" tIns="5776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pic>
        <p:nvPicPr>
          <p:cNvPr id="99" name="object 3"/>
          <p:cNvPicPr/>
          <p:nvPr/>
        </p:nvPicPr>
        <p:blipFill>
          <a:blip r:embed="rId2"/>
          <a:stretch/>
        </p:blipFill>
        <p:spPr>
          <a:xfrm>
            <a:off x="2259382" y="2422562"/>
            <a:ext cx="1267328" cy="192021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bject 4"/>
          <p:cNvSpPr/>
          <p:nvPr/>
        </p:nvSpPr>
        <p:spPr>
          <a:xfrm>
            <a:off x="2706854" y="4323464"/>
            <a:ext cx="433213" cy="235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1479" spc="-10">
                <a:solidFill>
                  <a:srgbClr val="000000"/>
                </a:solidFill>
                <a:latin typeface="Arial MT"/>
              </a:rPr>
              <a:t>1894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object 5"/>
          <p:cNvPicPr/>
          <p:nvPr/>
        </p:nvPicPr>
        <p:blipFill>
          <a:blip r:embed="rId3"/>
          <a:stretch/>
        </p:blipFill>
        <p:spPr>
          <a:xfrm>
            <a:off x="404870" y="2422562"/>
            <a:ext cx="1777436" cy="18388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object 6"/>
          <p:cNvSpPr/>
          <p:nvPr/>
        </p:nvSpPr>
        <p:spPr>
          <a:xfrm>
            <a:off x="260105" y="4189709"/>
            <a:ext cx="3878157" cy="1201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>
                <a:solidFill>
                  <a:srgbClr val="000000"/>
                </a:solidFill>
                <a:latin typeface="Arial"/>
              </a:rPr>
              <a:t>Emile</a:t>
            </a:r>
            <a:r>
              <a:rPr lang="fr-FR" sz="1404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26">
                <a:solidFill>
                  <a:srgbClr val="000000"/>
                </a:solidFill>
                <a:latin typeface="Arial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77615" algn="ctr">
              <a:lnSpc>
                <a:spcPct val="112000"/>
              </a:lnSpc>
              <a:spcBef>
                <a:spcPts val="496"/>
              </a:spcBef>
            </a:pPr>
            <a:r>
              <a:rPr lang="fr-FR" sz="1404" spc="33">
                <a:solidFill>
                  <a:srgbClr val="000000"/>
                </a:solidFill>
                <a:latin typeface="Arial MT"/>
              </a:rPr>
              <a:t>(founder</a:t>
            </a:r>
            <a:r>
              <a:rPr lang="fr-FR" sz="140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French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sociology)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246"/>
              </a:spcBef>
            </a:pPr>
            <a:r>
              <a:rPr lang="fr-FR" sz="1680" spc="70">
                <a:solidFill>
                  <a:srgbClr val="000000"/>
                </a:solidFill>
                <a:latin typeface="Arial MT"/>
              </a:rPr>
              <a:t>getting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80">
                <a:solidFill>
                  <a:srgbClr val="000000"/>
                </a:solidFill>
                <a:latin typeface="Arial MT"/>
              </a:rPr>
              <a:t>rid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63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680" spc="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b="1">
                <a:solidFill>
                  <a:srgbClr val="0076BA"/>
                </a:solidFill>
                <a:latin typeface="Arial"/>
              </a:rPr>
              <a:t>“prenotions”</a:t>
            </a:r>
            <a:r>
              <a:rPr lang="fr-FR" sz="1680" b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6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80" spc="-6">
                <a:solidFill>
                  <a:srgbClr val="000000"/>
                </a:solidFill>
                <a:latin typeface="Arial MT"/>
              </a:rPr>
              <a:t>establish</a:t>
            </a:r>
            <a:endParaRPr lang="fr-FR" sz="168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298"/>
              </a:spcBef>
            </a:pPr>
            <a:r>
              <a:rPr lang="fr-FR" sz="1680" b="1" spc="40">
                <a:solidFill>
                  <a:srgbClr val="000000"/>
                </a:solidFill>
                <a:latin typeface="Arial"/>
              </a:rPr>
              <a:t>objective</a:t>
            </a:r>
            <a:r>
              <a:rPr lang="fr-FR" sz="1680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680" b="1" spc="-6">
                <a:solidFill>
                  <a:srgbClr val="000000"/>
                </a:solidFill>
                <a:latin typeface="Arial"/>
              </a:rPr>
              <a:t>facts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bject 7"/>
          <p:cNvSpPr/>
          <p:nvPr/>
        </p:nvSpPr>
        <p:spPr>
          <a:xfrm>
            <a:off x="7115336" y="5231947"/>
            <a:ext cx="2364439" cy="2417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529">
                <a:solidFill>
                  <a:srgbClr val="000000"/>
                </a:solidFill>
                <a:latin typeface="Arial MT"/>
              </a:rPr>
              <a:t>“</a:t>
            </a:r>
            <a:r>
              <a:rPr lang="fr-FR" sz="1529" b="1">
                <a:solidFill>
                  <a:srgbClr val="0076BA"/>
                </a:solidFill>
                <a:latin typeface="Arial"/>
              </a:rPr>
              <a:t>sociologies</a:t>
            </a:r>
            <a:r>
              <a:rPr lang="fr-FR" sz="1529" b="1" spc="-48">
                <a:solidFill>
                  <a:srgbClr val="0076BA"/>
                </a:solidFill>
                <a:latin typeface="Arial"/>
              </a:rPr>
              <a:t> </a:t>
            </a:r>
            <a:r>
              <a:rPr lang="fr-FR" sz="1529" b="1" spc="-6">
                <a:solidFill>
                  <a:srgbClr val="0076BA"/>
                </a:solidFill>
                <a:latin typeface="Arial"/>
              </a:rPr>
              <a:t>spontanées</a:t>
            </a:r>
            <a:r>
              <a:rPr lang="fr-FR" sz="1529" spc="-6">
                <a:solidFill>
                  <a:srgbClr val="000000"/>
                </a:solidFill>
                <a:latin typeface="Arial MT"/>
              </a:rPr>
              <a:t>”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4" name="object 8"/>
          <p:cNvGrpSpPr/>
          <p:nvPr/>
        </p:nvGrpSpPr>
        <p:grpSpPr>
          <a:xfrm>
            <a:off x="6635372" y="2468591"/>
            <a:ext cx="3041515" cy="2216786"/>
            <a:chOff x="13233240" y="4923360"/>
            <a:chExt cx="6066000" cy="4421160"/>
          </a:xfrm>
        </p:grpSpPr>
        <p:pic>
          <p:nvPicPr>
            <p:cNvPr id="105" name="object 9"/>
            <p:cNvPicPr/>
            <p:nvPr/>
          </p:nvPicPr>
          <p:blipFill>
            <a:blip r:embed="rId4"/>
            <a:stretch/>
          </p:blipFill>
          <p:spPr>
            <a:xfrm>
              <a:off x="13233240" y="4923360"/>
              <a:ext cx="3063240" cy="4421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6" name="object 10"/>
            <p:cNvPicPr/>
            <p:nvPr/>
          </p:nvPicPr>
          <p:blipFill>
            <a:blip r:embed="rId5"/>
            <a:stretch/>
          </p:blipFill>
          <p:spPr>
            <a:xfrm>
              <a:off x="16293600" y="4923360"/>
              <a:ext cx="3005640" cy="4395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7" name="object 11"/>
          <p:cNvSpPr/>
          <p:nvPr/>
        </p:nvSpPr>
        <p:spPr>
          <a:xfrm>
            <a:off x="6640788" y="4790251"/>
            <a:ext cx="1525270" cy="2475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554" b="1">
                <a:solidFill>
                  <a:srgbClr val="000000"/>
                </a:solidFill>
                <a:latin typeface="Arial"/>
              </a:rPr>
              <a:t>Pierre</a:t>
            </a:r>
            <a:r>
              <a:rPr lang="fr-FR" sz="1554" b="1" spc="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554" b="1" spc="-6">
                <a:solidFill>
                  <a:srgbClr val="000000"/>
                </a:solidFill>
                <a:latin typeface="Arial"/>
              </a:rPr>
              <a:t>Bourdieu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12"/>
          <p:cNvSpPr/>
          <p:nvPr/>
        </p:nvSpPr>
        <p:spPr>
          <a:xfrm>
            <a:off x="8766779" y="4681045"/>
            <a:ext cx="328159" cy="235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1479" spc="-13">
                <a:solidFill>
                  <a:srgbClr val="000000"/>
                </a:solidFill>
                <a:latin typeface="Arial MT"/>
              </a:rPr>
              <a:t>196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object 13"/>
          <p:cNvSpPr/>
          <p:nvPr/>
        </p:nvSpPr>
        <p:spPr>
          <a:xfrm>
            <a:off x="717505" y="830325"/>
            <a:ext cx="8947830" cy="128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64060" indent="-2457923">
              <a:lnSpc>
                <a:spcPct val="114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981" spc="6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81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27">
                <a:solidFill>
                  <a:srgbClr val="000000"/>
                </a:solidFill>
                <a:latin typeface="Arial MT"/>
              </a:rPr>
              <a:t>specific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85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981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53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3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0">
                <a:solidFill>
                  <a:srgbClr val="000000"/>
                </a:solidFill>
                <a:latin typeface="Arial MT"/>
              </a:rPr>
              <a:t>everyone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26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intuitions</a:t>
            </a:r>
            <a:r>
              <a:rPr lang="fr-FR" sz="1981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78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 spc="20">
                <a:solidFill>
                  <a:srgbClr val="000000"/>
                </a:solidFill>
                <a:latin typeface="Arial"/>
              </a:rPr>
              <a:t>“folk-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1981" b="1" spc="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6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6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6">
                <a:solidFill>
                  <a:srgbClr val="000000"/>
                </a:solidFill>
                <a:latin typeface="Arial MT"/>
              </a:rPr>
              <a:t>works</a:t>
            </a:r>
            <a:endParaRPr lang="fr-FR" sz="1981">
              <a:solidFill>
                <a:srgbClr val="000000"/>
              </a:solidFill>
              <a:latin typeface="Arial"/>
            </a:endParaRPr>
          </a:p>
          <a:p>
            <a:pPr marL="1377607" indent="-291333">
              <a:lnSpc>
                <a:spcPct val="114000"/>
              </a:lnSpc>
              <a:spcBef>
                <a:spcPts val="191"/>
              </a:spcBef>
              <a:tabLst>
                <a:tab pos="0" algn="l"/>
              </a:tabLst>
            </a:pPr>
            <a:r>
              <a:rPr lang="fr-FR" sz="1655">
                <a:solidFill>
                  <a:srgbClr val="000000"/>
                </a:solidFill>
                <a:latin typeface="Arial MT"/>
              </a:rPr>
              <a:t>(e.g.</a:t>
            </a:r>
            <a:r>
              <a:rPr lang="fr-FR" sz="16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do,</a:t>
            </a:r>
            <a:r>
              <a:rPr lang="fr-FR" sz="16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655" spc="46">
                <a:solidFill>
                  <a:srgbClr val="000000"/>
                </a:solidFill>
                <a:latin typeface="Arial MT"/>
              </a:rPr>
              <a:t>groups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differently,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3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institutions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etc.)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63715" y="160108"/>
            <a:ext cx="5260286" cy="553675"/>
          </a:xfrm>
          <a:prstGeom prst="rect">
            <a:avLst/>
          </a:prstGeom>
          <a:noFill/>
          <a:ln w="0">
            <a:noFill/>
          </a:ln>
        </p:spPr>
        <p:txBody>
          <a:bodyPr lIns="0" tIns="5776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sp>
        <p:nvSpPr>
          <p:cNvPr id="111" name="object 3"/>
          <p:cNvSpPr/>
          <p:nvPr/>
        </p:nvSpPr>
        <p:spPr>
          <a:xfrm>
            <a:off x="717505" y="830324"/>
            <a:ext cx="8947830" cy="15624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64060" indent="-2457923">
              <a:lnSpc>
                <a:spcPct val="114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981" spc="6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81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27">
                <a:solidFill>
                  <a:srgbClr val="000000"/>
                </a:solidFill>
                <a:latin typeface="Arial MT"/>
              </a:rPr>
              <a:t>specific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85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981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53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3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30">
                <a:solidFill>
                  <a:srgbClr val="000000"/>
                </a:solidFill>
                <a:latin typeface="Arial MT"/>
              </a:rPr>
              <a:t>everyone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26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intuitions</a:t>
            </a:r>
            <a:r>
              <a:rPr lang="fr-FR" sz="1981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78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981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b="1" spc="20">
                <a:solidFill>
                  <a:srgbClr val="000000"/>
                </a:solidFill>
                <a:latin typeface="Arial"/>
              </a:rPr>
              <a:t>“folk- </a:t>
            </a:r>
            <a:r>
              <a:rPr lang="fr-FR" sz="1981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1981" b="1" spc="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981" spc="6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6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981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81" spc="-6">
                <a:solidFill>
                  <a:srgbClr val="000000"/>
                </a:solidFill>
                <a:latin typeface="Arial MT"/>
              </a:rPr>
              <a:t>works</a:t>
            </a:r>
            <a:endParaRPr lang="fr-FR" sz="198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0" algn="l"/>
              </a:tabLst>
            </a:pPr>
            <a:endParaRPr lang="fr-FR" sz="1981">
              <a:solidFill>
                <a:srgbClr val="000000"/>
              </a:solidFill>
              <a:latin typeface="Arial"/>
            </a:endParaRPr>
          </a:p>
          <a:p>
            <a:pPr marL="1377607" indent="-291333">
              <a:lnSpc>
                <a:spcPct val="114000"/>
              </a:lnSpc>
              <a:tabLst>
                <a:tab pos="0" algn="l"/>
              </a:tabLst>
            </a:pPr>
            <a:r>
              <a:rPr lang="fr-FR" sz="1655">
                <a:solidFill>
                  <a:srgbClr val="000000"/>
                </a:solidFill>
                <a:latin typeface="Arial MT"/>
              </a:rPr>
              <a:t>(e.g.</a:t>
            </a:r>
            <a:r>
              <a:rPr lang="fr-FR" sz="16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8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do,</a:t>
            </a:r>
            <a:r>
              <a:rPr lang="fr-FR" sz="16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7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6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655" spc="46">
                <a:solidFill>
                  <a:srgbClr val="000000"/>
                </a:solidFill>
                <a:latin typeface="Arial MT"/>
              </a:rPr>
              <a:t>groups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behave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differently,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50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43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6">
                <a:solidFill>
                  <a:srgbClr val="000000"/>
                </a:solidFill>
                <a:latin typeface="Arial MT"/>
              </a:rPr>
              <a:t>institutions</a:t>
            </a:r>
            <a:r>
              <a:rPr lang="fr-FR" sz="165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6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-6">
                <a:solidFill>
                  <a:srgbClr val="000000"/>
                </a:solidFill>
                <a:latin typeface="Arial MT"/>
              </a:rPr>
              <a:t>etc.)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object 4"/>
          <p:cNvPicPr/>
          <p:nvPr/>
        </p:nvPicPr>
        <p:blipFill>
          <a:blip r:embed="rId2"/>
          <a:stretch/>
        </p:blipFill>
        <p:spPr>
          <a:xfrm>
            <a:off x="696205" y="2950360"/>
            <a:ext cx="3236100" cy="26335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object 5"/>
          <p:cNvSpPr/>
          <p:nvPr/>
        </p:nvSpPr>
        <p:spPr>
          <a:xfrm>
            <a:off x="1626349" y="2705595"/>
            <a:ext cx="1376173" cy="222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404" b="1" spc="-6">
                <a:solidFill>
                  <a:srgbClr val="000000"/>
                </a:solidFill>
                <a:latin typeface="Arial"/>
              </a:rPr>
              <a:t>Systematic</a:t>
            </a:r>
            <a:r>
              <a:rPr lang="fr-FR" sz="1404" b="1" spc="-88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17">
                <a:solidFill>
                  <a:srgbClr val="000000"/>
                </a:solidFill>
                <a:latin typeface="Arial"/>
              </a:rPr>
              <a:t>data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object 6"/>
          <p:cNvPicPr/>
          <p:nvPr/>
        </p:nvPicPr>
        <p:blipFill>
          <a:blip r:embed="rId3"/>
          <a:stretch/>
        </p:blipFill>
        <p:spPr>
          <a:xfrm>
            <a:off x="4830139" y="3231226"/>
            <a:ext cx="5250178" cy="16592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object 7"/>
          <p:cNvSpPr/>
          <p:nvPr/>
        </p:nvSpPr>
        <p:spPr>
          <a:xfrm>
            <a:off x="5607214" y="2791696"/>
            <a:ext cx="3636821" cy="222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1404" b="1" spc="-13">
                <a:solidFill>
                  <a:srgbClr val="000000"/>
                </a:solidFill>
                <a:latin typeface="Arial"/>
              </a:rPr>
              <a:t>Folk-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theories</a:t>
            </a:r>
            <a:r>
              <a:rPr lang="fr-FR" sz="1404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based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on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404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-6">
                <a:solidFill>
                  <a:srgbClr val="000000"/>
                </a:solidFill>
                <a:latin typeface="Arial"/>
              </a:rPr>
              <a:t>anecdote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618198"/>
          </a:xfrm>
          <a:prstGeom prst="rect">
            <a:avLst/>
          </a:prstGeom>
          <a:noFill/>
          <a:ln w="0">
            <a:noFill/>
          </a:ln>
        </p:spPr>
        <p:txBody>
          <a:bodyPr lIns="0" tIns="69675" rIns="0" bIns="0" anchor="t">
            <a:spAutoFit/>
          </a:bodyPr>
          <a:lstStyle/>
          <a:p>
            <a:pPr marL="123826">
              <a:lnSpc>
                <a:spcPct val="100000"/>
              </a:lnSpc>
              <a:spcBef>
                <a:spcPts val="46"/>
              </a:spcBef>
            </a:pPr>
            <a:r>
              <a:rPr lang="fr-FR" sz="3560" b="1" spc="70">
                <a:solidFill>
                  <a:schemeClr val="dk1"/>
                </a:solidFill>
                <a:latin typeface="Arial"/>
              </a:rPr>
              <a:t>Ignoring</a:t>
            </a:r>
            <a:r>
              <a:rPr lang="fr-FR" sz="3560" b="1" spc="-92">
                <a:solidFill>
                  <a:schemeClr val="dk1"/>
                </a:solidFill>
                <a:latin typeface="Arial"/>
              </a:rPr>
              <a:t> </a:t>
            </a:r>
            <a:r>
              <a:rPr lang="fr-FR" sz="3560" b="1" spc="40">
                <a:solidFill>
                  <a:schemeClr val="dk1"/>
                </a:solidFill>
                <a:latin typeface="Arial"/>
              </a:rPr>
              <a:t>“folk-</a:t>
            </a:r>
            <a:r>
              <a:rPr lang="fr-FR" sz="3560" b="1" spc="-6">
                <a:solidFill>
                  <a:schemeClr val="dk1"/>
                </a:solidFill>
                <a:latin typeface="Arial"/>
              </a:rPr>
              <a:t>theories”</a:t>
            </a:r>
            <a:endParaRPr lang="fr-FR" sz="3560"/>
          </a:p>
        </p:txBody>
      </p:sp>
      <p:sp>
        <p:nvSpPr>
          <p:cNvPr id="117" name="object 3"/>
          <p:cNvSpPr/>
          <p:nvPr/>
        </p:nvSpPr>
        <p:spPr>
          <a:xfrm>
            <a:off x="522198" y="2497291"/>
            <a:ext cx="8851982" cy="8995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393860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2306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27">
                <a:solidFill>
                  <a:srgbClr val="000000"/>
                </a:solidFill>
                <a:latin typeface="Arial MT"/>
              </a:rPr>
              <a:t>scientific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33">
                <a:solidFill>
                  <a:srgbClr val="000000"/>
                </a:solidFill>
                <a:latin typeface="Arial MT"/>
              </a:rPr>
              <a:t>study</a:t>
            </a:r>
            <a:r>
              <a:rPr lang="fr-FR" sz="2306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8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306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306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spc="68">
                <a:solidFill>
                  <a:srgbClr val="000000"/>
                </a:solidFill>
                <a:latin typeface="Arial MT"/>
              </a:rPr>
              <a:t>phenomena</a:t>
            </a:r>
            <a:r>
              <a:rPr lang="fr-FR" sz="2306" spc="-6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must</a:t>
            </a:r>
            <a:r>
              <a:rPr lang="fr-FR" sz="2306" b="1" spc="-6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73">
                <a:solidFill>
                  <a:srgbClr val="000000"/>
                </a:solidFill>
                <a:latin typeface="Arial"/>
              </a:rPr>
              <a:t>begin</a:t>
            </a:r>
            <a:r>
              <a:rPr lang="fr-FR" sz="2306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91">
                <a:solidFill>
                  <a:srgbClr val="000000"/>
                </a:solidFill>
                <a:latin typeface="Arial"/>
              </a:rPr>
              <a:t>with</a:t>
            </a:r>
            <a:r>
              <a:rPr lang="fr-FR" sz="2306" b="1" spc="-6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-26">
                <a:solidFill>
                  <a:srgbClr val="000000"/>
                </a:solidFill>
                <a:latin typeface="Arial"/>
              </a:rPr>
              <a:t>a </a:t>
            </a:r>
            <a:r>
              <a:rPr lang="fr-FR" sz="2306" b="1" spc="46">
                <a:solidFill>
                  <a:srgbClr val="000000"/>
                </a:solidFill>
                <a:latin typeface="Arial"/>
              </a:rPr>
              <a:t>departure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43">
                <a:solidFill>
                  <a:srgbClr val="000000"/>
                </a:solidFill>
                <a:latin typeface="Arial"/>
              </a:rPr>
              <a:t>from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these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27">
                <a:solidFill>
                  <a:srgbClr val="000000"/>
                </a:solidFill>
                <a:latin typeface="Arial"/>
              </a:rPr>
              <a:t>“folk-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theories”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50">
                <a:solidFill>
                  <a:srgbClr val="000000"/>
                </a:solidFill>
                <a:latin typeface="Arial"/>
              </a:rPr>
              <a:t>about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91">
                <a:solidFill>
                  <a:srgbClr val="000000"/>
                </a:solidFill>
                <a:latin typeface="Arial"/>
              </a:rPr>
              <a:t>how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306" b="1" spc="-20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27">
                <a:solidFill>
                  <a:srgbClr val="000000"/>
                </a:solidFill>
                <a:latin typeface="Arial"/>
              </a:rPr>
              <a:t>works</a:t>
            </a:r>
            <a:endParaRPr lang="fr-FR" sz="2306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object 2"/>
          <p:cNvSpPr/>
          <p:nvPr/>
        </p:nvSpPr>
        <p:spPr>
          <a:xfrm>
            <a:off x="3135916" y="5064980"/>
            <a:ext cx="3553789" cy="3496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spcBef>
                <a:spcPts val="50"/>
              </a:spcBef>
            </a:pPr>
            <a:r>
              <a:rPr lang="fr-FR" sz="2231" u="sng" spc="-6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 MT"/>
                <a:hlinkClick r:id="rId2"/>
              </a:rPr>
              <a:t>https://www.gapminder.org/</a:t>
            </a:r>
            <a:endParaRPr lang="fr-FR" sz="223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object 3"/>
          <p:cNvPicPr/>
          <p:nvPr/>
        </p:nvPicPr>
        <p:blipFill>
          <a:blip r:embed="rId3"/>
          <a:stretch/>
        </p:blipFill>
        <p:spPr>
          <a:xfrm>
            <a:off x="1450537" y="1039711"/>
            <a:ext cx="7474184" cy="37962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55747"/>
          </a:xfrm>
          <a:prstGeom prst="rect">
            <a:avLst/>
          </a:prstGeom>
          <a:noFill/>
          <a:ln w="0">
            <a:noFill/>
          </a:ln>
        </p:spPr>
        <p:txBody>
          <a:bodyPr lIns="0" tIns="152708" rIns="0" bIns="0" anchor="t">
            <a:spAutoFit/>
          </a:bodyPr>
          <a:lstStyle/>
          <a:p>
            <a:pPr marL="231767">
              <a:lnSpc>
                <a:spcPct val="100000"/>
              </a:lnSpc>
              <a:spcBef>
                <a:spcPts val="56"/>
              </a:spcBef>
            </a:pPr>
            <a:r>
              <a:rPr lang="fr-FR" sz="3259" b="1" spc="-20">
                <a:solidFill>
                  <a:schemeClr val="dk1"/>
                </a:solidFill>
                <a:latin typeface="Arial"/>
              </a:rPr>
              <a:t>Science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0">
                <a:solidFill>
                  <a:schemeClr val="dk1"/>
                </a:solidFill>
                <a:latin typeface="Arial"/>
              </a:rPr>
              <a:t>can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88">
                <a:solidFill>
                  <a:schemeClr val="dk1"/>
                </a:solidFill>
                <a:latin typeface="Arial"/>
              </a:rPr>
              <a:t>yield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>
                <a:solidFill>
                  <a:schemeClr val="dk1"/>
                </a:solidFill>
                <a:latin typeface="Arial"/>
              </a:rPr>
              <a:t>counter-</a:t>
            </a:r>
            <a:r>
              <a:rPr lang="fr-FR" sz="3259" b="1" spc="56">
                <a:solidFill>
                  <a:schemeClr val="dk1"/>
                </a:solidFill>
                <a:latin typeface="Arial"/>
              </a:rPr>
              <a:t>intuitive</a:t>
            </a:r>
            <a:r>
              <a:rPr lang="fr-FR" sz="3259" b="1" spc="-11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6">
                <a:solidFill>
                  <a:schemeClr val="dk1"/>
                </a:solidFill>
                <a:latin typeface="Arial"/>
              </a:rPr>
              <a:t>results</a:t>
            </a:r>
            <a:endParaRPr lang="fr-FR" sz="3259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89165" y="159025"/>
            <a:ext cx="4080323" cy="521109"/>
          </a:xfrm>
          <a:prstGeom prst="rect">
            <a:avLst/>
          </a:prstGeom>
          <a:noFill/>
          <a:ln w="0">
            <a:noFill/>
          </a:ln>
        </p:spPr>
        <p:txBody>
          <a:bodyPr lIns="0" tIns="7942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3"/>
              </a:spcBef>
            </a:pPr>
            <a:r>
              <a:rPr lang="fr-FR" sz="3334" b="1" spc="48">
                <a:solidFill>
                  <a:schemeClr val="dk1"/>
                </a:solidFill>
                <a:latin typeface="Arial"/>
              </a:rPr>
              <a:t>Axiologic</a:t>
            </a:r>
            <a:r>
              <a:rPr lang="fr-FR" sz="3334" b="1" spc="-70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53">
                <a:solidFill>
                  <a:schemeClr val="dk1"/>
                </a:solidFill>
                <a:latin typeface="Arial"/>
              </a:rPr>
              <a:t>neutrality</a:t>
            </a:r>
            <a:endParaRPr lang="fr-FR" sz="3334"/>
          </a:p>
        </p:txBody>
      </p:sp>
      <p:grpSp>
        <p:nvGrpSpPr>
          <p:cNvPr id="122" name="object 3"/>
          <p:cNvGrpSpPr/>
          <p:nvPr/>
        </p:nvGrpSpPr>
        <p:grpSpPr>
          <a:xfrm>
            <a:off x="177" y="2085559"/>
            <a:ext cx="4775449" cy="3584294"/>
            <a:chOff x="0" y="4159440"/>
            <a:chExt cx="9524160" cy="7148520"/>
          </a:xfrm>
        </p:grpSpPr>
        <p:pic>
          <p:nvPicPr>
            <p:cNvPr id="123" name="object 4"/>
            <p:cNvPicPr/>
            <p:nvPr/>
          </p:nvPicPr>
          <p:blipFill>
            <a:blip r:embed="rId2"/>
            <a:stretch/>
          </p:blipFill>
          <p:spPr>
            <a:xfrm>
              <a:off x="0" y="4159440"/>
              <a:ext cx="4433760" cy="7148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4" name="object 5"/>
            <p:cNvPicPr/>
            <p:nvPr/>
          </p:nvPicPr>
          <p:blipFill>
            <a:blip r:embed="rId3"/>
            <a:stretch/>
          </p:blipFill>
          <p:spPr>
            <a:xfrm>
              <a:off x="3326760" y="4479120"/>
              <a:ext cx="6197400" cy="6828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5" name="object 6"/>
          <p:cNvSpPr/>
          <p:nvPr/>
        </p:nvSpPr>
        <p:spPr>
          <a:xfrm>
            <a:off x="266061" y="1076353"/>
            <a:ext cx="1628339" cy="8423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 spc="73">
                <a:solidFill>
                  <a:srgbClr val="000000"/>
                </a:solidFill>
                <a:latin typeface="Arial"/>
              </a:rPr>
              <a:t>Max</a:t>
            </a:r>
            <a:r>
              <a:rPr lang="fr-FR" sz="1404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36">
                <a:solidFill>
                  <a:srgbClr val="000000"/>
                </a:solidFill>
                <a:latin typeface="Arial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6318" algn="ctr">
              <a:lnSpc>
                <a:spcPct val="112000"/>
              </a:lnSpc>
              <a:spcBef>
                <a:spcPts val="496"/>
              </a:spcBef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(German</a:t>
            </a:r>
            <a:r>
              <a:rPr lang="fr-FR" sz="1404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8">
                <a:solidFill>
                  <a:srgbClr val="000000"/>
                </a:solidFill>
                <a:latin typeface="Arial MT"/>
              </a:rPr>
              <a:t>founder</a:t>
            </a:r>
            <a:r>
              <a:rPr lang="fr-FR" sz="1404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of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sociology)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7"/>
          <p:cNvSpPr/>
          <p:nvPr/>
        </p:nvSpPr>
        <p:spPr>
          <a:xfrm>
            <a:off x="4752702" y="893140"/>
            <a:ext cx="4891334" cy="17865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13000"/>
              </a:lnSpc>
              <a:spcBef>
                <a:spcPts val="48"/>
              </a:spcBef>
            </a:pPr>
            <a:r>
              <a:rPr lang="fr-FR" sz="1730" b="1" spc="26">
                <a:solidFill>
                  <a:srgbClr val="970E53"/>
                </a:solidFill>
                <a:latin typeface="Arial"/>
              </a:rPr>
              <a:t>Axiologic</a:t>
            </a:r>
            <a:r>
              <a:rPr lang="fr-FR" sz="1730" b="1" spc="-5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30">
                <a:solidFill>
                  <a:srgbClr val="970E53"/>
                </a:solidFill>
                <a:latin typeface="Arial"/>
              </a:rPr>
              <a:t>neutrality</a:t>
            </a:r>
            <a:r>
              <a:rPr lang="fr-FR" sz="1730" b="1" spc="-50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spc="141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730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30">
                <a:solidFill>
                  <a:srgbClr val="000000"/>
                </a:solidFill>
                <a:latin typeface="Arial"/>
              </a:rPr>
              <a:t>methodological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posture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36">
                <a:solidFill>
                  <a:srgbClr val="000000"/>
                </a:solidFill>
                <a:latin typeface="Arial MT"/>
              </a:rPr>
              <a:t>which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aims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at</a:t>
            </a:r>
            <a:r>
              <a:rPr lang="fr-FR" sz="1730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making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3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researcher </a:t>
            </a:r>
            <a:r>
              <a:rPr lang="fr-FR" sz="1730" b="1" spc="46">
                <a:solidFill>
                  <a:srgbClr val="000000"/>
                </a:solidFill>
                <a:latin typeface="Arial"/>
              </a:rPr>
              <a:t>aware</a:t>
            </a:r>
            <a:r>
              <a:rPr lang="fr-FR" sz="1730" b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40">
                <a:solidFill>
                  <a:srgbClr val="000000"/>
                </a:solidFill>
                <a:latin typeface="Arial"/>
              </a:rPr>
              <a:t>of</a:t>
            </a:r>
            <a:r>
              <a:rPr lang="fr-FR" sz="1730" b="1" spc="-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7">
                <a:solidFill>
                  <a:srgbClr val="000000"/>
                </a:solidFill>
                <a:latin typeface="Arial"/>
              </a:rPr>
              <a:t>his</a:t>
            </a:r>
            <a:r>
              <a:rPr lang="fr-FR" sz="1730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68">
                <a:solidFill>
                  <a:srgbClr val="000000"/>
                </a:solidFill>
                <a:latin typeface="Arial"/>
              </a:rPr>
              <a:t>own</a:t>
            </a:r>
            <a:r>
              <a:rPr lang="fr-FR" sz="1730" b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values</a:t>
            </a:r>
            <a:r>
              <a:rPr lang="fr-FR" sz="1730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78">
                <a:solidFill>
                  <a:srgbClr val="000000"/>
                </a:solidFill>
                <a:latin typeface="Arial MT"/>
              </a:rPr>
              <a:t>during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his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scientific 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work,</a:t>
            </a:r>
            <a:r>
              <a:rPr lang="fr-FR" sz="1730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5">
                <a:solidFill>
                  <a:srgbClr val="000000"/>
                </a:solidFill>
                <a:latin typeface="Arial MT"/>
              </a:rPr>
              <a:t>order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7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reduce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000000"/>
                </a:solidFill>
                <a:latin typeface="Arial MT"/>
              </a:rPr>
              <a:t>as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much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000000"/>
                </a:solidFill>
                <a:latin typeface="Arial MT"/>
              </a:rPr>
              <a:t>as</a:t>
            </a:r>
            <a:r>
              <a:rPr lang="fr-FR" sz="173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possible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37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biases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37">
                <a:solidFill>
                  <a:srgbClr val="000000"/>
                </a:solidFill>
                <a:latin typeface="Arial"/>
              </a:rPr>
              <a:t>that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7">
                <a:solidFill>
                  <a:srgbClr val="000000"/>
                </a:solidFill>
                <a:latin typeface="Arial"/>
              </a:rPr>
              <a:t>his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68">
                <a:solidFill>
                  <a:srgbClr val="000000"/>
                </a:solidFill>
                <a:latin typeface="Arial"/>
              </a:rPr>
              <a:t>own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value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27">
                <a:solidFill>
                  <a:srgbClr val="000000"/>
                </a:solidFill>
                <a:latin typeface="Arial"/>
              </a:rPr>
              <a:t>judgments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could </a:t>
            </a:r>
            <a:r>
              <a:rPr lang="fr-FR" sz="1730" b="1" spc="-23">
                <a:solidFill>
                  <a:srgbClr val="000000"/>
                </a:solidFill>
                <a:latin typeface="Arial"/>
              </a:rPr>
              <a:t>cause</a:t>
            </a:r>
            <a:r>
              <a:rPr lang="fr-FR" sz="1730" b="1" spc="-6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his</a:t>
            </a:r>
            <a:r>
              <a:rPr lang="fr-FR" sz="1730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research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object 8"/>
          <p:cNvSpPr/>
          <p:nvPr/>
        </p:nvSpPr>
        <p:spPr>
          <a:xfrm>
            <a:off x="4774904" y="3177616"/>
            <a:ext cx="5219853" cy="22579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13000"/>
              </a:lnSpc>
              <a:spcBef>
                <a:spcPts val="48"/>
              </a:spcBef>
            </a:pPr>
            <a:r>
              <a:rPr lang="fr-FR" sz="1730" spc="65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730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0">
                <a:solidFill>
                  <a:srgbClr val="000000"/>
                </a:solidFill>
                <a:latin typeface="Arial MT"/>
              </a:rPr>
              <a:t>should</a:t>
            </a:r>
            <a:r>
              <a:rPr lang="fr-FR" sz="173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7">
                <a:solidFill>
                  <a:srgbClr val="970E53"/>
                </a:solidFill>
                <a:latin typeface="Arial"/>
              </a:rPr>
              <a:t>“treat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970E53"/>
                </a:solidFill>
                <a:latin typeface="Arial"/>
              </a:rPr>
              <a:t>social</a:t>
            </a:r>
            <a:r>
              <a:rPr lang="fr-FR" sz="1730" b="1" spc="-4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970E53"/>
                </a:solidFill>
                <a:latin typeface="Arial"/>
              </a:rPr>
              <a:t>facts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 spc="-63">
                <a:solidFill>
                  <a:srgbClr val="970E53"/>
                </a:solidFill>
                <a:latin typeface="Arial"/>
              </a:rPr>
              <a:t>as</a:t>
            </a:r>
            <a:r>
              <a:rPr lang="fr-FR" sz="1730" b="1" spc="-43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970E53"/>
                </a:solidFill>
                <a:latin typeface="Arial"/>
              </a:rPr>
              <a:t>things”</a:t>
            </a:r>
            <a:r>
              <a:rPr lang="fr-FR" sz="1730" b="1" spc="-4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(the</a:t>
            </a:r>
            <a:r>
              <a:rPr lang="fr-FR" sz="173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5">
                <a:solidFill>
                  <a:srgbClr val="000000"/>
                </a:solidFill>
                <a:latin typeface="Arial MT"/>
              </a:rPr>
              <a:t>word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730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730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0">
                <a:solidFill>
                  <a:srgbClr val="000000"/>
                </a:solidFill>
                <a:latin typeface="Arial MT"/>
              </a:rPr>
              <a:t>Durkheim)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606"/>
              </a:spcBef>
            </a:pP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6318">
              <a:lnSpc>
                <a:spcPct val="113000"/>
              </a:lnSpc>
            </a:pPr>
            <a:r>
              <a:rPr lang="fr-FR" sz="1730" spc="-13">
                <a:solidFill>
                  <a:srgbClr val="000000"/>
                </a:solidFill>
                <a:latin typeface="Arial MT"/>
              </a:rPr>
              <a:t>This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85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especially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6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730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0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92">
                <a:solidFill>
                  <a:srgbClr val="000000"/>
                </a:solidFill>
                <a:latin typeface="Arial MT"/>
              </a:rPr>
              <a:t>doing</a:t>
            </a:r>
            <a:r>
              <a:rPr lang="fr-FR" sz="1730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social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-10">
                <a:solidFill>
                  <a:srgbClr val="000000"/>
                </a:solidFill>
                <a:latin typeface="Arial MT"/>
              </a:rPr>
              <a:t>sciences,</a:t>
            </a:r>
            <a:r>
              <a:rPr lang="fr-FR" sz="173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we’re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talking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human </a:t>
            </a:r>
            <a:r>
              <a:rPr lang="fr-FR" sz="1730" b="1" spc="43">
                <a:solidFill>
                  <a:srgbClr val="000000"/>
                </a:solidFill>
                <a:latin typeface="Arial"/>
              </a:rPr>
              <a:t>phenomena</a:t>
            </a:r>
            <a:r>
              <a:rPr lang="fr-FR" sz="173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6">
                <a:solidFill>
                  <a:srgbClr val="000000"/>
                </a:solidFill>
                <a:latin typeface="Arial MT"/>
              </a:rPr>
              <a:t>instinctively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8">
                <a:solidFill>
                  <a:srgbClr val="000000"/>
                </a:solidFill>
                <a:latin typeface="Arial MT"/>
              </a:rPr>
              <a:t>trigger</a:t>
            </a:r>
            <a:r>
              <a:rPr lang="fr-FR" sz="1730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value </a:t>
            </a:r>
            <a:r>
              <a:rPr lang="fr-FR" sz="1730" spc="53">
                <a:solidFill>
                  <a:srgbClr val="000000"/>
                </a:solidFill>
                <a:latin typeface="Arial MT"/>
              </a:rPr>
              <a:t>judgements</a:t>
            </a:r>
            <a:r>
              <a:rPr lang="fr-FR" sz="1730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48">
                <a:solidFill>
                  <a:srgbClr val="000000"/>
                </a:solidFill>
                <a:latin typeface="Arial"/>
              </a:rPr>
              <a:t>(e.g.</a:t>
            </a:r>
            <a:r>
              <a:rPr lang="fr-FR" sz="1730" b="1" spc="-68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33">
                <a:solidFill>
                  <a:srgbClr val="D31876"/>
                </a:solidFill>
                <a:latin typeface="Arial"/>
              </a:rPr>
              <a:t>poverty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,</a:t>
            </a:r>
            <a:r>
              <a:rPr lang="fr-FR" sz="1730" b="1" spc="-7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D31876"/>
                </a:solidFill>
                <a:latin typeface="Arial"/>
              </a:rPr>
              <a:t>sexuality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,</a:t>
            </a:r>
            <a:r>
              <a:rPr lang="fr-FR" sz="1730" b="1" spc="-68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D31876"/>
                </a:solidFill>
                <a:latin typeface="Arial"/>
              </a:rPr>
              <a:t>politics</a:t>
            </a:r>
            <a:r>
              <a:rPr lang="fr-FR" sz="1730" b="1" spc="-6">
                <a:solidFill>
                  <a:srgbClr val="000000"/>
                </a:solidFill>
                <a:latin typeface="Arial"/>
              </a:rPr>
              <a:t>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72739" y="169675"/>
            <a:ext cx="7853607" cy="521109"/>
          </a:xfrm>
          <a:prstGeom prst="rect">
            <a:avLst/>
          </a:prstGeom>
          <a:noFill/>
          <a:ln w="0">
            <a:noFill/>
          </a:ln>
        </p:spPr>
        <p:txBody>
          <a:bodyPr lIns="0" tIns="7942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sp>
        <p:nvSpPr>
          <p:cNvPr id="129" name="object 3"/>
          <p:cNvSpPr/>
          <p:nvPr/>
        </p:nvSpPr>
        <p:spPr>
          <a:xfrm>
            <a:off x="230862" y="1194404"/>
            <a:ext cx="9509563" cy="4034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930" spc="63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930" spc="-102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b="1" spc="27">
                <a:solidFill>
                  <a:srgbClr val="970E53"/>
                </a:solidFill>
                <a:latin typeface="Arial"/>
              </a:rPr>
              <a:t>descriptive</a:t>
            </a:r>
            <a:r>
              <a:rPr lang="fr-FR" sz="1930" b="1" spc="-70">
                <a:solidFill>
                  <a:srgbClr val="970E53"/>
                </a:solidFill>
                <a:latin typeface="Arial"/>
              </a:rPr>
              <a:t> </a:t>
            </a:r>
            <a:r>
              <a:rPr lang="fr-FR" sz="1930" spc="36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6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3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-27">
                <a:solidFill>
                  <a:srgbClr val="212338"/>
                </a:solidFill>
                <a:latin typeface="Arial MT"/>
              </a:rPr>
              <a:t>asserts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33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93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spc="57">
                <a:solidFill>
                  <a:srgbClr val="212338"/>
                </a:solidFill>
                <a:latin typeface="Arial MT"/>
              </a:rPr>
              <a:t>“X”</a:t>
            </a:r>
            <a:r>
              <a:rPr lang="fr-FR" sz="1930" spc="-7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930" b="1">
                <a:solidFill>
                  <a:srgbClr val="970E53"/>
                </a:solidFill>
                <a:latin typeface="Arial"/>
              </a:rPr>
              <a:t>IS</a:t>
            </a:r>
            <a:r>
              <a:rPr lang="fr-FR" sz="1930" b="1" spc="-68">
                <a:solidFill>
                  <a:srgbClr val="970E53"/>
                </a:solidFill>
                <a:latin typeface="Arial"/>
              </a:rPr>
              <a:t> </a:t>
            </a:r>
            <a:r>
              <a:rPr lang="fr-FR" sz="1930" b="1" spc="57">
                <a:solidFill>
                  <a:srgbClr val="212338"/>
                </a:solidFill>
                <a:latin typeface="Arial"/>
              </a:rPr>
              <a:t>the</a:t>
            </a:r>
            <a:r>
              <a:rPr lang="fr-FR" sz="1930" b="1" spc="-68">
                <a:solidFill>
                  <a:srgbClr val="212338"/>
                </a:solidFill>
                <a:latin typeface="Arial"/>
              </a:rPr>
              <a:t> </a:t>
            </a:r>
            <a:r>
              <a:rPr lang="fr-FR" sz="1930" b="1" spc="-6">
                <a:solidFill>
                  <a:srgbClr val="212338"/>
                </a:solidFill>
                <a:latin typeface="Arial"/>
              </a:rPr>
              <a:t>case</a:t>
            </a:r>
            <a:r>
              <a:rPr lang="fr-FR" sz="1930" spc="-6">
                <a:solidFill>
                  <a:srgbClr val="212338"/>
                </a:solidFill>
                <a:latin typeface="Arial MT"/>
              </a:rPr>
              <a:t>.</a:t>
            </a:r>
            <a:endParaRPr lang="fr-FR" sz="1930">
              <a:solidFill>
                <a:srgbClr val="000000"/>
              </a:solidFill>
              <a:latin typeface="Arial"/>
            </a:endParaRPr>
          </a:p>
          <a:p>
            <a:pPr marL="659381">
              <a:spcBef>
                <a:spcPts val="1490"/>
              </a:spcBef>
            </a:pPr>
            <a:r>
              <a:rPr lang="fr-FR" sz="1780" spc="-85">
                <a:solidFill>
                  <a:srgbClr val="212338"/>
                </a:solidFill>
                <a:latin typeface="Segoe UI Emoji"/>
              </a:rPr>
              <a:t>➡</a:t>
            </a:r>
            <a:r>
              <a:rPr lang="fr-FR" sz="1780" b="1" spc="-85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780" spc="-85">
                <a:solidFill>
                  <a:srgbClr val="212338"/>
                </a:solidFill>
                <a:latin typeface="Arial MT"/>
              </a:rPr>
              <a:t>:</a:t>
            </a:r>
            <a:r>
              <a:rPr lang="fr-FR" sz="178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The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6">
                <a:solidFill>
                  <a:srgbClr val="212338"/>
                </a:solidFill>
                <a:latin typeface="Arial MT"/>
              </a:rPr>
              <a:t>distribution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212338"/>
                </a:solidFill>
                <a:latin typeface="Arial MT"/>
              </a:rPr>
              <a:t>of</a:t>
            </a:r>
            <a:r>
              <a:rPr lang="fr-FR" sz="1780" spc="27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wealth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212338"/>
                </a:solidFill>
                <a:latin typeface="Arial MT"/>
              </a:rPr>
              <a:t>in</a:t>
            </a:r>
            <a:r>
              <a:rPr lang="fr-FR" sz="1780" spc="-2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society</a:t>
            </a:r>
            <a:r>
              <a:rPr lang="fr-FR" sz="1780" spc="-17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4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212338"/>
                </a:solidFill>
                <a:latin typeface="Arial MT"/>
              </a:rPr>
              <a:t>X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42"/>
              </a:spcBef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175450"/>
            <a:r>
              <a:rPr lang="fr-FR" sz="1780" spc="57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780" spc="-6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970E53"/>
                </a:solidFill>
                <a:latin typeface="Arial"/>
              </a:rPr>
              <a:t>normative</a:t>
            </a:r>
            <a:r>
              <a:rPr lang="fr-FR" sz="1780" b="1" spc="-36">
                <a:solidFill>
                  <a:srgbClr val="970E53"/>
                </a:solidFill>
                <a:latin typeface="Arial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a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claim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(or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“</a:t>
            </a:r>
            <a:r>
              <a:rPr lang="fr-FR" sz="1780" spc="37">
                <a:solidFill>
                  <a:srgbClr val="970E53"/>
                </a:solidFill>
                <a:latin typeface="Arial MT"/>
              </a:rPr>
              <a:t>prescriptive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”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claim)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-27">
                <a:solidFill>
                  <a:srgbClr val="212338"/>
                </a:solidFill>
                <a:latin typeface="Arial MT"/>
              </a:rPr>
              <a:t>asserts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that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6">
                <a:solidFill>
                  <a:srgbClr val="212338"/>
                </a:solidFill>
                <a:latin typeface="Arial MT"/>
              </a:rPr>
              <a:t>“X”</a:t>
            </a:r>
            <a:r>
              <a:rPr lang="fr-FR" sz="178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970E53"/>
                </a:solidFill>
                <a:latin typeface="Arial"/>
              </a:rPr>
              <a:t>OUGHT</a:t>
            </a:r>
            <a:r>
              <a:rPr lang="fr-FR" sz="1780" b="1" spc="-80">
                <a:solidFill>
                  <a:srgbClr val="970E53"/>
                </a:solidFill>
                <a:latin typeface="Arial"/>
              </a:rPr>
              <a:t> </a:t>
            </a:r>
            <a:r>
              <a:rPr lang="fr-FR" sz="1780" b="1" spc="50">
                <a:solidFill>
                  <a:srgbClr val="212338"/>
                </a:solidFill>
                <a:latin typeface="Arial"/>
              </a:rPr>
              <a:t>to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70">
                <a:solidFill>
                  <a:srgbClr val="212338"/>
                </a:solidFill>
                <a:latin typeface="Arial"/>
              </a:rPr>
              <a:t>be</a:t>
            </a:r>
            <a:r>
              <a:rPr lang="fr-FR" sz="1780" b="1" spc="-3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43">
                <a:solidFill>
                  <a:srgbClr val="212338"/>
                </a:solidFill>
                <a:latin typeface="Arial"/>
              </a:rPr>
              <a:t>the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212338"/>
                </a:solidFill>
                <a:latin typeface="Arial"/>
              </a:rPr>
              <a:t>case</a:t>
            </a:r>
            <a:r>
              <a:rPr lang="fr-FR" sz="1780" spc="-6">
                <a:solidFill>
                  <a:srgbClr val="212338"/>
                </a:solidFill>
                <a:latin typeface="Arial MT"/>
              </a:rPr>
              <a:t>.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41"/>
              </a:spcBef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53604" indent="-94584">
              <a:lnSpc>
                <a:spcPct val="113000"/>
              </a:lnSpc>
              <a:tabLst>
                <a:tab pos="0" algn="l"/>
              </a:tabLst>
            </a:pPr>
            <a:r>
              <a:rPr lang="fr-FR" sz="1780" spc="-85">
                <a:solidFill>
                  <a:srgbClr val="212338"/>
                </a:solidFill>
                <a:latin typeface="Segoe UI Emoji"/>
              </a:rPr>
              <a:t>➡</a:t>
            </a:r>
            <a:r>
              <a:rPr lang="fr-FR" sz="1780" b="1" spc="-85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780" spc="-85">
                <a:solidFill>
                  <a:srgbClr val="212338"/>
                </a:solidFill>
                <a:latin typeface="Arial MT"/>
              </a:rPr>
              <a:t>:</a:t>
            </a:r>
            <a:r>
              <a:rPr lang="fr-FR" sz="1780" spc="-80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The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6">
                <a:solidFill>
                  <a:srgbClr val="212338"/>
                </a:solidFill>
                <a:latin typeface="Arial MT"/>
              </a:rPr>
              <a:t>distribution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212338"/>
                </a:solidFill>
                <a:latin typeface="Arial MT"/>
              </a:rPr>
              <a:t>of</a:t>
            </a:r>
            <a:r>
              <a:rPr lang="fr-FR" sz="1780" spc="1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wealth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212338"/>
                </a:solidFill>
                <a:latin typeface="Arial MT"/>
              </a:rPr>
              <a:t>in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society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>
                <a:solidFill>
                  <a:srgbClr val="212338"/>
                </a:solidFill>
                <a:latin typeface="Arial MT"/>
              </a:rPr>
              <a:t>is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212338"/>
                </a:solidFill>
                <a:latin typeface="Arial"/>
              </a:rPr>
              <a:t>unjust</a:t>
            </a:r>
            <a:r>
              <a:rPr lang="fr-FR" sz="178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80" spc="37">
                <a:solidFill>
                  <a:srgbClr val="212338"/>
                </a:solidFill>
                <a:latin typeface="Arial MT"/>
              </a:rPr>
              <a:t>and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43">
                <a:solidFill>
                  <a:srgbClr val="212338"/>
                </a:solidFill>
                <a:latin typeface="Arial MT"/>
              </a:rPr>
              <a:t>should</a:t>
            </a:r>
            <a:r>
              <a:rPr lang="fr-FR" sz="178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80" spc="65">
                <a:solidFill>
                  <a:srgbClr val="212338"/>
                </a:solidFill>
                <a:latin typeface="Arial MT"/>
              </a:rPr>
              <a:t>be </a:t>
            </a:r>
            <a:r>
              <a:rPr lang="fr-FR" sz="1780" spc="43">
                <a:solidFill>
                  <a:srgbClr val="212338"/>
                </a:solidFill>
                <a:latin typeface="Arial MT"/>
              </a:rPr>
              <a:t>changed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84"/>
              </a:spcBef>
              <a:tabLst>
                <a:tab pos="0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197471">
              <a:lnSpc>
                <a:spcPct val="113000"/>
              </a:lnSpc>
              <a:tabLst>
                <a:tab pos="0" algn="l"/>
              </a:tabLst>
            </a:pPr>
            <a:r>
              <a:rPr lang="fr-FR" sz="1730">
                <a:solidFill>
                  <a:srgbClr val="212338"/>
                </a:solidFill>
                <a:latin typeface="Arial MT"/>
              </a:rPr>
              <a:t>Social</a:t>
            </a:r>
            <a:r>
              <a:rPr lang="fr-FR" sz="173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science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692">
                <a:solidFill>
                  <a:srgbClr val="212338"/>
                </a:solidFill>
                <a:latin typeface="Arial MT"/>
              </a:rPr>
              <a:t>—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just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56">
                <a:solidFill>
                  <a:srgbClr val="212338"/>
                </a:solidFill>
                <a:latin typeface="Arial MT"/>
              </a:rPr>
              <a:t>as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>
                <a:solidFill>
                  <a:srgbClr val="212338"/>
                </a:solidFill>
                <a:latin typeface="Arial MT"/>
              </a:rPr>
              <a:t>sciences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212338"/>
                </a:solidFill>
                <a:latin typeface="Arial MT"/>
              </a:rPr>
              <a:t>more</a:t>
            </a:r>
            <a:r>
              <a:rPr lang="fr-FR" sz="1730" spc="-3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56">
                <a:solidFill>
                  <a:srgbClr val="212338"/>
                </a:solidFill>
                <a:latin typeface="Arial MT"/>
              </a:rPr>
              <a:t>broadly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-692">
                <a:solidFill>
                  <a:srgbClr val="212338"/>
                </a:solidFill>
                <a:latin typeface="Arial MT"/>
              </a:rPr>
              <a:t>—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212338"/>
                </a:solidFill>
                <a:latin typeface="Arial MT"/>
              </a:rPr>
              <a:t>only</a:t>
            </a:r>
            <a:r>
              <a:rPr lang="fr-FR" sz="1730" spc="-33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aims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36">
                <a:solidFill>
                  <a:srgbClr val="212338"/>
                </a:solidFill>
                <a:latin typeface="Arial"/>
              </a:rPr>
              <a:t>at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producing</a:t>
            </a:r>
            <a:r>
              <a:rPr lang="fr-FR" sz="1730" b="1" spc="-3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40">
                <a:solidFill>
                  <a:srgbClr val="212338"/>
                </a:solidFill>
                <a:latin typeface="Arial"/>
              </a:rPr>
              <a:t>true</a:t>
            </a:r>
            <a:r>
              <a:rPr lang="fr-FR" sz="1730" b="1" spc="-33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-6">
                <a:solidFill>
                  <a:srgbClr val="212338"/>
                </a:solidFill>
                <a:latin typeface="Arial"/>
              </a:rPr>
              <a:t>descriptions </a:t>
            </a:r>
            <a:r>
              <a:rPr lang="fr-FR" sz="1730" b="1" spc="40">
                <a:solidFill>
                  <a:srgbClr val="212338"/>
                </a:solidFill>
                <a:latin typeface="Arial"/>
              </a:rPr>
              <a:t>of</a:t>
            </a:r>
            <a:r>
              <a:rPr lang="fr-FR" sz="1730" b="1" spc="-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53">
                <a:solidFill>
                  <a:srgbClr val="212338"/>
                </a:solidFill>
                <a:latin typeface="Arial"/>
              </a:rPr>
              <a:t>what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-46">
                <a:solidFill>
                  <a:srgbClr val="212338"/>
                </a:solidFill>
                <a:latin typeface="Arial"/>
              </a:rPr>
              <a:t>is </a:t>
            </a:r>
            <a:r>
              <a:rPr lang="fr-FR" sz="1730" b="1" spc="-692">
                <a:solidFill>
                  <a:srgbClr val="212338"/>
                </a:solidFill>
                <a:latin typeface="Arial"/>
              </a:rPr>
              <a:t>—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36">
                <a:solidFill>
                  <a:srgbClr val="212338"/>
                </a:solidFill>
                <a:latin typeface="Arial"/>
              </a:rPr>
              <a:t>not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26">
                <a:solidFill>
                  <a:srgbClr val="212338"/>
                </a:solidFill>
                <a:latin typeface="Arial"/>
              </a:rPr>
              <a:t>moral</a:t>
            </a:r>
            <a:r>
              <a:rPr lang="fr-FR" sz="1730" b="1" spc="-46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27">
                <a:solidFill>
                  <a:srgbClr val="212338"/>
                </a:solidFill>
                <a:latin typeface="Arial"/>
              </a:rPr>
              <a:t>judgements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spc="60">
                <a:solidFill>
                  <a:srgbClr val="212338"/>
                </a:solidFill>
                <a:latin typeface="Arial MT"/>
              </a:rPr>
              <a:t>about</a:t>
            </a:r>
            <a:r>
              <a:rPr lang="fr-FR" sz="1730" spc="-48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212338"/>
                </a:solidFill>
                <a:latin typeface="Arial MT"/>
              </a:rPr>
              <a:t>what</a:t>
            </a:r>
            <a:r>
              <a:rPr lang="fr-FR" sz="1730" spc="-46">
                <a:solidFill>
                  <a:srgbClr val="212338"/>
                </a:solidFill>
                <a:latin typeface="Arial MT"/>
              </a:rPr>
              <a:t> </a:t>
            </a:r>
            <a:r>
              <a:rPr lang="fr-FR" sz="1730" b="1">
                <a:solidFill>
                  <a:srgbClr val="212338"/>
                </a:solidFill>
                <a:latin typeface="Arial"/>
              </a:rPr>
              <a:t>should</a:t>
            </a:r>
            <a:r>
              <a:rPr lang="fr-FR" sz="1730" b="1" spc="-48">
                <a:solidFill>
                  <a:srgbClr val="212338"/>
                </a:solidFill>
                <a:latin typeface="Arial"/>
              </a:rPr>
              <a:t> </a:t>
            </a:r>
            <a:r>
              <a:rPr lang="fr-FR" sz="1730" b="1" spc="57">
                <a:solidFill>
                  <a:srgbClr val="212338"/>
                </a:solidFill>
                <a:latin typeface="Arial"/>
              </a:rPr>
              <a:t>be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710"/>
              </a:spcBef>
              <a:tabLst>
                <a:tab pos="0" algn="l"/>
              </a:tabLst>
            </a:pPr>
            <a:endParaRPr lang="fr-FR" sz="1730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pos="0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(Weber,</a:t>
            </a:r>
            <a:r>
              <a:rPr lang="fr-FR" sz="1404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1919)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0751"/>
          </a:xfrm>
          <a:prstGeom prst="rect">
            <a:avLst/>
          </a:prstGeom>
          <a:noFill/>
          <a:ln w="0">
            <a:noFill/>
          </a:ln>
        </p:spPr>
        <p:txBody>
          <a:bodyPr lIns="0" tIns="156137" rIns="0" bIns="0" anchor="t">
            <a:spAutoFit/>
          </a:bodyPr>
          <a:lstStyle/>
          <a:p>
            <a:pPr marL="865336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pic>
        <p:nvPicPr>
          <p:cNvPr id="131" name="object 3"/>
          <p:cNvPicPr/>
          <p:nvPr/>
        </p:nvPicPr>
        <p:blipFill>
          <a:blip r:embed="rId2"/>
          <a:stretch/>
        </p:blipFill>
        <p:spPr>
          <a:xfrm>
            <a:off x="249455" y="1348014"/>
            <a:ext cx="2692779" cy="297400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object 4"/>
          <p:cNvSpPr/>
          <p:nvPr/>
        </p:nvSpPr>
        <p:spPr>
          <a:xfrm>
            <a:off x="612631" y="4372562"/>
            <a:ext cx="2455595" cy="11662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6751" rIns="0" bIns="0" anchor="t">
            <a:spAutoFit/>
          </a:bodyPr>
          <a:lstStyle/>
          <a:p>
            <a:pPr algn="ctr">
              <a:spcBef>
                <a:spcPts val="762"/>
              </a:spcBef>
            </a:pPr>
            <a:r>
              <a:rPr lang="fr-FR" sz="1404" b="1" spc="37">
                <a:solidFill>
                  <a:srgbClr val="000000"/>
                </a:solidFill>
                <a:latin typeface="Arial"/>
              </a:rPr>
              <a:t>David</a:t>
            </a:r>
            <a:r>
              <a:rPr lang="fr-FR" sz="140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04" b="1" spc="27">
                <a:solidFill>
                  <a:srgbClr val="000000"/>
                </a:solidFill>
                <a:latin typeface="Arial"/>
              </a:rPr>
              <a:t>Hume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53428" algn="ctr">
              <a:lnSpc>
                <a:spcPct val="112000"/>
              </a:lnSpc>
              <a:spcBef>
                <a:spcPts val="496"/>
              </a:spcBef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(Scottish</a:t>
            </a:r>
            <a:r>
              <a:rPr lang="fr-FR" sz="1404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3">
                <a:solidFill>
                  <a:srgbClr val="000000"/>
                </a:solidFill>
                <a:latin typeface="Arial MT"/>
              </a:rPr>
              <a:t>philosopher,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18th</a:t>
            </a:r>
            <a:r>
              <a:rPr lang="fr-FR" sz="1404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century)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880"/>
              </a:spcBef>
            </a:pP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A</a:t>
            </a:r>
            <a:r>
              <a:rPr lang="fr-FR" sz="1228" i="1" u="sng" spc="-88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Treatise</a:t>
            </a:r>
            <a:r>
              <a:rPr lang="fr-FR" sz="1228" i="1" u="sng" spc="-6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of Human</a:t>
            </a:r>
            <a:r>
              <a:rPr lang="fr-FR" sz="1228" i="1" u="sng" spc="-3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 </a:t>
            </a:r>
            <a:r>
              <a:rPr lang="fr-FR" sz="1228" i="1" u="sng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</a:rPr>
              <a:t>Nature</a:t>
            </a:r>
            <a:r>
              <a:rPr lang="fr-FR" sz="1228" i="1">
                <a:solidFill>
                  <a:srgbClr val="0645AD"/>
                </a:solidFill>
                <a:latin typeface="Arial"/>
              </a:rPr>
              <a:t> </a:t>
            </a:r>
            <a:r>
              <a:rPr lang="fr-FR" sz="1228" spc="-6">
                <a:solidFill>
                  <a:srgbClr val="202122"/>
                </a:solidFill>
                <a:latin typeface="Arial MT"/>
              </a:rPr>
              <a:t>(1739)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object 5"/>
          <p:cNvPicPr/>
          <p:nvPr/>
        </p:nvPicPr>
        <p:blipFill>
          <a:blip r:embed="rId3"/>
          <a:stretch/>
        </p:blipFill>
        <p:spPr>
          <a:xfrm>
            <a:off x="8061184" y="1049277"/>
            <a:ext cx="1446750" cy="195162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object 6"/>
          <p:cNvSpPr/>
          <p:nvPr/>
        </p:nvSpPr>
        <p:spPr>
          <a:xfrm>
            <a:off x="3115699" y="1305776"/>
            <a:ext cx="6391874" cy="34219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 b="1">
                <a:solidFill>
                  <a:srgbClr val="D31876"/>
                </a:solidFill>
                <a:latin typeface="Arial"/>
              </a:rPr>
              <a:t>“Hume’s</a:t>
            </a:r>
            <a:r>
              <a:rPr lang="fr-FR" sz="1780" b="1" spc="6">
                <a:solidFill>
                  <a:srgbClr val="D31876"/>
                </a:solidFill>
                <a:latin typeface="Arial"/>
              </a:rPr>
              <a:t> </a:t>
            </a:r>
            <a:r>
              <a:rPr lang="fr-FR" sz="1780" b="1">
                <a:solidFill>
                  <a:srgbClr val="D31876"/>
                </a:solidFill>
                <a:latin typeface="Arial"/>
              </a:rPr>
              <a:t>Guillotine”</a:t>
            </a:r>
            <a:r>
              <a:rPr lang="fr-FR" sz="1780" b="1" spc="6">
                <a:solidFill>
                  <a:srgbClr val="D31876"/>
                </a:solidFill>
                <a:latin typeface="Arial"/>
              </a:rPr>
              <a:t> </a:t>
            </a:r>
            <a:r>
              <a:rPr lang="fr-FR" sz="1780" spc="132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780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idea</a:t>
            </a:r>
            <a:r>
              <a:rPr lang="fr-FR" sz="1780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one </a:t>
            </a:r>
            <a:r>
              <a:rPr lang="fr-FR" sz="1780" spc="26">
                <a:solidFill>
                  <a:srgbClr val="000000"/>
                </a:solidFill>
                <a:latin typeface="Arial MT"/>
              </a:rPr>
              <a:t>cannot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logically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derive</a:t>
            </a:r>
            <a:r>
              <a:rPr lang="fr-FR" sz="1780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80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 spc="26">
                <a:solidFill>
                  <a:srgbClr val="000000"/>
                </a:solidFill>
                <a:latin typeface="Arial"/>
              </a:rPr>
              <a:t>normative</a:t>
            </a:r>
            <a:r>
              <a:rPr lang="fr-FR" sz="1780" b="1" spc="-5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claim </a:t>
            </a:r>
            <a:r>
              <a:rPr lang="fr-FR" sz="1780" spc="50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descriptive</a:t>
            </a:r>
            <a:r>
              <a:rPr lang="fr-FR" sz="1780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claim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1545"/>
              </a:spcBef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780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something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 spc="-60">
                <a:solidFill>
                  <a:srgbClr val="000000"/>
                </a:solidFill>
                <a:latin typeface="Arial"/>
              </a:rPr>
              <a:t>is</a:t>
            </a:r>
            <a:r>
              <a:rPr lang="fr-FR" sz="178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43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780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10">
                <a:solidFill>
                  <a:srgbClr val="000000"/>
                </a:solidFill>
                <a:latin typeface="Arial"/>
              </a:rPr>
              <a:t>case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303"/>
              </a:spcBef>
            </a:pPr>
            <a:r>
              <a:rPr lang="fr-FR" sz="1780" spc="33">
                <a:solidFill>
                  <a:srgbClr val="000000"/>
                </a:solidFill>
                <a:latin typeface="Arial MT"/>
              </a:rPr>
              <a:t>doesn’t</a:t>
            </a:r>
            <a:r>
              <a:rPr lang="fr-FR" sz="1780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imply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80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should</a:t>
            </a:r>
            <a:r>
              <a:rPr lang="fr-FR" sz="1780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57">
                <a:solidFill>
                  <a:srgbClr val="000000"/>
                </a:solidFill>
                <a:latin typeface="Arial"/>
              </a:rPr>
              <a:t>be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406856">
              <a:lnSpc>
                <a:spcPct val="114000"/>
              </a:lnSpc>
              <a:spcBef>
                <a:spcPts val="1916"/>
              </a:spcBef>
            </a:pPr>
            <a:r>
              <a:rPr lang="fr-FR" sz="1479" i="1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479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6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3">
                <a:solidFill>
                  <a:srgbClr val="000000"/>
                </a:solidFill>
                <a:latin typeface="Arial MT"/>
              </a:rPr>
              <a:t>distribution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79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wealth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479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479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79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479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3">
                <a:solidFill>
                  <a:srgbClr val="000000"/>
                </a:solidFill>
                <a:latin typeface="Arial MT"/>
              </a:rPr>
              <a:t>doesn’t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it’s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just</a:t>
            </a:r>
            <a:r>
              <a:rPr lang="fr-FR" sz="1479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spc="5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morally</a:t>
            </a:r>
            <a:r>
              <a:rPr lang="fr-FR" sz="1479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33">
                <a:solidFill>
                  <a:srgbClr val="000000"/>
                </a:solidFill>
                <a:latin typeface="Arial"/>
              </a:rPr>
              <a:t>right</a:t>
            </a:r>
            <a:r>
              <a:rPr lang="fr-FR" sz="147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spc="6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such</a:t>
            </a:r>
            <a:r>
              <a:rPr lang="fr-FR" sz="1479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479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3">
                <a:solidFill>
                  <a:srgbClr val="000000"/>
                </a:solidFill>
                <a:latin typeface="Arial MT"/>
              </a:rPr>
              <a:t>wealth </a:t>
            </a:r>
            <a:r>
              <a:rPr lang="fr-FR" sz="1479" spc="48">
                <a:solidFill>
                  <a:srgbClr val="000000"/>
                </a:solidFill>
                <a:latin typeface="Arial MT"/>
              </a:rPr>
              <a:t>distribution</a:t>
            </a:r>
            <a:endParaRPr lang="fr-FR" sz="1479">
              <a:solidFill>
                <a:srgbClr val="000000"/>
              </a:solidFill>
              <a:latin typeface="Arial"/>
            </a:endParaRPr>
          </a:p>
          <a:p>
            <a:pPr marL="406856">
              <a:lnSpc>
                <a:spcPct val="114000"/>
              </a:lnSpc>
              <a:spcBef>
                <a:spcPts val="844"/>
              </a:spcBef>
            </a:pPr>
            <a:r>
              <a:rPr lang="fr-FR" sz="1479" i="1">
                <a:solidFill>
                  <a:srgbClr val="000000"/>
                </a:solidFill>
                <a:latin typeface="Arial"/>
              </a:rPr>
              <a:t>Example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scientists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-40">
                <a:solidFill>
                  <a:srgbClr val="000000"/>
                </a:solidFill>
                <a:latin typeface="Arial MT"/>
              </a:rPr>
              <a:t>say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“given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479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3">
                <a:solidFill>
                  <a:srgbClr val="000000"/>
                </a:solidFill>
                <a:latin typeface="Arial MT"/>
              </a:rPr>
              <a:t>know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5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479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how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479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works,</a:t>
            </a:r>
            <a:r>
              <a:rPr lang="fr-FR" sz="1479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 spc="37">
                <a:solidFill>
                  <a:srgbClr val="000000"/>
                </a:solidFill>
                <a:latin typeface="Arial"/>
              </a:rPr>
              <a:t>implementing</a:t>
            </a:r>
            <a:r>
              <a:rPr lang="fr-FR" sz="1479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policy</a:t>
            </a:r>
            <a:r>
              <a:rPr lang="fr-FR" sz="1479" b="1" spc="-1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57">
                <a:solidFill>
                  <a:srgbClr val="000000"/>
                </a:solidFill>
                <a:latin typeface="Arial"/>
              </a:rPr>
              <a:t>X</a:t>
            </a:r>
            <a:r>
              <a:rPr lang="fr-FR" sz="1479" b="1" spc="-1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53">
                <a:solidFill>
                  <a:srgbClr val="000000"/>
                </a:solidFill>
                <a:latin typeface="Arial"/>
              </a:rPr>
              <a:t>will</a:t>
            </a:r>
            <a:r>
              <a:rPr lang="fr-FR" sz="1479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-27">
                <a:solidFill>
                  <a:srgbClr val="000000"/>
                </a:solidFill>
                <a:latin typeface="Arial"/>
              </a:rPr>
              <a:t>cause</a:t>
            </a:r>
            <a:r>
              <a:rPr lang="fr-FR" sz="1479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30">
                <a:solidFill>
                  <a:srgbClr val="000000"/>
                </a:solidFill>
                <a:latin typeface="Arial"/>
              </a:rPr>
              <a:t>Y</a:t>
            </a:r>
            <a:r>
              <a:rPr lang="fr-FR" sz="1479" spc="30">
                <a:solidFill>
                  <a:srgbClr val="000000"/>
                </a:solidFill>
                <a:latin typeface="Arial MT"/>
              </a:rPr>
              <a:t>”</a:t>
            </a:r>
            <a:endParaRPr lang="fr-FR" sz="1479">
              <a:solidFill>
                <a:srgbClr val="000000"/>
              </a:solidFill>
              <a:latin typeface="Arial"/>
            </a:endParaRPr>
          </a:p>
          <a:p>
            <a:pPr marL="406856">
              <a:spcBef>
                <a:spcPts val="1096"/>
              </a:spcBef>
            </a:pPr>
            <a:r>
              <a:rPr lang="fr-FR" sz="1479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this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3">
                <a:solidFill>
                  <a:srgbClr val="000000"/>
                </a:solidFill>
                <a:latin typeface="Arial MT"/>
              </a:rPr>
              <a:t>doesn’t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40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spc="2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479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should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desire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or</a:t>
            </a:r>
            <a:r>
              <a:rPr lang="fr-FR" sz="1479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>
                <a:solidFill>
                  <a:srgbClr val="000000"/>
                </a:solidFill>
                <a:latin typeface="Arial"/>
              </a:rPr>
              <a:t>value</a:t>
            </a:r>
            <a:r>
              <a:rPr lang="fr-FR" sz="1479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79" b="1" spc="-26">
                <a:solidFill>
                  <a:srgbClr val="000000"/>
                </a:solidFill>
                <a:latin typeface="Arial"/>
              </a:rPr>
              <a:t>Y</a:t>
            </a:r>
            <a:endParaRPr lang="fr-FR" sz="147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670751"/>
          </a:xfrm>
          <a:prstGeom prst="rect">
            <a:avLst/>
          </a:prstGeom>
          <a:noFill/>
          <a:ln w="0">
            <a:noFill/>
          </a:ln>
        </p:spPr>
        <p:txBody>
          <a:bodyPr lIns="0" tIns="156137" rIns="0" bIns="0" anchor="t">
            <a:spAutoFit/>
          </a:bodyPr>
          <a:lstStyle/>
          <a:p>
            <a:pPr marL="865336">
              <a:lnSpc>
                <a:spcPct val="100000"/>
              </a:lnSpc>
              <a:spcBef>
                <a:spcPts val="63"/>
              </a:spcBef>
            </a:pPr>
            <a:r>
              <a:rPr lang="fr-FR" sz="3334" b="1" spc="33">
                <a:solidFill>
                  <a:schemeClr val="dk1"/>
                </a:solidFill>
                <a:latin typeface="Arial"/>
              </a:rPr>
              <a:t>Descriptive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16">
                <a:solidFill>
                  <a:schemeClr val="dk1"/>
                </a:solidFill>
                <a:latin typeface="Arial"/>
              </a:rPr>
              <a:t>claims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384">
                <a:solidFill>
                  <a:schemeClr val="dk1"/>
                </a:solidFill>
                <a:latin typeface="Arial"/>
              </a:rPr>
              <a:t>≠</a:t>
            </a:r>
            <a:r>
              <a:rPr lang="fr-FR" sz="3334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80">
                <a:solidFill>
                  <a:schemeClr val="dk1"/>
                </a:solidFill>
                <a:latin typeface="Arial"/>
              </a:rPr>
              <a:t>Normative</a:t>
            </a:r>
            <a:r>
              <a:rPr lang="fr-FR" sz="3334" b="1" spc="-118">
                <a:solidFill>
                  <a:schemeClr val="dk1"/>
                </a:solidFill>
                <a:latin typeface="Arial"/>
              </a:rPr>
              <a:t> </a:t>
            </a:r>
            <a:r>
              <a:rPr lang="fr-FR" sz="3334" b="1" spc="-6">
                <a:solidFill>
                  <a:schemeClr val="dk1"/>
                </a:solidFill>
                <a:latin typeface="Arial"/>
              </a:rPr>
              <a:t>claims</a:t>
            </a:r>
            <a:endParaRPr lang="fr-FR" sz="3334"/>
          </a:p>
        </p:txBody>
      </p:sp>
      <p:pic>
        <p:nvPicPr>
          <p:cNvPr id="136" name="object 3"/>
          <p:cNvPicPr/>
          <p:nvPr/>
        </p:nvPicPr>
        <p:blipFill>
          <a:blip r:embed="rId2"/>
          <a:stretch/>
        </p:blipFill>
        <p:spPr>
          <a:xfrm>
            <a:off x="2078155" y="1953790"/>
            <a:ext cx="4567326" cy="25691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object 4"/>
          <p:cNvSpPr/>
          <p:nvPr/>
        </p:nvSpPr>
        <p:spPr>
          <a:xfrm>
            <a:off x="175989" y="2685017"/>
            <a:ext cx="1745487" cy="604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 spc="-80">
                <a:solidFill>
                  <a:srgbClr val="000000"/>
                </a:solidFill>
                <a:latin typeface="Arial MT"/>
              </a:rPr>
              <a:t>Take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0">
                <a:solidFill>
                  <a:srgbClr val="000000"/>
                </a:solidFill>
                <a:latin typeface="Arial MT"/>
              </a:rPr>
              <a:t>analogy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780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physics…</a:t>
            </a:r>
            <a:endParaRPr lang="fr-FR" sz="17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5"/>
          <p:cNvSpPr/>
          <p:nvPr/>
        </p:nvSpPr>
        <p:spPr>
          <a:xfrm>
            <a:off x="7213531" y="1988267"/>
            <a:ext cx="2061010" cy="21661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>
              <a:lnSpc>
                <a:spcPct val="114000"/>
              </a:lnSpc>
              <a:spcBef>
                <a:spcPts val="50"/>
              </a:spcBef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780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laws</a:t>
            </a:r>
            <a:r>
              <a:rPr lang="fr-FR" sz="1780" spc="-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3">
                <a:solidFill>
                  <a:srgbClr val="000000"/>
                </a:solidFill>
                <a:latin typeface="Arial MT"/>
              </a:rPr>
              <a:t>rocket </a:t>
            </a:r>
            <a:r>
              <a:rPr lang="fr-FR" sz="1780" spc="40">
                <a:solidFill>
                  <a:srgbClr val="000000"/>
                </a:solidFill>
                <a:latin typeface="Arial MT"/>
              </a:rPr>
              <a:t>propulsions</a:t>
            </a:r>
            <a:r>
              <a:rPr lang="fr-FR" sz="1780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doesn’t </a:t>
            </a:r>
            <a:r>
              <a:rPr lang="fr-FR" sz="1780" spc="46">
                <a:solidFill>
                  <a:srgbClr val="000000"/>
                </a:solidFill>
                <a:latin typeface="Arial MT"/>
              </a:rPr>
              <a:t>tell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whether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57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80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3">
                <a:solidFill>
                  <a:srgbClr val="000000"/>
                </a:solidFill>
                <a:latin typeface="Arial MT"/>
              </a:rPr>
              <a:t>is </a:t>
            </a:r>
            <a:r>
              <a:rPr lang="fr-FR" sz="1780" b="1" spc="43">
                <a:solidFill>
                  <a:srgbClr val="000000"/>
                </a:solidFill>
                <a:latin typeface="Arial"/>
              </a:rPr>
              <a:t>legitimate</a:t>
            </a:r>
            <a:r>
              <a:rPr lang="fr-FR" sz="1780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that </a:t>
            </a:r>
            <a:r>
              <a:rPr lang="fr-FR" sz="1780" spc="36">
                <a:solidFill>
                  <a:srgbClr val="000000"/>
                </a:solidFill>
                <a:latin typeface="Arial MT"/>
              </a:rPr>
              <a:t>governments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invest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public</a:t>
            </a:r>
            <a:r>
              <a:rPr lang="fr-FR" sz="178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33">
                <a:solidFill>
                  <a:srgbClr val="000000"/>
                </a:solidFill>
                <a:latin typeface="Arial"/>
              </a:rPr>
              <a:t>money</a:t>
            </a:r>
            <a:r>
              <a:rPr lang="fr-FR" sz="1780" b="1" spc="7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-13">
                <a:solidFill>
                  <a:srgbClr val="000000"/>
                </a:solidFill>
                <a:latin typeface="Arial"/>
              </a:rPr>
              <a:t>in </a:t>
            </a:r>
            <a:r>
              <a:rPr lang="fr-FR" sz="1780" b="1">
                <a:solidFill>
                  <a:srgbClr val="000000"/>
                </a:solidFill>
                <a:latin typeface="Arial"/>
              </a:rPr>
              <a:t>spatial</a:t>
            </a:r>
            <a:r>
              <a:rPr lang="fr-FR" sz="1780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80" b="1" spc="23">
                <a:solidFill>
                  <a:srgbClr val="000000"/>
                </a:solidFill>
                <a:latin typeface="Arial"/>
              </a:rPr>
              <a:t>exploration</a:t>
            </a:r>
            <a:endParaRPr lang="fr-FR" sz="178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74867"/>
          </a:xfrm>
          <a:prstGeom prst="rect">
            <a:avLst/>
          </a:prstGeom>
          <a:noFill/>
          <a:ln w="0">
            <a:noFill/>
          </a:ln>
        </p:spPr>
        <p:txBody>
          <a:bodyPr lIns="0" tIns="20162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6"/>
              </a:spcBef>
            </a:pPr>
            <a:r>
              <a:rPr lang="fr-FR" sz="4362" b="1" spc="26">
                <a:solidFill>
                  <a:schemeClr val="dk1"/>
                </a:solidFill>
                <a:latin typeface="Arial"/>
              </a:rPr>
              <a:t>Methods</a:t>
            </a:r>
            <a:r>
              <a:rPr lang="fr-FR" sz="4362" b="1" spc="-291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6">
                <a:solidFill>
                  <a:schemeClr val="dk1"/>
                </a:solidFill>
                <a:latin typeface="Arial"/>
              </a:rPr>
              <a:t>in</a:t>
            </a:r>
            <a:r>
              <a:rPr lang="fr-FR" sz="4362" b="1" spc="-291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135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362" b="1" spc="-288">
                <a:solidFill>
                  <a:schemeClr val="dk1"/>
                </a:solidFill>
                <a:latin typeface="Arial"/>
              </a:rPr>
              <a:t> </a:t>
            </a:r>
            <a:r>
              <a:rPr lang="fr-FR" sz="4362" b="1" spc="-163">
                <a:solidFill>
                  <a:schemeClr val="dk1"/>
                </a:solidFill>
                <a:latin typeface="Arial"/>
              </a:rPr>
              <a:t>science</a:t>
            </a:r>
            <a:endParaRPr lang="fr-FR" sz="4362"/>
          </a:p>
        </p:txBody>
      </p:sp>
      <p:sp>
        <p:nvSpPr>
          <p:cNvPr id="148" name="object 3"/>
          <p:cNvSpPr/>
          <p:nvPr/>
        </p:nvSpPr>
        <p:spPr>
          <a:xfrm>
            <a:off x="14437" y="1542058"/>
            <a:ext cx="8817686" cy="38447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4079" rIns="0" bIns="0" anchor="t">
            <a:spAutoFit/>
          </a:bodyPr>
          <a:lstStyle/>
          <a:p>
            <a:pPr marL="294583" indent="-288084">
              <a:spcBef>
                <a:spcPts val="5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58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3">
                <a:solidFill>
                  <a:srgbClr val="000000"/>
                </a:solidFill>
                <a:latin typeface="Arial MT"/>
              </a:rPr>
              <a:t>3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8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73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256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sciences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spcBef>
                <a:spcPts val="58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46">
                <a:solidFill>
                  <a:srgbClr val="000000"/>
                </a:solidFill>
                <a:latin typeface="Arial"/>
              </a:rPr>
              <a:t>Quantitative</a:t>
            </a:r>
            <a:r>
              <a:rPr lang="fr-FR" sz="1855" b="1" spc="-5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count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measure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stuff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study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0">
                <a:solidFill>
                  <a:srgbClr val="000000"/>
                </a:solidFill>
                <a:latin typeface="Arial MT"/>
              </a:rPr>
              <a:t>to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show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school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performance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related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parental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income)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45"/>
              </a:spcBef>
              <a:tabLst>
                <a:tab pos="1303419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43">
                <a:solidFill>
                  <a:srgbClr val="000000"/>
                </a:solidFill>
                <a:latin typeface="Arial"/>
              </a:rPr>
              <a:t>Qualitative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observe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phenomenon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without 	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counting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measuring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ethnography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schools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low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income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areas)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25"/>
              </a:spcBef>
              <a:tabLst>
                <a:tab pos="1303419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302517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Arial MT"/>
              <a:buChar char="•"/>
              <a:tabLst>
                <a:tab pos="1303419" algn="l"/>
              </a:tabLst>
            </a:pPr>
            <a:r>
              <a:rPr lang="fr-FR" sz="1855" b="1" spc="65">
                <a:solidFill>
                  <a:srgbClr val="000000"/>
                </a:solidFill>
                <a:latin typeface="Arial"/>
              </a:rPr>
              <a:t>Modelling</a:t>
            </a:r>
            <a:r>
              <a:rPr lang="fr-FR" sz="1855" b="1" spc="-5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methods: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use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tools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behavior 	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predictions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6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make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decisions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invest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education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859"/>
          </a:xfrm>
          <a:prstGeom prst="rect">
            <a:avLst/>
          </a:prstGeom>
          <a:noFill/>
          <a:ln w="0">
            <a:noFill/>
          </a:ln>
        </p:spPr>
        <p:txBody>
          <a:bodyPr lIns="0" tIns="8357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50" name="object 3"/>
          <p:cNvSpPr/>
          <p:nvPr/>
        </p:nvSpPr>
        <p:spPr>
          <a:xfrm>
            <a:off x="14798" y="2430865"/>
            <a:ext cx="3918590" cy="9695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278879" indent="-272200">
              <a:spcBef>
                <a:spcPts val="63"/>
              </a:spcBef>
              <a:buClr>
                <a:srgbClr val="000000"/>
              </a:buClr>
              <a:buFont typeface="OpenSymbol"/>
              <a:buAutoNum type="alphaUcPeriod"/>
              <a:tabLst>
                <a:tab pos="278879" algn="l"/>
              </a:tabLst>
            </a:pPr>
            <a:r>
              <a:rPr lang="fr-FR" sz="1805" spc="40">
                <a:solidFill>
                  <a:srgbClr val="000000"/>
                </a:solidFill>
                <a:latin typeface="Arial MT"/>
              </a:rPr>
              <a:t>Descriptive/Correlational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methods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52"/>
              </a:spcBef>
              <a:tabLst>
                <a:tab pos="278879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63897" indent="-257579">
              <a:buClr>
                <a:srgbClr val="000000"/>
              </a:buClr>
              <a:buFont typeface="Arial MT"/>
              <a:buAutoNum type="alphaUcPeriod"/>
              <a:tabLst>
                <a:tab pos="263897" algn="l"/>
              </a:tabLst>
            </a:pP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11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inference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52" name="object 3"/>
          <p:cNvSpPr/>
          <p:nvPr/>
        </p:nvSpPr>
        <p:spPr>
          <a:xfrm>
            <a:off x="14798" y="2881406"/>
            <a:ext cx="5389528" cy="2925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040" rIns="0" bIns="0" anchor="t">
            <a:spAutoFit/>
          </a:bodyPr>
          <a:lstStyle/>
          <a:p>
            <a:pPr marL="242056" indent="-235558">
              <a:spcBef>
                <a:spcPts val="56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242056" algn="l"/>
              </a:tabLst>
            </a:pPr>
            <a:r>
              <a:rPr lang="fr-FR" sz="1855" b="1" spc="-26">
                <a:solidFill>
                  <a:srgbClr val="000000"/>
                </a:solidFill>
                <a:latin typeface="Arial"/>
              </a:rPr>
              <a:t>Surveys</a:t>
            </a:r>
            <a:r>
              <a:rPr lang="fr-FR" sz="1855" b="1" spc="-48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105">
                <a:solidFill>
                  <a:srgbClr val="000000"/>
                </a:solidFill>
                <a:latin typeface="Arial"/>
              </a:rPr>
              <a:t>&amp;</a:t>
            </a:r>
            <a:r>
              <a:rPr lang="fr-FR" sz="1855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questionnaires</a:t>
            </a:r>
            <a:r>
              <a:rPr lang="fr-FR" sz="1855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France,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Insee)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object 4"/>
          <p:cNvSpPr/>
          <p:nvPr/>
        </p:nvSpPr>
        <p:spPr>
          <a:xfrm>
            <a:off x="15340" y="1139350"/>
            <a:ext cx="7609924" cy="9695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A.</a:t>
            </a:r>
            <a:r>
              <a:rPr lang="fr-FR" sz="1805" spc="-7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methods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952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1564248"/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simply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33">
                <a:solidFill>
                  <a:srgbClr val="000000"/>
                </a:solidFill>
                <a:latin typeface="Arial"/>
              </a:rPr>
              <a:t>describe</a:t>
            </a:r>
            <a:r>
              <a:rPr lang="fr-FR" sz="1805" i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world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is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bject 5"/>
          <p:cNvSpPr/>
          <p:nvPr/>
        </p:nvSpPr>
        <p:spPr>
          <a:xfrm>
            <a:off x="14798" y="4338266"/>
            <a:ext cx="5200720" cy="9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b="1">
                <a:solidFill>
                  <a:srgbClr val="000000"/>
                </a:solidFill>
                <a:latin typeface="Arial"/>
              </a:rPr>
              <a:t>Exploiting existing data that was not collcted for research purposes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(ex: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administrative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data,</a:t>
            </a:r>
            <a:r>
              <a:rPr lang="fr-FR" sz="1855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online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data...)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object 6"/>
          <p:cNvPicPr/>
          <p:nvPr/>
        </p:nvPicPr>
        <p:blipFill>
          <a:blip r:embed="rId2"/>
          <a:stretch/>
        </p:blipFill>
        <p:spPr>
          <a:xfrm>
            <a:off x="6956672" y="2314800"/>
            <a:ext cx="3060648" cy="160162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object 7"/>
          <p:cNvPicPr/>
          <p:nvPr/>
        </p:nvPicPr>
        <p:blipFill>
          <a:blip r:embed="rId3"/>
          <a:stretch/>
        </p:blipFill>
        <p:spPr>
          <a:xfrm>
            <a:off x="6583748" y="3962995"/>
            <a:ext cx="2855955" cy="166498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bject 3"/>
          <p:cNvSpPr/>
          <p:nvPr/>
        </p:nvSpPr>
        <p:spPr>
          <a:xfrm>
            <a:off x="1079" y="112455"/>
            <a:ext cx="374386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Example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 descriptive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survey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data: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object 4"/>
          <p:cNvPicPr/>
          <p:nvPr/>
        </p:nvPicPr>
        <p:blipFill>
          <a:blip r:embed="rId2"/>
          <a:stretch/>
        </p:blipFill>
        <p:spPr>
          <a:xfrm>
            <a:off x="6339343" y="542780"/>
            <a:ext cx="3217147" cy="475830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object 5"/>
          <p:cNvSpPr/>
          <p:nvPr/>
        </p:nvSpPr>
        <p:spPr>
          <a:xfrm>
            <a:off x="226170" y="4960286"/>
            <a:ext cx="5226893" cy="6090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93" rIns="0" bIns="0" anchor="t">
            <a:spAutoFit/>
          </a:bodyPr>
          <a:lstStyle/>
          <a:p>
            <a:pPr marL="696023" indent="-689886">
              <a:lnSpc>
                <a:spcPct val="102000"/>
              </a:lnSpc>
              <a:spcBef>
                <a:spcPts val="37"/>
              </a:spcBef>
              <a:tabLst>
                <a:tab pos="0" algn="l"/>
              </a:tabLst>
            </a:pP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https://www.pewresearch.org/social-trends/2021/10/05/rising-share-of-u-s-adults-are-</a:t>
            </a:r>
            <a:r>
              <a:rPr lang="fr-FR" sz="978" u="sng" spc="-6">
                <a:solidFill>
                  <a:srgbClr val="5E5E5E"/>
                </a:solidFill>
                <a:latin typeface="Arial MT"/>
                <a:hlinkClick r:id="rId3"/>
              </a:rPr>
              <a:t>living- </a:t>
            </a: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without-a-</a:t>
            </a:r>
            <a:r>
              <a:rPr lang="fr-FR" sz="978" u="sng" spc="23">
                <a:solidFill>
                  <a:srgbClr val="5E5E5E"/>
                </a:solidFill>
                <a:latin typeface="Arial MT"/>
                <a:hlinkClick r:id="rId3"/>
              </a:rPr>
              <a:t>spouse-</a:t>
            </a: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or-partner/pst_10-05-21_unpartnered_adults-0-</a:t>
            </a:r>
            <a:r>
              <a:rPr lang="fr-FR" sz="978" u="sng" spc="-13">
                <a:solidFill>
                  <a:srgbClr val="5E5E5E"/>
                </a:solidFill>
                <a:latin typeface="Arial MT"/>
                <a:hlinkClick r:id="rId3"/>
              </a:rPr>
              <a:t>0/</a:t>
            </a:r>
            <a:endParaRPr lang="fr-FR" sz="978">
              <a:solidFill>
                <a:srgbClr val="000000"/>
              </a:solidFill>
              <a:latin typeface="Arial"/>
            </a:endParaRPr>
          </a:p>
          <a:p>
            <a:pPr marL="696023" indent="-689886">
              <a:lnSpc>
                <a:spcPct val="102000"/>
              </a:lnSpc>
              <a:spcBef>
                <a:spcPts val="37"/>
              </a:spcBef>
              <a:tabLst>
                <a:tab pos="0" algn="l"/>
              </a:tabLst>
            </a:pPr>
            <a:r>
              <a:rPr lang="en-US" sz="978">
                <a:solidFill>
                  <a:srgbClr val="000000"/>
                </a:solidFill>
                <a:latin typeface="Arial MT"/>
              </a:rPr>
              <a:t>https://www.pewresearch.org/politics/2024/08/26/the-political-values-of-harris-and-trump-supporters/</a:t>
            </a:r>
            <a:endParaRPr lang="fr-FR" sz="97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6"/>
          <p:cNvPicPr/>
          <p:nvPr/>
        </p:nvPicPr>
        <p:blipFill>
          <a:blip r:embed="rId4"/>
          <a:stretch/>
        </p:blipFill>
        <p:spPr>
          <a:xfrm>
            <a:off x="1124545" y="935018"/>
            <a:ext cx="3916424" cy="3800359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 4"/>
          <p:cNvPicPr/>
          <p:nvPr/>
        </p:nvPicPr>
        <p:blipFill>
          <a:blip r:embed="rId2"/>
          <a:stretch/>
        </p:blipFill>
        <p:spPr>
          <a:xfrm>
            <a:off x="-385022" y="1536281"/>
            <a:ext cx="10606313" cy="393519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object 3"/>
          <p:cNvSpPr/>
          <p:nvPr/>
        </p:nvSpPr>
        <p:spPr>
          <a:xfrm>
            <a:off x="1079" y="112455"/>
            <a:ext cx="7407939" cy="378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407">
                <a:solidFill>
                  <a:srgbClr val="000000"/>
                </a:solidFill>
                <a:latin typeface="Arial MT"/>
              </a:rPr>
              <a:t>« Anything » can become data:</a:t>
            </a:r>
            <a:endParaRPr lang="fr-FR" sz="2407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1214075" y="733935"/>
            <a:ext cx="7407939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 algn="ctr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Ex: Gallicagram (https://shiny.ens-paris-saclay.fr/app/gallicagram)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65" name="object 3"/>
          <p:cNvSpPr/>
          <p:nvPr/>
        </p:nvSpPr>
        <p:spPr>
          <a:xfrm>
            <a:off x="15339" y="1139350"/>
            <a:ext cx="354025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36">
                <a:solidFill>
                  <a:srgbClr val="000000"/>
                </a:solidFill>
                <a:latin typeface="Arial MT"/>
              </a:rPr>
              <a:t>Interesting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survey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resources: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object 4"/>
          <p:cNvPicPr/>
          <p:nvPr/>
        </p:nvPicPr>
        <p:blipFill>
          <a:blip r:embed="rId2"/>
          <a:stretch/>
        </p:blipFill>
        <p:spPr>
          <a:xfrm>
            <a:off x="286278" y="1858483"/>
            <a:ext cx="2572382" cy="111299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object 5"/>
          <p:cNvPicPr/>
          <p:nvPr/>
        </p:nvPicPr>
        <p:blipFill>
          <a:blip r:embed="rId3"/>
          <a:stretch/>
        </p:blipFill>
        <p:spPr>
          <a:xfrm>
            <a:off x="3307757" y="1799277"/>
            <a:ext cx="3719854" cy="11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object 6"/>
          <p:cNvPicPr/>
          <p:nvPr/>
        </p:nvPicPr>
        <p:blipFill>
          <a:blip r:embed="rId4"/>
          <a:stretch/>
        </p:blipFill>
        <p:spPr>
          <a:xfrm>
            <a:off x="7934830" y="1930685"/>
            <a:ext cx="1832310" cy="77725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object 7"/>
          <p:cNvSpPr/>
          <p:nvPr/>
        </p:nvSpPr>
        <p:spPr>
          <a:xfrm>
            <a:off x="274725" y="3350360"/>
            <a:ext cx="2590613" cy="5381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3500" indent="-23754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354" b="1" spc="30">
                <a:solidFill>
                  <a:srgbClr val="000000"/>
                </a:solidFill>
                <a:latin typeface="Arial"/>
              </a:rPr>
              <a:t>International</a:t>
            </a:r>
            <a:r>
              <a:rPr lang="fr-FR" sz="1354" b="1" spc="-40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survey</a:t>
            </a:r>
            <a:r>
              <a:rPr lang="fr-FR" sz="1354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databases </a:t>
            </a:r>
            <a:r>
              <a:rPr lang="fr-FR" sz="1354" b="1" spc="33">
                <a:solidFill>
                  <a:srgbClr val="000000"/>
                </a:solidFill>
                <a:latin typeface="Arial"/>
              </a:rPr>
              <a:t>(World</a:t>
            </a:r>
            <a:r>
              <a:rPr lang="fr-FR" sz="1354" b="1" spc="-2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Value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Survey,</a:t>
            </a:r>
            <a:r>
              <a:rPr lang="fr-FR" sz="1354" b="1" spc="-46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10">
                <a:solidFill>
                  <a:srgbClr val="000000"/>
                </a:solidFill>
                <a:latin typeface="Arial"/>
              </a:rPr>
              <a:t>etc)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object 8"/>
          <p:cNvSpPr/>
          <p:nvPr/>
        </p:nvSpPr>
        <p:spPr>
          <a:xfrm>
            <a:off x="3854507" y="3560648"/>
            <a:ext cx="2623645" cy="2160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354" b="1" spc="30">
                <a:solidFill>
                  <a:srgbClr val="000000"/>
                </a:solidFill>
                <a:latin typeface="Arial"/>
              </a:rPr>
              <a:t>Government</a:t>
            </a:r>
            <a:r>
              <a:rPr lang="fr-FR" sz="135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16">
                <a:solidFill>
                  <a:srgbClr val="000000"/>
                </a:solidFill>
                <a:latin typeface="Arial"/>
              </a:rPr>
              <a:t>statistics</a:t>
            </a:r>
            <a:r>
              <a:rPr lang="fr-FR" sz="1354" b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agencies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9"/>
          <p:cNvSpPr/>
          <p:nvPr/>
        </p:nvSpPr>
        <p:spPr>
          <a:xfrm>
            <a:off x="7836816" y="3560648"/>
            <a:ext cx="1757039" cy="2160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354" b="1">
                <a:solidFill>
                  <a:srgbClr val="000000"/>
                </a:solidFill>
                <a:latin typeface="Arial"/>
              </a:rPr>
              <a:t>Private</a:t>
            </a:r>
            <a:r>
              <a:rPr lang="fr-FR" sz="1354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36">
                <a:solidFill>
                  <a:srgbClr val="000000"/>
                </a:solidFill>
                <a:latin typeface="Arial"/>
              </a:rPr>
              <a:t>poll</a:t>
            </a:r>
            <a:r>
              <a:rPr lang="fr-FR" sz="1354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354" b="1" spc="-6">
                <a:solidFill>
                  <a:srgbClr val="000000"/>
                </a:solidFill>
                <a:latin typeface="Arial"/>
              </a:rPr>
              <a:t>agencies</a:t>
            </a:r>
            <a:endParaRPr lang="fr-FR" sz="135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9676"/>
          </a:xfrm>
          <a:prstGeom prst="rect">
            <a:avLst/>
          </a:prstGeom>
          <a:noFill/>
          <a:ln w="0">
            <a:noFill/>
          </a:ln>
        </p:spPr>
        <p:txBody>
          <a:bodyPr lIns="0" tIns="83393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73" name="object 3"/>
          <p:cNvSpPr/>
          <p:nvPr/>
        </p:nvSpPr>
        <p:spPr>
          <a:xfrm>
            <a:off x="15339" y="2208302"/>
            <a:ext cx="8995303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318">
              <a:lnSpc>
                <a:spcPct val="135000"/>
              </a:lnSpc>
              <a:spcBef>
                <a:spcPts val="48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common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type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method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observe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correlations</a:t>
            </a:r>
            <a:r>
              <a:rPr lang="fr-FR" sz="1805" b="1" spc="-48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linear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relationship</a:t>
            </a:r>
            <a:r>
              <a:rPr lang="fr-FR" sz="180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between</a:t>
            </a:r>
            <a:r>
              <a:rPr lang="fr-FR" sz="180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3">
                <a:solidFill>
                  <a:srgbClr val="000000"/>
                </a:solidFill>
                <a:latin typeface="Arial MT"/>
              </a:rPr>
              <a:t>two</a:t>
            </a:r>
            <a:r>
              <a:rPr lang="fr-FR" sz="180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variables)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 5"/>
          <p:cNvPicPr/>
          <p:nvPr/>
        </p:nvPicPr>
        <p:blipFill>
          <a:blip r:embed="rId2"/>
          <a:stretch/>
        </p:blipFill>
        <p:spPr>
          <a:xfrm>
            <a:off x="111549" y="11913"/>
            <a:ext cx="7340791" cy="50696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ZoneTexte 7"/>
          <p:cNvSpPr/>
          <p:nvPr/>
        </p:nvSpPr>
        <p:spPr>
          <a:xfrm>
            <a:off x="4772918" y="5395124"/>
            <a:ext cx="5043139" cy="1845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126" tIns="22563" rIns="45126" bIns="22563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3">
                <a:solidFill>
                  <a:srgbClr val="000000"/>
                </a:solidFill>
                <a:latin typeface="Arial"/>
              </a:rPr>
              <a:t>https://ourworldindata.org/grapher/average-years-of-schooling-vs-gdp-per-capita?time=2020</a:t>
            </a:r>
            <a:endParaRPr lang="fr-FR" sz="903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2" descr="Correlation - Correlation Coefficient, Types, Formulas &amp; Example"/>
          <p:cNvPicPr/>
          <p:nvPr/>
        </p:nvPicPr>
        <p:blipFill>
          <a:blip r:embed="rId2"/>
          <a:stretch/>
        </p:blipFill>
        <p:spPr>
          <a:xfrm>
            <a:off x="2291873" y="772021"/>
            <a:ext cx="5496929" cy="436082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 3"/>
          <p:cNvSpPr/>
          <p:nvPr/>
        </p:nvSpPr>
        <p:spPr>
          <a:xfrm>
            <a:off x="148733" y="1765523"/>
            <a:ext cx="9783028" cy="18967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6679">
              <a:lnSpc>
                <a:spcPct val="135000"/>
              </a:lnSpc>
              <a:spcBef>
                <a:spcPts val="48"/>
              </a:spcBef>
            </a:pPr>
            <a:r>
              <a:rPr lang="fr-FR" sz="1805" b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1805" b="1" spc="-3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105">
                <a:solidFill>
                  <a:srgbClr val="000000"/>
                </a:solidFill>
                <a:latin typeface="Arial"/>
              </a:rPr>
              <a:t>1</a:t>
            </a:r>
            <a:r>
              <a:rPr lang="fr-FR" sz="1805" spc="1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direction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causality?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(does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education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create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6">
                <a:solidFill>
                  <a:srgbClr val="000000"/>
                </a:solidFill>
                <a:latin typeface="Arial MT"/>
              </a:rPr>
              <a:t>prosperity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or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opposite?)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233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6318">
              <a:lnSpc>
                <a:spcPct val="135000"/>
              </a:lnSpc>
            </a:pPr>
            <a:r>
              <a:rPr lang="fr-FR" sz="1805" b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1805" b="1" spc="-2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105">
                <a:solidFill>
                  <a:srgbClr val="000000"/>
                </a:solidFill>
                <a:latin typeface="Arial"/>
              </a:rPr>
              <a:t>2</a:t>
            </a:r>
            <a:r>
              <a:rPr lang="fr-FR" sz="1805" spc="1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hidden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variables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at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play?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(maybe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it's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something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else,</a:t>
            </a:r>
            <a:r>
              <a:rPr lang="fr-FR" sz="180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better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health,</a:t>
            </a:r>
            <a:r>
              <a:rPr lang="fr-FR" sz="1805" spc="-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5">
                <a:solidFill>
                  <a:srgbClr val="000000"/>
                </a:solidFill>
                <a:latin typeface="Arial MT"/>
              </a:rPr>
              <a:t>both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increases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education</a:t>
            </a:r>
            <a:r>
              <a:rPr lang="fr-FR" sz="180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prosperity!)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object 4"/>
          <p:cNvSpPr/>
          <p:nvPr/>
        </p:nvSpPr>
        <p:spPr>
          <a:xfrm>
            <a:off x="3244580" y="4210648"/>
            <a:ext cx="3899818" cy="3623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01" rIns="0" bIns="0" anchor="t">
            <a:spAutoFit/>
          </a:bodyPr>
          <a:lstStyle/>
          <a:p>
            <a:pPr marL="6318">
              <a:spcBef>
                <a:spcPts val="57"/>
              </a:spcBef>
            </a:pPr>
            <a:r>
              <a:rPr lang="fr-FR" sz="2306" b="1">
                <a:solidFill>
                  <a:srgbClr val="000000"/>
                </a:solidFill>
                <a:latin typeface="Arial"/>
              </a:rPr>
              <a:t>Correlation </a:t>
            </a:r>
            <a:r>
              <a:rPr lang="fr-FR" sz="2306" b="1" spc="-57">
                <a:solidFill>
                  <a:srgbClr val="000000"/>
                </a:solidFill>
                <a:latin typeface="Arial"/>
              </a:rPr>
              <a:t>is</a:t>
            </a:r>
            <a:r>
              <a:rPr lang="fr-FR" sz="2306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48">
                <a:solidFill>
                  <a:srgbClr val="000000"/>
                </a:solidFill>
                <a:latin typeface="Arial"/>
              </a:rPr>
              <a:t>not</a:t>
            </a:r>
            <a:r>
              <a:rPr lang="fr-FR" sz="2306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2306" b="1" spc="-6">
                <a:solidFill>
                  <a:srgbClr val="000000"/>
                </a:solidFill>
                <a:latin typeface="Arial"/>
              </a:rPr>
              <a:t>causation</a:t>
            </a:r>
            <a:endParaRPr lang="fr-FR" sz="2306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4"/>
          <p:cNvPicPr/>
          <p:nvPr/>
        </p:nvPicPr>
        <p:blipFill>
          <a:blip r:embed="rId2"/>
          <a:stretch/>
        </p:blipFill>
        <p:spPr>
          <a:xfrm>
            <a:off x="1296025" y="619314"/>
            <a:ext cx="7149455" cy="11842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Image 6"/>
          <p:cNvPicPr/>
          <p:nvPr/>
        </p:nvPicPr>
        <p:blipFill>
          <a:blip r:embed="rId3"/>
          <a:stretch/>
        </p:blipFill>
        <p:spPr>
          <a:xfrm>
            <a:off x="1634833" y="1803609"/>
            <a:ext cx="6423643" cy="176227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331356"/>
          </a:xfrm>
          <a:prstGeom prst="rect">
            <a:avLst/>
          </a:prstGeom>
          <a:noFill/>
          <a:ln w="0">
            <a:noFill/>
          </a:ln>
        </p:spPr>
        <p:txBody>
          <a:bodyPr lIns="0" tIns="53069" rIns="0" bIns="0" anchor="t">
            <a:spAutoFit/>
          </a:bodyPr>
          <a:lstStyle/>
          <a:p>
            <a:pPr marL="2360270">
              <a:lnSpc>
                <a:spcPct val="100000"/>
              </a:lnSpc>
              <a:spcBef>
                <a:spcPts val="63"/>
              </a:spcBef>
            </a:pPr>
            <a:r>
              <a:rPr lang="fr-FR" sz="1805" spc="30">
                <a:solidFill>
                  <a:schemeClr val="dk1"/>
                </a:solidFill>
                <a:latin typeface="Arial MT"/>
              </a:rPr>
              <a:t>Problem:</a:t>
            </a:r>
            <a:r>
              <a:rPr lang="fr-FR" sz="1805" spc="-4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37">
                <a:solidFill>
                  <a:schemeClr val="dk1"/>
                </a:solidFill>
                <a:latin typeface="Arial MT"/>
              </a:rPr>
              <a:t>descriptive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33">
                <a:solidFill>
                  <a:schemeClr val="dk1"/>
                </a:solidFill>
                <a:latin typeface="Arial MT"/>
              </a:rPr>
              <a:t>data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-65">
                <a:solidFill>
                  <a:schemeClr val="dk1"/>
                </a:solidFill>
                <a:latin typeface="Arial MT"/>
              </a:rPr>
              <a:t>says</a:t>
            </a:r>
            <a:r>
              <a:rPr lang="fr-FR" sz="1805" spc="-4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50">
                <a:solidFill>
                  <a:schemeClr val="dk1"/>
                </a:solidFill>
                <a:latin typeface="Arial MT"/>
              </a:rPr>
              <a:t>little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spc="70">
                <a:solidFill>
                  <a:schemeClr val="dk1"/>
                </a:solidFill>
                <a:latin typeface="Arial MT"/>
              </a:rPr>
              <a:t>about</a:t>
            </a:r>
            <a:r>
              <a:rPr lang="fr-FR" sz="1805" spc="-37">
                <a:solidFill>
                  <a:schemeClr val="dk1"/>
                </a:solidFill>
                <a:latin typeface="Arial MT"/>
              </a:rPr>
              <a:t> </a:t>
            </a:r>
            <a:r>
              <a:rPr lang="fr-FR" sz="1805" i="1" spc="-6">
                <a:solidFill>
                  <a:schemeClr val="dk1"/>
                </a:solidFill>
                <a:latin typeface="Arial"/>
              </a:rPr>
              <a:t>causality</a:t>
            </a:r>
            <a:endParaRPr lang="fr-FR" sz="1805"/>
          </a:p>
        </p:txBody>
      </p:sp>
      <p:pic>
        <p:nvPicPr>
          <p:cNvPr id="182" name="object 3"/>
          <p:cNvPicPr/>
          <p:nvPr/>
        </p:nvPicPr>
        <p:blipFill>
          <a:blip r:embed="rId2"/>
          <a:stretch/>
        </p:blipFill>
        <p:spPr>
          <a:xfrm>
            <a:off x="961187" y="572202"/>
            <a:ext cx="8152884" cy="384295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object 4"/>
          <p:cNvSpPr/>
          <p:nvPr/>
        </p:nvSpPr>
        <p:spPr>
          <a:xfrm>
            <a:off x="54509" y="4500901"/>
            <a:ext cx="8070393" cy="10861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4315129" indent="-240774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need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0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than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crude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numbers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establish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causal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1379"/>
              </a:spcBef>
              <a:tabLst>
                <a:tab pos="0" algn="l"/>
              </a:tabLst>
            </a:pPr>
            <a:r>
              <a:rPr lang="fr-FR" sz="978" u="sng">
                <a:solidFill>
                  <a:srgbClr val="5E5E5E"/>
                </a:solidFill>
                <a:latin typeface="Arial MT"/>
                <a:hlinkClick r:id="rId3"/>
              </a:rPr>
              <a:t>https://www.tylervigen.com/spurious-</a:t>
            </a:r>
            <a:r>
              <a:rPr lang="fr-FR" sz="978" u="sng" spc="-6">
                <a:solidFill>
                  <a:srgbClr val="5E5E5E"/>
                </a:solidFill>
                <a:latin typeface="Arial MT"/>
                <a:hlinkClick r:id="rId3"/>
              </a:rPr>
              <a:t>correlations</a:t>
            </a:r>
            <a:endParaRPr lang="fr-FR" sz="97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076" y="96390"/>
            <a:ext cx="6570214" cy="784217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85" name="object 3"/>
          <p:cNvSpPr/>
          <p:nvPr/>
        </p:nvSpPr>
        <p:spPr>
          <a:xfrm>
            <a:off x="15339" y="1139350"/>
            <a:ext cx="4819673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-43">
                <a:solidFill>
                  <a:srgbClr val="000000"/>
                </a:solidFill>
                <a:latin typeface="Arial MT"/>
              </a:rPr>
              <a:t>B.</a:t>
            </a:r>
            <a:r>
              <a:rPr lang="fr-FR" sz="1805" spc="-10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inference: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object 4"/>
          <p:cNvSpPr/>
          <p:nvPr/>
        </p:nvSpPr>
        <p:spPr>
          <a:xfrm>
            <a:off x="1387902" y="2164620"/>
            <a:ext cx="7305051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866419" indent="-860282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65">
                <a:solidFill>
                  <a:srgbClr val="000000"/>
                </a:solidFill>
                <a:latin typeface="Arial"/>
              </a:rPr>
              <a:t>do</a:t>
            </a:r>
            <a:r>
              <a:rPr lang="fr-FR" sz="1805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36">
                <a:solidFill>
                  <a:srgbClr val="000000"/>
                </a:solidFill>
                <a:latin typeface="Arial"/>
              </a:rPr>
              <a:t>not</a:t>
            </a:r>
            <a:r>
              <a:rPr lang="fr-FR" sz="1805" b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simply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33">
                <a:solidFill>
                  <a:srgbClr val="000000"/>
                </a:solidFill>
                <a:latin typeface="Arial"/>
              </a:rPr>
              <a:t>describe</a:t>
            </a:r>
            <a:r>
              <a:rPr lang="fr-FR" sz="1805" i="1" spc="-4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world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is,</a:t>
            </a:r>
            <a:r>
              <a:rPr lang="fr-FR" sz="1805" spc="-9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8">
                <a:solidFill>
                  <a:srgbClr val="000000"/>
                </a:solidFill>
                <a:latin typeface="Arial MT"/>
              </a:rPr>
              <a:t>but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seek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27">
                <a:solidFill>
                  <a:srgbClr val="000000"/>
                </a:solidFill>
                <a:latin typeface="Arial"/>
              </a:rPr>
              <a:t>explain</a:t>
            </a:r>
            <a:r>
              <a:rPr lang="fr-FR" sz="1805" i="1" spc="-5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3">
                <a:solidFill>
                  <a:srgbClr val="000000"/>
                </a:solidFill>
                <a:latin typeface="Arial MT"/>
              </a:rPr>
              <a:t>it,</a:t>
            </a:r>
            <a:r>
              <a:rPr lang="fr-FR" sz="1805" spc="-1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by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establishing</a:t>
            </a:r>
            <a:r>
              <a:rPr lang="fr-FR" sz="180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bject 5"/>
          <p:cNvSpPr/>
          <p:nvPr/>
        </p:nvSpPr>
        <p:spPr>
          <a:xfrm>
            <a:off x="1498913" y="3757399"/>
            <a:ext cx="7082668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111">
                <a:solidFill>
                  <a:srgbClr val="000000"/>
                </a:solidFill>
                <a:latin typeface="Arial MT"/>
              </a:rPr>
              <a:t>gold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standard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53">
                <a:solidFill>
                  <a:srgbClr val="000000"/>
                </a:solidFill>
                <a:latin typeface="Arial"/>
              </a:rPr>
              <a:t>experimental</a:t>
            </a:r>
            <a:r>
              <a:rPr lang="fr-FR" sz="1805" b="1" spc="-57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b="1" spc="60">
                <a:solidFill>
                  <a:srgbClr val="000000"/>
                </a:solidFill>
                <a:latin typeface="Arial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9676"/>
          </a:xfrm>
          <a:prstGeom prst="rect">
            <a:avLst/>
          </a:prstGeom>
          <a:noFill/>
          <a:ln w="0">
            <a:noFill/>
          </a:ln>
        </p:spPr>
        <p:txBody>
          <a:bodyPr lIns="0" tIns="83393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89" name="object 3"/>
          <p:cNvSpPr/>
          <p:nvPr/>
        </p:nvSpPr>
        <p:spPr>
          <a:xfrm>
            <a:off x="15339" y="1139350"/>
            <a:ext cx="4819673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-43">
                <a:solidFill>
                  <a:srgbClr val="000000"/>
                </a:solidFill>
                <a:latin typeface="Arial MT"/>
              </a:rPr>
              <a:t>B.</a:t>
            </a:r>
            <a:r>
              <a:rPr lang="fr-FR" sz="1805" spc="-10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inference: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5">
                <a:solidFill>
                  <a:srgbClr val="000000"/>
                </a:solidFill>
                <a:latin typeface="Arial MT"/>
              </a:rPr>
              <a:t>method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2" descr="Types of Quantitative Research Designs – An Introduction to Quantitative Research  Design for Students in Health Sciences"/>
          <p:cNvPicPr/>
          <p:nvPr/>
        </p:nvPicPr>
        <p:blipFill>
          <a:blip r:embed="rId2"/>
          <a:stretch/>
        </p:blipFill>
        <p:spPr>
          <a:xfrm>
            <a:off x="1748010" y="1688988"/>
            <a:ext cx="6800719" cy="367382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859"/>
          </a:xfrm>
          <a:prstGeom prst="rect">
            <a:avLst/>
          </a:prstGeom>
          <a:noFill/>
          <a:ln w="0">
            <a:noFill/>
          </a:ln>
        </p:spPr>
        <p:txBody>
          <a:bodyPr lIns="0" tIns="83574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8"/>
              </a:spcBef>
            </a:pPr>
            <a:r>
              <a:rPr lang="fr-FR" sz="5039" b="1">
                <a:solidFill>
                  <a:schemeClr val="dk1"/>
                </a:solidFill>
                <a:latin typeface="Arial"/>
              </a:rPr>
              <a:t>Quantitative</a:t>
            </a:r>
            <a:r>
              <a:rPr lang="fr-FR" sz="5039" b="1" spc="-48">
                <a:solidFill>
                  <a:schemeClr val="dk1"/>
                </a:solidFill>
                <a:latin typeface="Arial"/>
              </a:rPr>
              <a:t> </a:t>
            </a:r>
            <a:r>
              <a:rPr lang="fr-FR" sz="5039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039"/>
          </a:p>
        </p:txBody>
      </p:sp>
      <p:sp>
        <p:nvSpPr>
          <p:cNvPr id="192" name="object 3"/>
          <p:cNvSpPr/>
          <p:nvPr/>
        </p:nvSpPr>
        <p:spPr>
          <a:xfrm>
            <a:off x="14798" y="1530686"/>
            <a:ext cx="9191512" cy="2635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 spc="-10">
                <a:solidFill>
                  <a:srgbClr val="000000"/>
                </a:solidFill>
                <a:latin typeface="Arial MT"/>
              </a:rPr>
              <a:t>Systematic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evidence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(not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based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0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185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anecdotes)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55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inference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93"/>
              </a:spcBef>
              <a:tabLst>
                <a:tab pos="840246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things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measure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(emotions,</a:t>
            </a:r>
            <a:r>
              <a:rPr lang="fr-FR" sz="1855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shameful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illegal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behavior...)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8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always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available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3534" y="21481"/>
            <a:ext cx="9263714" cy="837113"/>
          </a:xfrm>
          <a:prstGeom prst="rect">
            <a:avLst/>
          </a:prstGeom>
          <a:noFill/>
          <a:ln w="0">
            <a:noFill/>
          </a:ln>
        </p:spPr>
        <p:txBody>
          <a:bodyPr lIns="0" tIns="7581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0"/>
              </a:spcBef>
            </a:pPr>
            <a:r>
              <a:rPr lang="fr-FR" sz="5390" b="1" spc="36">
                <a:solidFill>
                  <a:schemeClr val="dk1"/>
                </a:solidFill>
                <a:latin typeface="Arial"/>
              </a:rPr>
              <a:t>Qualitative</a:t>
            </a:r>
            <a:r>
              <a:rPr lang="fr-FR" sz="5390" b="1" spc="-341">
                <a:solidFill>
                  <a:schemeClr val="dk1"/>
                </a:solidFill>
                <a:latin typeface="Arial"/>
              </a:rPr>
              <a:t> </a:t>
            </a:r>
            <a:r>
              <a:rPr lang="fr-FR" sz="5390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390"/>
          </a:p>
        </p:txBody>
      </p:sp>
      <p:sp>
        <p:nvSpPr>
          <p:cNvPr id="194" name="object 3"/>
          <p:cNvSpPr/>
          <p:nvPr/>
        </p:nvSpPr>
        <p:spPr>
          <a:xfrm>
            <a:off x="15339" y="1265343"/>
            <a:ext cx="4266244" cy="8438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spc="57">
                <a:solidFill>
                  <a:srgbClr val="000000"/>
                </a:solidFill>
                <a:latin typeface="Arial MT"/>
              </a:rPr>
              <a:t>Methods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3">
                <a:solidFill>
                  <a:srgbClr val="000000"/>
                </a:solidFill>
                <a:latin typeface="Arial MT"/>
              </a:rPr>
              <a:t>collect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6">
                <a:solidFill>
                  <a:srgbClr val="000000"/>
                </a:solidFill>
                <a:latin typeface="Arial MT"/>
              </a:rPr>
              <a:t>non-</a:t>
            </a:r>
            <a:r>
              <a:rPr lang="fr-FR" sz="1805" spc="43">
                <a:solidFill>
                  <a:srgbClr val="000000"/>
                </a:solidFill>
                <a:latin typeface="Arial MT"/>
              </a:rPr>
              <a:t>numerical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data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50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29778" indent="-209565">
              <a:spcBef>
                <a:spcPts val="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29778" algn="l"/>
              </a:tabLst>
            </a:pPr>
            <a:r>
              <a:rPr lang="fr-FR" sz="1655" spc="-6">
                <a:solidFill>
                  <a:srgbClr val="000000"/>
                </a:solidFill>
                <a:latin typeface="Arial MT"/>
              </a:rPr>
              <a:t>Interviews: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object 4"/>
          <p:cNvPicPr/>
          <p:nvPr/>
        </p:nvPicPr>
        <p:blipFill>
          <a:blip r:embed="rId2"/>
          <a:stretch/>
        </p:blipFill>
        <p:spPr>
          <a:xfrm>
            <a:off x="5255589" y="1561913"/>
            <a:ext cx="2540974" cy="19055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object 5"/>
          <p:cNvSpPr/>
          <p:nvPr/>
        </p:nvSpPr>
        <p:spPr>
          <a:xfrm>
            <a:off x="529238" y="3620757"/>
            <a:ext cx="4454511" cy="260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15883" indent="-209565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15883" algn="l"/>
              </a:tabLst>
            </a:pPr>
            <a:r>
              <a:rPr lang="fr-FR" sz="1655" spc="27">
                <a:solidFill>
                  <a:srgbClr val="000000"/>
                </a:solidFill>
                <a:latin typeface="Arial MT"/>
              </a:rPr>
              <a:t>Observation</a:t>
            </a:r>
            <a:r>
              <a:rPr lang="fr-FR" sz="16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27">
                <a:solidFill>
                  <a:srgbClr val="000000"/>
                </a:solidFill>
                <a:latin typeface="Arial MT"/>
              </a:rPr>
              <a:t>(participant</a:t>
            </a:r>
            <a:r>
              <a:rPr lang="fr-FR" sz="16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65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6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655" spc="33">
                <a:solidFill>
                  <a:srgbClr val="000000"/>
                </a:solidFill>
                <a:latin typeface="Arial MT"/>
              </a:rPr>
              <a:t>non-</a:t>
            </a:r>
            <a:r>
              <a:rPr lang="fr-FR" sz="1655" spc="23">
                <a:solidFill>
                  <a:srgbClr val="000000"/>
                </a:solidFill>
                <a:latin typeface="Arial MT"/>
              </a:rPr>
              <a:t>participant):</a:t>
            </a:r>
            <a:endParaRPr lang="fr-FR" sz="165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object 6"/>
          <p:cNvPicPr/>
          <p:nvPr/>
        </p:nvPicPr>
        <p:blipFill>
          <a:blip r:embed="rId3"/>
          <a:stretch/>
        </p:blipFill>
        <p:spPr>
          <a:xfrm>
            <a:off x="8047105" y="2551623"/>
            <a:ext cx="2033212" cy="311606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3534" y="21481"/>
            <a:ext cx="9263714" cy="837113"/>
          </a:xfrm>
          <a:prstGeom prst="rect">
            <a:avLst/>
          </a:prstGeom>
          <a:noFill/>
          <a:ln w="0">
            <a:noFill/>
          </a:ln>
        </p:spPr>
        <p:txBody>
          <a:bodyPr lIns="0" tIns="7581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60"/>
              </a:spcBef>
            </a:pPr>
            <a:r>
              <a:rPr lang="fr-FR" sz="5390" b="1" spc="36">
                <a:solidFill>
                  <a:schemeClr val="dk1"/>
                </a:solidFill>
                <a:latin typeface="Arial"/>
              </a:rPr>
              <a:t>Qualitative</a:t>
            </a:r>
            <a:r>
              <a:rPr lang="fr-FR" sz="5390" b="1" spc="-341">
                <a:solidFill>
                  <a:schemeClr val="dk1"/>
                </a:solidFill>
                <a:latin typeface="Arial"/>
              </a:rPr>
              <a:t> </a:t>
            </a:r>
            <a:r>
              <a:rPr lang="fr-FR" sz="5390" b="1" spc="-6">
                <a:solidFill>
                  <a:schemeClr val="dk1"/>
                </a:solidFill>
                <a:latin typeface="Arial"/>
              </a:rPr>
              <a:t>methods</a:t>
            </a:r>
            <a:endParaRPr lang="fr-FR" sz="5390"/>
          </a:p>
        </p:txBody>
      </p:sp>
      <p:sp>
        <p:nvSpPr>
          <p:cNvPr id="199" name="object 3"/>
          <p:cNvSpPr/>
          <p:nvPr/>
        </p:nvSpPr>
        <p:spPr>
          <a:xfrm>
            <a:off x="14798" y="1530686"/>
            <a:ext cx="8323281" cy="2635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Fine-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grained,</a:t>
            </a:r>
            <a:r>
              <a:rPr lang="fr-FR" sz="1855" spc="-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"thick"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(while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quant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data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91">
                <a:solidFill>
                  <a:srgbClr val="000000"/>
                </a:solidFill>
                <a:latin typeface="Arial MT"/>
              </a:rPr>
              <a:t>bit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"dry")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give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insights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8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8">
                <a:solidFill>
                  <a:srgbClr val="000000"/>
                </a:solidFill>
                <a:latin typeface="Arial MT"/>
              </a:rPr>
              <a:t>captured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7">
                <a:solidFill>
                  <a:srgbClr val="000000"/>
                </a:solidFill>
                <a:latin typeface="Arial MT"/>
              </a:rPr>
              <a:t>by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quantitative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data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93"/>
              </a:spcBef>
              <a:tabLst>
                <a:tab pos="840246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37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generalize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findings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37">
                <a:solidFill>
                  <a:srgbClr val="000000"/>
                </a:solidFill>
                <a:latin typeface="Arial MT"/>
              </a:rPr>
              <a:t>Difficult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establish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relationships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1" name="object 3"/>
          <p:cNvSpPr/>
          <p:nvPr/>
        </p:nvSpPr>
        <p:spPr>
          <a:xfrm>
            <a:off x="14798" y="1331949"/>
            <a:ext cx="8477614" cy="23242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1579591">
              <a:spcBef>
                <a:spcPts val="63"/>
              </a:spcBef>
            </a:pPr>
            <a:r>
              <a:rPr lang="fr-FR" sz="1805" spc="56">
                <a:solidFill>
                  <a:srgbClr val="000000"/>
                </a:solidFill>
                <a:latin typeface="Arial MT"/>
              </a:rPr>
              <a:t>Definition: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A description of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processes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6">
                <a:solidFill>
                  <a:srgbClr val="000000"/>
                </a:solidFill>
                <a:latin typeface="Arial MT"/>
              </a:rPr>
              <a:t>with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mathematics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78"/>
              </a:spcBef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buClr>
                <a:srgbClr val="000000"/>
              </a:buClr>
              <a:buSzPct val="124000"/>
              <a:buFont typeface="Symbol" charset="2"/>
              <a:buChar char="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1.</a:t>
            </a:r>
            <a:r>
              <a:rPr lang="fr-FR" sz="1805" spc="-9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Propose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180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8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05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6">
                <a:solidFill>
                  <a:srgbClr val="000000"/>
                </a:solidFill>
                <a:latin typeface="Arial MT"/>
              </a:rPr>
              <a:t>variables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69"/>
              </a:spcBef>
              <a:tabLst>
                <a:tab pos="237182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spcBef>
                <a:spcPts val="3"/>
              </a:spcBef>
              <a:buClr>
                <a:srgbClr val="000000"/>
              </a:buClr>
              <a:buSzPct val="124000"/>
              <a:buFont typeface="Arial MT"/>
              <a:buChar char="•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2.</a:t>
            </a:r>
            <a:r>
              <a:rPr lang="fr-FR" sz="180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variables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mathematically</a:t>
            </a:r>
            <a:r>
              <a:rPr lang="fr-FR" sz="180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6">
                <a:solidFill>
                  <a:srgbClr val="000000"/>
                </a:solidFill>
                <a:latin typeface="Arial MT"/>
              </a:rPr>
              <a:t>related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69"/>
              </a:spcBef>
              <a:tabLst>
                <a:tab pos="237182" algn="l"/>
              </a:tabLst>
            </a:pP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237182" indent="-230865">
              <a:spcBef>
                <a:spcPts val="3"/>
              </a:spcBef>
              <a:buClr>
                <a:srgbClr val="000000"/>
              </a:buClr>
              <a:buSzPct val="124000"/>
              <a:buFont typeface="Arial MT"/>
              <a:buChar char="•"/>
              <a:tabLst>
                <a:tab pos="237182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3.</a:t>
            </a:r>
            <a:r>
              <a:rPr lang="fr-FR" sz="1805" spc="-7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i="1" spc="43">
                <a:solidFill>
                  <a:srgbClr val="000000"/>
                </a:solidFill>
                <a:latin typeface="Arial"/>
              </a:rPr>
              <a:t>predictions</a:t>
            </a:r>
            <a:r>
              <a:rPr lang="fr-FR" sz="1805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based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0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3">
                <a:solidFill>
                  <a:srgbClr val="000000"/>
                </a:solidFill>
                <a:latin typeface="Arial MT"/>
              </a:rPr>
              <a:t>hypotheses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3" name="object 3"/>
          <p:cNvSpPr/>
          <p:nvPr/>
        </p:nvSpPr>
        <p:spPr>
          <a:xfrm>
            <a:off x="1409743" y="1355956"/>
            <a:ext cx="7261369" cy="715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652506" indent="-2646369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spc="-27">
                <a:solidFill>
                  <a:srgbClr val="000000"/>
                </a:solidFill>
                <a:latin typeface="Arial MT"/>
              </a:rPr>
              <a:t>Ex: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3">
                <a:solidFill>
                  <a:srgbClr val="000000"/>
                </a:solidFill>
                <a:latin typeface="Arial MT"/>
              </a:rPr>
              <a:t>imagine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8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27">
                <a:solidFill>
                  <a:srgbClr val="000000"/>
                </a:solidFill>
                <a:latin typeface="Arial MT"/>
              </a:rPr>
              <a:t>want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theory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70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65">
                <a:solidFill>
                  <a:srgbClr val="000000"/>
                </a:solidFill>
                <a:latin typeface="Arial MT"/>
              </a:rPr>
              <a:t>how</a:t>
            </a:r>
            <a:r>
              <a:rPr lang="fr-FR" sz="180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-17">
                <a:solidFill>
                  <a:srgbClr val="000000"/>
                </a:solidFill>
                <a:latin typeface="Arial MT"/>
              </a:rPr>
              <a:t>size</a:t>
            </a:r>
            <a:r>
              <a:rPr lang="fr-FR" sz="1805" spc="-5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0">
                <a:solidFill>
                  <a:srgbClr val="000000"/>
                </a:solidFill>
                <a:latin typeface="Arial MT"/>
              </a:rPr>
              <a:t>impacts </a:t>
            </a:r>
            <a:r>
              <a:rPr lang="fr-FR" sz="1805" spc="91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05" spc="-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0">
                <a:solidFill>
                  <a:srgbClr val="000000"/>
                </a:solidFill>
                <a:latin typeface="Arial MT"/>
              </a:rPr>
              <a:t>productivity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object 4"/>
          <p:cNvPicPr/>
          <p:nvPr/>
        </p:nvPicPr>
        <p:blipFill>
          <a:blip r:embed="rId2"/>
          <a:stretch/>
        </p:blipFill>
        <p:spPr>
          <a:xfrm>
            <a:off x="659021" y="2726172"/>
            <a:ext cx="8536097" cy="18305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object 5"/>
          <p:cNvSpPr/>
          <p:nvPr/>
        </p:nvSpPr>
        <p:spPr>
          <a:xfrm>
            <a:off x="6506311" y="4767146"/>
            <a:ext cx="2213356" cy="5714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373463" indent="-367506">
              <a:lnSpc>
                <a:spcPct val="136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429" b="1" spc="73">
                <a:solidFill>
                  <a:srgbClr val="000000"/>
                </a:solidFill>
                <a:latin typeface="Arial"/>
              </a:rPr>
              <a:t>*In</a:t>
            </a:r>
            <a:r>
              <a:rPr lang="fr-FR" sz="1429" b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>
                <a:solidFill>
                  <a:srgbClr val="000000"/>
                </a:solidFill>
                <a:latin typeface="Arial"/>
              </a:rPr>
              <a:t>this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27">
                <a:solidFill>
                  <a:srgbClr val="000000"/>
                </a:solidFill>
                <a:latin typeface="Arial"/>
              </a:rPr>
              <a:t>context,</a:t>
            </a:r>
            <a:r>
              <a:rPr lang="fr-FR" sz="1429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36">
                <a:solidFill>
                  <a:srgbClr val="000000"/>
                </a:solidFill>
                <a:latin typeface="Arial"/>
              </a:rPr>
              <a:t>forage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98">
                <a:solidFill>
                  <a:srgbClr val="000000"/>
                </a:solidFill>
                <a:latin typeface="Arial"/>
              </a:rPr>
              <a:t>= </a:t>
            </a:r>
            <a:r>
              <a:rPr lang="fr-FR" sz="1429" b="1" spc="56">
                <a:solidFill>
                  <a:srgbClr val="000000"/>
                </a:solidFill>
                <a:latin typeface="Arial"/>
              </a:rPr>
              <a:t>"work</a:t>
            </a:r>
            <a:r>
              <a:rPr lang="fr-FR" sz="1429" b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429" b="1" spc="43">
                <a:solidFill>
                  <a:srgbClr val="000000"/>
                </a:solidFill>
                <a:latin typeface="Arial"/>
              </a:rPr>
              <a:t>together"</a:t>
            </a:r>
            <a:endParaRPr lang="fr-FR" sz="142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4076" y="21661"/>
            <a:ext cx="8532126" cy="858824"/>
          </a:xfrm>
          <a:prstGeom prst="rect">
            <a:avLst/>
          </a:prstGeom>
          <a:noFill/>
          <a:ln w="0">
            <a:noFill/>
          </a:ln>
        </p:spPr>
        <p:txBody>
          <a:bodyPr lIns="0" tIns="71119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07" name="object 3"/>
          <p:cNvSpPr/>
          <p:nvPr/>
        </p:nvSpPr>
        <p:spPr>
          <a:xfrm>
            <a:off x="3212089" y="1069314"/>
            <a:ext cx="3656316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famous</a:t>
            </a:r>
            <a:r>
              <a:rPr lang="fr-FR" sz="180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57">
                <a:solidFill>
                  <a:srgbClr val="000000"/>
                </a:solidFill>
                <a:latin typeface="Arial MT"/>
              </a:rPr>
              <a:t>economic</a:t>
            </a:r>
            <a:r>
              <a:rPr lang="fr-FR" sz="180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82">
                <a:solidFill>
                  <a:srgbClr val="000000"/>
                </a:solidFill>
                <a:latin typeface="Arial MT"/>
              </a:rPr>
              <a:t>model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object 4"/>
          <p:cNvPicPr/>
          <p:nvPr/>
        </p:nvPicPr>
        <p:blipFill>
          <a:blip r:embed="rId2"/>
          <a:stretch/>
        </p:blipFill>
        <p:spPr>
          <a:xfrm>
            <a:off x="3041872" y="1760288"/>
            <a:ext cx="3935738" cy="372960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859007"/>
          </a:xfrm>
          <a:prstGeom prst="rect">
            <a:avLst/>
          </a:prstGeom>
          <a:noFill/>
          <a:ln w="0">
            <a:noFill/>
          </a:ln>
        </p:spPr>
        <p:txBody>
          <a:bodyPr lIns="0" tIns="71300" rIns="0" bIns="0" anchor="t">
            <a:spAutoFit/>
          </a:bodyPr>
          <a:lstStyle/>
          <a:p>
            <a:pPr marL="6679">
              <a:lnSpc>
                <a:spcPct val="100000"/>
              </a:lnSpc>
              <a:spcBef>
                <a:spcPts val="50"/>
              </a:spcBef>
            </a:pPr>
            <a:r>
              <a:rPr lang="fr-FR" sz="5114" b="1">
                <a:solidFill>
                  <a:schemeClr val="dk1"/>
                </a:solidFill>
                <a:latin typeface="Arial"/>
              </a:rPr>
              <a:t>Mathematical</a:t>
            </a:r>
            <a:r>
              <a:rPr lang="fr-FR" sz="5114" b="1" spc="-325">
                <a:solidFill>
                  <a:schemeClr val="dk1"/>
                </a:solidFill>
                <a:latin typeface="Arial"/>
              </a:rPr>
              <a:t> </a:t>
            </a:r>
            <a:r>
              <a:rPr lang="fr-FR" sz="5114" b="1" spc="-6">
                <a:solidFill>
                  <a:schemeClr val="dk1"/>
                </a:solidFill>
                <a:latin typeface="Arial"/>
              </a:rPr>
              <a:t>Models</a:t>
            </a:r>
            <a:endParaRPr lang="fr-FR" sz="5114"/>
          </a:p>
        </p:txBody>
      </p:sp>
      <p:sp>
        <p:nvSpPr>
          <p:cNvPr id="210" name="object 3"/>
          <p:cNvSpPr/>
          <p:nvPr/>
        </p:nvSpPr>
        <p:spPr>
          <a:xfrm>
            <a:off x="14798" y="1530685"/>
            <a:ext cx="9523461" cy="32677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33031" indent="-225811"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Pros: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56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246" algn="l"/>
              </a:tabLst>
            </a:pPr>
            <a:r>
              <a:rPr lang="fr-FR" sz="1855" spc="-20">
                <a:solidFill>
                  <a:srgbClr val="000000"/>
                </a:solidFill>
                <a:latin typeface="Arial MT"/>
              </a:rPr>
              <a:t>Forces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clear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mechanisms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39885" lvl="1" indent="-235558">
              <a:lnSpc>
                <a:spcPct val="113000"/>
              </a:lnSpc>
              <a:spcBef>
                <a:spcPts val="154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40788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clear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predictions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95">
                <a:solidFill>
                  <a:srgbClr val="000000"/>
                </a:solidFill>
                <a:latin typeface="Arial MT"/>
              </a:rPr>
              <a:t>don't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just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observe,</a:t>
            </a:r>
            <a:r>
              <a:rPr lang="fr-FR" sz="1855" spc="-6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3">
                <a:solidFill>
                  <a:srgbClr val="000000"/>
                </a:solidFill>
                <a:latin typeface="Arial MT"/>
              </a:rPr>
              <a:t>know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will 	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happen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5">
                <a:solidFill>
                  <a:srgbClr val="000000"/>
                </a:solidFill>
                <a:latin typeface="Arial MT"/>
              </a:rPr>
              <a:t>group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size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increases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3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there's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shock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3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demand)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40788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3"/>
              </a:spcBef>
              <a:tabLst>
                <a:tab pos="840788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Cons: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611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 spc="50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requires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(over-)simplify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reality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(is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problem?)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840246" lvl="1" indent="-235558">
              <a:spcBef>
                <a:spcPts val="1825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840246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If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0">
                <a:solidFill>
                  <a:srgbClr val="000000"/>
                </a:solidFill>
                <a:latin typeface="Arial MT"/>
              </a:rPr>
              <a:t>model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7">
                <a:solidFill>
                  <a:srgbClr val="000000"/>
                </a:solidFill>
                <a:latin typeface="Arial MT"/>
              </a:rPr>
              <a:t>(not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really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78">
                <a:solidFill>
                  <a:srgbClr val="000000"/>
                </a:solidFill>
                <a:latin typeface="Arial MT"/>
              </a:rPr>
              <a:t>problem</a:t>
            </a:r>
            <a:r>
              <a:rPr lang="fr-FR" sz="1855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either)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422920" y="-40433"/>
            <a:ext cx="7234654" cy="721714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1886447" indent="-1880491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805" b="1" spc="-6">
                <a:solidFill>
                  <a:schemeClr val="dk1"/>
                </a:solidFill>
                <a:latin typeface="Arial"/>
              </a:rPr>
              <a:t>These</a:t>
            </a:r>
            <a:r>
              <a:rPr lang="fr-FR" sz="1805" b="1" spc="-17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30">
                <a:solidFill>
                  <a:schemeClr val="dk1"/>
                </a:solidFill>
                <a:latin typeface="Arial"/>
              </a:rPr>
              <a:t>methods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26">
                <a:solidFill>
                  <a:schemeClr val="dk1"/>
                </a:solidFill>
                <a:latin typeface="Arial"/>
              </a:rPr>
              <a:t>are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used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33">
                <a:solidFill>
                  <a:schemeClr val="dk1"/>
                </a:solidFill>
                <a:latin typeface="Arial"/>
              </a:rPr>
              <a:t>all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disciplines,</a:t>
            </a:r>
            <a:r>
              <a:rPr lang="fr-FR" sz="1805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56">
                <a:solidFill>
                  <a:schemeClr val="dk1"/>
                </a:solidFill>
                <a:latin typeface="Arial"/>
              </a:rPr>
              <a:t>but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each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>
                <a:solidFill>
                  <a:schemeClr val="dk1"/>
                </a:solidFill>
                <a:latin typeface="Arial"/>
              </a:rPr>
              <a:t>discipline</a:t>
            </a:r>
            <a:r>
              <a:rPr lang="fr-FR" sz="1805" b="1" spc="-1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-13">
                <a:solidFill>
                  <a:schemeClr val="dk1"/>
                </a:solidFill>
                <a:latin typeface="Arial"/>
              </a:rPr>
              <a:t>has </a:t>
            </a:r>
            <a:r>
              <a:rPr lang="fr-FR" sz="1805" b="1" spc="46">
                <a:solidFill>
                  <a:schemeClr val="dk1"/>
                </a:solidFill>
                <a:latin typeface="Arial"/>
              </a:rPr>
              <a:t>more</a:t>
            </a:r>
            <a:r>
              <a:rPr lang="fr-FR" sz="1805" b="1" spc="-4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48">
                <a:solidFill>
                  <a:schemeClr val="dk1"/>
                </a:solidFill>
                <a:latin typeface="Arial"/>
              </a:rPr>
              <a:t>predominant</a:t>
            </a:r>
            <a:r>
              <a:rPr lang="fr-FR" sz="1805" b="1" spc="-46">
                <a:solidFill>
                  <a:schemeClr val="dk1"/>
                </a:solidFill>
                <a:latin typeface="Arial"/>
              </a:rPr>
              <a:t> </a:t>
            </a:r>
            <a:r>
              <a:rPr lang="fr-FR" sz="1805" b="1" spc="-6">
                <a:solidFill>
                  <a:schemeClr val="dk1"/>
                </a:solidFill>
                <a:latin typeface="Arial"/>
              </a:rPr>
              <a:t>approaches</a:t>
            </a:r>
            <a:endParaRPr lang="fr-FR" sz="1805"/>
          </a:p>
        </p:txBody>
      </p:sp>
      <p:sp>
        <p:nvSpPr>
          <p:cNvPr id="212" name="object 3"/>
          <p:cNvSpPr/>
          <p:nvPr/>
        </p:nvSpPr>
        <p:spPr>
          <a:xfrm>
            <a:off x="14798" y="1118230"/>
            <a:ext cx="7467686" cy="412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433" rIns="0" bIns="0" anchor="t">
            <a:spAutoFit/>
          </a:bodyPr>
          <a:lstStyle/>
          <a:p>
            <a:pPr marL="233031" indent="-225811">
              <a:spcBef>
                <a:spcPts val="31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3031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Sociology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58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descriptive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statistics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qualitative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6">
                <a:solidFill>
                  <a:srgbClr val="000000"/>
                </a:solidFill>
                <a:latin typeface="Arial MT"/>
              </a:rPr>
              <a:t>work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112">
                <a:solidFill>
                  <a:srgbClr val="000000"/>
                </a:solidFill>
                <a:latin typeface="Arial MT"/>
              </a:rPr>
              <a:t>+</a:t>
            </a:r>
            <a:r>
              <a:rPr lang="fr-FR" sz="1404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inference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Science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qualitative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6">
                <a:solidFill>
                  <a:srgbClr val="000000"/>
                </a:solidFill>
                <a:latin typeface="Arial MT"/>
              </a:rPr>
              <a:t>work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112">
                <a:solidFill>
                  <a:srgbClr val="000000"/>
                </a:solidFill>
                <a:latin typeface="Arial MT"/>
              </a:rPr>
              <a:t>+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 some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404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50">
                <a:solidFill>
                  <a:srgbClr val="000000"/>
                </a:solidFill>
                <a:latin typeface="Arial MT"/>
              </a:rPr>
              <a:t>modeling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Economics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 spc="27">
                <a:solidFill>
                  <a:srgbClr val="000000"/>
                </a:solidFill>
                <a:latin typeface="Arial MT"/>
              </a:rPr>
              <a:t>Mix</a:t>
            </a:r>
            <a:r>
              <a:rPr lang="fr-FR" sz="1404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404" spc="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-6">
                <a:solidFill>
                  <a:srgbClr val="000000"/>
                </a:solidFill>
                <a:latin typeface="Arial MT"/>
              </a:rPr>
              <a:t>causal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inference</a:t>
            </a:r>
            <a:r>
              <a:rPr lang="fr-FR" sz="1404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mathematical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6">
                <a:solidFill>
                  <a:srgbClr val="000000"/>
                </a:solidFill>
                <a:latin typeface="Arial MT"/>
              </a:rPr>
              <a:t>modeling,</a:t>
            </a:r>
            <a:r>
              <a:rPr lang="fr-FR" sz="1404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65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increasingly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experimental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5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30">
                <a:solidFill>
                  <a:srgbClr val="000000"/>
                </a:solidFill>
                <a:latin typeface="Arial MT"/>
              </a:rPr>
              <a:t>Anthropology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Known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3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participant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observation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(ethnographies),</a:t>
            </a:r>
            <a:r>
              <a:rPr lang="fr-FR" sz="1404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65">
                <a:solidFill>
                  <a:srgbClr val="000000"/>
                </a:solidFill>
                <a:latin typeface="Arial MT"/>
              </a:rPr>
              <a:t>but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>
                <a:solidFill>
                  <a:srgbClr val="000000"/>
                </a:solidFill>
                <a:latin typeface="Arial MT"/>
              </a:rPr>
              <a:t>increasingly</a:t>
            </a:r>
            <a:r>
              <a:rPr lang="fr-FR" sz="1404" spc="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20">
                <a:solidFill>
                  <a:srgbClr val="000000"/>
                </a:solidFill>
                <a:latin typeface="Arial MT"/>
              </a:rPr>
              <a:t>quantitative</a:t>
            </a:r>
            <a:endParaRPr lang="fr-FR" sz="1404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"/>
              </a:spcBef>
              <a:tabLst>
                <a:tab pos="783207" algn="l"/>
              </a:tabLst>
            </a:pPr>
            <a:endParaRPr lang="fr-FR" sz="1404">
              <a:solidFill>
                <a:srgbClr val="000000"/>
              </a:solidFill>
              <a:latin typeface="Arial"/>
            </a:endParaRPr>
          </a:p>
          <a:p>
            <a:pPr marL="232128" indent="-225811"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32128" algn="l"/>
              </a:tabLst>
            </a:pPr>
            <a:r>
              <a:rPr lang="fr-FR" sz="1780" spc="-6">
                <a:solidFill>
                  <a:srgbClr val="000000"/>
                </a:solidFill>
                <a:latin typeface="Arial MT"/>
              </a:rPr>
              <a:t>Psychology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783207" lvl="1" indent="-178699">
              <a:spcBef>
                <a:spcPts val="630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783207" algn="l"/>
              </a:tabLst>
            </a:pPr>
            <a:r>
              <a:rPr lang="fr-FR" sz="1404">
                <a:solidFill>
                  <a:srgbClr val="000000"/>
                </a:solidFill>
                <a:latin typeface="Arial MT"/>
              </a:rPr>
              <a:t>Known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43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0">
                <a:solidFill>
                  <a:srgbClr val="000000"/>
                </a:solidFill>
                <a:latin typeface="Arial MT"/>
              </a:rPr>
              <a:t>experimental</a:t>
            </a:r>
            <a:r>
              <a:rPr lang="fr-FR" sz="1404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04" spc="33">
                <a:solidFill>
                  <a:srgbClr val="000000"/>
                </a:solidFill>
                <a:latin typeface="Arial MT"/>
              </a:rPr>
              <a:t>methods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23823" y="156859"/>
            <a:ext cx="9622559" cy="633663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4061" b="1" spc="-50">
                <a:solidFill>
                  <a:schemeClr val="dk1"/>
                </a:solidFill>
                <a:latin typeface="Arial"/>
              </a:rPr>
              <a:t>Theoretical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20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18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67">
                <a:solidFill>
                  <a:schemeClr val="dk1"/>
                </a:solidFill>
                <a:latin typeface="Arial"/>
              </a:rPr>
              <a:t>sciences</a:t>
            </a:r>
            <a:endParaRPr lang="fr-FR" sz="4061"/>
          </a:p>
        </p:txBody>
      </p:sp>
      <p:sp>
        <p:nvSpPr>
          <p:cNvPr id="217" name="object 3"/>
          <p:cNvSpPr/>
          <p:nvPr/>
        </p:nvSpPr>
        <p:spPr>
          <a:xfrm>
            <a:off x="306133" y="1219494"/>
            <a:ext cx="9391332" cy="3871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7473" rIns="0" bIns="0" anchor="t">
            <a:spAutoFit/>
          </a:bodyPr>
          <a:lstStyle/>
          <a:p>
            <a:pPr marL="6318">
              <a:lnSpc>
                <a:spcPts val="2612"/>
              </a:lnSpc>
              <a:spcBef>
                <a:spcPts val="374"/>
              </a:spcBef>
            </a:pPr>
            <a:r>
              <a:rPr lang="fr-FR" sz="2407" spc="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20">
                <a:solidFill>
                  <a:srgbClr val="00AB8E"/>
                </a:solidFill>
                <a:latin typeface="Arial"/>
              </a:rPr>
              <a:t>theoretical</a:t>
            </a:r>
            <a:r>
              <a:rPr lang="fr-FR" sz="2407" b="1" spc="-143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AB8E"/>
                </a:solidFill>
                <a:latin typeface="Arial"/>
              </a:rPr>
              <a:t>paradigm</a:t>
            </a:r>
            <a:r>
              <a:rPr lang="fr-FR" sz="2407" b="1" spc="-141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spc="196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7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46">
                <a:solidFill>
                  <a:srgbClr val="000000"/>
                </a:solidFill>
                <a:latin typeface="Arial"/>
              </a:rPr>
              <a:t>core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48">
                <a:solidFill>
                  <a:srgbClr val="000000"/>
                </a:solidFill>
                <a:latin typeface="Arial"/>
              </a:rPr>
              <a:t>hypotheses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33">
                <a:solidFill>
                  <a:srgbClr val="000000"/>
                </a:solidFill>
                <a:latin typeface="Arial"/>
              </a:rPr>
              <a:t>how </a:t>
            </a:r>
            <a:r>
              <a:rPr lang="fr-FR" sz="2407" b="1" spc="-27">
                <a:solidFill>
                  <a:srgbClr val="000000"/>
                </a:solidFill>
                <a:latin typeface="Arial"/>
              </a:rPr>
              <a:t>human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10">
                <a:solidFill>
                  <a:srgbClr val="000000"/>
                </a:solidFill>
                <a:latin typeface="Arial"/>
              </a:rPr>
              <a:t>behaviour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0000"/>
                </a:solidFill>
                <a:latin typeface="Arial"/>
              </a:rPr>
              <a:t>and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57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60">
                <a:solidFill>
                  <a:srgbClr val="000000"/>
                </a:solidFill>
                <a:latin typeface="Arial"/>
              </a:rPr>
              <a:t>work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general,</a:t>
            </a:r>
            <a:r>
              <a:rPr lang="fr-FR" sz="2407" spc="-2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68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6">
                <a:solidFill>
                  <a:srgbClr val="000000"/>
                </a:solidFill>
                <a:latin typeface="Arial MT"/>
              </a:rPr>
              <a:t>basis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which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generate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23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85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particular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2407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3"/>
              </a:spcBef>
            </a:pPr>
            <a:endParaRPr lang="fr-FR" sz="2407">
              <a:solidFill>
                <a:srgbClr val="000000"/>
              </a:solidFill>
              <a:latin typeface="Arial"/>
            </a:endParaRPr>
          </a:p>
          <a:p>
            <a:pPr marL="19133">
              <a:spcBef>
                <a:spcPts val="3"/>
              </a:spcBef>
            </a:pPr>
            <a:r>
              <a:rPr lang="fr-FR" sz="2532" spc="-53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spc="-7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b="1" spc="-13">
                <a:solidFill>
                  <a:srgbClr val="000000"/>
                </a:solidFill>
                <a:latin typeface="Arial"/>
              </a:rPr>
              <a:t>no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unified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paradigm</a:t>
            </a:r>
            <a:r>
              <a:rPr lang="fr-FR" sz="2532" b="1" spc="-150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in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82">
                <a:solidFill>
                  <a:srgbClr val="000000"/>
                </a:solidFill>
                <a:latin typeface="Arial"/>
              </a:rPr>
              <a:t>social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science</a:t>
            </a:r>
            <a:r>
              <a:rPr lang="fr-FR" sz="2532" spc="-6">
                <a:solidFill>
                  <a:srgbClr val="000000"/>
                </a:solidFill>
                <a:latin typeface="Arial MT"/>
              </a:rPr>
              <a:t>.</a:t>
            </a:r>
            <a:endParaRPr lang="fr-FR" sz="2532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4"/>
              </a:spcBef>
            </a:pPr>
            <a:endParaRPr lang="fr-FR" sz="2532">
              <a:solidFill>
                <a:srgbClr val="000000"/>
              </a:solidFill>
              <a:latin typeface="Arial"/>
            </a:endParaRPr>
          </a:p>
          <a:p>
            <a:pPr marL="83393">
              <a:lnSpc>
                <a:spcPts val="2512"/>
              </a:lnSpc>
            </a:pPr>
            <a:r>
              <a:rPr lang="fr-FR" sz="2281" b="1" spc="65">
                <a:solidFill>
                  <a:srgbClr val="000000"/>
                </a:solidFill>
                <a:latin typeface="Arial"/>
              </a:rPr>
              <a:t>It</a:t>
            </a:r>
            <a:r>
              <a:rPr lang="fr-FR" sz="2281" b="1" spc="-131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1">
                <a:solidFill>
                  <a:srgbClr val="000000"/>
                </a:solidFill>
                <a:latin typeface="Arial"/>
              </a:rPr>
              <a:t>is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">
                <a:solidFill>
                  <a:srgbClr val="000000"/>
                </a:solidFill>
                <a:latin typeface="Arial"/>
              </a:rPr>
              <a:t>common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50">
                <a:solidFill>
                  <a:srgbClr val="000000"/>
                </a:solidFill>
                <a:latin typeface="Arial"/>
              </a:rPr>
              <a:t>to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36">
                <a:solidFill>
                  <a:srgbClr val="000000"/>
                </a:solidFill>
                <a:latin typeface="Arial"/>
              </a:rPr>
              <a:t>distinguish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85">
                <a:solidFill>
                  <a:srgbClr val="000000"/>
                </a:solidFill>
                <a:latin typeface="Arial"/>
              </a:rPr>
              <a:t>two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>
                <a:solidFill>
                  <a:srgbClr val="000000"/>
                </a:solidFill>
                <a:latin typeface="Arial"/>
              </a:rPr>
              <a:t>broad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7">
                <a:solidFill>
                  <a:srgbClr val="000000"/>
                </a:solidFill>
                <a:latin typeface="Arial"/>
              </a:rPr>
              <a:t>‘families’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3">
                <a:solidFill>
                  <a:srgbClr val="000000"/>
                </a:solidFill>
                <a:latin typeface="Arial"/>
              </a:rPr>
              <a:t>of </a:t>
            </a:r>
            <a:r>
              <a:rPr lang="fr-FR" sz="2281" b="1" spc="-16">
                <a:solidFill>
                  <a:srgbClr val="000000"/>
                </a:solidFill>
                <a:latin typeface="Arial"/>
              </a:rPr>
              <a:t>paradigms</a:t>
            </a:r>
            <a:r>
              <a:rPr lang="fr-FR" sz="2281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(although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3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distinction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57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somewhat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6">
                <a:solidFill>
                  <a:srgbClr val="000000"/>
                </a:solidFill>
                <a:latin typeface="Arial MT"/>
              </a:rPr>
              <a:t>artificial!)</a:t>
            </a:r>
            <a:endParaRPr lang="fr-FR" sz="2281">
              <a:solidFill>
                <a:srgbClr val="000000"/>
              </a:solidFill>
              <a:latin typeface="Arial"/>
            </a:endParaRPr>
          </a:p>
          <a:p>
            <a:pPr marL="921653" indent="-221298">
              <a:spcBef>
                <a:spcPts val="1832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21653" algn="l"/>
              </a:tabLst>
            </a:pPr>
            <a:r>
              <a:rPr lang="fr-FR" sz="1730" spc="53">
                <a:solidFill>
                  <a:srgbClr val="000000"/>
                </a:solidFill>
                <a:latin typeface="Arial MT"/>
              </a:rPr>
              <a:t>“Individualistic”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“agentic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0">
                <a:solidFill>
                  <a:srgbClr val="000000"/>
                </a:solidFill>
                <a:latin typeface="Arial MT"/>
              </a:rPr>
              <a:t>approaches”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974902" lvl="1" indent="-221298">
              <a:spcBef>
                <a:spcPts val="181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74902" algn="l"/>
              </a:tabLst>
            </a:pPr>
            <a:r>
              <a:rPr lang="fr-FR" sz="1730" spc="80">
                <a:solidFill>
                  <a:srgbClr val="000000"/>
                </a:solidFill>
                <a:latin typeface="Arial MT"/>
              </a:rPr>
              <a:t>“Holistic”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“culturalist”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approaches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38805" y="134476"/>
            <a:ext cx="9359021" cy="846490"/>
          </a:xfrm>
          <a:prstGeom prst="rect">
            <a:avLst/>
          </a:prstGeom>
          <a:noFill/>
          <a:ln w="0">
            <a:noFill/>
          </a:ln>
        </p:spPr>
        <p:txBody>
          <a:bodyPr lIns="0" tIns="50903" rIns="0" bIns="0" anchor="t">
            <a:spAutoFit/>
          </a:bodyPr>
          <a:lstStyle/>
          <a:p>
            <a:pPr marL="6318">
              <a:lnSpc>
                <a:spcPts val="3144"/>
              </a:lnSpc>
              <a:spcBef>
                <a:spcPts val="401"/>
              </a:spcBef>
            </a:pPr>
            <a:r>
              <a:rPr lang="fr-FR" sz="2858" b="1" spc="82">
                <a:solidFill>
                  <a:schemeClr val="dk1"/>
                </a:solidFill>
                <a:latin typeface="Arial"/>
              </a:rPr>
              <a:t>It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25">
                <a:solidFill>
                  <a:schemeClr val="dk1"/>
                </a:solidFill>
                <a:latin typeface="Arial"/>
              </a:rPr>
              <a:t>is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0">
                <a:solidFill>
                  <a:schemeClr val="dk1"/>
                </a:solidFill>
                <a:latin typeface="Arial"/>
              </a:rPr>
              <a:t>common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50">
                <a:solidFill>
                  <a:schemeClr val="dk1"/>
                </a:solidFill>
                <a:latin typeface="Arial"/>
              </a:rPr>
              <a:t>to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56">
                <a:solidFill>
                  <a:schemeClr val="dk1"/>
                </a:solidFill>
                <a:latin typeface="Arial"/>
              </a:rPr>
              <a:t>distinguish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108">
                <a:solidFill>
                  <a:schemeClr val="dk1"/>
                </a:solidFill>
                <a:latin typeface="Arial"/>
              </a:rPr>
              <a:t>two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>
                <a:solidFill>
                  <a:schemeClr val="dk1"/>
                </a:solidFill>
                <a:latin typeface="Arial"/>
              </a:rPr>
              <a:t>broad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‘families’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3">
                <a:solidFill>
                  <a:schemeClr val="dk1"/>
                </a:solidFill>
                <a:latin typeface="Arial"/>
              </a:rPr>
              <a:t>of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2858" b="1" spc="-16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>
                <a:solidFill>
                  <a:schemeClr val="dk1"/>
                </a:solidFill>
                <a:latin typeface="Arial MT"/>
              </a:rPr>
              <a:t>(although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40">
                <a:solidFill>
                  <a:schemeClr val="dk1"/>
                </a:solidFill>
                <a:latin typeface="Arial MT"/>
              </a:rPr>
              <a:t>the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27">
                <a:solidFill>
                  <a:schemeClr val="dk1"/>
                </a:solidFill>
                <a:latin typeface="Arial MT"/>
              </a:rPr>
              <a:t>distinction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70">
                <a:solidFill>
                  <a:schemeClr val="dk1"/>
                </a:solidFill>
                <a:latin typeface="Arial MT"/>
              </a:rPr>
              <a:t>is</a:t>
            </a:r>
            <a:r>
              <a:rPr lang="fr-FR" sz="2858" spc="-158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13">
                <a:solidFill>
                  <a:schemeClr val="dk1"/>
                </a:solidFill>
                <a:latin typeface="Arial MT"/>
              </a:rPr>
              <a:t>somewhat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6">
                <a:solidFill>
                  <a:schemeClr val="dk1"/>
                </a:solidFill>
                <a:latin typeface="Arial MT"/>
              </a:rPr>
              <a:t>artificial!)</a:t>
            </a:r>
            <a:endParaRPr lang="fr-FR" sz="2858"/>
          </a:p>
        </p:txBody>
      </p:sp>
      <p:grpSp>
        <p:nvGrpSpPr>
          <p:cNvPr id="219" name="object 3"/>
          <p:cNvGrpSpPr/>
          <p:nvPr/>
        </p:nvGrpSpPr>
        <p:grpSpPr>
          <a:xfrm>
            <a:off x="177" y="1159566"/>
            <a:ext cx="10080140" cy="4510467"/>
            <a:chOff x="0" y="2312640"/>
            <a:chExt cx="20103840" cy="8995680"/>
          </a:xfrm>
        </p:grpSpPr>
        <p:sp>
          <p:nvSpPr>
            <p:cNvPr id="220" name="object 4"/>
            <p:cNvSpPr/>
            <p:nvPr/>
          </p:nvSpPr>
          <p:spPr>
            <a:xfrm>
              <a:off x="0" y="2312640"/>
              <a:ext cx="20103840" cy="8995680"/>
            </a:xfrm>
            <a:custGeom>
              <a:avLst/>
              <a:gdLst>
                <a:gd name="textAreaLeft" fmla="*/ 0 w 20103840"/>
                <a:gd name="textAreaRight" fmla="*/ 20104200 w 20103840"/>
                <a:gd name="textAreaTop" fmla="*/ 0 h 8995680"/>
                <a:gd name="textAreaBottom" fmla="*/ 8996040 h 8995680"/>
              </a:gdLst>
              <a:ahLst/>
              <a:cxnLst/>
              <a:rect l="textAreaLeft" t="textAreaTop" r="textAreaRight" b="textAreaBottom"/>
              <a:pathLst>
                <a:path w="20104100" h="8996045">
                  <a:moveTo>
                    <a:pt x="20104100" y="1773364"/>
                  </a:moveTo>
                  <a:lnTo>
                    <a:pt x="10082746" y="1716024"/>
                  </a:lnTo>
                  <a:lnTo>
                    <a:pt x="10082746" y="78651"/>
                  </a:lnTo>
                  <a:lnTo>
                    <a:pt x="20104088" y="136004"/>
                  </a:lnTo>
                  <a:lnTo>
                    <a:pt x="20104088" y="115062"/>
                  </a:lnTo>
                  <a:lnTo>
                    <a:pt x="0" y="0"/>
                  </a:lnTo>
                  <a:lnTo>
                    <a:pt x="0" y="20942"/>
                  </a:lnTo>
                  <a:lnTo>
                    <a:pt x="10061804" y="78536"/>
                  </a:lnTo>
                  <a:lnTo>
                    <a:pt x="10061804" y="1715897"/>
                  </a:lnTo>
                  <a:lnTo>
                    <a:pt x="0" y="1658315"/>
                  </a:lnTo>
                  <a:lnTo>
                    <a:pt x="0" y="1679257"/>
                  </a:lnTo>
                  <a:lnTo>
                    <a:pt x="10061804" y="1736839"/>
                  </a:lnTo>
                  <a:lnTo>
                    <a:pt x="10061804" y="8995778"/>
                  </a:lnTo>
                  <a:lnTo>
                    <a:pt x="10082746" y="8995778"/>
                  </a:lnTo>
                  <a:lnTo>
                    <a:pt x="10082746" y="1736966"/>
                  </a:lnTo>
                  <a:lnTo>
                    <a:pt x="20104100" y="1794306"/>
                  </a:lnTo>
                  <a:lnTo>
                    <a:pt x="20104100" y="17733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1" name="object 5"/>
            <p:cNvPicPr/>
            <p:nvPr/>
          </p:nvPicPr>
          <p:blipFill>
            <a:blip r:embed="rId2"/>
            <a:stretch/>
          </p:blipFill>
          <p:spPr>
            <a:xfrm>
              <a:off x="0" y="4005360"/>
              <a:ext cx="2098800" cy="354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2" name="object 6"/>
          <p:cNvSpPr/>
          <p:nvPr/>
        </p:nvSpPr>
        <p:spPr>
          <a:xfrm>
            <a:off x="1458118" y="1445126"/>
            <a:ext cx="1766967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20">
                <a:solidFill>
                  <a:srgbClr val="000000"/>
                </a:solidFill>
                <a:latin typeface="Arial"/>
              </a:rPr>
              <a:t>“Individualism”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object 7"/>
          <p:cNvSpPr/>
          <p:nvPr/>
        </p:nvSpPr>
        <p:spPr>
          <a:xfrm>
            <a:off x="7244759" y="1445126"/>
            <a:ext cx="102924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6">
                <a:solidFill>
                  <a:srgbClr val="000000"/>
                </a:solidFill>
                <a:latin typeface="Arial"/>
              </a:rPr>
              <a:t>“Holism”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object 8"/>
          <p:cNvSpPr/>
          <p:nvPr/>
        </p:nvSpPr>
        <p:spPr>
          <a:xfrm>
            <a:off x="98011" y="3754872"/>
            <a:ext cx="562094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04512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13">
                <a:solidFill>
                  <a:srgbClr val="000000"/>
                </a:solidFill>
                <a:latin typeface="Arial MT"/>
              </a:rPr>
              <a:t>Max </a:t>
            </a:r>
            <a:r>
              <a:rPr lang="fr-FR" sz="1404" spc="27">
                <a:solidFill>
                  <a:srgbClr val="000000"/>
                </a:solidFill>
                <a:latin typeface="Arial MT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object 9"/>
          <p:cNvPicPr/>
          <p:nvPr/>
        </p:nvPicPr>
        <p:blipFill>
          <a:blip r:embed="rId3"/>
          <a:stretch/>
        </p:blipFill>
        <p:spPr>
          <a:xfrm>
            <a:off x="8821292" y="2053609"/>
            <a:ext cx="1259025" cy="16048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object 10"/>
          <p:cNvSpPr/>
          <p:nvPr/>
        </p:nvSpPr>
        <p:spPr>
          <a:xfrm>
            <a:off x="9069487" y="3616605"/>
            <a:ext cx="815162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73464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6">
                <a:solidFill>
                  <a:srgbClr val="000000"/>
                </a:solidFill>
                <a:latin typeface="Arial MT"/>
              </a:rPr>
              <a:t>Emile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11"/>
          <p:cNvGrpSpPr/>
          <p:nvPr/>
        </p:nvGrpSpPr>
        <p:grpSpPr>
          <a:xfrm>
            <a:off x="1213353" y="2285017"/>
            <a:ext cx="2994945" cy="3307399"/>
            <a:chOff x="2419560" y="4557240"/>
            <a:chExt cx="5973120" cy="6596280"/>
          </a:xfrm>
        </p:grpSpPr>
        <p:sp>
          <p:nvSpPr>
            <p:cNvPr id="228" name="object 12"/>
            <p:cNvSpPr/>
            <p:nvPr/>
          </p:nvSpPr>
          <p:spPr>
            <a:xfrm>
              <a:off x="2419560" y="8994960"/>
              <a:ext cx="864000" cy="2158560"/>
            </a:xfrm>
            <a:custGeom>
              <a:avLst/>
              <a:gdLst>
                <a:gd name="textAreaLeft" fmla="*/ 0 w 864000"/>
                <a:gd name="textAreaRight" fmla="*/ 864360 w 864000"/>
                <a:gd name="textAreaTop" fmla="*/ 0 h 2158560"/>
                <a:gd name="textAreaBottom" fmla="*/ 2158920 h 2158560"/>
              </a:gdLst>
              <a:ahLst/>
              <a:cxnLst/>
              <a:rect l="textAreaLeft" t="textAreaTop" r="textAreaRight" b="textAreaBottom"/>
              <a:pathLst>
                <a:path w="864235" h="2159000">
                  <a:moveTo>
                    <a:pt x="411182" y="1981200"/>
                  </a:moveTo>
                  <a:lnTo>
                    <a:pt x="317484" y="1981200"/>
                  </a:lnTo>
                  <a:lnTo>
                    <a:pt x="321276" y="1993900"/>
                  </a:lnTo>
                  <a:lnTo>
                    <a:pt x="323136" y="2006600"/>
                  </a:lnTo>
                  <a:lnTo>
                    <a:pt x="325238" y="2019300"/>
                  </a:lnTo>
                  <a:lnTo>
                    <a:pt x="323580" y="2032000"/>
                  </a:lnTo>
                  <a:lnTo>
                    <a:pt x="314164" y="2044700"/>
                  </a:lnTo>
                  <a:lnTo>
                    <a:pt x="303477" y="2070100"/>
                  </a:lnTo>
                  <a:lnTo>
                    <a:pt x="291222" y="2082800"/>
                  </a:lnTo>
                  <a:lnTo>
                    <a:pt x="281506" y="2095500"/>
                  </a:lnTo>
                  <a:lnTo>
                    <a:pt x="278439" y="2120900"/>
                  </a:lnTo>
                  <a:lnTo>
                    <a:pt x="279333" y="2133600"/>
                  </a:lnTo>
                  <a:lnTo>
                    <a:pt x="281503" y="2133600"/>
                  </a:lnTo>
                  <a:lnTo>
                    <a:pt x="285401" y="2146300"/>
                  </a:lnTo>
                  <a:lnTo>
                    <a:pt x="291476" y="2146300"/>
                  </a:lnTo>
                  <a:lnTo>
                    <a:pt x="306681" y="2159000"/>
                  </a:lnTo>
                  <a:lnTo>
                    <a:pt x="360049" y="2159000"/>
                  </a:lnTo>
                  <a:lnTo>
                    <a:pt x="391711" y="2146300"/>
                  </a:lnTo>
                  <a:lnTo>
                    <a:pt x="402176" y="2133600"/>
                  </a:lnTo>
                  <a:lnTo>
                    <a:pt x="404393" y="2120900"/>
                  </a:lnTo>
                  <a:lnTo>
                    <a:pt x="403359" y="2095500"/>
                  </a:lnTo>
                  <a:lnTo>
                    <a:pt x="404071" y="2082800"/>
                  </a:lnTo>
                  <a:lnTo>
                    <a:pt x="408697" y="2070100"/>
                  </a:lnTo>
                  <a:lnTo>
                    <a:pt x="412656" y="2057400"/>
                  </a:lnTo>
                  <a:lnTo>
                    <a:pt x="414481" y="2044700"/>
                  </a:lnTo>
                  <a:lnTo>
                    <a:pt x="412706" y="2019300"/>
                  </a:lnTo>
                  <a:lnTo>
                    <a:pt x="411469" y="2019300"/>
                  </a:lnTo>
                  <a:lnTo>
                    <a:pt x="409642" y="2006600"/>
                  </a:lnTo>
                  <a:lnTo>
                    <a:pt x="407611" y="1993900"/>
                  </a:lnTo>
                  <a:lnTo>
                    <a:pt x="405765" y="1993900"/>
                  </a:lnTo>
                  <a:lnTo>
                    <a:pt x="411182" y="1981200"/>
                  </a:lnTo>
                  <a:close/>
                </a:path>
                <a:path w="864235" h="2159000">
                  <a:moveTo>
                    <a:pt x="857300" y="2146300"/>
                  </a:moveTo>
                  <a:lnTo>
                    <a:pt x="763697" y="2146300"/>
                  </a:lnTo>
                  <a:lnTo>
                    <a:pt x="799666" y="2159000"/>
                  </a:lnTo>
                  <a:lnTo>
                    <a:pt x="842429" y="2159000"/>
                  </a:lnTo>
                  <a:lnTo>
                    <a:pt x="857300" y="2146300"/>
                  </a:lnTo>
                  <a:close/>
                </a:path>
                <a:path w="864235" h="2159000">
                  <a:moveTo>
                    <a:pt x="738978" y="1981200"/>
                  </a:moveTo>
                  <a:lnTo>
                    <a:pt x="653304" y="1981200"/>
                  </a:lnTo>
                  <a:lnTo>
                    <a:pt x="654433" y="2006600"/>
                  </a:lnTo>
                  <a:lnTo>
                    <a:pt x="653829" y="2019300"/>
                  </a:lnTo>
                  <a:lnTo>
                    <a:pt x="650380" y="2044700"/>
                  </a:lnTo>
                  <a:lnTo>
                    <a:pt x="642975" y="2057400"/>
                  </a:lnTo>
                  <a:lnTo>
                    <a:pt x="639445" y="2082800"/>
                  </a:lnTo>
                  <a:lnTo>
                    <a:pt x="642772" y="2095500"/>
                  </a:lnTo>
                  <a:lnTo>
                    <a:pt x="648233" y="2108200"/>
                  </a:lnTo>
                  <a:lnTo>
                    <a:pt x="651103" y="2120900"/>
                  </a:lnTo>
                  <a:lnTo>
                    <a:pt x="670540" y="2120900"/>
                  </a:lnTo>
                  <a:lnTo>
                    <a:pt x="681808" y="2133600"/>
                  </a:lnTo>
                  <a:lnTo>
                    <a:pt x="726448" y="2133600"/>
                  </a:lnTo>
                  <a:lnTo>
                    <a:pt x="728616" y="2146300"/>
                  </a:lnTo>
                  <a:lnTo>
                    <a:pt x="863848" y="2146300"/>
                  </a:lnTo>
                  <a:lnTo>
                    <a:pt x="862268" y="2133600"/>
                  </a:lnTo>
                  <a:lnTo>
                    <a:pt x="852757" y="2120900"/>
                  </a:lnTo>
                  <a:lnTo>
                    <a:pt x="832380" y="2095500"/>
                  </a:lnTo>
                  <a:lnTo>
                    <a:pt x="812460" y="2082800"/>
                  </a:lnTo>
                  <a:lnTo>
                    <a:pt x="795080" y="2070100"/>
                  </a:lnTo>
                  <a:lnTo>
                    <a:pt x="782322" y="2057400"/>
                  </a:lnTo>
                  <a:lnTo>
                    <a:pt x="766178" y="2032000"/>
                  </a:lnTo>
                  <a:lnTo>
                    <a:pt x="753539" y="2019300"/>
                  </a:lnTo>
                  <a:lnTo>
                    <a:pt x="744455" y="1993900"/>
                  </a:lnTo>
                  <a:lnTo>
                    <a:pt x="738978" y="1981200"/>
                  </a:lnTo>
                  <a:close/>
                </a:path>
                <a:path w="864235" h="2159000">
                  <a:moveTo>
                    <a:pt x="614267" y="1015058"/>
                  </a:moveTo>
                  <a:lnTo>
                    <a:pt x="614045" y="1016000"/>
                  </a:lnTo>
                  <a:lnTo>
                    <a:pt x="183114" y="1016000"/>
                  </a:lnTo>
                  <a:lnTo>
                    <a:pt x="179243" y="1066800"/>
                  </a:lnTo>
                  <a:lnTo>
                    <a:pt x="179333" y="1092200"/>
                  </a:lnTo>
                  <a:lnTo>
                    <a:pt x="179423" y="1117600"/>
                  </a:lnTo>
                  <a:lnTo>
                    <a:pt x="183057" y="1168400"/>
                  </a:lnTo>
                  <a:lnTo>
                    <a:pt x="189548" y="1219200"/>
                  </a:lnTo>
                  <a:lnTo>
                    <a:pt x="195419" y="1257300"/>
                  </a:lnTo>
                  <a:lnTo>
                    <a:pt x="206478" y="1308100"/>
                  </a:lnTo>
                  <a:lnTo>
                    <a:pt x="220556" y="1358900"/>
                  </a:lnTo>
                  <a:lnTo>
                    <a:pt x="235487" y="1422400"/>
                  </a:lnTo>
                  <a:lnTo>
                    <a:pt x="249101" y="1485900"/>
                  </a:lnTo>
                  <a:lnTo>
                    <a:pt x="259231" y="1536700"/>
                  </a:lnTo>
                  <a:lnTo>
                    <a:pt x="263708" y="1562100"/>
                  </a:lnTo>
                  <a:lnTo>
                    <a:pt x="266910" y="1638300"/>
                  </a:lnTo>
                  <a:lnTo>
                    <a:pt x="271432" y="1701800"/>
                  </a:lnTo>
                  <a:lnTo>
                    <a:pt x="276959" y="1752600"/>
                  </a:lnTo>
                  <a:lnTo>
                    <a:pt x="283180" y="1816100"/>
                  </a:lnTo>
                  <a:lnTo>
                    <a:pt x="289782" y="1866900"/>
                  </a:lnTo>
                  <a:lnTo>
                    <a:pt x="296452" y="1905000"/>
                  </a:lnTo>
                  <a:lnTo>
                    <a:pt x="302878" y="1943100"/>
                  </a:lnTo>
                  <a:lnTo>
                    <a:pt x="308747" y="1981200"/>
                  </a:lnTo>
                  <a:lnTo>
                    <a:pt x="415416" y="1981200"/>
                  </a:lnTo>
                  <a:lnTo>
                    <a:pt x="415793" y="1955800"/>
                  </a:lnTo>
                  <a:lnTo>
                    <a:pt x="415749" y="1892300"/>
                  </a:lnTo>
                  <a:lnTo>
                    <a:pt x="414908" y="1841500"/>
                  </a:lnTo>
                  <a:lnTo>
                    <a:pt x="414021" y="1816100"/>
                  </a:lnTo>
                  <a:lnTo>
                    <a:pt x="413451" y="1778000"/>
                  </a:lnTo>
                  <a:lnTo>
                    <a:pt x="412678" y="1752600"/>
                  </a:lnTo>
                  <a:lnTo>
                    <a:pt x="411182" y="1714500"/>
                  </a:lnTo>
                  <a:lnTo>
                    <a:pt x="408956" y="1676400"/>
                  </a:lnTo>
                  <a:lnTo>
                    <a:pt x="406374" y="1663700"/>
                  </a:lnTo>
                  <a:lnTo>
                    <a:pt x="403487" y="1638300"/>
                  </a:lnTo>
                  <a:lnTo>
                    <a:pt x="400346" y="1600200"/>
                  </a:lnTo>
                  <a:lnTo>
                    <a:pt x="399170" y="1587500"/>
                  </a:lnTo>
                  <a:lnTo>
                    <a:pt x="398331" y="1574800"/>
                  </a:lnTo>
                  <a:lnTo>
                    <a:pt x="398267" y="1562100"/>
                  </a:lnTo>
                  <a:lnTo>
                    <a:pt x="398203" y="1549400"/>
                  </a:lnTo>
                  <a:lnTo>
                    <a:pt x="399161" y="1536700"/>
                  </a:lnTo>
                  <a:lnTo>
                    <a:pt x="404071" y="1447800"/>
                  </a:lnTo>
                  <a:lnTo>
                    <a:pt x="404936" y="1397000"/>
                  </a:lnTo>
                  <a:lnTo>
                    <a:pt x="406257" y="1346200"/>
                  </a:lnTo>
                  <a:lnTo>
                    <a:pt x="408077" y="1295400"/>
                  </a:lnTo>
                  <a:lnTo>
                    <a:pt x="410438" y="1257300"/>
                  </a:lnTo>
                  <a:lnTo>
                    <a:pt x="413383" y="1193800"/>
                  </a:lnTo>
                  <a:lnTo>
                    <a:pt x="414467" y="1193800"/>
                  </a:lnTo>
                  <a:lnTo>
                    <a:pt x="419242" y="1181100"/>
                  </a:lnTo>
                  <a:lnTo>
                    <a:pt x="649707" y="1181100"/>
                  </a:lnTo>
                  <a:lnTo>
                    <a:pt x="642975" y="1130300"/>
                  </a:lnTo>
                  <a:lnTo>
                    <a:pt x="636633" y="1092200"/>
                  </a:lnTo>
                  <a:lnTo>
                    <a:pt x="628736" y="1066800"/>
                  </a:lnTo>
                  <a:lnTo>
                    <a:pt x="620127" y="1041400"/>
                  </a:lnTo>
                  <a:lnTo>
                    <a:pt x="614267" y="1015058"/>
                  </a:lnTo>
                  <a:close/>
                </a:path>
                <a:path w="864235" h="2159000">
                  <a:moveTo>
                    <a:pt x="649707" y="1181100"/>
                  </a:moveTo>
                  <a:lnTo>
                    <a:pt x="419242" y="1181100"/>
                  </a:lnTo>
                  <a:lnTo>
                    <a:pt x="423034" y="1193800"/>
                  </a:lnTo>
                  <a:lnTo>
                    <a:pt x="442836" y="1231900"/>
                  </a:lnTo>
                  <a:lnTo>
                    <a:pt x="459133" y="1282700"/>
                  </a:lnTo>
                  <a:lnTo>
                    <a:pt x="474312" y="1320800"/>
                  </a:lnTo>
                  <a:lnTo>
                    <a:pt x="490761" y="1358900"/>
                  </a:lnTo>
                  <a:lnTo>
                    <a:pt x="509071" y="1409700"/>
                  </a:lnTo>
                  <a:lnTo>
                    <a:pt x="531109" y="1473200"/>
                  </a:lnTo>
                  <a:lnTo>
                    <a:pt x="550200" y="1536700"/>
                  </a:lnTo>
                  <a:lnTo>
                    <a:pt x="559672" y="1574800"/>
                  </a:lnTo>
                  <a:lnTo>
                    <a:pt x="569255" y="1638300"/>
                  </a:lnTo>
                  <a:lnTo>
                    <a:pt x="574548" y="1676400"/>
                  </a:lnTo>
                  <a:lnTo>
                    <a:pt x="579651" y="1714500"/>
                  </a:lnTo>
                  <a:lnTo>
                    <a:pt x="589801" y="1778000"/>
                  </a:lnTo>
                  <a:lnTo>
                    <a:pt x="603862" y="1841500"/>
                  </a:lnTo>
                  <a:lnTo>
                    <a:pt x="618706" y="1892300"/>
                  </a:lnTo>
                  <a:lnTo>
                    <a:pt x="631206" y="1943100"/>
                  </a:lnTo>
                  <a:lnTo>
                    <a:pt x="638235" y="1968500"/>
                  </a:lnTo>
                  <a:lnTo>
                    <a:pt x="639318" y="1981200"/>
                  </a:lnTo>
                  <a:lnTo>
                    <a:pt x="749306" y="1981200"/>
                  </a:lnTo>
                  <a:lnTo>
                    <a:pt x="747172" y="1943100"/>
                  </a:lnTo>
                  <a:lnTo>
                    <a:pt x="742194" y="1892300"/>
                  </a:lnTo>
                  <a:lnTo>
                    <a:pt x="735997" y="1841500"/>
                  </a:lnTo>
                  <a:lnTo>
                    <a:pt x="731629" y="1790700"/>
                  </a:lnTo>
                  <a:lnTo>
                    <a:pt x="728480" y="1739900"/>
                  </a:lnTo>
                  <a:lnTo>
                    <a:pt x="725940" y="1701800"/>
                  </a:lnTo>
                  <a:lnTo>
                    <a:pt x="719766" y="1651000"/>
                  </a:lnTo>
                  <a:lnTo>
                    <a:pt x="711142" y="1612900"/>
                  </a:lnTo>
                  <a:lnTo>
                    <a:pt x="702721" y="1574800"/>
                  </a:lnTo>
                  <a:lnTo>
                    <a:pt x="697157" y="1549400"/>
                  </a:lnTo>
                  <a:lnTo>
                    <a:pt x="686591" y="1498600"/>
                  </a:lnTo>
                  <a:lnTo>
                    <a:pt x="678464" y="1460500"/>
                  </a:lnTo>
                  <a:lnTo>
                    <a:pt x="671556" y="1409700"/>
                  </a:lnTo>
                  <a:lnTo>
                    <a:pt x="664648" y="1346200"/>
                  </a:lnTo>
                  <a:lnTo>
                    <a:pt x="662328" y="1320800"/>
                  </a:lnTo>
                  <a:lnTo>
                    <a:pt x="657875" y="1257300"/>
                  </a:lnTo>
                  <a:lnTo>
                    <a:pt x="651390" y="1193800"/>
                  </a:lnTo>
                  <a:lnTo>
                    <a:pt x="649707" y="1181100"/>
                  </a:lnTo>
                  <a:close/>
                </a:path>
                <a:path w="864235" h="2159000">
                  <a:moveTo>
                    <a:pt x="453342" y="0"/>
                  </a:moveTo>
                  <a:lnTo>
                    <a:pt x="414194" y="0"/>
                  </a:lnTo>
                  <a:lnTo>
                    <a:pt x="389687" y="12700"/>
                  </a:lnTo>
                  <a:lnTo>
                    <a:pt x="363737" y="25400"/>
                  </a:lnTo>
                  <a:lnTo>
                    <a:pt x="338546" y="50800"/>
                  </a:lnTo>
                  <a:lnTo>
                    <a:pt x="326882" y="76200"/>
                  </a:lnTo>
                  <a:lnTo>
                    <a:pt x="318736" y="101600"/>
                  </a:lnTo>
                  <a:lnTo>
                    <a:pt x="308050" y="127000"/>
                  </a:lnTo>
                  <a:lnTo>
                    <a:pt x="288767" y="177800"/>
                  </a:lnTo>
                  <a:lnTo>
                    <a:pt x="274500" y="228600"/>
                  </a:lnTo>
                  <a:lnTo>
                    <a:pt x="277127" y="254000"/>
                  </a:lnTo>
                  <a:lnTo>
                    <a:pt x="284823" y="279400"/>
                  </a:lnTo>
                  <a:lnTo>
                    <a:pt x="285760" y="304800"/>
                  </a:lnTo>
                  <a:lnTo>
                    <a:pt x="268111" y="342900"/>
                  </a:lnTo>
                  <a:lnTo>
                    <a:pt x="258350" y="355600"/>
                  </a:lnTo>
                  <a:lnTo>
                    <a:pt x="257478" y="368300"/>
                  </a:lnTo>
                  <a:lnTo>
                    <a:pt x="260568" y="381000"/>
                  </a:lnTo>
                  <a:lnTo>
                    <a:pt x="262693" y="393700"/>
                  </a:lnTo>
                  <a:lnTo>
                    <a:pt x="228921" y="393700"/>
                  </a:lnTo>
                  <a:lnTo>
                    <a:pt x="191828" y="419100"/>
                  </a:lnTo>
                  <a:lnTo>
                    <a:pt x="174310" y="444500"/>
                  </a:lnTo>
                  <a:lnTo>
                    <a:pt x="155196" y="469900"/>
                  </a:lnTo>
                  <a:lnTo>
                    <a:pt x="130449" y="508000"/>
                  </a:lnTo>
                  <a:lnTo>
                    <a:pt x="101826" y="558800"/>
                  </a:lnTo>
                  <a:lnTo>
                    <a:pt x="71080" y="609600"/>
                  </a:lnTo>
                  <a:lnTo>
                    <a:pt x="39967" y="647700"/>
                  </a:lnTo>
                  <a:lnTo>
                    <a:pt x="10243" y="698500"/>
                  </a:lnTo>
                  <a:lnTo>
                    <a:pt x="6417" y="698500"/>
                  </a:lnTo>
                  <a:lnTo>
                    <a:pt x="5333" y="711200"/>
                  </a:lnTo>
                  <a:lnTo>
                    <a:pt x="1520" y="711200"/>
                  </a:lnTo>
                  <a:lnTo>
                    <a:pt x="0" y="723900"/>
                  </a:lnTo>
                  <a:lnTo>
                    <a:pt x="1019" y="736600"/>
                  </a:lnTo>
                  <a:lnTo>
                    <a:pt x="4825" y="749300"/>
                  </a:lnTo>
                  <a:lnTo>
                    <a:pt x="12230" y="762000"/>
                  </a:lnTo>
                  <a:lnTo>
                    <a:pt x="18607" y="787400"/>
                  </a:lnTo>
                  <a:lnTo>
                    <a:pt x="25797" y="800100"/>
                  </a:lnTo>
                  <a:lnTo>
                    <a:pt x="35641" y="838200"/>
                  </a:lnTo>
                  <a:lnTo>
                    <a:pt x="50345" y="863600"/>
                  </a:lnTo>
                  <a:lnTo>
                    <a:pt x="69893" y="889000"/>
                  </a:lnTo>
                  <a:lnTo>
                    <a:pt x="91575" y="927100"/>
                  </a:lnTo>
                  <a:lnTo>
                    <a:pt x="112679" y="952500"/>
                  </a:lnTo>
                  <a:lnTo>
                    <a:pt x="116605" y="965200"/>
                  </a:lnTo>
                  <a:lnTo>
                    <a:pt x="120163" y="977900"/>
                  </a:lnTo>
                  <a:lnTo>
                    <a:pt x="125651" y="990600"/>
                  </a:lnTo>
                  <a:lnTo>
                    <a:pt x="135368" y="1003300"/>
                  </a:lnTo>
                  <a:lnTo>
                    <a:pt x="143054" y="1016000"/>
                  </a:lnTo>
                  <a:lnTo>
                    <a:pt x="614045" y="1016000"/>
                  </a:lnTo>
                  <a:lnTo>
                    <a:pt x="611652" y="1003300"/>
                  </a:lnTo>
                  <a:lnTo>
                    <a:pt x="628922" y="1003300"/>
                  </a:lnTo>
                  <a:lnTo>
                    <a:pt x="645879" y="990600"/>
                  </a:lnTo>
                  <a:lnTo>
                    <a:pt x="658925" y="990600"/>
                  </a:lnTo>
                  <a:lnTo>
                    <a:pt x="669837" y="977900"/>
                  </a:lnTo>
                  <a:lnTo>
                    <a:pt x="680394" y="965200"/>
                  </a:lnTo>
                  <a:lnTo>
                    <a:pt x="708854" y="927100"/>
                  </a:lnTo>
                  <a:lnTo>
                    <a:pt x="718213" y="914400"/>
                  </a:lnTo>
                  <a:lnTo>
                    <a:pt x="166860" y="914400"/>
                  </a:lnTo>
                  <a:lnTo>
                    <a:pt x="147720" y="876300"/>
                  </a:lnTo>
                  <a:lnTo>
                    <a:pt x="132066" y="825500"/>
                  </a:lnTo>
                  <a:lnTo>
                    <a:pt x="117935" y="774700"/>
                  </a:lnTo>
                  <a:lnTo>
                    <a:pt x="103367" y="736600"/>
                  </a:lnTo>
                  <a:lnTo>
                    <a:pt x="103022" y="723900"/>
                  </a:lnTo>
                  <a:lnTo>
                    <a:pt x="114778" y="698500"/>
                  </a:lnTo>
                  <a:lnTo>
                    <a:pt x="133443" y="685800"/>
                  </a:lnTo>
                  <a:lnTo>
                    <a:pt x="153823" y="660400"/>
                  </a:lnTo>
                  <a:lnTo>
                    <a:pt x="167090" y="647700"/>
                  </a:lnTo>
                  <a:lnTo>
                    <a:pt x="178356" y="635000"/>
                  </a:lnTo>
                  <a:lnTo>
                    <a:pt x="189928" y="622300"/>
                  </a:lnTo>
                  <a:lnTo>
                    <a:pt x="204109" y="609600"/>
                  </a:lnTo>
                  <a:lnTo>
                    <a:pt x="205735" y="596900"/>
                  </a:lnTo>
                  <a:lnTo>
                    <a:pt x="606131" y="596900"/>
                  </a:lnTo>
                  <a:lnTo>
                    <a:pt x="615791" y="571500"/>
                  </a:lnTo>
                  <a:lnTo>
                    <a:pt x="791973" y="571500"/>
                  </a:lnTo>
                  <a:lnTo>
                    <a:pt x="772445" y="546100"/>
                  </a:lnTo>
                  <a:lnTo>
                    <a:pt x="754351" y="533400"/>
                  </a:lnTo>
                  <a:lnTo>
                    <a:pt x="733819" y="508000"/>
                  </a:lnTo>
                  <a:lnTo>
                    <a:pt x="698030" y="457200"/>
                  </a:lnTo>
                  <a:lnTo>
                    <a:pt x="682494" y="431800"/>
                  </a:lnTo>
                  <a:lnTo>
                    <a:pt x="662690" y="406400"/>
                  </a:lnTo>
                  <a:lnTo>
                    <a:pt x="640944" y="393700"/>
                  </a:lnTo>
                  <a:lnTo>
                    <a:pt x="617557" y="381000"/>
                  </a:lnTo>
                  <a:lnTo>
                    <a:pt x="564413" y="381000"/>
                  </a:lnTo>
                  <a:lnTo>
                    <a:pt x="564732" y="368300"/>
                  </a:lnTo>
                  <a:lnTo>
                    <a:pt x="559622" y="355600"/>
                  </a:lnTo>
                  <a:lnTo>
                    <a:pt x="553394" y="342900"/>
                  </a:lnTo>
                  <a:lnTo>
                    <a:pt x="550360" y="317500"/>
                  </a:lnTo>
                  <a:lnTo>
                    <a:pt x="555967" y="292100"/>
                  </a:lnTo>
                  <a:lnTo>
                    <a:pt x="567358" y="279400"/>
                  </a:lnTo>
                  <a:lnTo>
                    <a:pt x="576385" y="254000"/>
                  </a:lnTo>
                  <a:lnTo>
                    <a:pt x="574902" y="215900"/>
                  </a:lnTo>
                  <a:lnTo>
                    <a:pt x="554762" y="139700"/>
                  </a:lnTo>
                  <a:lnTo>
                    <a:pt x="549353" y="114300"/>
                  </a:lnTo>
                  <a:lnTo>
                    <a:pt x="540014" y="88900"/>
                  </a:lnTo>
                  <a:lnTo>
                    <a:pt x="524885" y="63500"/>
                  </a:lnTo>
                  <a:lnTo>
                    <a:pt x="502105" y="38100"/>
                  </a:lnTo>
                  <a:lnTo>
                    <a:pt x="497229" y="38100"/>
                  </a:lnTo>
                  <a:lnTo>
                    <a:pt x="486934" y="25400"/>
                  </a:lnTo>
                  <a:lnTo>
                    <a:pt x="477647" y="25400"/>
                  </a:lnTo>
                  <a:lnTo>
                    <a:pt x="470883" y="12700"/>
                  </a:lnTo>
                  <a:lnTo>
                    <a:pt x="462798" y="12700"/>
                  </a:lnTo>
                  <a:lnTo>
                    <a:pt x="453342" y="0"/>
                  </a:lnTo>
                  <a:close/>
                </a:path>
                <a:path w="864235" h="2159000">
                  <a:moveTo>
                    <a:pt x="611652" y="1003300"/>
                  </a:moveTo>
                  <a:lnTo>
                    <a:pt x="614045" y="1016000"/>
                  </a:lnTo>
                  <a:lnTo>
                    <a:pt x="614267" y="1015058"/>
                  </a:lnTo>
                  <a:lnTo>
                    <a:pt x="611652" y="1003300"/>
                  </a:lnTo>
                  <a:close/>
                </a:path>
                <a:path w="864235" h="2159000">
                  <a:moveTo>
                    <a:pt x="617036" y="1003300"/>
                  </a:moveTo>
                  <a:lnTo>
                    <a:pt x="611652" y="1003300"/>
                  </a:lnTo>
                  <a:lnTo>
                    <a:pt x="614267" y="1015058"/>
                  </a:lnTo>
                  <a:lnTo>
                    <a:pt x="617036" y="1003300"/>
                  </a:lnTo>
                  <a:close/>
                </a:path>
                <a:path w="864235" h="2159000">
                  <a:moveTo>
                    <a:pt x="791973" y="571500"/>
                  </a:moveTo>
                  <a:lnTo>
                    <a:pt x="638269" y="571500"/>
                  </a:lnTo>
                  <a:lnTo>
                    <a:pt x="645176" y="584200"/>
                  </a:lnTo>
                  <a:lnTo>
                    <a:pt x="676169" y="609600"/>
                  </a:lnTo>
                  <a:lnTo>
                    <a:pt x="714241" y="647700"/>
                  </a:lnTo>
                  <a:lnTo>
                    <a:pt x="746522" y="685800"/>
                  </a:lnTo>
                  <a:lnTo>
                    <a:pt x="760142" y="711200"/>
                  </a:lnTo>
                  <a:lnTo>
                    <a:pt x="757679" y="723900"/>
                  </a:lnTo>
                  <a:lnTo>
                    <a:pt x="750186" y="736600"/>
                  </a:lnTo>
                  <a:lnTo>
                    <a:pt x="737513" y="762000"/>
                  </a:lnTo>
                  <a:lnTo>
                    <a:pt x="719506" y="787400"/>
                  </a:lnTo>
                  <a:lnTo>
                    <a:pt x="705580" y="812800"/>
                  </a:lnTo>
                  <a:lnTo>
                    <a:pt x="690993" y="838200"/>
                  </a:lnTo>
                  <a:lnTo>
                    <a:pt x="675086" y="863600"/>
                  </a:lnTo>
                  <a:lnTo>
                    <a:pt x="657198" y="889000"/>
                  </a:lnTo>
                  <a:lnTo>
                    <a:pt x="654461" y="889000"/>
                  </a:lnTo>
                  <a:lnTo>
                    <a:pt x="649172" y="901700"/>
                  </a:lnTo>
                  <a:lnTo>
                    <a:pt x="200317" y="901700"/>
                  </a:lnTo>
                  <a:lnTo>
                    <a:pt x="184350" y="914400"/>
                  </a:lnTo>
                  <a:lnTo>
                    <a:pt x="718213" y="914400"/>
                  </a:lnTo>
                  <a:lnTo>
                    <a:pt x="746290" y="876300"/>
                  </a:lnTo>
                  <a:lnTo>
                    <a:pt x="785159" y="825500"/>
                  </a:lnTo>
                  <a:lnTo>
                    <a:pt x="817914" y="787400"/>
                  </a:lnTo>
                  <a:lnTo>
                    <a:pt x="837011" y="749300"/>
                  </a:lnTo>
                  <a:lnTo>
                    <a:pt x="843028" y="736600"/>
                  </a:lnTo>
                  <a:lnTo>
                    <a:pt x="849439" y="723900"/>
                  </a:lnTo>
                  <a:lnTo>
                    <a:pt x="854631" y="711200"/>
                  </a:lnTo>
                  <a:lnTo>
                    <a:pt x="856991" y="685800"/>
                  </a:lnTo>
                  <a:lnTo>
                    <a:pt x="854089" y="673100"/>
                  </a:lnTo>
                  <a:lnTo>
                    <a:pt x="846730" y="660400"/>
                  </a:lnTo>
                  <a:lnTo>
                    <a:pt x="838151" y="647700"/>
                  </a:lnTo>
                  <a:lnTo>
                    <a:pt x="831593" y="635000"/>
                  </a:lnTo>
                  <a:lnTo>
                    <a:pt x="823574" y="622300"/>
                  </a:lnTo>
                  <a:lnTo>
                    <a:pt x="813002" y="609600"/>
                  </a:lnTo>
                  <a:lnTo>
                    <a:pt x="801821" y="584200"/>
                  </a:lnTo>
                  <a:lnTo>
                    <a:pt x="791973" y="571500"/>
                  </a:lnTo>
                  <a:close/>
                </a:path>
                <a:path w="864235" h="2159000">
                  <a:moveTo>
                    <a:pt x="606131" y="596900"/>
                  </a:moveTo>
                  <a:lnTo>
                    <a:pt x="229845" y="596900"/>
                  </a:lnTo>
                  <a:lnTo>
                    <a:pt x="231200" y="609600"/>
                  </a:lnTo>
                  <a:lnTo>
                    <a:pt x="232384" y="622300"/>
                  </a:lnTo>
                  <a:lnTo>
                    <a:pt x="234095" y="622300"/>
                  </a:lnTo>
                  <a:lnTo>
                    <a:pt x="236010" y="635000"/>
                  </a:lnTo>
                  <a:lnTo>
                    <a:pt x="237803" y="647700"/>
                  </a:lnTo>
                  <a:lnTo>
                    <a:pt x="243824" y="673100"/>
                  </a:lnTo>
                  <a:lnTo>
                    <a:pt x="250282" y="698500"/>
                  </a:lnTo>
                  <a:lnTo>
                    <a:pt x="255623" y="711200"/>
                  </a:lnTo>
                  <a:lnTo>
                    <a:pt x="258291" y="723900"/>
                  </a:lnTo>
                  <a:lnTo>
                    <a:pt x="256618" y="800100"/>
                  </a:lnTo>
                  <a:lnTo>
                    <a:pt x="246438" y="838200"/>
                  </a:lnTo>
                  <a:lnTo>
                    <a:pt x="232195" y="863600"/>
                  </a:lnTo>
                  <a:lnTo>
                    <a:pt x="218332" y="901700"/>
                  </a:lnTo>
                  <a:lnTo>
                    <a:pt x="614232" y="901700"/>
                  </a:lnTo>
                  <a:lnTo>
                    <a:pt x="603017" y="889000"/>
                  </a:lnTo>
                  <a:lnTo>
                    <a:pt x="573217" y="889000"/>
                  </a:lnTo>
                  <a:lnTo>
                    <a:pt x="570948" y="876300"/>
                  </a:lnTo>
                  <a:lnTo>
                    <a:pt x="566038" y="863600"/>
                  </a:lnTo>
                  <a:lnTo>
                    <a:pt x="561331" y="838200"/>
                  </a:lnTo>
                  <a:lnTo>
                    <a:pt x="559672" y="812800"/>
                  </a:lnTo>
                  <a:lnTo>
                    <a:pt x="563229" y="749300"/>
                  </a:lnTo>
                  <a:lnTo>
                    <a:pt x="570322" y="698500"/>
                  </a:lnTo>
                  <a:lnTo>
                    <a:pt x="579244" y="673100"/>
                  </a:lnTo>
                  <a:lnTo>
                    <a:pt x="588287" y="647700"/>
                  </a:lnTo>
                  <a:lnTo>
                    <a:pt x="597201" y="609600"/>
                  </a:lnTo>
                  <a:lnTo>
                    <a:pt x="606131" y="5969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9" name="object 13"/>
            <p:cNvPicPr/>
            <p:nvPr/>
          </p:nvPicPr>
          <p:blipFill>
            <a:blip r:embed="rId4"/>
            <a:stretch/>
          </p:blipFill>
          <p:spPr>
            <a:xfrm>
              <a:off x="5477040" y="4557240"/>
              <a:ext cx="2915640" cy="334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0" name="object 14"/>
          <p:cNvSpPr/>
          <p:nvPr/>
        </p:nvSpPr>
        <p:spPr>
          <a:xfrm>
            <a:off x="2377252" y="2036461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object 15"/>
          <p:cNvSpPr/>
          <p:nvPr/>
        </p:nvSpPr>
        <p:spPr>
          <a:xfrm>
            <a:off x="2062992" y="2490072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bject 16"/>
          <p:cNvSpPr/>
          <p:nvPr/>
        </p:nvSpPr>
        <p:spPr>
          <a:xfrm>
            <a:off x="4169669" y="2491515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17"/>
          <p:cNvSpPr/>
          <p:nvPr/>
        </p:nvSpPr>
        <p:spPr>
          <a:xfrm>
            <a:off x="4379417" y="3166605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18"/>
          <p:cNvSpPr/>
          <p:nvPr/>
        </p:nvSpPr>
        <p:spPr>
          <a:xfrm>
            <a:off x="2097288" y="3166605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bject 19"/>
          <p:cNvSpPr/>
          <p:nvPr/>
        </p:nvSpPr>
        <p:spPr>
          <a:xfrm>
            <a:off x="358299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bject 20"/>
          <p:cNvSpPr/>
          <p:nvPr/>
        </p:nvSpPr>
        <p:spPr>
          <a:xfrm>
            <a:off x="1672739" y="3773103"/>
            <a:ext cx="1135920" cy="990252"/>
          </a:xfrm>
          <a:custGeom>
            <a:avLst/>
            <a:gdLst>
              <a:gd name="textAreaLeft" fmla="*/ 0 w 2265480"/>
              <a:gd name="textAreaRight" fmla="*/ 2265840 w 2265480"/>
              <a:gd name="textAreaTop" fmla="*/ 0 h 1974960"/>
              <a:gd name="textAreaBottom" fmla="*/ 1975320 h 1974960"/>
            </a:gdLst>
            <a:ahLst/>
            <a:cxnLst/>
            <a:rect l="textAreaLeft" t="textAreaTop" r="textAreaRight" b="textAreaBottom"/>
            <a:pathLst>
              <a:path w="2265679" h="1975484">
                <a:moveTo>
                  <a:pt x="2265272" y="0"/>
                </a:moveTo>
                <a:lnTo>
                  <a:pt x="1348732" y="10215"/>
                </a:lnTo>
                <a:lnTo>
                  <a:pt x="1573890" y="275164"/>
                </a:lnTo>
                <a:lnTo>
                  <a:pt x="0" y="1612677"/>
                </a:lnTo>
                <a:lnTo>
                  <a:pt x="308292" y="1975452"/>
                </a:lnTo>
                <a:lnTo>
                  <a:pt x="1882181" y="637939"/>
                </a:lnTo>
                <a:lnTo>
                  <a:pt x="2107338" y="902887"/>
                </a:lnTo>
                <a:lnTo>
                  <a:pt x="2265272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object 21"/>
          <p:cNvSpPr/>
          <p:nvPr/>
        </p:nvSpPr>
        <p:spPr>
          <a:xfrm rot="19260000">
            <a:off x="1608299" y="3894625"/>
            <a:ext cx="667328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bject 22"/>
          <p:cNvSpPr/>
          <p:nvPr/>
        </p:nvSpPr>
        <p:spPr>
          <a:xfrm>
            <a:off x="5980680" y="2544765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object 23"/>
          <p:cNvSpPr/>
          <p:nvPr/>
        </p:nvSpPr>
        <p:spPr>
          <a:xfrm>
            <a:off x="8087357" y="2546208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object 24"/>
          <p:cNvPicPr/>
          <p:nvPr/>
        </p:nvPicPr>
        <p:blipFill>
          <a:blip r:embed="rId5"/>
          <a:stretch/>
        </p:blipFill>
        <p:spPr>
          <a:xfrm>
            <a:off x="6664253" y="2339710"/>
            <a:ext cx="1461913" cy="16790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object 25"/>
          <p:cNvSpPr/>
          <p:nvPr/>
        </p:nvSpPr>
        <p:spPr>
          <a:xfrm>
            <a:off x="6295120" y="2091335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26"/>
          <p:cNvSpPr/>
          <p:nvPr/>
        </p:nvSpPr>
        <p:spPr>
          <a:xfrm>
            <a:off x="8297104" y="3221479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bject 27"/>
          <p:cNvSpPr/>
          <p:nvPr/>
        </p:nvSpPr>
        <p:spPr>
          <a:xfrm>
            <a:off x="6014976" y="3221479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28"/>
          <p:cNvSpPr/>
          <p:nvPr/>
        </p:nvSpPr>
        <p:spPr>
          <a:xfrm>
            <a:off x="5716420" y="3792959"/>
            <a:ext cx="1085559" cy="950541"/>
          </a:xfrm>
          <a:custGeom>
            <a:avLst/>
            <a:gdLst>
              <a:gd name="textAreaLeft" fmla="*/ 0 w 2165040"/>
              <a:gd name="textAreaRight" fmla="*/ 2165400 w 2165040"/>
              <a:gd name="textAreaTop" fmla="*/ 0 h 1895760"/>
              <a:gd name="textAreaBottom" fmla="*/ 1896120 h 1895760"/>
            </a:gdLst>
            <a:ahLst/>
            <a:cxnLst/>
            <a:rect l="textAreaLeft" t="textAreaTop" r="textAreaRight" b="textAreaBottom"/>
            <a:pathLst>
              <a:path w="2165350" h="1896109">
                <a:moveTo>
                  <a:pt x="1822373" y="0"/>
                </a:moveTo>
                <a:lnTo>
                  <a:pt x="472781" y="1146898"/>
                </a:lnTo>
                <a:lnTo>
                  <a:pt x="230328" y="861589"/>
                </a:lnTo>
                <a:lnTo>
                  <a:pt x="0" y="1896030"/>
                </a:lnTo>
                <a:lnTo>
                  <a:pt x="1058051" y="1835596"/>
                </a:lnTo>
                <a:lnTo>
                  <a:pt x="815587" y="1550287"/>
                </a:lnTo>
                <a:lnTo>
                  <a:pt x="2165180" y="403390"/>
                </a:lnTo>
                <a:lnTo>
                  <a:pt x="1822373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object 29"/>
          <p:cNvSpPr/>
          <p:nvPr/>
        </p:nvSpPr>
        <p:spPr>
          <a:xfrm rot="19260000">
            <a:off x="5691871" y="3847152"/>
            <a:ext cx="595487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30"/>
          <p:cNvSpPr/>
          <p:nvPr/>
        </p:nvSpPr>
        <p:spPr>
          <a:xfrm>
            <a:off x="5212990" y="4485016"/>
            <a:ext cx="420036" cy="1082310"/>
          </a:xfrm>
          <a:custGeom>
            <a:avLst/>
            <a:gdLst>
              <a:gd name="textAreaLeft" fmla="*/ 0 w 837720"/>
              <a:gd name="textAreaRight" fmla="*/ 838080 w 837720"/>
              <a:gd name="textAreaTop" fmla="*/ 0 h 2158560"/>
              <a:gd name="textAreaBottom" fmla="*/ 2158920 h 2158560"/>
            </a:gdLst>
            <a:ahLst/>
            <a:cxnLst/>
            <a:rect l="textAreaLeft" t="textAreaTop" r="textAreaRight" b="textAreaBottom"/>
            <a:pathLst>
              <a:path w="838200" h="2159000">
                <a:moveTo>
                  <a:pt x="161091" y="2133600"/>
                </a:moveTo>
                <a:lnTo>
                  <a:pt x="1015" y="2133600"/>
                </a:lnTo>
                <a:lnTo>
                  <a:pt x="1557" y="2146300"/>
                </a:lnTo>
                <a:lnTo>
                  <a:pt x="15227" y="2146300"/>
                </a:lnTo>
                <a:lnTo>
                  <a:pt x="34213" y="2159000"/>
                </a:lnTo>
                <a:lnTo>
                  <a:pt x="93869" y="2159000"/>
                </a:lnTo>
                <a:lnTo>
                  <a:pt x="125035" y="2146300"/>
                </a:lnTo>
                <a:lnTo>
                  <a:pt x="161091" y="2133600"/>
                </a:lnTo>
                <a:close/>
              </a:path>
              <a:path w="838200" h="2159000">
                <a:moveTo>
                  <a:pt x="618357" y="1257300"/>
                </a:moveTo>
                <a:lnTo>
                  <a:pt x="415896" y="1257300"/>
                </a:lnTo>
                <a:lnTo>
                  <a:pt x="421390" y="1295400"/>
                </a:lnTo>
                <a:lnTo>
                  <a:pt x="427410" y="1346200"/>
                </a:lnTo>
                <a:lnTo>
                  <a:pt x="433863" y="1397000"/>
                </a:lnTo>
                <a:lnTo>
                  <a:pt x="440659" y="1435100"/>
                </a:lnTo>
                <a:lnTo>
                  <a:pt x="447706" y="1485900"/>
                </a:lnTo>
                <a:lnTo>
                  <a:pt x="450575" y="1511300"/>
                </a:lnTo>
                <a:lnTo>
                  <a:pt x="454325" y="1536700"/>
                </a:lnTo>
                <a:lnTo>
                  <a:pt x="457771" y="1574800"/>
                </a:lnTo>
                <a:lnTo>
                  <a:pt x="459727" y="1612900"/>
                </a:lnTo>
                <a:lnTo>
                  <a:pt x="460420" y="1651000"/>
                </a:lnTo>
                <a:lnTo>
                  <a:pt x="460539" y="1727200"/>
                </a:lnTo>
                <a:lnTo>
                  <a:pt x="459932" y="1790700"/>
                </a:lnTo>
                <a:lnTo>
                  <a:pt x="459368" y="1854200"/>
                </a:lnTo>
                <a:lnTo>
                  <a:pt x="459389" y="1917700"/>
                </a:lnTo>
                <a:lnTo>
                  <a:pt x="460534" y="1968500"/>
                </a:lnTo>
                <a:lnTo>
                  <a:pt x="463342" y="2006600"/>
                </a:lnTo>
                <a:lnTo>
                  <a:pt x="468355" y="2032000"/>
                </a:lnTo>
                <a:lnTo>
                  <a:pt x="467519" y="2044700"/>
                </a:lnTo>
                <a:lnTo>
                  <a:pt x="464461" y="2057400"/>
                </a:lnTo>
                <a:lnTo>
                  <a:pt x="458358" y="2095500"/>
                </a:lnTo>
                <a:lnTo>
                  <a:pt x="448387" y="2120900"/>
                </a:lnTo>
                <a:lnTo>
                  <a:pt x="453147" y="2146300"/>
                </a:lnTo>
                <a:lnTo>
                  <a:pt x="488149" y="2159000"/>
                </a:lnTo>
                <a:lnTo>
                  <a:pt x="568519" y="2159000"/>
                </a:lnTo>
                <a:lnTo>
                  <a:pt x="588224" y="2133600"/>
                </a:lnTo>
                <a:lnTo>
                  <a:pt x="592106" y="2108200"/>
                </a:lnTo>
                <a:lnTo>
                  <a:pt x="588679" y="2082800"/>
                </a:lnTo>
                <a:lnTo>
                  <a:pt x="586456" y="2070100"/>
                </a:lnTo>
                <a:lnTo>
                  <a:pt x="589985" y="2057400"/>
                </a:lnTo>
                <a:lnTo>
                  <a:pt x="594376" y="2044700"/>
                </a:lnTo>
                <a:lnTo>
                  <a:pt x="598867" y="2032000"/>
                </a:lnTo>
                <a:lnTo>
                  <a:pt x="602696" y="2006600"/>
                </a:lnTo>
                <a:lnTo>
                  <a:pt x="606713" y="1955800"/>
                </a:lnTo>
                <a:lnTo>
                  <a:pt x="608493" y="1905000"/>
                </a:lnTo>
                <a:lnTo>
                  <a:pt x="608612" y="1866900"/>
                </a:lnTo>
                <a:lnTo>
                  <a:pt x="608652" y="1854200"/>
                </a:lnTo>
                <a:lnTo>
                  <a:pt x="607807" y="1803400"/>
                </a:lnTo>
                <a:lnTo>
                  <a:pt x="606574" y="1752600"/>
                </a:lnTo>
                <a:lnTo>
                  <a:pt x="605569" y="1689100"/>
                </a:lnTo>
                <a:lnTo>
                  <a:pt x="605462" y="1663700"/>
                </a:lnTo>
                <a:lnTo>
                  <a:pt x="605408" y="1651000"/>
                </a:lnTo>
                <a:lnTo>
                  <a:pt x="607911" y="1612900"/>
                </a:lnTo>
                <a:lnTo>
                  <a:pt x="612886" y="1562100"/>
                </a:lnTo>
                <a:lnTo>
                  <a:pt x="617761" y="1511300"/>
                </a:lnTo>
                <a:lnTo>
                  <a:pt x="619963" y="1435100"/>
                </a:lnTo>
                <a:lnTo>
                  <a:pt x="619937" y="1384300"/>
                </a:lnTo>
                <a:lnTo>
                  <a:pt x="619788" y="1346200"/>
                </a:lnTo>
                <a:lnTo>
                  <a:pt x="619738" y="1333500"/>
                </a:lnTo>
                <a:lnTo>
                  <a:pt x="619181" y="1295400"/>
                </a:lnTo>
                <a:lnTo>
                  <a:pt x="618357" y="1257300"/>
                </a:lnTo>
                <a:close/>
              </a:path>
              <a:path w="838200" h="2159000">
                <a:moveTo>
                  <a:pt x="521987" y="342900"/>
                </a:moveTo>
                <a:lnTo>
                  <a:pt x="305407" y="342900"/>
                </a:lnTo>
                <a:lnTo>
                  <a:pt x="269398" y="355600"/>
                </a:lnTo>
                <a:lnTo>
                  <a:pt x="226072" y="368300"/>
                </a:lnTo>
                <a:lnTo>
                  <a:pt x="185993" y="381000"/>
                </a:lnTo>
                <a:lnTo>
                  <a:pt x="159726" y="393700"/>
                </a:lnTo>
                <a:lnTo>
                  <a:pt x="138080" y="431800"/>
                </a:lnTo>
                <a:lnTo>
                  <a:pt x="106922" y="482600"/>
                </a:lnTo>
                <a:lnTo>
                  <a:pt x="72249" y="546100"/>
                </a:lnTo>
                <a:lnTo>
                  <a:pt x="40056" y="609600"/>
                </a:lnTo>
                <a:lnTo>
                  <a:pt x="16343" y="660400"/>
                </a:lnTo>
                <a:lnTo>
                  <a:pt x="6780" y="711200"/>
                </a:lnTo>
                <a:lnTo>
                  <a:pt x="6706" y="723900"/>
                </a:lnTo>
                <a:lnTo>
                  <a:pt x="6632" y="736600"/>
                </a:lnTo>
                <a:lnTo>
                  <a:pt x="7905" y="749300"/>
                </a:lnTo>
                <a:lnTo>
                  <a:pt x="11843" y="762000"/>
                </a:lnTo>
                <a:lnTo>
                  <a:pt x="28650" y="800100"/>
                </a:lnTo>
                <a:lnTo>
                  <a:pt x="46642" y="850900"/>
                </a:lnTo>
                <a:lnTo>
                  <a:pt x="65902" y="901700"/>
                </a:lnTo>
                <a:lnTo>
                  <a:pt x="86517" y="952500"/>
                </a:lnTo>
                <a:lnTo>
                  <a:pt x="108569" y="990600"/>
                </a:lnTo>
                <a:lnTo>
                  <a:pt x="132145" y="1028700"/>
                </a:lnTo>
                <a:lnTo>
                  <a:pt x="138103" y="1028700"/>
                </a:lnTo>
                <a:lnTo>
                  <a:pt x="146090" y="1041400"/>
                </a:lnTo>
                <a:lnTo>
                  <a:pt x="167338" y="1041400"/>
                </a:lnTo>
                <a:lnTo>
                  <a:pt x="181039" y="1054100"/>
                </a:lnTo>
                <a:lnTo>
                  <a:pt x="195295" y="1054100"/>
                </a:lnTo>
                <a:lnTo>
                  <a:pt x="206402" y="1066800"/>
                </a:lnTo>
                <a:lnTo>
                  <a:pt x="210656" y="1079500"/>
                </a:lnTo>
                <a:lnTo>
                  <a:pt x="208388" y="1117600"/>
                </a:lnTo>
                <a:lnTo>
                  <a:pt x="202710" y="1206500"/>
                </a:lnTo>
                <a:lnTo>
                  <a:pt x="199490" y="1270000"/>
                </a:lnTo>
                <a:lnTo>
                  <a:pt x="196143" y="1320800"/>
                </a:lnTo>
                <a:lnTo>
                  <a:pt x="192764" y="1384300"/>
                </a:lnTo>
                <a:lnTo>
                  <a:pt x="189448" y="1435100"/>
                </a:lnTo>
                <a:lnTo>
                  <a:pt x="186290" y="1473200"/>
                </a:lnTo>
                <a:lnTo>
                  <a:pt x="182424" y="1524000"/>
                </a:lnTo>
                <a:lnTo>
                  <a:pt x="178912" y="1574800"/>
                </a:lnTo>
                <a:lnTo>
                  <a:pt x="175705" y="1612900"/>
                </a:lnTo>
                <a:lnTo>
                  <a:pt x="172751" y="1663700"/>
                </a:lnTo>
                <a:lnTo>
                  <a:pt x="169241" y="1701800"/>
                </a:lnTo>
                <a:lnTo>
                  <a:pt x="165704" y="1765300"/>
                </a:lnTo>
                <a:lnTo>
                  <a:pt x="160944" y="1816100"/>
                </a:lnTo>
                <a:lnTo>
                  <a:pt x="153765" y="1866900"/>
                </a:lnTo>
                <a:lnTo>
                  <a:pt x="142972" y="1930400"/>
                </a:lnTo>
                <a:lnTo>
                  <a:pt x="134804" y="1968500"/>
                </a:lnTo>
                <a:lnTo>
                  <a:pt x="127140" y="2006600"/>
                </a:lnTo>
                <a:lnTo>
                  <a:pt x="123332" y="2032000"/>
                </a:lnTo>
                <a:lnTo>
                  <a:pt x="126732" y="2032000"/>
                </a:lnTo>
                <a:lnTo>
                  <a:pt x="107112" y="2070100"/>
                </a:lnTo>
                <a:lnTo>
                  <a:pt x="77427" y="2082800"/>
                </a:lnTo>
                <a:lnTo>
                  <a:pt x="44900" y="2095500"/>
                </a:lnTo>
                <a:lnTo>
                  <a:pt x="16751" y="2108200"/>
                </a:lnTo>
                <a:lnTo>
                  <a:pt x="9413" y="2108200"/>
                </a:lnTo>
                <a:lnTo>
                  <a:pt x="3908" y="2120900"/>
                </a:lnTo>
                <a:lnTo>
                  <a:pt x="637" y="2120900"/>
                </a:lnTo>
                <a:lnTo>
                  <a:pt x="0" y="2133600"/>
                </a:lnTo>
                <a:lnTo>
                  <a:pt x="273429" y="2133600"/>
                </a:lnTo>
                <a:lnTo>
                  <a:pt x="281436" y="2120900"/>
                </a:lnTo>
                <a:lnTo>
                  <a:pt x="285446" y="2108200"/>
                </a:lnTo>
                <a:lnTo>
                  <a:pt x="285899" y="2082800"/>
                </a:lnTo>
                <a:lnTo>
                  <a:pt x="283240" y="2057400"/>
                </a:lnTo>
                <a:lnTo>
                  <a:pt x="280539" y="2057400"/>
                </a:lnTo>
                <a:lnTo>
                  <a:pt x="294168" y="2032000"/>
                </a:lnTo>
                <a:lnTo>
                  <a:pt x="300889" y="1993900"/>
                </a:lnTo>
                <a:lnTo>
                  <a:pt x="307476" y="1955800"/>
                </a:lnTo>
                <a:lnTo>
                  <a:pt x="313873" y="1905000"/>
                </a:lnTo>
                <a:lnTo>
                  <a:pt x="320026" y="1854200"/>
                </a:lnTo>
                <a:lnTo>
                  <a:pt x="325881" y="1790700"/>
                </a:lnTo>
                <a:lnTo>
                  <a:pt x="331383" y="1727200"/>
                </a:lnTo>
                <a:lnTo>
                  <a:pt x="336479" y="1663700"/>
                </a:lnTo>
                <a:lnTo>
                  <a:pt x="341113" y="1600200"/>
                </a:lnTo>
                <a:lnTo>
                  <a:pt x="345989" y="1562100"/>
                </a:lnTo>
                <a:lnTo>
                  <a:pt x="354269" y="1511300"/>
                </a:lnTo>
                <a:lnTo>
                  <a:pt x="364778" y="1447800"/>
                </a:lnTo>
                <a:lnTo>
                  <a:pt x="376339" y="1397000"/>
                </a:lnTo>
                <a:lnTo>
                  <a:pt x="387778" y="1346200"/>
                </a:lnTo>
                <a:lnTo>
                  <a:pt x="397917" y="1295400"/>
                </a:lnTo>
                <a:lnTo>
                  <a:pt x="405582" y="1257300"/>
                </a:lnTo>
                <a:lnTo>
                  <a:pt x="618357" y="1257300"/>
                </a:lnTo>
                <a:lnTo>
                  <a:pt x="618083" y="1244600"/>
                </a:lnTo>
                <a:lnTo>
                  <a:pt x="616258" y="1193800"/>
                </a:lnTo>
                <a:lnTo>
                  <a:pt x="613523" y="1155700"/>
                </a:lnTo>
                <a:lnTo>
                  <a:pt x="613789" y="1117600"/>
                </a:lnTo>
                <a:lnTo>
                  <a:pt x="617250" y="1092200"/>
                </a:lnTo>
                <a:lnTo>
                  <a:pt x="618172" y="1054100"/>
                </a:lnTo>
                <a:lnTo>
                  <a:pt x="610822" y="1016000"/>
                </a:lnTo>
                <a:lnTo>
                  <a:pt x="671838" y="1016000"/>
                </a:lnTo>
                <a:lnTo>
                  <a:pt x="687364" y="1003300"/>
                </a:lnTo>
                <a:lnTo>
                  <a:pt x="701175" y="990600"/>
                </a:lnTo>
                <a:lnTo>
                  <a:pt x="727646" y="952500"/>
                </a:lnTo>
                <a:lnTo>
                  <a:pt x="176982" y="952500"/>
                </a:lnTo>
                <a:lnTo>
                  <a:pt x="162074" y="914400"/>
                </a:lnTo>
                <a:lnTo>
                  <a:pt x="143734" y="850900"/>
                </a:lnTo>
                <a:lnTo>
                  <a:pt x="127424" y="787400"/>
                </a:lnTo>
                <a:lnTo>
                  <a:pt x="118606" y="749300"/>
                </a:lnTo>
                <a:lnTo>
                  <a:pt x="120136" y="736600"/>
                </a:lnTo>
                <a:lnTo>
                  <a:pt x="121470" y="723900"/>
                </a:lnTo>
                <a:lnTo>
                  <a:pt x="123517" y="698500"/>
                </a:lnTo>
                <a:lnTo>
                  <a:pt x="127747" y="698500"/>
                </a:lnTo>
                <a:lnTo>
                  <a:pt x="138845" y="673100"/>
                </a:lnTo>
                <a:lnTo>
                  <a:pt x="154819" y="660400"/>
                </a:lnTo>
                <a:lnTo>
                  <a:pt x="172824" y="635000"/>
                </a:lnTo>
                <a:lnTo>
                  <a:pt x="190018" y="609600"/>
                </a:lnTo>
                <a:lnTo>
                  <a:pt x="798810" y="609600"/>
                </a:lnTo>
                <a:lnTo>
                  <a:pt x="773755" y="558800"/>
                </a:lnTo>
                <a:lnTo>
                  <a:pt x="743678" y="508000"/>
                </a:lnTo>
                <a:lnTo>
                  <a:pt x="713555" y="469900"/>
                </a:lnTo>
                <a:lnTo>
                  <a:pt x="688367" y="431800"/>
                </a:lnTo>
                <a:lnTo>
                  <a:pt x="673092" y="406400"/>
                </a:lnTo>
                <a:lnTo>
                  <a:pt x="647959" y="381000"/>
                </a:lnTo>
                <a:lnTo>
                  <a:pt x="604851" y="368300"/>
                </a:lnTo>
                <a:lnTo>
                  <a:pt x="558086" y="355600"/>
                </a:lnTo>
                <a:lnTo>
                  <a:pt x="521987" y="342900"/>
                </a:lnTo>
                <a:close/>
              </a:path>
              <a:path w="838200" h="2159000">
                <a:moveTo>
                  <a:pt x="798810" y="609600"/>
                </a:moveTo>
                <a:lnTo>
                  <a:pt x="631261" y="609600"/>
                </a:lnTo>
                <a:lnTo>
                  <a:pt x="636748" y="622300"/>
                </a:lnTo>
                <a:lnTo>
                  <a:pt x="638905" y="622300"/>
                </a:lnTo>
                <a:lnTo>
                  <a:pt x="665521" y="647700"/>
                </a:lnTo>
                <a:lnTo>
                  <a:pt x="687403" y="673100"/>
                </a:lnTo>
                <a:lnTo>
                  <a:pt x="702889" y="685800"/>
                </a:lnTo>
                <a:lnTo>
                  <a:pt x="710316" y="698500"/>
                </a:lnTo>
                <a:lnTo>
                  <a:pt x="712221" y="723900"/>
                </a:lnTo>
                <a:lnTo>
                  <a:pt x="713779" y="736600"/>
                </a:lnTo>
                <a:lnTo>
                  <a:pt x="714831" y="749300"/>
                </a:lnTo>
                <a:lnTo>
                  <a:pt x="715216" y="749300"/>
                </a:lnTo>
                <a:lnTo>
                  <a:pt x="709652" y="774700"/>
                </a:lnTo>
                <a:lnTo>
                  <a:pt x="696233" y="838200"/>
                </a:lnTo>
                <a:lnTo>
                  <a:pt x="679868" y="889000"/>
                </a:lnTo>
                <a:lnTo>
                  <a:pt x="665469" y="927100"/>
                </a:lnTo>
                <a:lnTo>
                  <a:pt x="219624" y="927100"/>
                </a:lnTo>
                <a:lnTo>
                  <a:pt x="210701" y="939800"/>
                </a:lnTo>
                <a:lnTo>
                  <a:pt x="194249" y="939800"/>
                </a:lnTo>
                <a:lnTo>
                  <a:pt x="186357" y="952500"/>
                </a:lnTo>
                <a:lnTo>
                  <a:pt x="727646" y="952500"/>
                </a:lnTo>
                <a:lnTo>
                  <a:pt x="753553" y="901700"/>
                </a:lnTo>
                <a:lnTo>
                  <a:pt x="777417" y="850900"/>
                </a:lnTo>
                <a:lnTo>
                  <a:pt x="797763" y="800100"/>
                </a:lnTo>
                <a:lnTo>
                  <a:pt x="813112" y="762000"/>
                </a:lnTo>
                <a:lnTo>
                  <a:pt x="821988" y="736600"/>
                </a:lnTo>
                <a:lnTo>
                  <a:pt x="833236" y="723900"/>
                </a:lnTo>
                <a:lnTo>
                  <a:pt x="837721" y="711200"/>
                </a:lnTo>
                <a:lnTo>
                  <a:pt x="836621" y="685800"/>
                </a:lnTo>
                <a:lnTo>
                  <a:pt x="831119" y="660400"/>
                </a:lnTo>
                <a:lnTo>
                  <a:pt x="828417" y="647700"/>
                </a:lnTo>
                <a:lnTo>
                  <a:pt x="813863" y="647700"/>
                </a:lnTo>
                <a:lnTo>
                  <a:pt x="798810" y="609600"/>
                </a:lnTo>
                <a:close/>
              </a:path>
              <a:path w="838200" h="2159000">
                <a:moveTo>
                  <a:pt x="615900" y="609600"/>
                </a:moveTo>
                <a:lnTo>
                  <a:pt x="206227" y="609600"/>
                </a:lnTo>
                <a:lnTo>
                  <a:pt x="207441" y="622300"/>
                </a:lnTo>
                <a:lnTo>
                  <a:pt x="210620" y="635000"/>
                </a:lnTo>
                <a:lnTo>
                  <a:pt x="212621" y="660400"/>
                </a:lnTo>
                <a:lnTo>
                  <a:pt x="214316" y="698500"/>
                </a:lnTo>
                <a:lnTo>
                  <a:pt x="216582" y="723900"/>
                </a:lnTo>
                <a:lnTo>
                  <a:pt x="221587" y="762000"/>
                </a:lnTo>
                <a:lnTo>
                  <a:pt x="226594" y="812800"/>
                </a:lnTo>
                <a:lnTo>
                  <a:pt x="229977" y="850900"/>
                </a:lnTo>
                <a:lnTo>
                  <a:pt x="230044" y="863600"/>
                </a:lnTo>
                <a:lnTo>
                  <a:pt x="230111" y="876300"/>
                </a:lnTo>
                <a:lnTo>
                  <a:pt x="229732" y="901700"/>
                </a:lnTo>
                <a:lnTo>
                  <a:pt x="229911" y="901700"/>
                </a:lnTo>
                <a:lnTo>
                  <a:pt x="230111" y="914400"/>
                </a:lnTo>
                <a:lnTo>
                  <a:pt x="227024" y="927100"/>
                </a:lnTo>
                <a:lnTo>
                  <a:pt x="653330" y="927100"/>
                </a:lnTo>
                <a:lnTo>
                  <a:pt x="634494" y="914400"/>
                </a:lnTo>
                <a:lnTo>
                  <a:pt x="613423" y="914400"/>
                </a:lnTo>
                <a:lnTo>
                  <a:pt x="594581" y="901700"/>
                </a:lnTo>
                <a:lnTo>
                  <a:pt x="595119" y="863600"/>
                </a:lnTo>
                <a:lnTo>
                  <a:pt x="597283" y="800100"/>
                </a:lnTo>
                <a:lnTo>
                  <a:pt x="600820" y="749300"/>
                </a:lnTo>
                <a:lnTo>
                  <a:pt x="606119" y="698500"/>
                </a:lnTo>
                <a:lnTo>
                  <a:pt x="611314" y="660400"/>
                </a:lnTo>
                <a:lnTo>
                  <a:pt x="614539" y="622300"/>
                </a:lnTo>
                <a:lnTo>
                  <a:pt x="615900" y="609600"/>
                </a:lnTo>
                <a:close/>
              </a:path>
              <a:path w="838200" h="2159000">
                <a:moveTo>
                  <a:pt x="505746" y="317500"/>
                </a:moveTo>
                <a:lnTo>
                  <a:pt x="316711" y="317500"/>
                </a:lnTo>
                <a:lnTo>
                  <a:pt x="314363" y="330200"/>
                </a:lnTo>
                <a:lnTo>
                  <a:pt x="310797" y="342900"/>
                </a:lnTo>
                <a:lnTo>
                  <a:pt x="516573" y="342900"/>
                </a:lnTo>
                <a:lnTo>
                  <a:pt x="510615" y="330200"/>
                </a:lnTo>
                <a:lnTo>
                  <a:pt x="506825" y="330200"/>
                </a:lnTo>
                <a:lnTo>
                  <a:pt x="505746" y="317500"/>
                </a:lnTo>
                <a:close/>
              </a:path>
              <a:path w="838200" h="2159000">
                <a:moveTo>
                  <a:pt x="491212" y="304800"/>
                </a:moveTo>
                <a:lnTo>
                  <a:pt x="326024" y="304800"/>
                </a:lnTo>
                <a:lnTo>
                  <a:pt x="318443" y="317500"/>
                </a:lnTo>
                <a:lnTo>
                  <a:pt x="498400" y="317500"/>
                </a:lnTo>
                <a:lnTo>
                  <a:pt x="491212" y="304800"/>
                </a:lnTo>
                <a:close/>
              </a:path>
              <a:path w="838200" h="2159000">
                <a:moveTo>
                  <a:pt x="511872" y="215900"/>
                </a:moveTo>
                <a:lnTo>
                  <a:pt x="309435" y="215900"/>
                </a:lnTo>
                <a:lnTo>
                  <a:pt x="318946" y="228600"/>
                </a:lnTo>
                <a:lnTo>
                  <a:pt x="323551" y="241300"/>
                </a:lnTo>
                <a:lnTo>
                  <a:pt x="329456" y="254000"/>
                </a:lnTo>
                <a:lnTo>
                  <a:pt x="334548" y="279400"/>
                </a:lnTo>
                <a:lnTo>
                  <a:pt x="336715" y="304800"/>
                </a:lnTo>
                <a:lnTo>
                  <a:pt x="483580" y="304800"/>
                </a:lnTo>
                <a:lnTo>
                  <a:pt x="482528" y="292100"/>
                </a:lnTo>
                <a:lnTo>
                  <a:pt x="482161" y="279400"/>
                </a:lnTo>
                <a:lnTo>
                  <a:pt x="483011" y="279400"/>
                </a:lnTo>
                <a:lnTo>
                  <a:pt x="485611" y="266700"/>
                </a:lnTo>
                <a:lnTo>
                  <a:pt x="490280" y="254000"/>
                </a:lnTo>
                <a:lnTo>
                  <a:pt x="494497" y="254000"/>
                </a:lnTo>
                <a:lnTo>
                  <a:pt x="498205" y="241300"/>
                </a:lnTo>
                <a:lnTo>
                  <a:pt x="501349" y="228600"/>
                </a:lnTo>
                <a:lnTo>
                  <a:pt x="506782" y="228600"/>
                </a:lnTo>
                <a:lnTo>
                  <a:pt x="511872" y="215900"/>
                </a:lnTo>
                <a:close/>
              </a:path>
              <a:path w="838200" h="2159000">
                <a:moveTo>
                  <a:pt x="526856" y="152400"/>
                </a:moveTo>
                <a:lnTo>
                  <a:pt x="299453" y="152400"/>
                </a:lnTo>
                <a:lnTo>
                  <a:pt x="297186" y="165100"/>
                </a:lnTo>
                <a:lnTo>
                  <a:pt x="299994" y="190500"/>
                </a:lnTo>
                <a:lnTo>
                  <a:pt x="302802" y="203200"/>
                </a:lnTo>
                <a:lnTo>
                  <a:pt x="305001" y="215900"/>
                </a:lnTo>
                <a:lnTo>
                  <a:pt x="516860" y="215900"/>
                </a:lnTo>
                <a:lnTo>
                  <a:pt x="521987" y="203200"/>
                </a:lnTo>
                <a:lnTo>
                  <a:pt x="525112" y="190500"/>
                </a:lnTo>
                <a:lnTo>
                  <a:pt x="527964" y="165100"/>
                </a:lnTo>
                <a:lnTo>
                  <a:pt x="526856" y="152400"/>
                </a:lnTo>
                <a:close/>
              </a:path>
              <a:path w="838200" h="2159000">
                <a:moveTo>
                  <a:pt x="473800" y="12700"/>
                </a:moveTo>
                <a:lnTo>
                  <a:pt x="365079" y="12700"/>
                </a:lnTo>
                <a:lnTo>
                  <a:pt x="347994" y="25400"/>
                </a:lnTo>
                <a:lnTo>
                  <a:pt x="331301" y="38100"/>
                </a:lnTo>
                <a:lnTo>
                  <a:pt x="309436" y="76200"/>
                </a:lnTo>
                <a:lnTo>
                  <a:pt x="302514" y="101600"/>
                </a:lnTo>
                <a:lnTo>
                  <a:pt x="303513" y="139700"/>
                </a:lnTo>
                <a:lnTo>
                  <a:pt x="305407" y="152400"/>
                </a:lnTo>
                <a:lnTo>
                  <a:pt x="518102" y="152400"/>
                </a:lnTo>
                <a:lnTo>
                  <a:pt x="521439" y="127000"/>
                </a:lnTo>
                <a:lnTo>
                  <a:pt x="521570" y="101600"/>
                </a:lnTo>
                <a:lnTo>
                  <a:pt x="521635" y="88900"/>
                </a:lnTo>
                <a:lnTo>
                  <a:pt x="512490" y="50800"/>
                </a:lnTo>
                <a:lnTo>
                  <a:pt x="487810" y="25400"/>
                </a:lnTo>
                <a:lnTo>
                  <a:pt x="474271" y="25400"/>
                </a:lnTo>
                <a:lnTo>
                  <a:pt x="473800" y="12700"/>
                </a:lnTo>
                <a:close/>
              </a:path>
              <a:path w="838200" h="2159000">
                <a:moveTo>
                  <a:pt x="434417" y="0"/>
                </a:moveTo>
                <a:lnTo>
                  <a:pt x="399823" y="0"/>
                </a:lnTo>
                <a:lnTo>
                  <a:pt x="382406" y="12700"/>
                </a:lnTo>
                <a:lnTo>
                  <a:pt x="451343" y="12700"/>
                </a:lnTo>
                <a:lnTo>
                  <a:pt x="43441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object 31"/>
          <p:cNvSpPr/>
          <p:nvPr/>
        </p:nvSpPr>
        <p:spPr>
          <a:xfrm>
            <a:off x="5803965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36458" y="118592"/>
            <a:ext cx="6162994" cy="899790"/>
          </a:xfrm>
          <a:prstGeom prst="rect">
            <a:avLst/>
          </a:prstGeom>
          <a:noFill/>
          <a:ln w="0">
            <a:noFill/>
          </a:ln>
        </p:spPr>
        <p:txBody>
          <a:bodyPr lIns="0" tIns="52888" rIns="0" bIns="0" anchor="t">
            <a:spAutoFit/>
          </a:bodyPr>
          <a:lstStyle/>
          <a:p>
            <a:pPr marL="6318">
              <a:lnSpc>
                <a:spcPts val="3339"/>
              </a:lnSpc>
              <a:spcBef>
                <a:spcPts val="417"/>
              </a:spcBef>
            </a:pPr>
            <a:r>
              <a:rPr lang="fr-FR" sz="3033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typical </a:t>
            </a:r>
            <a:r>
              <a:rPr lang="fr-FR" sz="3033" b="1" spc="-115">
                <a:solidFill>
                  <a:schemeClr val="dk1"/>
                </a:solidFill>
                <a:latin typeface="Arial"/>
              </a:rPr>
              <a:t>individualist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>
                <a:solidFill>
                  <a:schemeClr val="dk1"/>
                </a:solidFill>
                <a:latin typeface="Arial"/>
              </a:rPr>
              <a:t>or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5">
                <a:solidFill>
                  <a:schemeClr val="dk1"/>
                </a:solidFill>
                <a:latin typeface="Arial"/>
              </a:rPr>
              <a:t>(“agentic”) </a:t>
            </a:r>
            <a:r>
              <a:rPr lang="fr-FR" sz="3033" b="1" spc="-70">
                <a:solidFill>
                  <a:schemeClr val="dk1"/>
                </a:solidFill>
                <a:latin typeface="Arial"/>
              </a:rPr>
              <a:t>paradigm:</a:t>
            </a:r>
            <a:r>
              <a:rPr lang="fr-FR" sz="3033" b="1" spc="-10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12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3033" b="1" spc="-8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38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3033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">
                <a:solidFill>
                  <a:schemeClr val="dk1"/>
                </a:solidFill>
                <a:latin typeface="Arial"/>
              </a:rPr>
              <a:t>Theory</a:t>
            </a:r>
            <a:endParaRPr lang="fr-FR" sz="3033"/>
          </a:p>
        </p:txBody>
      </p:sp>
      <p:sp>
        <p:nvSpPr>
          <p:cNvPr id="249" name="object 3"/>
          <p:cNvSpPr/>
          <p:nvPr/>
        </p:nvSpPr>
        <p:spPr>
          <a:xfrm>
            <a:off x="277252" y="1284115"/>
            <a:ext cx="9374906" cy="3848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popular</a:t>
            </a:r>
            <a:r>
              <a:rPr lang="fr-FR" sz="1855" b="1" spc="2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05">
                <a:solidFill>
                  <a:srgbClr val="000000"/>
                </a:solidFill>
                <a:latin typeface="Arial"/>
              </a:rPr>
              <a:t>successful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paradigm: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predominant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in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economics,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influential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part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sociology.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1695" indent="-235558">
              <a:lnSpc>
                <a:spcPct val="113000"/>
              </a:lnSpc>
              <a:spcBef>
                <a:spcPts val="951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idea: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i="1" spc="-46">
                <a:solidFill>
                  <a:srgbClr val="000000"/>
                </a:solidFill>
                <a:latin typeface="Arial"/>
              </a:rPr>
              <a:t>individuals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make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rational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8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by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23">
                <a:solidFill>
                  <a:srgbClr val="000000"/>
                </a:solidFill>
                <a:latin typeface="Arial"/>
              </a:rPr>
              <a:t>analyzing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85">
                <a:solidFill>
                  <a:srgbClr val="EE220C"/>
                </a:solidFill>
                <a:latin typeface="Arial"/>
              </a:rPr>
              <a:t>costs</a:t>
            </a:r>
            <a:r>
              <a:rPr lang="fr-FR" sz="1855" b="1" i="1" spc="-13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and 	</a:t>
            </a:r>
            <a:r>
              <a:rPr lang="fr-FR" sz="1855" b="1" i="1">
                <a:solidFill>
                  <a:srgbClr val="EE220C"/>
                </a:solidFill>
                <a:latin typeface="Arial"/>
              </a:rPr>
              <a:t>benefits</a:t>
            </a:r>
            <a:r>
              <a:rPr lang="fr-FR" sz="1855" b="1" i="1" spc="-36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of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every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available</a:t>
            </a:r>
            <a:r>
              <a:rPr lang="fr-FR" sz="1855" b="1" i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">
                <a:solidFill>
                  <a:srgbClr val="000000"/>
                </a:solidFill>
                <a:latin typeface="Arial"/>
              </a:rPr>
              <a:t>option.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2056" indent="-235558">
              <a:spcBef>
                <a:spcPts val="145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056" algn="l"/>
              </a:tabLst>
            </a:pPr>
            <a:r>
              <a:rPr lang="fr-FR" sz="1855" spc="-8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 rational decisions,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individuals/agents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use: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82304" lvl="1" indent="-235558">
              <a:lnSpc>
                <a:spcPct val="113000"/>
              </a:lnSpc>
              <a:spcBef>
                <a:spcPts val="14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76BA"/>
                </a:solidFill>
                <a:latin typeface="Arial"/>
              </a:rPr>
              <a:t>information</a:t>
            </a:r>
            <a:r>
              <a:rPr lang="fr-FR" sz="1855" b="1" spc="2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—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their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respective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85">
                <a:solidFill>
                  <a:srgbClr val="000000"/>
                </a:solidFill>
                <a:latin typeface="Arial"/>
              </a:rPr>
              <a:t>costs</a:t>
            </a:r>
            <a:r>
              <a:rPr lang="fr-FR" sz="1855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benefits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48189" indent="-235558">
              <a:lnSpc>
                <a:spcPct val="113000"/>
              </a:lnSpc>
              <a:spcBef>
                <a:spcPts val="141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preferences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relative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value</a:t>
            </a:r>
            <a:r>
              <a:rPr lang="fr-FR" sz="1855" b="1" spc="-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ascribe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objects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apples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7">
                <a:solidFill>
                  <a:srgbClr val="000000"/>
                </a:solidFill>
                <a:latin typeface="Arial MT"/>
              </a:rPr>
              <a:t>pears).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preferred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bring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EE220C"/>
                </a:solidFill>
                <a:latin typeface="Arial"/>
              </a:rPr>
              <a:t>utility</a:t>
            </a:r>
            <a:r>
              <a:rPr lang="fr-FR" sz="1855" b="1" spc="10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satisfaction,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well-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being…)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1" name="object 3"/>
          <p:cNvSpPr/>
          <p:nvPr/>
        </p:nvSpPr>
        <p:spPr>
          <a:xfrm>
            <a:off x="319311" y="1155595"/>
            <a:ext cx="9183750" cy="4434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54" rIns="0" bIns="0" anchor="t">
            <a:spAutoFit/>
          </a:bodyPr>
          <a:lstStyle/>
          <a:p>
            <a:pPr marL="6318">
              <a:spcBef>
                <a:spcPts val="434"/>
              </a:spcBef>
            </a:pPr>
            <a:r>
              <a:rPr lang="fr-FR" sz="1855" spc="-6">
                <a:solidFill>
                  <a:srgbClr val="000000"/>
                </a:solidFill>
                <a:latin typeface="Arial MT"/>
              </a:rPr>
              <a:t>Assumptions: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4327" indent="-231226">
              <a:lnSpc>
                <a:spcPct val="114000"/>
              </a:lnSpc>
              <a:spcBef>
                <a:spcPts val="584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704868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instrumentally</a:t>
            </a:r>
            <a:r>
              <a:rPr lang="fr-FR" sz="1805" b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rational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maximizes 	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their</a:t>
            </a:r>
            <a:r>
              <a:rPr lang="fr-FR" sz="1805" b="1" spc="3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 spc="-30">
                <a:solidFill>
                  <a:srgbClr val="0076BA"/>
                </a:solidFill>
                <a:latin typeface="Arial"/>
              </a:rPr>
              <a:t>satisfaction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information</a:t>
            </a:r>
            <a:r>
              <a:rPr lang="fr-FR" sz="1805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and </a:t>
            </a:r>
            <a:r>
              <a:rPr lang="fr-FR" sz="1805" b="1" spc="-10">
                <a:solidFill>
                  <a:srgbClr val="000000"/>
                </a:solidFill>
                <a:latin typeface="Arial"/>
              </a:rPr>
              <a:t>preferences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have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48189" lvl="1" indent="-235558">
              <a:lnSpc>
                <a:spcPct val="113000"/>
              </a:lnSpc>
              <a:spcBef>
                <a:spcPts val="102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Individuals'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0">
                <a:solidFill>
                  <a:srgbClr val="0076BA"/>
                </a:solidFill>
                <a:latin typeface="Arial"/>
              </a:rPr>
              <a:t>selfish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maximizes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their</a:t>
            </a:r>
            <a:r>
              <a:rPr lang="fr-FR" sz="1855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13">
                <a:solidFill>
                  <a:srgbClr val="000000"/>
                </a:solidFill>
                <a:latin typeface="Arial"/>
              </a:rPr>
              <a:t>own 	</a:t>
            </a:r>
            <a:r>
              <a:rPr lang="fr-FR" sz="1855" b="1" spc="-23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satisfaction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,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have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8"/>
              </a:spcBef>
              <a:tabLst>
                <a:tab pos="749092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6318"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successful?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536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3">
                <a:solidFill>
                  <a:srgbClr val="0076BA"/>
                </a:solidFill>
                <a:latin typeface="Arial"/>
              </a:rPr>
              <a:t>models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simplified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complex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49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predictions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(if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happens,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3">
                <a:solidFill>
                  <a:srgbClr val="000000"/>
                </a:solidFill>
                <a:latin typeface="Arial MT"/>
              </a:rPr>
              <a:t>Y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will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happen)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3605" indent="-221298">
              <a:lnSpc>
                <a:spcPct val="113000"/>
              </a:lnSpc>
              <a:spcBef>
                <a:spcPts val="137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4507" algn="l"/>
              </a:tabLst>
            </a:pPr>
            <a:r>
              <a:rPr lang="fr-FR" sz="1730" spc="33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23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000000"/>
                </a:solidFill>
                <a:latin typeface="Arial MT"/>
              </a:rPr>
              <a:t>been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13">
                <a:solidFill>
                  <a:srgbClr val="0076BA"/>
                </a:solidFill>
                <a:latin typeface="Arial"/>
              </a:rPr>
              <a:t>highly</a:t>
            </a:r>
            <a:r>
              <a:rPr lang="fr-FR" sz="1730" b="1" spc="46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 b="1" spc="-88">
                <a:solidFill>
                  <a:srgbClr val="0076BA"/>
                </a:solidFill>
                <a:latin typeface="Arial"/>
              </a:rPr>
              <a:t>successful</a:t>
            </a:r>
            <a:r>
              <a:rPr lang="fr-FR" sz="1730" b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describing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many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3">
                <a:solidFill>
                  <a:srgbClr val="000000"/>
                </a:solidFill>
                <a:latin typeface="Arial MT"/>
              </a:rPr>
              <a:t>economic 	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behavior,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but</a:t>
            </a:r>
            <a:r>
              <a:rPr lang="fr-FR" sz="1730" b="1" spc="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also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more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"social"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73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crime,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education,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founding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family...)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3" name="object 3"/>
          <p:cNvSpPr/>
          <p:nvPr/>
        </p:nvSpPr>
        <p:spPr>
          <a:xfrm>
            <a:off x="319310" y="1004512"/>
            <a:ext cx="9619129" cy="4388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090" rIns="0" bIns="0" anchor="t">
            <a:spAutoFit/>
          </a:bodyPr>
          <a:lstStyle/>
          <a:p>
            <a:pPr marL="6318">
              <a:spcBef>
                <a:spcPts val="591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436820">
              <a:lnSpc>
                <a:spcPct val="113000"/>
              </a:lnSpc>
              <a:spcBef>
                <a:spcPts val="249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selfish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(they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help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friends,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families,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volunteer...)"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640"/>
              </a:spcBef>
            </a:pPr>
            <a:r>
              <a:rPr lang="fr-FR" sz="1454" spc="11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45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45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interest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26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others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even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selfish</a:t>
            </a:r>
            <a:endParaRPr lang="fr-FR" sz="1454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1120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altruistic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others)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  <a:spcBef>
                <a:spcPts val="834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humans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animals: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obey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norms,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conformism,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etc...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lnSpc>
                <a:spcPct val="114000"/>
              </a:lnSpc>
              <a:spcBef>
                <a:spcPts val="489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following the</a:t>
            </a:r>
            <a:r>
              <a:rPr lang="fr-FR" sz="1379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37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group)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28"/>
              </a:spcBef>
            </a:pP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-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rather </a:t>
            </a:r>
            <a:r>
              <a:rPr lang="fr-FR" sz="1855" spc="65">
                <a:solidFill>
                  <a:srgbClr val="000000"/>
                </a:solidFill>
                <a:latin typeface="Arial MT"/>
              </a:rPr>
              <a:t>stupid"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056129">
              <a:lnSpc>
                <a:spcPct val="114000"/>
              </a:lnSpc>
              <a:spcBef>
                <a:spcPts val="334"/>
              </a:spcBef>
            </a:pPr>
            <a:r>
              <a:rPr lang="fr-FR" sz="1329" spc="10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investigate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6">
                <a:solidFill>
                  <a:srgbClr val="000000"/>
                </a:solidFill>
                <a:latin typeface="Arial MT"/>
              </a:rPr>
              <a:t>deeply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3">
                <a:solidFill>
                  <a:srgbClr val="000000"/>
                </a:solidFill>
                <a:latin typeface="Arial MT"/>
              </a:rPr>
              <a:t>(even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weird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behaviors)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0">
                <a:solidFill>
                  <a:srgbClr val="000000"/>
                </a:solidFill>
                <a:latin typeface="Arial MT"/>
              </a:rPr>
              <a:t>realize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underlying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logic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(given</a:t>
            </a:r>
            <a:r>
              <a:rPr lang="fr-FR" sz="1329" spc="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329" spc="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329" spc="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preferences)</a:t>
            </a:r>
            <a:endParaRPr lang="fr-FR" sz="1329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236458" y="254693"/>
            <a:ext cx="7816603" cy="731460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8"/>
              </a:spcBef>
            </a:pPr>
            <a:r>
              <a:rPr lang="fr-FR" sz="4713" b="1" spc="-177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4713" b="1" spc="-101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211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158">
                <a:solidFill>
                  <a:schemeClr val="dk1"/>
                </a:solidFill>
                <a:latin typeface="Arial"/>
              </a:rPr>
              <a:t>Theory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338">
                <a:solidFill>
                  <a:schemeClr val="dk1"/>
                </a:solidFill>
                <a:latin typeface="Arial"/>
              </a:rPr>
              <a:t>(RCT)</a:t>
            </a:r>
            <a:endParaRPr lang="fr-FR" sz="4713"/>
          </a:p>
        </p:txBody>
      </p:sp>
      <p:sp>
        <p:nvSpPr>
          <p:cNvPr id="255" name="object 3"/>
          <p:cNvSpPr/>
          <p:nvPr/>
        </p:nvSpPr>
        <p:spPr>
          <a:xfrm>
            <a:off x="319310" y="1158483"/>
            <a:ext cx="8195303" cy="3922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2527" rIns="0" bIns="0" anchor="t">
            <a:spAutoFit/>
          </a:bodyPr>
          <a:lstStyle/>
          <a:p>
            <a:pPr marL="6318">
              <a:spcBef>
                <a:spcPts val="414"/>
              </a:spcBef>
            </a:pPr>
            <a:r>
              <a:rPr lang="fr-FR" sz="1855" spc="56">
                <a:solidFill>
                  <a:srgbClr val="000000"/>
                </a:solidFill>
                <a:latin typeface="Arial MT"/>
              </a:rPr>
              <a:t>Good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8659" indent="-235558">
              <a:lnSpc>
                <a:spcPct val="113000"/>
              </a:lnSpc>
              <a:spcBef>
                <a:spcPts val="57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9742" algn="l"/>
              </a:tabLst>
            </a:pP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researchers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people's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preferences.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But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from?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0175" indent="-227074">
              <a:lnSpc>
                <a:spcPct val="114000"/>
              </a:lnSpc>
              <a:spcBef>
                <a:spcPts val="191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0175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78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seem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irrational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stupid?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example: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eating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salt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fat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makes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6">
                <a:solidFill>
                  <a:srgbClr val="000000"/>
                </a:solidFill>
                <a:latin typeface="Arial MT"/>
              </a:rPr>
              <a:t>sick,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smoking cigarettes,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driving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drunk...?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71"/>
              </a:spcBef>
              <a:tabLst>
                <a:tab pos="700175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35734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3681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8">
                <a:solidFill>
                  <a:srgbClr val="000000"/>
                </a:solidFill>
                <a:latin typeface="Arial"/>
              </a:rPr>
              <a:t>selfish</a:t>
            </a:r>
            <a:r>
              <a:rPr lang="fr-FR" sz="1855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-143">
                <a:solidFill>
                  <a:srgbClr val="000000"/>
                </a:solidFill>
                <a:latin typeface="Arial MT"/>
              </a:rPr>
              <a:t>(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5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only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own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8"/>
              </a:spcBef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836817" algn="l"/>
              </a:tabLst>
            </a:pPr>
            <a:r>
              <a:rPr lang="fr-FR" sz="1855" spc="-111">
                <a:solidFill>
                  <a:srgbClr val="EE220C"/>
                </a:solidFill>
                <a:latin typeface="Arial MT"/>
              </a:rPr>
              <a:t>RCT</a:t>
            </a:r>
            <a:r>
              <a:rPr lang="fr-FR" sz="1855" spc="-7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is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EE220C"/>
                </a:solidFill>
                <a:latin typeface="Arial MT"/>
              </a:rPr>
              <a:t>not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perfect,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EE220C"/>
                </a:solidFill>
                <a:latin typeface="Arial MT"/>
              </a:rPr>
              <a:t>but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EE220C"/>
                </a:solidFill>
                <a:latin typeface="Arial MT"/>
              </a:rPr>
              <a:t>it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works </a:t>
            </a:r>
            <a:r>
              <a:rPr lang="fr-FR" sz="1855" spc="36">
                <a:solidFill>
                  <a:srgbClr val="EE220C"/>
                </a:solidFill>
                <a:latin typeface="Arial MT"/>
              </a:rPr>
              <a:t>pretty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well!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  <p:sp>
        <p:nvSpPr>
          <p:cNvPr id="257" name="object 3"/>
          <p:cNvSpPr/>
          <p:nvPr/>
        </p:nvSpPr>
        <p:spPr>
          <a:xfrm>
            <a:off x="4430680" y="3058121"/>
            <a:ext cx="1157220" cy="692599"/>
          </a:xfrm>
          <a:custGeom>
            <a:avLst/>
            <a:gdLst>
              <a:gd name="textAreaLeft" fmla="*/ 0 w 2307960"/>
              <a:gd name="textAreaRight" fmla="*/ 2308320 w 2307960"/>
              <a:gd name="textAreaTop" fmla="*/ 0 h 1381320"/>
              <a:gd name="textAreaBottom" fmla="*/ 1381680 h 1381320"/>
            </a:gdLst>
            <a:ahLst/>
            <a:cxnLst/>
            <a:rect l="textAreaLeft" t="textAreaTop" r="textAreaRight" b="textAreaBottom"/>
            <a:pathLst>
              <a:path w="2308225" h="1381759">
                <a:moveTo>
                  <a:pt x="2099599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1172786"/>
                </a:lnTo>
                <a:lnTo>
                  <a:pt x="159" y="1214247"/>
                </a:lnTo>
                <a:lnTo>
                  <a:pt x="4307" y="1274241"/>
                </a:lnTo>
                <a:lnTo>
                  <a:pt x="22518" y="1319989"/>
                </a:lnTo>
                <a:lnTo>
                  <a:pt x="61148" y="1358619"/>
                </a:lnTo>
                <a:lnTo>
                  <a:pt x="106896" y="1376830"/>
                </a:lnTo>
                <a:lnTo>
                  <a:pt x="166890" y="1380978"/>
                </a:lnTo>
                <a:lnTo>
                  <a:pt x="208351" y="1381138"/>
                </a:lnTo>
                <a:lnTo>
                  <a:pt x="2099599" y="1381138"/>
                </a:lnTo>
                <a:lnTo>
                  <a:pt x="2141061" y="1380978"/>
                </a:lnTo>
                <a:lnTo>
                  <a:pt x="2201060" y="1376830"/>
                </a:lnTo>
                <a:lnTo>
                  <a:pt x="2246810" y="1358619"/>
                </a:lnTo>
                <a:lnTo>
                  <a:pt x="2285435" y="1319989"/>
                </a:lnTo>
                <a:lnTo>
                  <a:pt x="2303648" y="1274241"/>
                </a:lnTo>
                <a:lnTo>
                  <a:pt x="2307800" y="1214247"/>
                </a:lnTo>
                <a:lnTo>
                  <a:pt x="2307960" y="1172786"/>
                </a:lnTo>
                <a:lnTo>
                  <a:pt x="2307960" y="208351"/>
                </a:lnTo>
                <a:lnTo>
                  <a:pt x="2307800" y="166890"/>
                </a:lnTo>
                <a:lnTo>
                  <a:pt x="2303648" y="106896"/>
                </a:lnTo>
                <a:lnTo>
                  <a:pt x="2285435" y="61148"/>
                </a:lnTo>
                <a:lnTo>
                  <a:pt x="2246810" y="22518"/>
                </a:lnTo>
                <a:lnTo>
                  <a:pt x="2201060" y="4307"/>
                </a:lnTo>
                <a:lnTo>
                  <a:pt x="2141061" y="159"/>
                </a:lnTo>
                <a:lnTo>
                  <a:pt x="209959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object 4"/>
          <p:cNvSpPr/>
          <p:nvPr/>
        </p:nvSpPr>
        <p:spPr>
          <a:xfrm>
            <a:off x="4519128" y="3097111"/>
            <a:ext cx="980144" cy="58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549"/>
              </a:lnSpc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Cognitive</a:t>
            </a:r>
            <a:endParaRPr lang="fr-FR" sz="1304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615"/>
              </a:lnSpc>
              <a:spcBef>
                <a:spcPts val="20"/>
              </a:spcBef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mechanisms </a:t>
            </a:r>
            <a:r>
              <a:rPr lang="fr-FR" sz="1304" spc="33">
                <a:solidFill>
                  <a:srgbClr val="FFFFFF"/>
                </a:solidFill>
                <a:latin typeface="Arial MT"/>
              </a:rPr>
              <a:t>for</a:t>
            </a:r>
            <a:endParaRPr lang="fr-FR" sz="13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5"/>
          <p:cNvSpPr/>
          <p:nvPr/>
        </p:nvSpPr>
        <p:spPr>
          <a:xfrm>
            <a:off x="409202" y="2383392"/>
            <a:ext cx="1794945" cy="1988086"/>
          </a:xfrm>
          <a:custGeom>
            <a:avLst/>
            <a:gdLst>
              <a:gd name="textAreaLeft" fmla="*/ 0 w 3579840"/>
              <a:gd name="textAreaRight" fmla="*/ 3580200 w 3579840"/>
              <a:gd name="textAreaTop" fmla="*/ 0 h 3965040"/>
              <a:gd name="textAreaBottom" fmla="*/ 3965400 h 3965040"/>
            </a:gdLst>
            <a:ahLst/>
            <a:cxnLst/>
            <a:rect l="textAreaLeft" t="textAreaTop" r="textAreaRight" b="textAreaBottom"/>
            <a:pathLst>
              <a:path w="3580129" h="3965575">
                <a:moveTo>
                  <a:pt x="3142598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4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3528090"/>
                </a:lnTo>
                <a:lnTo>
                  <a:pt x="171" y="3599081"/>
                </a:lnTo>
                <a:lnTo>
                  <a:pt x="1370" y="3658993"/>
                </a:lnTo>
                <a:lnTo>
                  <a:pt x="4625" y="3709056"/>
                </a:lnTo>
                <a:lnTo>
                  <a:pt x="10964" y="3750502"/>
                </a:lnTo>
                <a:lnTo>
                  <a:pt x="41198" y="3826919"/>
                </a:lnTo>
                <a:lnTo>
                  <a:pt x="67751" y="3864759"/>
                </a:lnTo>
                <a:lnTo>
                  <a:pt x="100323" y="3897332"/>
                </a:lnTo>
                <a:lnTo>
                  <a:pt x="138164" y="3923885"/>
                </a:lnTo>
                <a:lnTo>
                  <a:pt x="180522" y="3943669"/>
                </a:lnTo>
                <a:lnTo>
                  <a:pt x="256027" y="3960458"/>
                </a:lnTo>
                <a:lnTo>
                  <a:pt x="306090" y="3963712"/>
                </a:lnTo>
                <a:lnTo>
                  <a:pt x="366002" y="3964912"/>
                </a:lnTo>
                <a:lnTo>
                  <a:pt x="436992" y="3965083"/>
                </a:lnTo>
                <a:lnTo>
                  <a:pt x="3142598" y="3965083"/>
                </a:lnTo>
                <a:lnTo>
                  <a:pt x="3213589" y="3964912"/>
                </a:lnTo>
                <a:lnTo>
                  <a:pt x="3273500" y="3963712"/>
                </a:lnTo>
                <a:lnTo>
                  <a:pt x="3323563" y="3960458"/>
                </a:lnTo>
                <a:lnTo>
                  <a:pt x="3365009" y="3954119"/>
                </a:lnTo>
                <a:lnTo>
                  <a:pt x="3441427" y="3923885"/>
                </a:lnTo>
                <a:lnTo>
                  <a:pt x="3479267" y="3897332"/>
                </a:lnTo>
                <a:lnTo>
                  <a:pt x="3511840" y="3864759"/>
                </a:lnTo>
                <a:lnTo>
                  <a:pt x="3538393" y="3826919"/>
                </a:lnTo>
                <a:lnTo>
                  <a:pt x="3558176" y="3784561"/>
                </a:lnTo>
                <a:lnTo>
                  <a:pt x="3574965" y="3709056"/>
                </a:lnTo>
                <a:lnTo>
                  <a:pt x="3578220" y="3658993"/>
                </a:lnTo>
                <a:lnTo>
                  <a:pt x="3579420" y="3599081"/>
                </a:lnTo>
                <a:lnTo>
                  <a:pt x="3579591" y="3528090"/>
                </a:lnTo>
                <a:lnTo>
                  <a:pt x="3579591" y="436992"/>
                </a:lnTo>
                <a:lnTo>
                  <a:pt x="3579420" y="366001"/>
                </a:lnTo>
                <a:lnTo>
                  <a:pt x="3578220" y="306089"/>
                </a:lnTo>
                <a:lnTo>
                  <a:pt x="3574965" y="256026"/>
                </a:lnTo>
                <a:lnTo>
                  <a:pt x="3568627" y="214581"/>
                </a:lnTo>
                <a:lnTo>
                  <a:pt x="3538393" y="138163"/>
                </a:lnTo>
                <a:lnTo>
                  <a:pt x="3511840" y="100323"/>
                </a:lnTo>
                <a:lnTo>
                  <a:pt x="3479267" y="67750"/>
                </a:lnTo>
                <a:lnTo>
                  <a:pt x="3441427" y="41197"/>
                </a:lnTo>
                <a:lnTo>
                  <a:pt x="3399069" y="21414"/>
                </a:lnTo>
                <a:lnTo>
                  <a:pt x="3323563" y="4625"/>
                </a:lnTo>
                <a:lnTo>
                  <a:pt x="3273500" y="1370"/>
                </a:lnTo>
                <a:lnTo>
                  <a:pt x="3213589" y="171"/>
                </a:lnTo>
                <a:lnTo>
                  <a:pt x="3142598" y="0"/>
                </a:lnTo>
                <a:close/>
              </a:path>
            </a:pathLst>
          </a:custGeom>
          <a:solidFill>
            <a:srgbClr val="0076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0" name="object 6"/>
          <p:cNvGrpSpPr/>
          <p:nvPr/>
        </p:nvGrpSpPr>
        <p:grpSpPr>
          <a:xfrm>
            <a:off x="2243136" y="1888627"/>
            <a:ext cx="5074185" cy="3681406"/>
            <a:chOff x="4473360" y="3766680"/>
            <a:chExt cx="10119960" cy="7342200"/>
          </a:xfrm>
        </p:grpSpPr>
        <p:pic>
          <p:nvPicPr>
            <p:cNvPr id="261" name="object 7"/>
            <p:cNvPicPr/>
            <p:nvPr/>
          </p:nvPicPr>
          <p:blipFill>
            <a:blip r:embed="rId2"/>
            <a:stretch/>
          </p:blipFill>
          <p:spPr>
            <a:xfrm>
              <a:off x="6779520" y="3766680"/>
              <a:ext cx="7332480" cy="734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2" name="object 8"/>
            <p:cNvSpPr/>
            <p:nvPr/>
          </p:nvSpPr>
          <p:spPr>
            <a:xfrm>
              <a:off x="4473360" y="6451560"/>
              <a:ext cx="3370320" cy="360"/>
            </a:xfrm>
            <a:custGeom>
              <a:avLst/>
              <a:gdLst>
                <a:gd name="textAreaLeft" fmla="*/ 0 w 3370320"/>
                <a:gd name="textAreaRight" fmla="*/ 3370680 w 3370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noFill/>
            <a:ln w="115179">
              <a:solidFill>
                <a:srgbClr val="EE220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object 9"/>
            <p:cNvSpPr/>
            <p:nvPr/>
          </p:nvSpPr>
          <p:spPr>
            <a:xfrm>
              <a:off x="7675920" y="6231960"/>
              <a:ext cx="439560" cy="43956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439560"/>
                <a:gd name="textAreaBottom" fmla="*/ 439920 h 439560"/>
              </a:gdLst>
              <a:ahLst/>
              <a:cxnLst/>
              <a:rect l="textAreaLeft" t="textAreaTop" r="textAreaRight" b="textAreaBottom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object 10"/>
            <p:cNvSpPr/>
            <p:nvPr/>
          </p:nvSpPr>
          <p:spPr>
            <a:xfrm>
              <a:off x="12292920" y="6451560"/>
              <a:ext cx="2120400" cy="360"/>
            </a:xfrm>
            <a:custGeom>
              <a:avLst/>
              <a:gdLst>
                <a:gd name="textAreaLeft" fmla="*/ 0 w 2120400"/>
                <a:gd name="textAreaRight" fmla="*/ 2120760 w 21204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20900">
                  <a:moveTo>
                    <a:pt x="0" y="0"/>
                  </a:moveTo>
                  <a:lnTo>
                    <a:pt x="2083759" y="0"/>
                  </a:lnTo>
                  <a:lnTo>
                    <a:pt x="2120407" y="0"/>
                  </a:lnTo>
                </a:path>
              </a:pathLst>
            </a:custGeom>
            <a:noFill/>
            <a:ln w="73296">
              <a:solidFill>
                <a:srgbClr val="0076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object 11"/>
            <p:cNvSpPr/>
            <p:nvPr/>
          </p:nvSpPr>
          <p:spPr>
            <a:xfrm>
              <a:off x="14304240" y="6307200"/>
              <a:ext cx="289080" cy="28908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289080"/>
                <a:gd name="textAreaBottom" fmla="*/ 289440 h 289080"/>
              </a:gdLst>
              <a:ahLst/>
              <a:cxnLst/>
              <a:rect l="textAreaLeft" t="textAreaTop" r="textAreaRight" b="textAreaBottom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6B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6" name="object 12"/>
          <p:cNvSpPr/>
          <p:nvPr/>
        </p:nvSpPr>
        <p:spPr>
          <a:xfrm>
            <a:off x="507397" y="2881948"/>
            <a:ext cx="1598375" cy="9637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30" rIns="0" bIns="0" anchor="t">
            <a:spAutoFit/>
          </a:bodyPr>
          <a:lstStyle/>
          <a:p>
            <a:pPr marL="6137" algn="ctr">
              <a:lnSpc>
                <a:spcPct val="102000"/>
              </a:lnSpc>
              <a:spcBef>
                <a:spcPts val="27"/>
              </a:spcBef>
            </a:pPr>
            <a:r>
              <a:rPr lang="fr-FR" sz="1554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54" spc="-70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54" spc="26">
                <a:solidFill>
                  <a:srgbClr val="FFFFFF"/>
                </a:solidFill>
                <a:latin typeface="Arial MT"/>
              </a:rPr>
              <a:t>beliefs, </a:t>
            </a:r>
            <a:r>
              <a:rPr lang="fr-FR" sz="1554" spc="23">
                <a:solidFill>
                  <a:srgbClr val="FFFFFF"/>
                </a:solidFill>
                <a:latin typeface="Arial MT"/>
              </a:rPr>
              <a:t>preferences, </a:t>
            </a:r>
            <a:r>
              <a:rPr lang="fr-FR" sz="1554" spc="37">
                <a:solidFill>
                  <a:srgbClr val="FFFFFF"/>
                </a:solidFill>
                <a:latin typeface="Arial MT"/>
              </a:rPr>
              <a:t>habits,</a:t>
            </a:r>
            <a:r>
              <a:rPr lang="fr-FR" sz="1554" spc="13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48">
                <a:solidFill>
                  <a:srgbClr val="FFFFFF"/>
                </a:solidFill>
                <a:latin typeface="Arial MT"/>
              </a:rPr>
              <a:t>tools,</a:t>
            </a:r>
            <a:r>
              <a:rPr lang="fr-FR" sz="1554" spc="16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etc.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13"/>
          <p:cNvSpPr/>
          <p:nvPr/>
        </p:nvSpPr>
        <p:spPr>
          <a:xfrm>
            <a:off x="7864614" y="3000360"/>
            <a:ext cx="1325992" cy="4130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632" spc="-6">
                <a:solidFill>
                  <a:srgbClr val="0076BA"/>
                </a:solidFill>
                <a:latin typeface="Arial MT"/>
              </a:rPr>
              <a:t>Behavior</a:t>
            </a:r>
            <a:endParaRPr lang="fr-FR" sz="2632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14"/>
          <p:cNvSpPr/>
          <p:nvPr/>
        </p:nvSpPr>
        <p:spPr>
          <a:xfrm>
            <a:off x="2321295" y="2803068"/>
            <a:ext cx="1361010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33">
                <a:solidFill>
                  <a:srgbClr val="EE220C"/>
                </a:solidFill>
                <a:latin typeface="Arial"/>
              </a:rPr>
              <a:t>Socialization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15"/>
          <p:cNvSpPr/>
          <p:nvPr/>
        </p:nvSpPr>
        <p:spPr>
          <a:xfrm>
            <a:off x="4379778" y="2583753"/>
            <a:ext cx="1649097" cy="1302346"/>
          </a:xfrm>
          <a:custGeom>
            <a:avLst/>
            <a:gdLst>
              <a:gd name="textAreaLeft" fmla="*/ 0 w 3288960"/>
              <a:gd name="textAreaRight" fmla="*/ 3289320 w 3288960"/>
              <a:gd name="textAreaTop" fmla="*/ 0 h 2597400"/>
              <a:gd name="textAreaBottom" fmla="*/ 2597760 h 2597400"/>
            </a:gdLst>
            <a:ahLst/>
            <a:cxnLst/>
            <a:rect l="textAreaLeft" t="textAreaTop" r="textAreaRight" b="textAreaBottom"/>
            <a:pathLst>
              <a:path w="3289300" h="2597784">
                <a:moveTo>
                  <a:pt x="2994135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7" y="14448"/>
                </a:lnTo>
                <a:lnTo>
                  <a:pt x="86529" y="31866"/>
                </a:lnTo>
                <a:lnTo>
                  <a:pt x="56223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2302610"/>
                </a:lnTo>
                <a:lnTo>
                  <a:pt x="225" y="2361281"/>
                </a:lnTo>
                <a:lnTo>
                  <a:pt x="1805" y="2408596"/>
                </a:lnTo>
                <a:lnTo>
                  <a:pt x="14447" y="2475649"/>
                </a:lnTo>
                <a:lnTo>
                  <a:pt x="31865" y="2510916"/>
                </a:lnTo>
                <a:lnTo>
                  <a:pt x="56223" y="2541222"/>
                </a:lnTo>
                <a:lnTo>
                  <a:pt x="86529" y="2565579"/>
                </a:lnTo>
                <a:lnTo>
                  <a:pt x="121797" y="2582997"/>
                </a:lnTo>
                <a:lnTo>
                  <a:pt x="188849" y="2595639"/>
                </a:lnTo>
                <a:lnTo>
                  <a:pt x="236164" y="2597219"/>
                </a:lnTo>
                <a:lnTo>
                  <a:pt x="294835" y="2597445"/>
                </a:lnTo>
                <a:lnTo>
                  <a:pt x="2994135" y="2597445"/>
                </a:lnTo>
                <a:lnTo>
                  <a:pt x="3052805" y="2597219"/>
                </a:lnTo>
                <a:lnTo>
                  <a:pt x="3100120" y="2595639"/>
                </a:lnTo>
                <a:lnTo>
                  <a:pt x="3167176" y="2582997"/>
                </a:lnTo>
                <a:lnTo>
                  <a:pt x="3202439" y="2565579"/>
                </a:lnTo>
                <a:lnTo>
                  <a:pt x="3232744" y="2541222"/>
                </a:lnTo>
                <a:lnTo>
                  <a:pt x="3257101" y="2510916"/>
                </a:lnTo>
                <a:lnTo>
                  <a:pt x="3274524" y="2475649"/>
                </a:lnTo>
                <a:lnTo>
                  <a:pt x="3287158" y="2408596"/>
                </a:lnTo>
                <a:lnTo>
                  <a:pt x="3288738" y="2361281"/>
                </a:lnTo>
                <a:lnTo>
                  <a:pt x="3288963" y="2302610"/>
                </a:lnTo>
                <a:lnTo>
                  <a:pt x="3288963" y="294835"/>
                </a:lnTo>
                <a:lnTo>
                  <a:pt x="3288738" y="236164"/>
                </a:lnTo>
                <a:lnTo>
                  <a:pt x="3287158" y="188849"/>
                </a:lnTo>
                <a:lnTo>
                  <a:pt x="3274524" y="121797"/>
                </a:lnTo>
                <a:lnTo>
                  <a:pt x="3257101" y="86529"/>
                </a:lnTo>
                <a:lnTo>
                  <a:pt x="3232744" y="56223"/>
                </a:lnTo>
                <a:lnTo>
                  <a:pt x="3202439" y="31866"/>
                </a:lnTo>
                <a:lnTo>
                  <a:pt x="3167176" y="14448"/>
                </a:lnTo>
                <a:lnTo>
                  <a:pt x="3100120" y="1806"/>
                </a:lnTo>
                <a:lnTo>
                  <a:pt x="3052805" y="225"/>
                </a:lnTo>
                <a:lnTo>
                  <a:pt x="2994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object 16"/>
          <p:cNvSpPr/>
          <p:nvPr/>
        </p:nvSpPr>
        <p:spPr>
          <a:xfrm>
            <a:off x="4589886" y="2631949"/>
            <a:ext cx="1228880" cy="9389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8" rIns="0" bIns="0" anchor="t">
            <a:spAutoFit/>
          </a:bodyPr>
          <a:lstStyle/>
          <a:p>
            <a:pPr marL="6318" algn="ctr">
              <a:lnSpc>
                <a:spcPct val="101000"/>
              </a:lnSpc>
              <a:spcBef>
                <a:spcPts val="23"/>
              </a:spcBef>
            </a:pPr>
            <a:r>
              <a:rPr lang="fr-FR" sz="1529" spc="20">
                <a:solidFill>
                  <a:srgbClr val="FFFFFF"/>
                </a:solidFill>
                <a:latin typeface="Arial MT"/>
              </a:rPr>
              <a:t>Interiorized </a:t>
            </a:r>
            <a:r>
              <a:rPr lang="fr-FR" sz="1529" spc="-36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29" spc="-48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20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29" spc="-6">
                <a:solidFill>
                  <a:srgbClr val="FFFFFF"/>
                </a:solidFill>
                <a:latin typeface="Arial MT"/>
              </a:rPr>
              <a:t>preferences, habits,</a:t>
            </a:r>
            <a:r>
              <a:rPr lang="fr-FR" sz="1529" spc="-101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10">
                <a:solidFill>
                  <a:srgbClr val="FFFFFF"/>
                </a:solidFill>
                <a:latin typeface="Arial MT"/>
              </a:rPr>
              <a:t>etc.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17"/>
          <p:cNvSpPr/>
          <p:nvPr/>
        </p:nvSpPr>
        <p:spPr>
          <a:xfrm>
            <a:off x="555592" y="1336101"/>
            <a:ext cx="5312091" cy="1007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4058452">
              <a:lnSpc>
                <a:spcPts val="2701"/>
              </a:lnSpc>
              <a:spcBef>
                <a:spcPts val="68"/>
              </a:spcBef>
            </a:pPr>
            <a:r>
              <a:rPr lang="fr-FR" sz="2256" spc="23">
                <a:solidFill>
                  <a:srgbClr val="000000"/>
                </a:solidFill>
                <a:latin typeface="Arial MT"/>
              </a:rPr>
              <a:t>Individual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8736">
              <a:lnSpc>
                <a:spcPts val="2278"/>
              </a:lnSpc>
            </a:pPr>
            <a:r>
              <a:rPr lang="fr-FR" sz="1905">
                <a:solidFill>
                  <a:srgbClr val="0076BA"/>
                </a:solidFill>
                <a:latin typeface="Arial MT"/>
              </a:rPr>
              <a:t>Culture</a:t>
            </a:r>
            <a:r>
              <a:rPr lang="fr-FR" sz="1905" spc="-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46">
                <a:solidFill>
                  <a:srgbClr val="0076BA"/>
                </a:solidFill>
                <a:latin typeface="Arial MT"/>
              </a:rPr>
              <a:t>of</a:t>
            </a:r>
            <a:r>
              <a:rPr lang="fr-FR" sz="1905" spc="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13">
                <a:solidFill>
                  <a:srgbClr val="0076BA"/>
                </a:solidFill>
                <a:latin typeface="Arial MT"/>
              </a:rPr>
              <a:t>the</a:t>
            </a:r>
            <a:endParaRPr lang="fr-FR" sz="19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453"/>
              </a:spcBef>
            </a:pPr>
            <a:r>
              <a:rPr lang="fr-FR" sz="1905" spc="20">
                <a:solidFill>
                  <a:srgbClr val="0076BA"/>
                </a:solidFill>
                <a:latin typeface="Arial MT"/>
              </a:rPr>
              <a:t>group/society</a:t>
            </a:r>
            <a:endParaRPr lang="fr-FR" sz="190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/>
          <p:cNvPicPr/>
          <p:nvPr/>
        </p:nvPicPr>
        <p:blipFill>
          <a:blip r:embed="rId2"/>
          <a:stretch/>
        </p:blipFill>
        <p:spPr>
          <a:xfrm>
            <a:off x="6286095" y="864440"/>
            <a:ext cx="3717146" cy="24736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/>
          <p:cNvSpPr/>
          <p:nvPr/>
        </p:nvSpPr>
        <p:spPr>
          <a:xfrm>
            <a:off x="223643" y="1809566"/>
            <a:ext cx="8949093" cy="3222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18231">
              <a:spcBef>
                <a:spcPts val="68"/>
              </a:spcBef>
            </a:pPr>
            <a:r>
              <a:rPr lang="fr-FR" sz="2256" i="1" spc="-65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256" i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-27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0000"/>
                </a:solidFill>
                <a:latin typeface="Arial"/>
              </a:rPr>
              <a:t>la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(1894)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2"/>
              </a:spcBef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294222" indent="-288084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76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b="1" spc="-60">
                <a:solidFill>
                  <a:srgbClr val="D31876"/>
                </a:solidFill>
                <a:latin typeface="Arial"/>
              </a:rPr>
              <a:t>“social 	</a:t>
            </a:r>
            <a:r>
              <a:rPr lang="fr-FR" sz="2256" b="1" spc="-6">
                <a:solidFill>
                  <a:srgbClr val="D31876"/>
                </a:solidFill>
                <a:latin typeface="Arial"/>
              </a:rPr>
              <a:t>facts”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: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540609" algn="ctr">
              <a:lnSpc>
                <a:spcPct val="114000"/>
              </a:lnSpc>
              <a:spcBef>
                <a:spcPts val="1640"/>
              </a:spcBef>
              <a:tabLst>
                <a:tab pos="2406660" algn="l"/>
              </a:tabLst>
            </a:pPr>
            <a:r>
              <a:rPr lang="fr-FR" sz="2256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17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256" b="1" i="1" spc="1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256" b="1" i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256" i="1" spc="-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-1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256" b="1" i="1" spc="1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16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256" i="1" spc="-1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33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3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256" b="1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en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3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56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256" i="1" spc="56">
                <a:solidFill>
                  <a:srgbClr val="0076BA"/>
                </a:solidFill>
                <a:latin typeface="Arial"/>
              </a:rPr>
              <a:t>”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2406660" algn="l"/>
              </a:tabLst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93137" algn="ctr">
              <a:tabLst>
                <a:tab pos="2406660" algn="l"/>
              </a:tabLst>
            </a:pPr>
            <a:r>
              <a:rPr lang="fr-FR" sz="2081" b="1" u="sng" spc="-13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081" b="1" u="sng" spc="-37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08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E76D01E-AF4B-D0AD-406E-076EFBEC4CAC}"/>
              </a:ext>
            </a:extLst>
          </p:cNvPr>
          <p:cNvSpPr/>
          <p:nvPr/>
        </p:nvSpPr>
        <p:spPr>
          <a:xfrm>
            <a:off x="-1" y="1149118"/>
            <a:ext cx="1008062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matters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social science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real « engine »,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superficial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social science discipline by Sofia Martinez on Prezi">
            <a:extLst>
              <a:ext uri="{FF2B5EF4-FFF2-40B4-BE49-F238E27FC236}">
                <a16:creationId xmlns:a16="http://schemas.microsoft.com/office/drawing/2014/main" id="{E162ED8E-99A1-6014-70FA-7701724C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89" y="2516649"/>
            <a:ext cx="3118440" cy="1750781"/>
          </a:xfrm>
          <a:prstGeom prst="rect">
            <a:avLst/>
          </a:prstGeom>
        </p:spPr>
      </p:pic>
      <p:pic>
        <p:nvPicPr>
          <p:cNvPr id="7" name="Picture 6" descr="A society's cultural practices shape the structure of its social networks">
            <a:extLst>
              <a:ext uri="{FF2B5EF4-FFF2-40B4-BE49-F238E27FC236}">
                <a16:creationId xmlns:a16="http://schemas.microsoft.com/office/drawing/2014/main" id="{3DB2E2E4-7C90-7769-B22D-A972302A6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15" y="1855550"/>
            <a:ext cx="3901440" cy="2599944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35C3EB75-490A-5689-43A2-C631D60FF45E}"/>
              </a:ext>
            </a:extLst>
          </p:cNvPr>
          <p:cNvSpPr/>
          <p:nvPr/>
        </p:nvSpPr>
        <p:spPr>
          <a:xfrm>
            <a:off x="685800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discipline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9CBA32FB-F8E9-98D1-9E9B-D17B8EC277B2}"/>
              </a:ext>
            </a:extLst>
          </p:cNvPr>
          <p:cNvSpPr/>
          <p:nvPr/>
        </p:nvSpPr>
        <p:spPr>
          <a:xfrm>
            <a:off x="6675664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(or area)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195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eatise on the Family — Harvard University Press">
            <a:extLst>
              <a:ext uri="{FF2B5EF4-FFF2-40B4-BE49-F238E27FC236}">
                <a16:creationId xmlns:a16="http://schemas.microsoft.com/office/drawing/2014/main" id="{BC778E7C-F931-5998-AB4D-88EC7588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07" y="391885"/>
            <a:ext cx="3043528" cy="47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FCD9-AECF-DF0C-DC4A-B78B0427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ZoneTexte 29">
            <a:extLst>
              <a:ext uri="{FF2B5EF4-FFF2-40B4-BE49-F238E27FC236}">
                <a16:creationId xmlns:a16="http://schemas.microsoft.com/office/drawing/2014/main" id="{9AC3F5A6-8D15-DE33-2B5E-CC0F091C9008}"/>
              </a:ext>
            </a:extLst>
          </p:cNvPr>
          <p:cNvSpPr/>
          <p:nvPr/>
        </p:nvSpPr>
        <p:spPr>
          <a:xfrm>
            <a:off x="0" y="2351520"/>
            <a:ext cx="100796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2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PART 3: </a:t>
            </a:r>
            <a:r>
              <a:rPr lang="fr-MA" sz="32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32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do social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scientists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do?</a:t>
            </a:r>
            <a:endParaRPr lang="fr-F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063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FEC9450A-CB2F-4E8A-8F88-D29422F2C043}"/>
              </a:ext>
            </a:extLst>
          </p:cNvPr>
          <p:cNvSpPr/>
          <p:nvPr/>
        </p:nvSpPr>
        <p:spPr>
          <a:xfrm>
            <a:off x="2" y="0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E8D87391-75A3-35F0-F436-62230AEE95FA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B5C0840A-E67E-34D3-D110-470F8828BB68}"/>
              </a:ext>
            </a:extLst>
          </p:cNvPr>
          <p:cNvSpPr/>
          <p:nvPr/>
        </p:nvSpPr>
        <p:spPr>
          <a:xfrm>
            <a:off x="2" y="39865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1DCC73CA-D2BD-138F-2745-3030FFC7976D}"/>
              </a:ext>
            </a:extLst>
          </p:cNvPr>
          <p:cNvSpPr/>
          <p:nvPr/>
        </p:nvSpPr>
        <p:spPr>
          <a:xfrm>
            <a:off x="2" y="797310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E11404DD-8866-96EE-4CE1-1351E083EEE4}"/>
              </a:ext>
            </a:extLst>
          </p:cNvPr>
          <p:cNvSpPr/>
          <p:nvPr/>
        </p:nvSpPr>
        <p:spPr>
          <a:xfrm>
            <a:off x="2" y="1203602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E11938FF-3ADB-45D5-1943-B63D560FF42F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7A5151C5-8012-6354-FF9F-FCB0C8612452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ZoneTexte 29">
            <a:extLst>
              <a:ext uri="{FF2B5EF4-FFF2-40B4-BE49-F238E27FC236}">
                <a16:creationId xmlns:a16="http://schemas.microsoft.com/office/drawing/2014/main" id="{21802CEC-9D69-F4E7-681D-1DED3E0F2878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ZoneTexte 29">
            <a:extLst>
              <a:ext uri="{FF2B5EF4-FFF2-40B4-BE49-F238E27FC236}">
                <a16:creationId xmlns:a16="http://schemas.microsoft.com/office/drawing/2014/main" id="{012B78DD-DB4D-8358-CEE4-986CBF457528}"/>
              </a:ext>
            </a:extLst>
          </p:cNvPr>
          <p:cNvSpPr/>
          <p:nvPr/>
        </p:nvSpPr>
        <p:spPr>
          <a:xfrm>
            <a:off x="1" y="386882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586D224D-8F65-B3F8-A535-BB5732D9DEE6}"/>
              </a:ext>
            </a:extLst>
          </p:cNvPr>
          <p:cNvSpPr/>
          <p:nvPr/>
        </p:nvSpPr>
        <p:spPr>
          <a:xfrm>
            <a:off x="2" y="4275116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ZoneTexte 29">
            <a:extLst>
              <a:ext uri="{FF2B5EF4-FFF2-40B4-BE49-F238E27FC236}">
                <a16:creationId xmlns:a16="http://schemas.microsoft.com/office/drawing/2014/main" id="{F6FE4178-CDDB-9119-41DB-C62BD3EAEB53}"/>
              </a:ext>
            </a:extLst>
          </p:cNvPr>
          <p:cNvSpPr/>
          <p:nvPr/>
        </p:nvSpPr>
        <p:spPr>
          <a:xfrm>
            <a:off x="1" y="4665062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ZoneTexte 29">
            <a:extLst>
              <a:ext uri="{FF2B5EF4-FFF2-40B4-BE49-F238E27FC236}">
                <a16:creationId xmlns:a16="http://schemas.microsoft.com/office/drawing/2014/main" id="{A94BFFB7-1669-14FA-4845-79397E04C2A8}"/>
              </a:ext>
            </a:extLst>
          </p:cNvPr>
          <p:cNvSpPr/>
          <p:nvPr/>
        </p:nvSpPr>
        <p:spPr>
          <a:xfrm>
            <a:off x="1" y="5205253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IV)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Debunking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folk-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theories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033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29">
            <a:extLst>
              <a:ext uri="{FF2B5EF4-FFF2-40B4-BE49-F238E27FC236}">
                <a16:creationId xmlns:a16="http://schemas.microsoft.com/office/drawing/2014/main" id="{6A56F697-FA0F-7390-2DA6-7812980BBCB7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ZoneTexte 29">
            <a:extLst>
              <a:ext uri="{FF2B5EF4-FFF2-40B4-BE49-F238E27FC236}">
                <a16:creationId xmlns:a16="http://schemas.microsoft.com/office/drawing/2014/main" id="{C11433CD-C938-8134-2322-CE5A9C60AD81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ZoneTexte 29">
            <a:extLst>
              <a:ext uri="{FF2B5EF4-FFF2-40B4-BE49-F238E27FC236}">
                <a16:creationId xmlns:a16="http://schemas.microsoft.com/office/drawing/2014/main" id="{7AC64809-CF09-B47F-FE9D-2708A581A830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ZoneTexte 29">
            <a:extLst>
              <a:ext uri="{FF2B5EF4-FFF2-40B4-BE49-F238E27FC236}">
                <a16:creationId xmlns:a16="http://schemas.microsoft.com/office/drawing/2014/main" id="{6FCC23FF-867A-EB3A-A69D-25470F10258D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7971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E05154-69E5-308C-6537-C1BFC5B392C1}"/>
              </a:ext>
            </a:extLst>
          </p:cNvPr>
          <p:cNvSpPr/>
          <p:nvPr/>
        </p:nvSpPr>
        <p:spPr>
          <a:xfrm>
            <a:off x="1403131" y="2414582"/>
            <a:ext cx="287720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Thinking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like a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scientist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skill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Tricks of the Trade: How to Think about Your Research While You're ...">
            <a:extLst>
              <a:ext uri="{FF2B5EF4-FFF2-40B4-BE49-F238E27FC236}">
                <a16:creationId xmlns:a16="http://schemas.microsoft.com/office/drawing/2014/main" id="{D78938C9-AA76-7666-D29B-5E55670A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43" y="582338"/>
            <a:ext cx="2750692" cy="4250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9FB3D1-389F-DB8B-0D22-BDAB34C1FDEF}"/>
              </a:ext>
            </a:extLst>
          </p:cNvPr>
          <p:cNvSpPr txBox="1"/>
          <p:nvPr/>
        </p:nvSpPr>
        <p:spPr>
          <a:xfrm>
            <a:off x="6424643" y="4833117"/>
            <a:ext cx="3218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Becker, H. S. (1998). </a:t>
            </a:r>
            <a:r>
              <a:rPr lang="en-US" sz="1200" i="1" dirty="0">
                <a:effectLst/>
                <a:latin typeface="+mn-lt"/>
              </a:rPr>
              <a:t>Tricks of the trade: How to think about your research while you're doing it</a:t>
            </a:r>
            <a:r>
              <a:rPr lang="en-US" sz="1200" dirty="0">
                <a:effectLst/>
                <a:latin typeface="+mn-lt"/>
              </a:rPr>
              <a:t>.</a:t>
            </a:r>
            <a:r>
              <a:rPr lang="en-US" sz="1200" dirty="0"/>
              <a:t> University of Chicago Press. </a:t>
            </a:r>
          </a:p>
        </p:txBody>
      </p:sp>
    </p:spTree>
    <p:extLst>
      <p:ext uri="{BB962C8B-B14F-4D97-AF65-F5344CB8AC3E}">
        <p14:creationId xmlns:p14="http://schemas.microsoft.com/office/powerpoint/2010/main" val="3149631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6A0790D-13A7-48FA-C7E4-B38AB4D4393F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1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Man in elevator hi-res stock photography and images - Alamy">
            <a:extLst>
              <a:ext uri="{FF2B5EF4-FFF2-40B4-BE49-F238E27FC236}">
                <a16:creationId xmlns:a16="http://schemas.microsoft.com/office/drawing/2014/main" id="{A480E7CC-8093-75CA-9604-8A0D54436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7" y="951295"/>
            <a:ext cx="1764701" cy="1445697"/>
          </a:xfrm>
          <a:prstGeom prst="rect">
            <a:avLst/>
          </a:prstGeom>
        </p:spPr>
      </p:pic>
      <p:sp>
        <p:nvSpPr>
          <p:cNvPr id="8" name="ZoneTexte 29">
            <a:extLst>
              <a:ext uri="{FF2B5EF4-FFF2-40B4-BE49-F238E27FC236}">
                <a16:creationId xmlns:a16="http://schemas.microsoft.com/office/drawing/2014/main" id="{AE518F56-6AB0-0F2A-4364-E0D986B13906}"/>
              </a:ext>
            </a:extLst>
          </p:cNvPr>
          <p:cNvSpPr/>
          <p:nvPr/>
        </p:nvSpPr>
        <p:spPr>
          <a:xfrm>
            <a:off x="-85917" y="2714126"/>
            <a:ext cx="2877207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do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we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face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door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when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waiting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elevator</a:t>
            </a:r>
            <a:r>
              <a:rPr lang="fr-MA" sz="1100" b="1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 descr="Download Holding hands gently Image - Hands, Comfort, Trust | StockCake">
            <a:extLst>
              <a:ext uri="{FF2B5EF4-FFF2-40B4-BE49-F238E27FC236}">
                <a16:creationId xmlns:a16="http://schemas.microsoft.com/office/drawing/2014/main" id="{97828D2D-E1B9-A7B4-D600-828FBD1A4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72" y="951295"/>
            <a:ext cx="1455355" cy="1455355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69086FB3-EB9E-78CF-D8C4-146C1094541C}"/>
              </a:ext>
            </a:extLst>
          </p:cNvPr>
          <p:cNvSpPr/>
          <p:nvPr/>
        </p:nvSpPr>
        <p:spPr>
          <a:xfrm>
            <a:off x="2672255" y="2723784"/>
            <a:ext cx="2623480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was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normal for men to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hold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hands in the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past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but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less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now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CAD96E37-BF55-B112-48FE-91B9A5D5BB08}"/>
              </a:ext>
            </a:extLst>
          </p:cNvPr>
          <p:cNvSpPr/>
          <p:nvPr/>
        </p:nvSpPr>
        <p:spPr>
          <a:xfrm>
            <a:off x="5295735" y="2714126"/>
            <a:ext cx="2220311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are chairs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only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found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industrial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societies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6" descr="Witches &amp; Witchcraft | My Jewish Learning">
            <a:extLst>
              <a:ext uri="{FF2B5EF4-FFF2-40B4-BE49-F238E27FC236}">
                <a16:creationId xmlns:a16="http://schemas.microsoft.com/office/drawing/2014/main" id="{F9742661-FE89-831E-A3E7-FB008593A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055" y="1234087"/>
            <a:ext cx="1816484" cy="1210989"/>
          </a:xfrm>
          <a:prstGeom prst="rect">
            <a:avLst/>
          </a:prstGeom>
        </p:spPr>
      </p:pic>
      <p:sp>
        <p:nvSpPr>
          <p:cNvPr id="19" name="ZoneTexte 29">
            <a:extLst>
              <a:ext uri="{FF2B5EF4-FFF2-40B4-BE49-F238E27FC236}">
                <a16:creationId xmlns:a16="http://schemas.microsoft.com/office/drawing/2014/main" id="{7DE70D2F-89EF-C977-B4CF-497323742BA0}"/>
              </a:ext>
            </a:extLst>
          </p:cNvPr>
          <p:cNvSpPr/>
          <p:nvPr/>
        </p:nvSpPr>
        <p:spPr>
          <a:xfrm>
            <a:off x="7728141" y="2723784"/>
            <a:ext cx="2220311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witchcraft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universal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ZoneTexte 29">
            <a:extLst>
              <a:ext uri="{FF2B5EF4-FFF2-40B4-BE49-F238E27FC236}">
                <a16:creationId xmlns:a16="http://schemas.microsoft.com/office/drawing/2014/main" id="{82189C4F-AB3F-7F88-104C-F4BBCB92C784}"/>
              </a:ext>
            </a:extLst>
          </p:cNvPr>
          <p:cNvSpPr/>
          <p:nvPr/>
        </p:nvSpPr>
        <p:spPr>
          <a:xfrm>
            <a:off x="0" y="3828222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1: Why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ZoneTexte 29">
            <a:extLst>
              <a:ext uri="{FF2B5EF4-FFF2-40B4-BE49-F238E27FC236}">
                <a16:creationId xmlns:a16="http://schemas.microsoft.com/office/drawing/2014/main" id="{C8FB4340-994E-B89F-FE47-07C8A1843344}"/>
              </a:ext>
            </a:extLst>
          </p:cNvPr>
          <p:cNvSpPr/>
          <p:nvPr/>
        </p:nvSpPr>
        <p:spPr>
          <a:xfrm>
            <a:off x="-1" y="4298489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dirty="0">
                <a:solidFill>
                  <a:schemeClr val="dk1"/>
                </a:solidFill>
                <a:latin typeface="Avenir Next LT Pro"/>
              </a:rPr>
              <a:t>2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Propose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various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their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underlying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assumptions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6DB59AC4-5D81-95D0-991A-52FDEA827DF6}"/>
              </a:ext>
            </a:extLst>
          </p:cNvPr>
          <p:cNvSpPr/>
          <p:nvPr/>
        </p:nvSpPr>
        <p:spPr>
          <a:xfrm>
            <a:off x="0" y="4773041"/>
            <a:ext cx="10080625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3: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« 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predictions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(if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my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true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should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 observe in </a:t>
            </a:r>
            <a:r>
              <a:rPr lang="fr-MA" sz="11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the world?)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ll Americana Solid Oak Chair by Community Options | Chairs | Worthington  Direct">
            <a:extLst>
              <a:ext uri="{FF2B5EF4-FFF2-40B4-BE49-F238E27FC236}">
                <a16:creationId xmlns:a16="http://schemas.microsoft.com/office/drawing/2014/main" id="{6ECF518C-4D5C-B6E5-2009-A96B5F0A9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328" y="1002118"/>
            <a:ext cx="1674925" cy="16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3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7EBA89CD-36AA-9EE6-88D9-75EE23DFE24B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1: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C325E509-9E14-2525-52C6-E9B0AF945BB9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society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1826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005109-89C2-8F37-AD93-FC327AC1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B94BC06-F5AC-E7D9-EC8B-8BA42AF9DEB3}"/>
              </a:ext>
            </a:extLst>
          </p:cNvPr>
          <p:cNvSpPr/>
          <p:nvPr/>
        </p:nvSpPr>
        <p:spPr>
          <a:xfrm>
            <a:off x="1" y="6021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1: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0F70C747-FA4F-8CC5-EBE3-B6EFDE1DE6F0}"/>
              </a:ext>
            </a:extLst>
          </p:cNvPr>
          <p:cNvSpPr/>
          <p:nvPr/>
        </p:nvSpPr>
        <p:spPr>
          <a:xfrm>
            <a:off x="1" y="1089247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puzzled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society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Pierre Bourdieu — Wikipédia">
            <a:extLst>
              <a:ext uri="{FF2B5EF4-FFF2-40B4-BE49-F238E27FC236}">
                <a16:creationId xmlns:a16="http://schemas.microsoft.com/office/drawing/2014/main" id="{A9E74F74-FA93-9BC6-1F25-5EF64FEC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78" y="1970432"/>
            <a:ext cx="1469571" cy="2120895"/>
          </a:xfrm>
          <a:prstGeom prst="rect">
            <a:avLst/>
          </a:prstGeom>
        </p:spPr>
      </p:pic>
      <p:sp>
        <p:nvSpPr>
          <p:cNvPr id="10" name="ZoneTexte 29">
            <a:extLst>
              <a:ext uri="{FF2B5EF4-FFF2-40B4-BE49-F238E27FC236}">
                <a16:creationId xmlns:a16="http://schemas.microsoft.com/office/drawing/2014/main" id="{629F6026-D138-1B0C-6600-815CC980845E}"/>
              </a:ext>
            </a:extLst>
          </p:cNvPr>
          <p:cNvSpPr/>
          <p:nvPr/>
        </p:nvSpPr>
        <p:spPr>
          <a:xfrm>
            <a:off x="623206" y="4244204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Pierre Bourdieu: « sociologie du dévoilement »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0" descr="Amazon.fr - La Civilisation des moeurs, nouvelle édition - Elias, Norbert,  Kamnitzer, Pierre - Livres">
            <a:extLst>
              <a:ext uri="{FF2B5EF4-FFF2-40B4-BE49-F238E27FC236}">
                <a16:creationId xmlns:a16="http://schemas.microsoft.com/office/drawing/2014/main" id="{A1F98C37-9DE8-50C5-6826-149AD7E0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004" y="1970432"/>
            <a:ext cx="1444330" cy="2120895"/>
          </a:xfrm>
          <a:prstGeom prst="rect">
            <a:avLst/>
          </a:prstGeom>
        </p:spPr>
      </p:pic>
      <p:sp>
        <p:nvSpPr>
          <p:cNvPr id="13" name="ZoneTexte 29">
            <a:extLst>
              <a:ext uri="{FF2B5EF4-FFF2-40B4-BE49-F238E27FC236}">
                <a16:creationId xmlns:a16="http://schemas.microsoft.com/office/drawing/2014/main" id="{4C76BE69-70DE-C955-0B64-4FCDA298CBE8}"/>
              </a:ext>
            </a:extLst>
          </p:cNvPr>
          <p:cNvSpPr/>
          <p:nvPr/>
        </p:nvSpPr>
        <p:spPr>
          <a:xfrm>
            <a:off x="3445328" y="4244204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Norbert Elias: « 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Civilization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process »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Picture 14" descr="Amazon.com: Sex and Temperament: 9780688060169: Mead, Margaret: Books">
            <a:extLst>
              <a:ext uri="{FF2B5EF4-FFF2-40B4-BE49-F238E27FC236}">
                <a16:creationId xmlns:a16="http://schemas.microsoft.com/office/drawing/2014/main" id="{D7271909-ED01-6A0E-D4FD-2D31C84A4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307" y="1711666"/>
            <a:ext cx="1733550" cy="2638425"/>
          </a:xfrm>
          <a:prstGeom prst="rect">
            <a:avLst/>
          </a:prstGeom>
        </p:spPr>
      </p:pic>
      <p:sp>
        <p:nvSpPr>
          <p:cNvPr id="17" name="ZoneTexte 29">
            <a:extLst>
              <a:ext uri="{FF2B5EF4-FFF2-40B4-BE49-F238E27FC236}">
                <a16:creationId xmlns:a16="http://schemas.microsoft.com/office/drawing/2014/main" id="{5493C73F-9D0B-5CEF-295B-8E334FAC402F}"/>
              </a:ext>
            </a:extLst>
          </p:cNvPr>
          <p:cNvSpPr/>
          <p:nvPr/>
        </p:nvSpPr>
        <p:spPr>
          <a:xfrm>
            <a:off x="6965495" y="4458920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Margaret Mead: the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variability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gender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roles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7410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2B7A6171-BD27-112B-2E63-3F591207F7A9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677386CB-8A10-B08E-323E-19C36A1CA450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7AE426B9-1CD9-767E-A198-046167D24981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8CC954E1-1C50-162E-8BCC-0AD37DCED3D2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563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29">
            <a:extLst>
              <a:ext uri="{FF2B5EF4-FFF2-40B4-BE49-F238E27FC236}">
                <a16:creationId xmlns:a16="http://schemas.microsoft.com/office/drawing/2014/main" id="{71693110-35E5-67E8-288C-3849E68C409D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Major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movements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20th century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A74CC88A-1326-77DA-A33A-325E7A013ACF}"/>
              </a:ext>
            </a:extLst>
          </p:cNvPr>
          <p:cNvSpPr/>
          <p:nvPr/>
        </p:nvSpPr>
        <p:spPr>
          <a:xfrm>
            <a:off x="0" y="852538"/>
            <a:ext cx="10080624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« Ecole des Annales »: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school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thought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born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1920s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advocating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for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holisti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interdisciplinary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(esp.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economics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anthropology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)  and « longue durée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not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just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political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military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: Fernand Braudel; Marc Bloch; Lucien Febvre….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 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Picture 15" descr="Civilisation matérielle, économie et capitalisme tome 1 Les Structures ...">
            <a:extLst>
              <a:ext uri="{FF2B5EF4-FFF2-40B4-BE49-F238E27FC236}">
                <a16:creationId xmlns:a16="http://schemas.microsoft.com/office/drawing/2014/main" id="{8F7C6104-DDDD-9E2A-3096-04B4C44B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27" y="1936439"/>
            <a:ext cx="3399291" cy="340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8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0BA636C-376E-9F52-131D-B1FF4A8F3402}"/>
              </a:ext>
            </a:extLst>
          </p:cNvPr>
          <p:cNvSpPr/>
          <p:nvPr/>
        </p:nvSpPr>
        <p:spPr>
          <a:xfrm>
            <a:off x="1" y="1047879"/>
            <a:ext cx="1008062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1960s: « histoire des mentalités »; an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offshoot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Ecole des Annales,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focusing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on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understand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time’s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mentalité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48B10570-6C35-5121-21AB-FBDAD7A92674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Major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historiographic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movements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20th century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La civilisation de l'Occident médiéval - Poche - Jacques Le Goff ...">
            <a:extLst>
              <a:ext uri="{FF2B5EF4-FFF2-40B4-BE49-F238E27FC236}">
                <a16:creationId xmlns:a16="http://schemas.microsoft.com/office/drawing/2014/main" id="{CB8F8B03-93F8-56FA-6DAE-E42B9E92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487" y="1991091"/>
            <a:ext cx="1600832" cy="2633368"/>
          </a:xfrm>
          <a:prstGeom prst="rect">
            <a:avLst/>
          </a:prstGeom>
        </p:spPr>
      </p:pic>
      <p:pic>
        <p:nvPicPr>
          <p:cNvPr id="11" name="Picture 10" descr="Amazon.fr - La Naissance du purgatoire - Le Goff, Jacques - Livres">
            <a:extLst>
              <a:ext uri="{FF2B5EF4-FFF2-40B4-BE49-F238E27FC236}">
                <a16:creationId xmlns:a16="http://schemas.microsoft.com/office/drawing/2014/main" id="{3F4999A1-99F0-8A45-9532-CB0FEFCFE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155" y="1910143"/>
            <a:ext cx="1726340" cy="28424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76AB2C-DD63-0705-75DA-A6CB9CAE7F42}"/>
              </a:ext>
            </a:extLst>
          </p:cNvPr>
          <p:cNvSpPr txBox="1"/>
          <p:nvPr/>
        </p:nvSpPr>
        <p:spPr>
          <a:xfrm>
            <a:off x="7770607" y="4812963"/>
            <a:ext cx="2052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La Naissance du </a:t>
            </a:r>
            <a:r>
              <a:rPr lang="en-US" sz="1100" i="1" dirty="0" err="1"/>
              <a:t>purgatoire</a:t>
            </a:r>
            <a:r>
              <a:rPr lang="en-US" sz="1100" dirty="0"/>
              <a:t>, Paris, Gallimard, 1981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54E3B1-08CA-B684-F08E-7D80E8F5106F}"/>
              </a:ext>
            </a:extLst>
          </p:cNvPr>
          <p:cNvSpPr txBox="1"/>
          <p:nvPr/>
        </p:nvSpPr>
        <p:spPr>
          <a:xfrm>
            <a:off x="5833787" y="4766688"/>
            <a:ext cx="20522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La </a:t>
            </a:r>
            <a:r>
              <a:rPr lang="en-US" sz="1100" i="1" dirty="0" err="1"/>
              <a:t>civilisation</a:t>
            </a:r>
            <a:r>
              <a:rPr lang="en-US" sz="1100" i="1" dirty="0"/>
              <a:t> de </a:t>
            </a:r>
            <a:r>
              <a:rPr lang="en-US" sz="1100" i="1" dirty="0" err="1"/>
              <a:t>l'Occident</a:t>
            </a:r>
            <a:r>
              <a:rPr lang="en-US" sz="1100" i="1" dirty="0"/>
              <a:t> </a:t>
            </a:r>
            <a:r>
              <a:rPr lang="en-US" sz="1100" i="1" dirty="0" err="1"/>
              <a:t>médiéval</a:t>
            </a:r>
            <a:r>
              <a:rPr lang="en-US" sz="1100" i="1" dirty="0"/>
              <a:t>,</a:t>
            </a:r>
            <a:r>
              <a:rPr lang="en-US" sz="1100" dirty="0"/>
              <a:t> Paris, Arthaud, 1964</a:t>
            </a: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0CBA6399-5F69-D82A-880A-B59A8AE45CA6}"/>
              </a:ext>
            </a:extLst>
          </p:cNvPr>
          <p:cNvSpPr/>
          <p:nvPr/>
        </p:nvSpPr>
        <p:spPr>
          <a:xfrm>
            <a:off x="0" y="3076546"/>
            <a:ext cx="565785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Later: « histoire des représentations », « histoire des sensibilités », « histoire culturelle »; « cultural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in the English-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speaking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world…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903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5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D7A372A-8B78-31F4-D79C-7023C197218F}"/>
              </a:ext>
            </a:extLst>
          </p:cNvPr>
          <p:cNvSpPr/>
          <p:nvPr/>
        </p:nvSpPr>
        <p:spPr>
          <a:xfrm>
            <a:off x="1" y="647829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literature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contributed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« 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historicize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facts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seem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natural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us!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29B7690B-DF06-4090-CB70-15A33F761952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Amazon.com: Centuries Of Childhood: 9780712674584: Aries, Philippe">
            <a:extLst>
              <a:ext uri="{FF2B5EF4-FFF2-40B4-BE49-F238E27FC236}">
                <a16:creationId xmlns:a16="http://schemas.microsoft.com/office/drawing/2014/main" id="{BDABC48D-8978-64D8-9D96-43BA6B54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62" y="1191967"/>
            <a:ext cx="1708649" cy="2696658"/>
          </a:xfrm>
          <a:prstGeom prst="rect">
            <a:avLst/>
          </a:prstGeom>
        </p:spPr>
      </p:pic>
      <p:pic>
        <p:nvPicPr>
          <p:cNvPr id="9" name="Picture 8" descr="Amazon.com: L'enfant et la vie familiale sous l'ancien régime ...">
            <a:extLst>
              <a:ext uri="{FF2B5EF4-FFF2-40B4-BE49-F238E27FC236}">
                <a16:creationId xmlns:a16="http://schemas.microsoft.com/office/drawing/2014/main" id="{A6F3610B-A639-2233-C9D1-F471E7FF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81" y="1191967"/>
            <a:ext cx="1797773" cy="2696659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8EA596F6-C7C2-D16A-CB00-9FAA0AA025B8}"/>
              </a:ext>
            </a:extLst>
          </p:cNvPr>
          <p:cNvSpPr/>
          <p:nvPr/>
        </p:nvSpPr>
        <p:spPr>
          <a:xfrm>
            <a:off x="0" y="1157042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Example: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work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historian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Philippe Ariès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02C05E13-7867-5BEE-D0A1-D9A2CFEEF38C}"/>
              </a:ext>
            </a:extLst>
          </p:cNvPr>
          <p:cNvSpPr/>
          <p:nvPr/>
        </p:nvSpPr>
        <p:spPr>
          <a:xfrm>
            <a:off x="1" y="2006918"/>
            <a:ext cx="5541067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Childhood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historical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construction: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before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15th century in Europe,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wasn’t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 concept of a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separate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stage of life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called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childhood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distinct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from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adulthood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D1FDCA16-1D4C-92BC-5BC9-AB1BE32CCDAF}"/>
              </a:ext>
            </a:extLst>
          </p:cNvPr>
          <p:cNvSpPr/>
          <p:nvPr/>
        </p:nvSpPr>
        <p:spPr>
          <a:xfrm>
            <a:off x="0" y="3595458"/>
            <a:ext cx="55410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Children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small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adults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»: but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shared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same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clothes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games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responsibilities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were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not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seen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ultra protective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lens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513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1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4F155-4DF4-6A94-FCCA-BBB741C6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50" y="0"/>
            <a:ext cx="6848091" cy="4792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9CDD1-AF5A-50A2-B612-9DD77D4A18BF}"/>
              </a:ext>
            </a:extLst>
          </p:cNvPr>
          <p:cNvSpPr txBox="1"/>
          <p:nvPr/>
        </p:nvSpPr>
        <p:spPr>
          <a:xfrm>
            <a:off x="3282043" y="4905330"/>
            <a:ext cx="67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Baumard</a:t>
            </a:r>
            <a:r>
              <a:rPr lang="en-US" sz="1200" dirty="0"/>
              <a:t>, N., Safra, L., Martins, M., &amp; Chevallier, C. (2024). Cognitive fossils: using cultural artifacts to reconstruct psychological changes throughout history. </a:t>
            </a:r>
            <a:r>
              <a:rPr lang="en-US" sz="1200" i="1" dirty="0"/>
              <a:t>Trends in Cognitive Sciences</a:t>
            </a:r>
            <a:r>
              <a:rPr lang="en-US" sz="1200" dirty="0"/>
              <a:t>, </a:t>
            </a:r>
            <a:r>
              <a:rPr lang="en-US" sz="1200" i="1" dirty="0"/>
              <a:t>28</a:t>
            </a:r>
            <a:r>
              <a:rPr lang="en-US" sz="1200" dirty="0"/>
              <a:t>(2), 172-186.</a:t>
            </a:r>
          </a:p>
        </p:txBody>
      </p:sp>
    </p:spTree>
    <p:extLst>
      <p:ext uri="{BB962C8B-B14F-4D97-AF65-F5344CB8AC3E}">
        <p14:creationId xmlns:p14="http://schemas.microsoft.com/office/powerpoint/2010/main" val="201194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ing Men: A Century of Male Relationships in Everyday American ...">
            <a:extLst>
              <a:ext uri="{FF2B5EF4-FFF2-40B4-BE49-F238E27FC236}">
                <a16:creationId xmlns:a16="http://schemas.microsoft.com/office/drawing/2014/main" id="{00204839-0A5D-B0F1-CD5A-573F35AE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7" y="1235237"/>
            <a:ext cx="2583344" cy="3787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508B7-9605-AA97-236D-7E12678B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59" y="1339774"/>
            <a:ext cx="2439547" cy="3552738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2BD4CA57-09F9-CACE-E580-CCD12A010E3D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Histoire de la sexualité - Michel Foucault (en 3 volumes) - Ephesus">
            <a:extLst>
              <a:ext uri="{FF2B5EF4-FFF2-40B4-BE49-F238E27FC236}">
                <a16:creationId xmlns:a16="http://schemas.microsoft.com/office/drawing/2014/main" id="{EF31B97E-73BC-18C1-7BC3-813F7B221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48" y="846250"/>
            <a:ext cx="3191726" cy="42556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50B922-BEE2-8514-20BE-038D9A58623D}"/>
              </a:ext>
            </a:extLst>
          </p:cNvPr>
          <p:cNvSpPr txBox="1"/>
          <p:nvPr/>
        </p:nvSpPr>
        <p:spPr>
          <a:xfrm>
            <a:off x="192347" y="5023140"/>
            <a:ext cx="2264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Ibson, J. (2002). </a:t>
            </a:r>
            <a:r>
              <a:rPr lang="en-US" sz="1050" i="1" dirty="0">
                <a:effectLst/>
              </a:rPr>
              <a:t>Picturing men : a century of male relationships in everyday American photography</a:t>
            </a:r>
            <a:r>
              <a:rPr lang="en-US" sz="1050" dirty="0"/>
              <a:t>. University of Chicago Press.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37FD2-651C-32AA-F08A-6BB4FB050C3C}"/>
              </a:ext>
            </a:extLst>
          </p:cNvPr>
          <p:cNvSpPr txBox="1"/>
          <p:nvPr/>
        </p:nvSpPr>
        <p:spPr>
          <a:xfrm>
            <a:off x="3527859" y="4901285"/>
            <a:ext cx="2767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El-</a:t>
            </a:r>
            <a:r>
              <a:rPr lang="en-US" sz="1200" dirty="0" err="1"/>
              <a:t>Rouayheb</a:t>
            </a:r>
            <a:r>
              <a:rPr lang="en-US" sz="1200" dirty="0"/>
              <a:t>, K. (2005). </a:t>
            </a:r>
            <a:r>
              <a:rPr lang="en-US" sz="1200" i="1" dirty="0">
                <a:effectLst/>
              </a:rPr>
              <a:t>Before homosexuality in the Arab-Islamic world, 1500-1800</a:t>
            </a:r>
            <a:r>
              <a:rPr lang="en-US" sz="1200" dirty="0"/>
              <a:t> (Paperback edition). University of Chicago Press.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F7786-E5CD-F359-5D75-6E6BDF190A01}"/>
              </a:ext>
            </a:extLst>
          </p:cNvPr>
          <p:cNvSpPr txBox="1"/>
          <p:nvPr/>
        </p:nvSpPr>
        <p:spPr>
          <a:xfrm>
            <a:off x="6733496" y="5177028"/>
            <a:ext cx="25003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Foucault, M. (1976). </a:t>
            </a:r>
            <a:r>
              <a:rPr lang="en-US" sz="1100" i="1" dirty="0"/>
              <a:t>Histoire de la </a:t>
            </a:r>
            <a:r>
              <a:rPr lang="en-US" sz="1100" i="1" dirty="0" err="1"/>
              <a:t>sexualité</a:t>
            </a:r>
            <a:r>
              <a:rPr lang="en-US" sz="1100" i="1" dirty="0"/>
              <a:t>, I: La </a:t>
            </a:r>
            <a:r>
              <a:rPr lang="en-US" sz="1100" i="1" dirty="0" err="1"/>
              <a:t>volonté</a:t>
            </a:r>
            <a:r>
              <a:rPr lang="en-US" sz="1100" i="1" dirty="0"/>
              <a:t> de savoir</a:t>
            </a:r>
            <a:endParaRPr lang="en-US" sz="1100" dirty="0"/>
          </a:p>
        </p:txBody>
      </p:sp>
      <p:sp>
        <p:nvSpPr>
          <p:cNvPr id="18" name="ZoneTexte 29">
            <a:extLst>
              <a:ext uri="{FF2B5EF4-FFF2-40B4-BE49-F238E27FC236}">
                <a16:creationId xmlns:a16="http://schemas.microsoft.com/office/drawing/2014/main" id="{11931A30-CA86-4490-29B7-942C0487547B}"/>
              </a:ext>
            </a:extLst>
          </p:cNvPr>
          <p:cNvSpPr/>
          <p:nvPr/>
        </p:nvSpPr>
        <p:spPr>
          <a:xfrm>
            <a:off x="0" y="539824"/>
            <a:ext cx="5788479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« 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Homosexuality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 » as a distinct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identity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strictly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codified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classification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recent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(and Western)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77118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6F9E0-148F-8CFB-1B37-3C7BCAEC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667" y="1353595"/>
            <a:ext cx="5578323" cy="3093988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250D90D6-3E15-6DEE-183B-4740E6C928D4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EC067-633E-DD32-26D8-6675559F497D}"/>
              </a:ext>
            </a:extLst>
          </p:cNvPr>
          <p:cNvSpPr txBox="1"/>
          <p:nvPr/>
        </p:nvSpPr>
        <p:spPr>
          <a:xfrm>
            <a:off x="4814888" y="5162602"/>
            <a:ext cx="50741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Thompson, E. P. (1967). Time, work-discipline, and industrial capitalism. </a:t>
            </a:r>
            <a:r>
              <a:rPr lang="en-US" sz="1100" i="1" dirty="0"/>
              <a:t>Past &amp; Present, 38</a:t>
            </a:r>
            <a:r>
              <a:rPr lang="en-US" sz="1100" dirty="0"/>
              <a:t>(1), 56–97.</a:t>
            </a: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5175D674-6442-2754-EA38-8F24CC98A2F7}"/>
              </a:ext>
            </a:extLst>
          </p:cNvPr>
          <p:cNvSpPr/>
          <p:nvPr/>
        </p:nvSpPr>
        <p:spPr>
          <a:xfrm>
            <a:off x="0" y="1353595"/>
            <a:ext cx="4106635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Ideas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time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seem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natural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us (e.g. 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work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/free time distinction;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idea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tied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currency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as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wage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per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hour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whole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apparatus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devices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: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clocks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timesheets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calendars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; the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ethic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of time discipline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punctuality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…)… are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fact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modern constructions in the West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7742A6F4-3A8D-A17A-6627-84068A0CF9C8}"/>
              </a:ext>
            </a:extLst>
          </p:cNvPr>
          <p:cNvSpPr/>
          <p:nvPr/>
        </p:nvSpPr>
        <p:spPr>
          <a:xfrm>
            <a:off x="-1" y="4032811"/>
            <a:ext cx="4106635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They have to do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economic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shifts (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here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typical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Marxist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materialist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economicist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explanation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31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CF62482B-5514-7FB4-7AE3-93D40CDDAB7E}"/>
              </a:ext>
            </a:extLst>
          </p:cNvPr>
          <p:cNvSpPr/>
          <p:nvPr/>
        </p:nvSpPr>
        <p:spPr>
          <a:xfrm>
            <a:off x="-1" y="2374131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When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social science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always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good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read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over the « long durée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594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2DE2-CFC4-E8ED-EF3C-3C4DF0F8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AFF3F90B-1307-1CBC-4A39-3F560D147CAA}"/>
              </a:ext>
            </a:extLst>
          </p:cNvPr>
          <p:cNvSpPr/>
          <p:nvPr/>
        </p:nvSpPr>
        <p:spPr>
          <a:xfrm>
            <a:off x="0" y="150222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I) Skill 1: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155951F-9716-C70C-BBF6-2A52B86C192A}"/>
              </a:ext>
            </a:extLst>
          </p:cNvPr>
          <p:cNvSpPr/>
          <p:nvPr/>
        </p:nvSpPr>
        <p:spPr>
          <a:xfrm>
            <a:off x="0" y="1900884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82DA9CBC-0E2B-03D9-70E7-93202C24AF6F}"/>
              </a:ext>
            </a:extLst>
          </p:cNvPr>
          <p:cNvSpPr/>
          <p:nvPr/>
        </p:nvSpPr>
        <p:spPr>
          <a:xfrm>
            <a:off x="0" y="22995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Cross-cultural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comparison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anthropology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EEC6A806-31FB-53FC-24A8-75F42A61741B}"/>
              </a:ext>
            </a:extLst>
          </p:cNvPr>
          <p:cNvSpPr/>
          <p:nvPr/>
        </p:nvSpPr>
        <p:spPr>
          <a:xfrm>
            <a:off x="0" y="270583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C) Critical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« dévoilement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42585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105AF78A-266D-B384-D43A-307671A5E81E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wonder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through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dirty="0" err="1">
                <a:solidFill>
                  <a:schemeClr val="dk1"/>
                </a:solidFill>
                <a:latin typeface="Avenir Next LT Pro"/>
              </a:rPr>
              <a:t>anthropology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BF248-77FC-AE13-5427-17377988DF20}"/>
              </a:ext>
            </a:extLst>
          </p:cNvPr>
          <p:cNvSpPr txBox="1"/>
          <p:nvPr/>
        </p:nvSpPr>
        <p:spPr>
          <a:xfrm>
            <a:off x="5006523" y="5131824"/>
            <a:ext cx="5074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Mead, M. (1935). </a:t>
            </a:r>
            <a:r>
              <a:rPr lang="en-US" sz="1200" i="1" dirty="0"/>
              <a:t>Sex and temperament in three primitive societies</a:t>
            </a:r>
            <a:r>
              <a:rPr lang="en-US" sz="1200" dirty="0"/>
              <a:t>. William Morrow.</a:t>
            </a:r>
          </a:p>
        </p:txBody>
      </p:sp>
      <p:pic>
        <p:nvPicPr>
          <p:cNvPr id="9" name="Picture 8" descr="Amazon.com: Sex and Temperament: 9780688060169: Mead, Margaret: Books">
            <a:extLst>
              <a:ext uri="{FF2B5EF4-FFF2-40B4-BE49-F238E27FC236}">
                <a16:creationId xmlns:a16="http://schemas.microsoft.com/office/drawing/2014/main" id="{7B04D72D-60E8-336F-CA74-6EE97C592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42" y="1673044"/>
            <a:ext cx="2479446" cy="3773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B42D8A-2214-C86F-8B46-31B6B0E57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59" y="1987926"/>
            <a:ext cx="4940412" cy="3143898"/>
          </a:xfrm>
          <a:prstGeom prst="rect">
            <a:avLst/>
          </a:prstGeom>
        </p:spPr>
      </p:pic>
      <p:sp>
        <p:nvSpPr>
          <p:cNvPr id="14" name="ZoneTexte 29">
            <a:extLst>
              <a:ext uri="{FF2B5EF4-FFF2-40B4-BE49-F238E27FC236}">
                <a16:creationId xmlns:a16="http://schemas.microsoft.com/office/drawing/2014/main" id="{AAA5CA4D-03D8-6FD8-C615-9B57FE2B9C0D}"/>
              </a:ext>
            </a:extLst>
          </p:cNvPr>
          <p:cNvSpPr/>
          <p:nvPr/>
        </p:nvSpPr>
        <p:spPr>
          <a:xfrm>
            <a:off x="-1" y="782719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In an participant observation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three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New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Guinea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small-scale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societies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Mead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observed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striking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differences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gender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norms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62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DDA1B-C0A7-4A20-7FF4-D3708607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62"/>
            <a:ext cx="5167431" cy="3640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5DB09-7B84-0FBF-76BA-98463C5A0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604" y="2801647"/>
            <a:ext cx="4202512" cy="2796253"/>
          </a:xfrm>
          <a:prstGeom prst="rect">
            <a:avLst/>
          </a:prstGeom>
        </p:spPr>
      </p:pic>
      <p:pic>
        <p:nvPicPr>
          <p:cNvPr id="8" name="Picture 7" descr="The Hadza People: Tanzania's Ancient Hunter-Gatherer Tribe - Mawe Lodges">
            <a:extLst>
              <a:ext uri="{FF2B5EF4-FFF2-40B4-BE49-F238E27FC236}">
                <a16:creationId xmlns:a16="http://schemas.microsoft.com/office/drawing/2014/main" id="{7BF38230-CF49-A06A-CADB-210EB34A0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240" y="334119"/>
            <a:ext cx="3646038" cy="24283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3E703-3403-B98C-F201-536BE221BAC2}"/>
              </a:ext>
            </a:extLst>
          </p:cNvPr>
          <p:cNvSpPr txBox="1"/>
          <p:nvPr/>
        </p:nvSpPr>
        <p:spPr>
          <a:xfrm>
            <a:off x="62824" y="4742924"/>
            <a:ext cx="50417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Raichlen, D. A., Pontzer, H., </a:t>
            </a:r>
            <a:r>
              <a:rPr lang="en-US" sz="1050" dirty="0" err="1"/>
              <a:t>Zderic</a:t>
            </a:r>
            <a:r>
              <a:rPr lang="en-US" sz="1050" dirty="0"/>
              <a:t>, T. W., Harris, J. A., </a:t>
            </a:r>
            <a:r>
              <a:rPr lang="en-US" sz="1050" dirty="0" err="1"/>
              <a:t>Mabulla</a:t>
            </a:r>
            <a:r>
              <a:rPr lang="en-US" sz="1050" dirty="0"/>
              <a:t>, A. Z. P., Hamilton, M. T., &amp; Wood, B. M. (2020). Sitting, squatting, and the evolutionary biology of human inactivity. </a:t>
            </a:r>
            <a:r>
              <a:rPr lang="en-US" sz="1050" i="1" dirty="0"/>
              <a:t>Proceedings of the National Academy of Sciences, 117</a:t>
            </a:r>
            <a:r>
              <a:rPr lang="en-US" sz="1050" dirty="0"/>
              <a:t>(13), 7115–7121. </a:t>
            </a:r>
            <a:r>
              <a:rPr lang="en-US" sz="1050" dirty="0">
                <a:hlinkClick r:id="rId5"/>
              </a:rPr>
              <a:t>https://doi.org/10.1073/pnas.1911868117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991179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F5C58-828E-ED8B-D585-68731406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5" y="713236"/>
            <a:ext cx="2983365" cy="4244077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DF0D4E1A-2D3D-FB12-1722-D78BAEBE3322}"/>
              </a:ext>
            </a:extLst>
          </p:cNvPr>
          <p:cNvSpPr/>
          <p:nvPr/>
        </p:nvSpPr>
        <p:spPr>
          <a:xfrm>
            <a:off x="3964895" y="15294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Extensive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prosociality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strangers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F46F1BC4-CAEB-8AC5-305E-AFAD4F33CED4}"/>
              </a:ext>
            </a:extLst>
          </p:cNvPr>
          <p:cNvSpPr/>
          <p:nvPr/>
        </p:nvSpPr>
        <p:spPr>
          <a:xfrm>
            <a:off x="3964895" y="18899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Cooperative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breeding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low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inter-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breeding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interval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(IBI)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B0DD3A31-7EFA-76CB-5AF4-762D8C928CA9}"/>
              </a:ext>
            </a:extLst>
          </p:cNvPr>
          <p:cNvSpPr/>
          <p:nvPr/>
        </p:nvSpPr>
        <p:spPr>
          <a:xfrm>
            <a:off x="3964895" y="2266679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Fairness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intuitions? Culture?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C23C8B48-B262-A80F-CC8B-1FCB25512A53}"/>
              </a:ext>
            </a:extLst>
          </p:cNvPr>
          <p:cNvSpPr/>
          <p:nvPr/>
        </p:nvSpPr>
        <p:spPr>
          <a:xfrm>
            <a:off x="3573009" y="1145586"/>
            <a:ext cx="649650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Difference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between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humans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closest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apes…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2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A2477937-B4FC-176E-1038-910C5DC495D9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2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8026C39-1AFA-BFDB-F33C-97AAD2C3BBC4}"/>
              </a:ext>
            </a:extLst>
          </p:cNvPr>
          <p:cNvSpPr/>
          <p:nvPr/>
        </p:nvSpPr>
        <p:spPr>
          <a:xfrm>
            <a:off x="175340" y="2085476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Love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50BFB973-6103-7B61-FAEF-F0BE923DF30A}"/>
              </a:ext>
            </a:extLst>
          </p:cNvPr>
          <p:cNvSpPr/>
          <p:nvPr/>
        </p:nvSpPr>
        <p:spPr>
          <a:xfrm>
            <a:off x="2083062" y="2085476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First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names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AC2DC999-EEC2-7D06-3682-6810D43A89C1}"/>
              </a:ext>
            </a:extLst>
          </p:cNvPr>
          <p:cNvSpPr/>
          <p:nvPr/>
        </p:nvSpPr>
        <p:spPr>
          <a:xfrm>
            <a:off x="4475527" y="2085474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Artistic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64B7C408-157D-EF9A-EF74-EB8AA78CC9AA}"/>
              </a:ext>
            </a:extLst>
          </p:cNvPr>
          <p:cNvSpPr/>
          <p:nvPr/>
        </p:nvSpPr>
        <p:spPr>
          <a:xfrm>
            <a:off x="6867991" y="2085474"/>
            <a:ext cx="287720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Disgust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8EC3C679-4BEE-F19A-15AC-C9AC08508185}"/>
              </a:ext>
            </a:extLst>
          </p:cNvPr>
          <p:cNvSpPr/>
          <p:nvPr/>
        </p:nvSpPr>
        <p:spPr>
          <a:xfrm>
            <a:off x="0" y="3330790"/>
            <a:ext cx="10080625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This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list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of feelings or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feel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intimate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personal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.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Choose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one, and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take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 few moments to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think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about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whether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they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objects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of social science. If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, propose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ways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which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you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study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b="1" dirty="0" err="1">
                <a:solidFill>
                  <a:schemeClr val="dk1"/>
                </a:solidFill>
                <a:latin typeface="Avenir Next LT Pro"/>
              </a:rPr>
              <a:t>them</a:t>
            </a:r>
            <a:r>
              <a:rPr lang="fr-MA" sz="1600" b="1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82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BF476-68F4-F4BC-E810-185700AC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E099933-C7C3-DF05-0923-71EB601B68FA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2: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ED539ECA-98E8-9373-82AA-A57905F8F410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identify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social patterns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underlying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apparently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intimate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or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isolated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facts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69834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98A72321-6A23-8E27-7218-D5BD3FA7E011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0448FC12-FAE1-23C4-59F6-1785BD773BF1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AFAF1121-9F6A-3F19-2451-B46C741C05B5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4D781606-5449-7919-EDF7-2D3167F67300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4470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e suicide | PUF">
            <a:extLst>
              <a:ext uri="{FF2B5EF4-FFF2-40B4-BE49-F238E27FC236}">
                <a16:creationId xmlns:a16="http://schemas.microsoft.com/office/drawing/2014/main" id="{F265EF0B-D1B9-1F2C-E683-B642D599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421" y="1281793"/>
            <a:ext cx="2573431" cy="3909008"/>
          </a:xfrm>
          <a:prstGeom prst="rect">
            <a:avLst/>
          </a:prstGeom>
        </p:spPr>
      </p:pic>
      <p:sp>
        <p:nvSpPr>
          <p:cNvPr id="3" name="ZoneTexte 29">
            <a:extLst>
              <a:ext uri="{FF2B5EF4-FFF2-40B4-BE49-F238E27FC236}">
                <a16:creationId xmlns:a16="http://schemas.microsoft.com/office/drawing/2014/main" id="{C907D7F0-2E62-9441-29BF-46A4D55CA00A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suicide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ZoneTexte 29">
            <a:extLst>
              <a:ext uri="{FF2B5EF4-FFF2-40B4-BE49-F238E27FC236}">
                <a16:creationId xmlns:a16="http://schemas.microsoft.com/office/drawing/2014/main" id="{2F4322C8-A80C-BCB4-0224-32757AD0CC56}"/>
              </a:ext>
            </a:extLst>
          </p:cNvPr>
          <p:cNvSpPr/>
          <p:nvPr/>
        </p:nvSpPr>
        <p:spPr>
          <a:xfrm>
            <a:off x="-1" y="782719"/>
            <a:ext cx="10080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dirty="0">
                <a:solidFill>
                  <a:schemeClr val="dk1"/>
                </a:solidFill>
                <a:latin typeface="Avenir Next LT Pro"/>
              </a:rPr>
              <a:t>Suicide, an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intimate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psychological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taboo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…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exhibits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striking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regularities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and patterns!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EF80FA-1C91-F960-9A96-AAF6863A7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42" y="3295906"/>
            <a:ext cx="3408911" cy="2374643"/>
          </a:xfrm>
          <a:prstGeom prst="rect">
            <a:avLst/>
          </a:prstGeom>
        </p:spPr>
      </p:pic>
      <p:sp>
        <p:nvSpPr>
          <p:cNvPr id="12" name="ZoneTexte 29">
            <a:extLst>
              <a:ext uri="{FF2B5EF4-FFF2-40B4-BE49-F238E27FC236}">
                <a16:creationId xmlns:a16="http://schemas.microsoft.com/office/drawing/2014/main" id="{D73E55D8-EFD9-DFCB-9124-FE38FB537DCC}"/>
              </a:ext>
            </a:extLst>
          </p:cNvPr>
          <p:cNvSpPr/>
          <p:nvPr/>
        </p:nvSpPr>
        <p:spPr>
          <a:xfrm>
            <a:off x="-1" y="1426822"/>
            <a:ext cx="610688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Social patterns are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justify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as a discipline, in addition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psychology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!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Psychologists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suicide,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sociologists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study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the « suicide rate »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3477C91C-0B39-5604-2EDF-D9C325130134}"/>
              </a:ext>
            </a:extLst>
          </p:cNvPr>
          <p:cNvSpPr/>
          <p:nvPr/>
        </p:nvSpPr>
        <p:spPr>
          <a:xfrm>
            <a:off x="0" y="2484475"/>
            <a:ext cx="6106888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Quantitative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methods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historicall</a:t>
            </a:r>
            <a:r>
              <a:rPr lang="fr-MA" sz="16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1600" dirty="0">
                <a:solidFill>
                  <a:schemeClr val="dk1"/>
                </a:solidFill>
                <a:latin typeface="Avenir Next LT Pro"/>
              </a:rPr>
              <a:t> central in social science!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91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9CDB-C8DF-23F6-A05A-9A10271D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551BA9C3-C322-FFC7-349D-6D0994EBA5EC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9428E6ED-9ABC-9B24-2E13-F8C3EEDA086F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D8395C80-8D13-85C3-CF9E-0DD8A88CE06B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b="1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92445D70-3C9D-CE65-F08E-27B2C47DC6C3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95622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B92498-7390-79D2-F098-B5F22C06FAF2}"/>
              </a:ext>
            </a:extLst>
          </p:cNvPr>
          <p:cNvSpPr txBox="1"/>
          <p:nvPr/>
        </p:nvSpPr>
        <p:spPr>
          <a:xfrm>
            <a:off x="5223103" y="5048161"/>
            <a:ext cx="5074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Elias, N. (2000). </a:t>
            </a:r>
            <a:r>
              <a:rPr lang="en-US" sz="1100" i="1" dirty="0"/>
              <a:t>The civilizing process: Sociogenetic and psychogenetic investigations</a:t>
            </a:r>
            <a:r>
              <a:rPr lang="en-US" sz="1100" dirty="0"/>
              <a:t> (E. </a:t>
            </a:r>
            <a:r>
              <a:rPr lang="en-US" sz="1100" dirty="0" err="1"/>
              <a:t>Jephcott</a:t>
            </a:r>
            <a:r>
              <a:rPr lang="en-US" sz="1100" dirty="0"/>
              <a:t>, Trans.; Rev. ed.). Blackwell. (Original work published 1939)</a:t>
            </a:r>
          </a:p>
        </p:txBody>
      </p:sp>
      <p:pic>
        <p:nvPicPr>
          <p:cNvPr id="7" name="Picture 6" descr="Civilizing Process: Amazon.co.uk: Elias, Norbert: 9780631192220: Books">
            <a:extLst>
              <a:ext uri="{FF2B5EF4-FFF2-40B4-BE49-F238E27FC236}">
                <a16:creationId xmlns:a16="http://schemas.microsoft.com/office/drawing/2014/main" id="{E3AC7AFF-2C43-246A-4218-34F407CEC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43" y="2345418"/>
            <a:ext cx="1482634" cy="2212886"/>
          </a:xfrm>
          <a:prstGeom prst="rect">
            <a:avLst/>
          </a:prstGeom>
        </p:spPr>
      </p:pic>
      <p:pic>
        <p:nvPicPr>
          <p:cNvPr id="9" name="Picture 8" descr="Amazon.fr - La Civilisation des moeurs, nouvelle édition - Elias, Norbert,  Kamnitzer, Pierre - Livres">
            <a:extLst>
              <a:ext uri="{FF2B5EF4-FFF2-40B4-BE49-F238E27FC236}">
                <a16:creationId xmlns:a16="http://schemas.microsoft.com/office/drawing/2014/main" id="{72C3580C-F899-C77C-3DD9-CF3ABDE30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104" y="2391413"/>
            <a:ext cx="1444330" cy="2120895"/>
          </a:xfrm>
          <a:prstGeom prst="rect">
            <a:avLst/>
          </a:prstGeom>
        </p:spPr>
      </p:pic>
      <p:sp>
        <p:nvSpPr>
          <p:cNvPr id="11" name="ZoneTexte 29">
            <a:extLst>
              <a:ext uri="{FF2B5EF4-FFF2-40B4-BE49-F238E27FC236}">
                <a16:creationId xmlns:a16="http://schemas.microsoft.com/office/drawing/2014/main" id="{01C24784-A5C7-363A-CA76-A19D9453EFA5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bodily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behavior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manners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2306E5A9-9475-B9F2-2880-9521E30629B0}"/>
              </a:ext>
            </a:extLst>
          </p:cNvPr>
          <p:cNvSpPr/>
          <p:nvPr/>
        </p:nvSpPr>
        <p:spPr>
          <a:xfrm>
            <a:off x="-1" y="782719"/>
            <a:ext cx="10080625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Disgust </a:t>
            </a:r>
            <a:r>
              <a:rPr lang="en-US" sz="1600" i="1" dirty="0"/>
              <a:t>feels</a:t>
            </a:r>
            <a:r>
              <a:rPr lang="en-US" sz="1600" dirty="0"/>
              <a:t> biological, automatic, timeless, and triggered by specific behaviors: spitting, blowing your nose in your hand, eating from a shared dish, bodily functions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1A088AC7-D35D-AEDB-36B5-BD68D36418CD}"/>
              </a:ext>
            </a:extLst>
          </p:cNvPr>
          <p:cNvSpPr/>
          <p:nvPr/>
        </p:nvSpPr>
        <p:spPr>
          <a:xfrm>
            <a:off x="-2" y="1441795"/>
            <a:ext cx="10080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Elias studied etiquette manuals from the Middle Ages onward (16</a:t>
            </a:r>
            <a:r>
              <a:rPr lang="en-US" sz="1600" baseline="30000" dirty="0"/>
              <a:t>th</a:t>
            </a:r>
            <a:r>
              <a:rPr lang="en-US" sz="1600" dirty="0"/>
              <a:t> century onwards)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7870488C-9981-40ED-BD76-A24CDDF49574}"/>
              </a:ext>
            </a:extLst>
          </p:cNvPr>
          <p:cNvSpPr/>
          <p:nvPr/>
        </p:nvSpPr>
        <p:spPr>
          <a:xfrm>
            <a:off x="1" y="1977648"/>
            <a:ext cx="587828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Demonstrates a major transition from low self-restraint in behavior (e.g. it was normal to blow one’s nose in the tablecloth, spit under the table, exert bodily functions, be aggressive while eating…) to more “refinement” and self-restraint: using forks and plates, “behaving” at the table…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CA13D7D3-4347-FDDB-C2A6-9C0ADA14D094}"/>
              </a:ext>
            </a:extLst>
          </p:cNvPr>
          <p:cNvSpPr/>
          <p:nvPr/>
        </p:nvSpPr>
        <p:spPr>
          <a:xfrm>
            <a:off x="-2" y="3496844"/>
            <a:ext cx="587828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He links this to the mutations of the state and elites: as European kingdoms expanded and stabilized, warfare became less important; aristocrats spent more time in the court than in war, resulting in values that value restraint more and </a:t>
            </a:r>
            <a:r>
              <a:rPr lang="en-US" sz="1600" dirty="0" err="1"/>
              <a:t>impulsitivity</a:t>
            </a:r>
            <a:r>
              <a:rPr lang="en-US" sz="1600" dirty="0"/>
              <a:t> less</a:t>
            </a:r>
            <a:endParaRPr lang="fr-FR" sz="1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09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76EE-E31D-5C57-43EA-5C55B815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29">
            <a:extLst>
              <a:ext uri="{FF2B5EF4-FFF2-40B4-BE49-F238E27FC236}">
                <a16:creationId xmlns:a16="http://schemas.microsoft.com/office/drawing/2014/main" id="{9506870F-60FD-44E1-48F7-28C85E52E62E}"/>
              </a:ext>
            </a:extLst>
          </p:cNvPr>
          <p:cNvSpPr/>
          <p:nvPr/>
        </p:nvSpPr>
        <p:spPr>
          <a:xfrm>
            <a:off x="2" y="187871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II) Skill 2: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social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everywhere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6FE658BE-FD33-C8C0-EABC-5115B74B1746}"/>
              </a:ext>
            </a:extLst>
          </p:cNvPr>
          <p:cNvSpPr/>
          <p:nvPr/>
        </p:nvSpPr>
        <p:spPr>
          <a:xfrm>
            <a:off x="1" y="23330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paradigmatic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case: suicide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20D470F9-280B-6DC6-0DA9-5038B4FEA8F1}"/>
              </a:ext>
            </a:extLst>
          </p:cNvPr>
          <p:cNvSpPr/>
          <p:nvPr/>
        </p:nvSpPr>
        <p:spPr>
          <a:xfrm>
            <a:off x="2" y="27393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B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body (sociologie du corps)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4CDF6112-941A-4435-7A8A-C85677D0FCBB}"/>
              </a:ext>
            </a:extLst>
          </p:cNvPr>
          <p:cNvSpPr/>
          <p:nvPr/>
        </p:nvSpPr>
        <p:spPr>
          <a:xfrm>
            <a:off x="2" y="3193711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C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cultural taste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32418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1F4D62-106B-8186-E854-EF2C25D7EC9C}"/>
              </a:ext>
            </a:extLst>
          </p:cNvPr>
          <p:cNvSpPr txBox="1"/>
          <p:nvPr/>
        </p:nvSpPr>
        <p:spPr>
          <a:xfrm>
            <a:off x="5337570" y="5019042"/>
            <a:ext cx="5041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Bourdieu, P. (1979). </a:t>
            </a:r>
            <a:r>
              <a:rPr lang="en-US" sz="1400" i="1" dirty="0"/>
              <a:t>La distinction: Critique </a:t>
            </a:r>
            <a:r>
              <a:rPr lang="en-US" sz="1400" i="1" dirty="0" err="1"/>
              <a:t>sociale</a:t>
            </a:r>
            <a:r>
              <a:rPr lang="en-US" sz="1400" i="1" dirty="0"/>
              <a:t> du </a:t>
            </a:r>
            <a:r>
              <a:rPr lang="en-US" sz="1400" i="1" dirty="0" err="1"/>
              <a:t>jugement</a:t>
            </a:r>
            <a:r>
              <a:rPr lang="en-US" sz="1400" dirty="0"/>
              <a:t>. Éditions de Minuit.</a:t>
            </a:r>
          </a:p>
        </p:txBody>
      </p:sp>
      <p:pic>
        <p:nvPicPr>
          <p:cNvPr id="7" name="Picture 6" descr="Amazon.com: Distinction: 9782707302755: Bourdieu, Pierre: Books">
            <a:extLst>
              <a:ext uri="{FF2B5EF4-FFF2-40B4-BE49-F238E27FC236}">
                <a16:creationId xmlns:a16="http://schemas.microsoft.com/office/drawing/2014/main" id="{DB0C85FD-4086-5357-D48B-C9A8457F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55" y="480672"/>
            <a:ext cx="2613211" cy="4255635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D2418503-163B-9EA3-DA77-03C3A6CCDBA2}"/>
              </a:ext>
            </a:extLst>
          </p:cNvPr>
          <p:cNvSpPr/>
          <p:nvPr/>
        </p:nvSpPr>
        <p:spPr>
          <a:xfrm>
            <a:off x="0" y="758451"/>
            <a:ext cx="667022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According to Bourdieu, tastes are not individual, and they’re not about aesthetics: they are socially constructed, and act as social weapons for social reproduction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8999BFED-0B6D-CEF5-C4E4-2E449DCD99F7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Picture 11" descr="La Socialisation Selon Bourdieu - BZLU">
            <a:extLst>
              <a:ext uri="{FF2B5EF4-FFF2-40B4-BE49-F238E27FC236}">
                <a16:creationId xmlns:a16="http://schemas.microsoft.com/office/drawing/2014/main" id="{8994DB12-6737-1F1B-2D3B-D9D4D565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1" y="2040364"/>
            <a:ext cx="3374511" cy="334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904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0141-505C-0E65-5163-DAEE2D2F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44994C-5A5B-67BF-55E0-6DE42714B2FB}"/>
              </a:ext>
            </a:extLst>
          </p:cNvPr>
          <p:cNvSpPr txBox="1"/>
          <p:nvPr/>
        </p:nvSpPr>
        <p:spPr>
          <a:xfrm>
            <a:off x="5337570" y="5019042"/>
            <a:ext cx="5041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Bourdieu, P. (1979). </a:t>
            </a:r>
            <a:r>
              <a:rPr lang="en-US" sz="1400" i="1" dirty="0"/>
              <a:t>La distinction: Critique </a:t>
            </a:r>
            <a:r>
              <a:rPr lang="en-US" sz="1400" i="1" dirty="0" err="1"/>
              <a:t>sociale</a:t>
            </a:r>
            <a:r>
              <a:rPr lang="en-US" sz="1400" i="1" dirty="0"/>
              <a:t> du </a:t>
            </a:r>
            <a:r>
              <a:rPr lang="en-US" sz="1400" i="1" dirty="0" err="1"/>
              <a:t>jugement</a:t>
            </a:r>
            <a:r>
              <a:rPr lang="en-US" sz="1400" dirty="0"/>
              <a:t>. Éditions de Minuit.</a:t>
            </a:r>
          </a:p>
        </p:txBody>
      </p:sp>
      <p:pic>
        <p:nvPicPr>
          <p:cNvPr id="7" name="Picture 6" descr="Amazon.com: Distinction: 9782707302755: Bourdieu, Pierre: Books">
            <a:extLst>
              <a:ext uri="{FF2B5EF4-FFF2-40B4-BE49-F238E27FC236}">
                <a16:creationId xmlns:a16="http://schemas.microsoft.com/office/drawing/2014/main" id="{8FA03CC3-E99A-8068-2C9C-DCBE1E95A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55" y="480672"/>
            <a:ext cx="2613211" cy="4255635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2837D6C0-6D89-F314-5BF0-732EAFA7C1AB}"/>
              </a:ext>
            </a:extLst>
          </p:cNvPr>
          <p:cNvSpPr/>
          <p:nvPr/>
        </p:nvSpPr>
        <p:spPr>
          <a:xfrm>
            <a:off x="0" y="758451"/>
            <a:ext cx="667022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According to Bourdieu, tastes are not individual, and they’re not about aesthetics: they are socially constructed, and act as social weapons for social reproduction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31723864-1EEB-18F4-9E9A-3B72055B79E3}"/>
              </a:ext>
            </a:extLst>
          </p:cNvPr>
          <p:cNvSpPr/>
          <p:nvPr/>
        </p:nvSpPr>
        <p:spPr>
          <a:xfrm>
            <a:off x="0" y="77061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social patterns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behind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tastes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9">
            <a:extLst>
              <a:ext uri="{FF2B5EF4-FFF2-40B4-BE49-F238E27FC236}">
                <a16:creationId xmlns:a16="http://schemas.microsoft.com/office/drawing/2014/main" id="{DA0750AD-2F57-B85D-C6D4-3B834A2ABD24}"/>
              </a:ext>
            </a:extLst>
          </p:cNvPr>
          <p:cNvSpPr/>
          <p:nvPr/>
        </p:nvSpPr>
        <p:spPr>
          <a:xfrm>
            <a:off x="0" y="2085975"/>
            <a:ext cx="667022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Tastes are formed early on as “habitus”: an embodied “second nature” by which we see and perceive the world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ZoneTexte 29">
            <a:extLst>
              <a:ext uri="{FF2B5EF4-FFF2-40B4-BE49-F238E27FC236}">
                <a16:creationId xmlns:a16="http://schemas.microsoft.com/office/drawing/2014/main" id="{C0C6FD46-03D4-72ED-EFBE-1FE1D53BC9AF}"/>
              </a:ext>
            </a:extLst>
          </p:cNvPr>
          <p:cNvSpPr/>
          <p:nvPr/>
        </p:nvSpPr>
        <p:spPr>
          <a:xfrm>
            <a:off x="-59183" y="3167277"/>
            <a:ext cx="667022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By acquiring the right taste, the dominant classes maintain and justify their domination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41990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29">
            <a:extLst>
              <a:ext uri="{FF2B5EF4-FFF2-40B4-BE49-F238E27FC236}">
                <a16:creationId xmlns:a16="http://schemas.microsoft.com/office/drawing/2014/main" id="{1244023B-558F-259A-CDEE-288851C99A53}"/>
              </a:ext>
            </a:extLst>
          </p:cNvPr>
          <p:cNvSpPr/>
          <p:nvPr/>
        </p:nvSpPr>
        <p:spPr>
          <a:xfrm>
            <a:off x="0" y="20073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42403728-EF46-6D82-0AD0-C4F4A3A2426E}"/>
              </a:ext>
            </a:extLst>
          </p:cNvPr>
          <p:cNvSpPr/>
          <p:nvPr/>
        </p:nvSpPr>
        <p:spPr>
          <a:xfrm>
            <a:off x="1" y="24136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AA05E5AD-0BD3-6F04-F8B5-7B2AFB7D8B80}"/>
              </a:ext>
            </a:extLst>
          </p:cNvPr>
          <p:cNvSpPr/>
          <p:nvPr/>
        </p:nvSpPr>
        <p:spPr>
          <a:xfrm>
            <a:off x="0" y="280360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7403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2F1C-368A-E0BC-CE5C-54C46742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>
            <a:extLst>
              <a:ext uri="{FF2B5EF4-FFF2-40B4-BE49-F238E27FC236}">
                <a16:creationId xmlns:a16="http://schemas.microsoft.com/office/drawing/2014/main" id="{715447B4-3728-2F23-E0BD-B6F0999D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23" y="156859"/>
            <a:ext cx="9622559" cy="633663"/>
          </a:xfrm>
          <a:prstGeom prst="rect">
            <a:avLst/>
          </a:prstGeom>
          <a:noFill/>
          <a:ln w="0">
            <a:noFill/>
          </a:ln>
        </p:spPr>
        <p:txBody>
          <a:bodyPr lIns="0" tIns="8664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68"/>
              </a:spcBef>
            </a:pPr>
            <a:r>
              <a:rPr lang="fr-FR" sz="4061" b="1" spc="-50">
                <a:solidFill>
                  <a:schemeClr val="dk1"/>
                </a:solidFill>
                <a:latin typeface="Arial"/>
              </a:rPr>
              <a:t>Theoretical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20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>
                <a:solidFill>
                  <a:schemeClr val="dk1"/>
                </a:solidFill>
                <a:latin typeface="Arial"/>
              </a:rPr>
              <a:t>in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18">
                <a:solidFill>
                  <a:schemeClr val="dk1"/>
                </a:solidFill>
                <a:latin typeface="Arial"/>
              </a:rPr>
              <a:t>social</a:t>
            </a:r>
            <a:r>
              <a:rPr lang="fr-FR" sz="4061" b="1" spc="-249">
                <a:solidFill>
                  <a:schemeClr val="dk1"/>
                </a:solidFill>
                <a:latin typeface="Arial"/>
              </a:rPr>
              <a:t> </a:t>
            </a:r>
            <a:r>
              <a:rPr lang="fr-FR" sz="4061" b="1" spc="-167">
                <a:solidFill>
                  <a:schemeClr val="dk1"/>
                </a:solidFill>
                <a:latin typeface="Arial"/>
              </a:rPr>
              <a:t>sciences</a:t>
            </a:r>
            <a:endParaRPr lang="fr-FR" sz="4061"/>
          </a:p>
        </p:txBody>
      </p:sp>
      <p:sp>
        <p:nvSpPr>
          <p:cNvPr id="217" name="object 3">
            <a:extLst>
              <a:ext uri="{FF2B5EF4-FFF2-40B4-BE49-F238E27FC236}">
                <a16:creationId xmlns:a16="http://schemas.microsoft.com/office/drawing/2014/main" id="{E2863D79-441C-802A-AFA0-1C011A28697B}"/>
              </a:ext>
            </a:extLst>
          </p:cNvPr>
          <p:cNvSpPr/>
          <p:nvPr/>
        </p:nvSpPr>
        <p:spPr>
          <a:xfrm>
            <a:off x="306133" y="1219494"/>
            <a:ext cx="9391332" cy="3871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7473" rIns="0" bIns="0" anchor="t">
            <a:spAutoFit/>
          </a:bodyPr>
          <a:lstStyle/>
          <a:p>
            <a:pPr marL="6318">
              <a:lnSpc>
                <a:spcPts val="2612"/>
              </a:lnSpc>
              <a:spcBef>
                <a:spcPts val="374"/>
              </a:spcBef>
            </a:pPr>
            <a:r>
              <a:rPr lang="fr-FR" sz="2407" spc="8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20">
                <a:solidFill>
                  <a:srgbClr val="00AB8E"/>
                </a:solidFill>
                <a:latin typeface="Arial"/>
              </a:rPr>
              <a:t>theoretical</a:t>
            </a:r>
            <a:r>
              <a:rPr lang="fr-FR" sz="2407" b="1" spc="-143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AB8E"/>
                </a:solidFill>
                <a:latin typeface="Arial"/>
              </a:rPr>
              <a:t>paradigm</a:t>
            </a:r>
            <a:r>
              <a:rPr lang="fr-FR" sz="2407" b="1" spc="-141">
                <a:solidFill>
                  <a:srgbClr val="00AB8E"/>
                </a:solidFill>
                <a:latin typeface="Arial"/>
              </a:rPr>
              <a:t> </a:t>
            </a:r>
            <a:r>
              <a:rPr lang="fr-FR" sz="2407" spc="196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7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set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-46">
                <a:solidFill>
                  <a:srgbClr val="000000"/>
                </a:solidFill>
                <a:latin typeface="Arial"/>
              </a:rPr>
              <a:t>core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48">
                <a:solidFill>
                  <a:srgbClr val="000000"/>
                </a:solidFill>
                <a:latin typeface="Arial"/>
              </a:rPr>
              <a:t>hypotheses</a:t>
            </a:r>
            <a:r>
              <a:rPr lang="fr-FR" sz="2407" b="1" spc="-143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3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b="1" spc="33">
                <a:solidFill>
                  <a:srgbClr val="000000"/>
                </a:solidFill>
                <a:latin typeface="Arial"/>
              </a:rPr>
              <a:t>how </a:t>
            </a:r>
            <a:r>
              <a:rPr lang="fr-FR" sz="2407" b="1" spc="-27">
                <a:solidFill>
                  <a:srgbClr val="000000"/>
                </a:solidFill>
                <a:latin typeface="Arial"/>
              </a:rPr>
              <a:t>human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10">
                <a:solidFill>
                  <a:srgbClr val="000000"/>
                </a:solidFill>
                <a:latin typeface="Arial"/>
              </a:rPr>
              <a:t>behaviour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>
                <a:solidFill>
                  <a:srgbClr val="000000"/>
                </a:solidFill>
                <a:latin typeface="Arial"/>
              </a:rPr>
              <a:t>and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-57">
                <a:solidFill>
                  <a:srgbClr val="000000"/>
                </a:solidFill>
                <a:latin typeface="Arial"/>
              </a:rPr>
              <a:t>society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b="1" spc="60">
                <a:solidFill>
                  <a:srgbClr val="000000"/>
                </a:solidFill>
                <a:latin typeface="Arial"/>
              </a:rPr>
              <a:t>work</a:t>
            </a:r>
            <a:r>
              <a:rPr lang="fr-FR" sz="2407" b="1" spc="-145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7" spc="4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2407" spc="-1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general,</a:t>
            </a:r>
            <a:r>
              <a:rPr lang="fr-FR" sz="2407" spc="-2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68">
                <a:solidFill>
                  <a:srgbClr val="000000"/>
                </a:solidFill>
                <a:latin typeface="Arial MT"/>
              </a:rPr>
              <a:t>on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56">
                <a:solidFill>
                  <a:srgbClr val="000000"/>
                </a:solidFill>
                <a:latin typeface="Arial MT"/>
              </a:rPr>
              <a:t>basis</a:t>
            </a:r>
            <a:r>
              <a:rPr lang="fr-FR" sz="2407" spc="-1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5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407" spc="-8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which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we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36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>
                <a:solidFill>
                  <a:srgbClr val="000000"/>
                </a:solidFill>
                <a:latin typeface="Arial MT"/>
              </a:rPr>
              <a:t>generate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23">
                <a:solidFill>
                  <a:srgbClr val="000000"/>
                </a:solidFill>
                <a:latin typeface="Arial MT"/>
              </a:rPr>
              <a:t>hypotheses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85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2407" spc="-13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particular</a:t>
            </a:r>
            <a:r>
              <a:rPr lang="fr-FR" sz="2407" spc="-13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407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2407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23"/>
              </a:spcBef>
            </a:pPr>
            <a:endParaRPr lang="fr-FR" sz="2407">
              <a:solidFill>
                <a:srgbClr val="000000"/>
              </a:solidFill>
              <a:latin typeface="Arial"/>
            </a:endParaRPr>
          </a:p>
          <a:p>
            <a:pPr marL="19133">
              <a:spcBef>
                <a:spcPts val="3"/>
              </a:spcBef>
            </a:pPr>
            <a:r>
              <a:rPr lang="fr-FR" sz="2532" spc="-53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spc="-70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532" spc="-1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532" b="1" spc="-13">
                <a:solidFill>
                  <a:srgbClr val="000000"/>
                </a:solidFill>
                <a:latin typeface="Arial"/>
              </a:rPr>
              <a:t>no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unified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>
                <a:solidFill>
                  <a:srgbClr val="000000"/>
                </a:solidFill>
                <a:latin typeface="Arial"/>
              </a:rPr>
              <a:t>paradigm</a:t>
            </a:r>
            <a:r>
              <a:rPr lang="fr-FR" sz="2532" b="1" spc="-150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in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82">
                <a:solidFill>
                  <a:srgbClr val="000000"/>
                </a:solidFill>
                <a:latin typeface="Arial"/>
              </a:rPr>
              <a:t>social</a:t>
            </a:r>
            <a:r>
              <a:rPr lang="fr-FR" sz="2532" b="1" spc="-153">
                <a:solidFill>
                  <a:srgbClr val="000000"/>
                </a:solidFill>
                <a:latin typeface="Arial"/>
              </a:rPr>
              <a:t> </a:t>
            </a:r>
            <a:r>
              <a:rPr lang="fr-FR" sz="2532" b="1" spc="-6">
                <a:solidFill>
                  <a:srgbClr val="000000"/>
                </a:solidFill>
                <a:latin typeface="Arial"/>
              </a:rPr>
              <a:t>science</a:t>
            </a:r>
            <a:r>
              <a:rPr lang="fr-FR" sz="2532" spc="-6">
                <a:solidFill>
                  <a:srgbClr val="000000"/>
                </a:solidFill>
                <a:latin typeface="Arial MT"/>
              </a:rPr>
              <a:t>.</a:t>
            </a:r>
            <a:endParaRPr lang="fr-FR" sz="2532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4"/>
              </a:spcBef>
            </a:pPr>
            <a:endParaRPr lang="fr-FR" sz="2532">
              <a:solidFill>
                <a:srgbClr val="000000"/>
              </a:solidFill>
              <a:latin typeface="Arial"/>
            </a:endParaRPr>
          </a:p>
          <a:p>
            <a:pPr marL="83393">
              <a:lnSpc>
                <a:spcPts val="2512"/>
              </a:lnSpc>
            </a:pPr>
            <a:r>
              <a:rPr lang="fr-FR" sz="2281" b="1" spc="65">
                <a:solidFill>
                  <a:srgbClr val="000000"/>
                </a:solidFill>
                <a:latin typeface="Arial"/>
              </a:rPr>
              <a:t>It</a:t>
            </a:r>
            <a:r>
              <a:rPr lang="fr-FR" sz="2281" b="1" spc="-131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1">
                <a:solidFill>
                  <a:srgbClr val="000000"/>
                </a:solidFill>
                <a:latin typeface="Arial"/>
              </a:rPr>
              <a:t>is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0">
                <a:solidFill>
                  <a:srgbClr val="000000"/>
                </a:solidFill>
                <a:latin typeface="Arial"/>
              </a:rPr>
              <a:t>common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50">
                <a:solidFill>
                  <a:srgbClr val="000000"/>
                </a:solidFill>
                <a:latin typeface="Arial"/>
              </a:rPr>
              <a:t>to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36">
                <a:solidFill>
                  <a:srgbClr val="000000"/>
                </a:solidFill>
                <a:latin typeface="Arial"/>
              </a:rPr>
              <a:t>distinguish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85">
                <a:solidFill>
                  <a:srgbClr val="000000"/>
                </a:solidFill>
                <a:latin typeface="Arial"/>
              </a:rPr>
              <a:t>two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>
                <a:solidFill>
                  <a:srgbClr val="000000"/>
                </a:solidFill>
                <a:latin typeface="Arial"/>
              </a:rPr>
              <a:t>broad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7">
                <a:solidFill>
                  <a:srgbClr val="000000"/>
                </a:solidFill>
                <a:latin typeface="Arial"/>
              </a:rPr>
              <a:t>‘families’</a:t>
            </a:r>
            <a:r>
              <a:rPr lang="fr-FR" sz="2281" b="1" spc="-12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 b="1" spc="-13">
                <a:solidFill>
                  <a:srgbClr val="000000"/>
                </a:solidFill>
                <a:latin typeface="Arial"/>
              </a:rPr>
              <a:t>of </a:t>
            </a:r>
            <a:r>
              <a:rPr lang="fr-FR" sz="2281" b="1" spc="-16">
                <a:solidFill>
                  <a:srgbClr val="000000"/>
                </a:solidFill>
                <a:latin typeface="Arial"/>
              </a:rPr>
              <a:t>paradigms</a:t>
            </a:r>
            <a:r>
              <a:rPr lang="fr-FR" sz="2281" b="1" spc="-75">
                <a:solidFill>
                  <a:srgbClr val="000000"/>
                </a:solidFill>
                <a:latin typeface="Arial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(although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3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distinction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57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>
                <a:solidFill>
                  <a:srgbClr val="000000"/>
                </a:solidFill>
                <a:latin typeface="Arial MT"/>
              </a:rPr>
              <a:t>somewhat</a:t>
            </a:r>
            <a:r>
              <a:rPr lang="fr-FR" sz="2281" spc="-7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81" spc="-6">
                <a:solidFill>
                  <a:srgbClr val="000000"/>
                </a:solidFill>
                <a:latin typeface="Arial MT"/>
              </a:rPr>
              <a:t>artificial!)</a:t>
            </a:r>
            <a:endParaRPr lang="fr-FR" sz="2281">
              <a:solidFill>
                <a:srgbClr val="000000"/>
              </a:solidFill>
              <a:latin typeface="Arial"/>
            </a:endParaRPr>
          </a:p>
          <a:p>
            <a:pPr marL="921653" indent="-221298">
              <a:spcBef>
                <a:spcPts val="1832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21653" algn="l"/>
              </a:tabLst>
            </a:pPr>
            <a:r>
              <a:rPr lang="fr-FR" sz="1730" spc="53">
                <a:solidFill>
                  <a:srgbClr val="000000"/>
                </a:solidFill>
                <a:latin typeface="Arial MT"/>
              </a:rPr>
              <a:t>“Individualistic”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60">
                <a:solidFill>
                  <a:srgbClr val="000000"/>
                </a:solidFill>
                <a:latin typeface="Arial MT"/>
              </a:rPr>
              <a:t>“agentic</a:t>
            </a:r>
            <a:r>
              <a:rPr lang="fr-FR" sz="1730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0">
                <a:solidFill>
                  <a:srgbClr val="000000"/>
                </a:solidFill>
                <a:latin typeface="Arial MT"/>
              </a:rPr>
              <a:t>approaches”</a:t>
            </a:r>
            <a:endParaRPr lang="fr-FR" sz="1730">
              <a:solidFill>
                <a:srgbClr val="000000"/>
              </a:solidFill>
              <a:latin typeface="Arial"/>
            </a:endParaRPr>
          </a:p>
          <a:p>
            <a:pPr marL="974902" lvl="1" indent="-221298">
              <a:spcBef>
                <a:spcPts val="1815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974902" algn="l"/>
              </a:tabLst>
            </a:pPr>
            <a:r>
              <a:rPr lang="fr-FR" sz="1730" spc="80">
                <a:solidFill>
                  <a:srgbClr val="000000"/>
                </a:solidFill>
                <a:latin typeface="Arial MT"/>
              </a:rPr>
              <a:t>“Holistic”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37">
                <a:solidFill>
                  <a:srgbClr val="000000"/>
                </a:solidFill>
                <a:latin typeface="Arial MT"/>
              </a:rPr>
              <a:t>or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57">
                <a:solidFill>
                  <a:srgbClr val="000000"/>
                </a:solidFill>
                <a:latin typeface="Arial MT"/>
              </a:rPr>
              <a:t>“culturalist”</a:t>
            </a:r>
            <a:r>
              <a:rPr lang="fr-FR" sz="1730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approaches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19884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4FB8-F652-833A-EB07-71AD1806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>
            <a:extLst>
              <a:ext uri="{FF2B5EF4-FFF2-40B4-BE49-F238E27FC236}">
                <a16:creationId xmlns:a16="http://schemas.microsoft.com/office/drawing/2014/main" id="{EEA889F5-9C64-290B-5D96-7F9DF342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134476"/>
            <a:ext cx="9359021" cy="846490"/>
          </a:xfrm>
          <a:prstGeom prst="rect">
            <a:avLst/>
          </a:prstGeom>
          <a:noFill/>
          <a:ln w="0">
            <a:noFill/>
          </a:ln>
        </p:spPr>
        <p:txBody>
          <a:bodyPr lIns="0" tIns="50903" rIns="0" bIns="0" anchor="t">
            <a:spAutoFit/>
          </a:bodyPr>
          <a:lstStyle/>
          <a:p>
            <a:pPr marL="6318">
              <a:lnSpc>
                <a:spcPts val="3144"/>
              </a:lnSpc>
              <a:spcBef>
                <a:spcPts val="401"/>
              </a:spcBef>
            </a:pPr>
            <a:r>
              <a:rPr lang="fr-FR" sz="2858" b="1" spc="82">
                <a:solidFill>
                  <a:schemeClr val="dk1"/>
                </a:solidFill>
                <a:latin typeface="Arial"/>
              </a:rPr>
              <a:t>It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25">
                <a:solidFill>
                  <a:schemeClr val="dk1"/>
                </a:solidFill>
                <a:latin typeface="Arial"/>
              </a:rPr>
              <a:t>is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0">
                <a:solidFill>
                  <a:schemeClr val="dk1"/>
                </a:solidFill>
                <a:latin typeface="Arial"/>
              </a:rPr>
              <a:t>common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50">
                <a:solidFill>
                  <a:schemeClr val="dk1"/>
                </a:solidFill>
                <a:latin typeface="Arial"/>
              </a:rPr>
              <a:t>to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56">
                <a:solidFill>
                  <a:schemeClr val="dk1"/>
                </a:solidFill>
                <a:latin typeface="Arial"/>
              </a:rPr>
              <a:t>distinguish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108">
                <a:solidFill>
                  <a:schemeClr val="dk1"/>
                </a:solidFill>
                <a:latin typeface="Arial"/>
              </a:rPr>
              <a:t>two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>
                <a:solidFill>
                  <a:schemeClr val="dk1"/>
                </a:solidFill>
                <a:latin typeface="Arial"/>
              </a:rPr>
              <a:t>broad</a:t>
            </a:r>
            <a:r>
              <a:rPr lang="fr-FR" sz="2858" b="1" spc="-173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‘families’</a:t>
            </a:r>
            <a:r>
              <a:rPr lang="fr-FR" sz="2858" b="1" spc="-17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 b="1" spc="-13">
                <a:solidFill>
                  <a:schemeClr val="dk1"/>
                </a:solidFill>
                <a:latin typeface="Arial"/>
              </a:rPr>
              <a:t>of </a:t>
            </a:r>
            <a:r>
              <a:rPr lang="fr-FR" sz="2858" b="1" spc="-17">
                <a:solidFill>
                  <a:schemeClr val="dk1"/>
                </a:solidFill>
                <a:latin typeface="Arial"/>
              </a:rPr>
              <a:t>paradigms</a:t>
            </a:r>
            <a:r>
              <a:rPr lang="fr-FR" sz="2858" b="1" spc="-160">
                <a:solidFill>
                  <a:schemeClr val="dk1"/>
                </a:solidFill>
                <a:latin typeface="Arial"/>
              </a:rPr>
              <a:t> </a:t>
            </a:r>
            <a:r>
              <a:rPr lang="fr-FR" sz="2858">
                <a:solidFill>
                  <a:schemeClr val="dk1"/>
                </a:solidFill>
                <a:latin typeface="Arial MT"/>
              </a:rPr>
              <a:t>(although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40">
                <a:solidFill>
                  <a:schemeClr val="dk1"/>
                </a:solidFill>
                <a:latin typeface="Arial MT"/>
              </a:rPr>
              <a:t>the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27">
                <a:solidFill>
                  <a:schemeClr val="dk1"/>
                </a:solidFill>
                <a:latin typeface="Arial MT"/>
              </a:rPr>
              <a:t>distinction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70">
                <a:solidFill>
                  <a:schemeClr val="dk1"/>
                </a:solidFill>
                <a:latin typeface="Arial MT"/>
              </a:rPr>
              <a:t>is</a:t>
            </a:r>
            <a:r>
              <a:rPr lang="fr-FR" sz="2858" spc="-158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13">
                <a:solidFill>
                  <a:schemeClr val="dk1"/>
                </a:solidFill>
                <a:latin typeface="Arial MT"/>
              </a:rPr>
              <a:t>somewhat</a:t>
            </a:r>
            <a:r>
              <a:rPr lang="fr-FR" sz="2858" spc="-160">
                <a:solidFill>
                  <a:schemeClr val="dk1"/>
                </a:solidFill>
                <a:latin typeface="Arial MT"/>
              </a:rPr>
              <a:t> </a:t>
            </a:r>
            <a:r>
              <a:rPr lang="fr-FR" sz="2858" spc="-6">
                <a:solidFill>
                  <a:schemeClr val="dk1"/>
                </a:solidFill>
                <a:latin typeface="Arial MT"/>
              </a:rPr>
              <a:t>artificial!)</a:t>
            </a:r>
            <a:endParaRPr lang="fr-FR" sz="2858"/>
          </a:p>
        </p:txBody>
      </p:sp>
      <p:grpSp>
        <p:nvGrpSpPr>
          <p:cNvPr id="219" name="object 3">
            <a:extLst>
              <a:ext uri="{FF2B5EF4-FFF2-40B4-BE49-F238E27FC236}">
                <a16:creationId xmlns:a16="http://schemas.microsoft.com/office/drawing/2014/main" id="{939494D1-7DF2-C771-999D-D49AB3862EF9}"/>
              </a:ext>
            </a:extLst>
          </p:cNvPr>
          <p:cNvGrpSpPr/>
          <p:nvPr/>
        </p:nvGrpSpPr>
        <p:grpSpPr>
          <a:xfrm>
            <a:off x="177" y="1159566"/>
            <a:ext cx="10080140" cy="4510467"/>
            <a:chOff x="0" y="2312640"/>
            <a:chExt cx="20103840" cy="8995680"/>
          </a:xfrm>
        </p:grpSpPr>
        <p:sp>
          <p:nvSpPr>
            <p:cNvPr id="220" name="object 4">
              <a:extLst>
                <a:ext uri="{FF2B5EF4-FFF2-40B4-BE49-F238E27FC236}">
                  <a16:creationId xmlns:a16="http://schemas.microsoft.com/office/drawing/2014/main" id="{5C79DCBA-05D6-66EF-6B5C-533FDA592EA5}"/>
                </a:ext>
              </a:extLst>
            </p:cNvPr>
            <p:cNvSpPr/>
            <p:nvPr/>
          </p:nvSpPr>
          <p:spPr>
            <a:xfrm>
              <a:off x="0" y="2312640"/>
              <a:ext cx="20103840" cy="8995680"/>
            </a:xfrm>
            <a:custGeom>
              <a:avLst/>
              <a:gdLst>
                <a:gd name="textAreaLeft" fmla="*/ 0 w 20103840"/>
                <a:gd name="textAreaRight" fmla="*/ 20104200 w 20103840"/>
                <a:gd name="textAreaTop" fmla="*/ 0 h 8995680"/>
                <a:gd name="textAreaBottom" fmla="*/ 8996040 h 8995680"/>
              </a:gdLst>
              <a:ahLst/>
              <a:cxnLst/>
              <a:rect l="textAreaLeft" t="textAreaTop" r="textAreaRight" b="textAreaBottom"/>
              <a:pathLst>
                <a:path w="20104100" h="8996045">
                  <a:moveTo>
                    <a:pt x="20104100" y="1773364"/>
                  </a:moveTo>
                  <a:lnTo>
                    <a:pt x="10082746" y="1716024"/>
                  </a:lnTo>
                  <a:lnTo>
                    <a:pt x="10082746" y="78651"/>
                  </a:lnTo>
                  <a:lnTo>
                    <a:pt x="20104088" y="136004"/>
                  </a:lnTo>
                  <a:lnTo>
                    <a:pt x="20104088" y="115062"/>
                  </a:lnTo>
                  <a:lnTo>
                    <a:pt x="0" y="0"/>
                  </a:lnTo>
                  <a:lnTo>
                    <a:pt x="0" y="20942"/>
                  </a:lnTo>
                  <a:lnTo>
                    <a:pt x="10061804" y="78536"/>
                  </a:lnTo>
                  <a:lnTo>
                    <a:pt x="10061804" y="1715897"/>
                  </a:lnTo>
                  <a:lnTo>
                    <a:pt x="0" y="1658315"/>
                  </a:lnTo>
                  <a:lnTo>
                    <a:pt x="0" y="1679257"/>
                  </a:lnTo>
                  <a:lnTo>
                    <a:pt x="10061804" y="1736839"/>
                  </a:lnTo>
                  <a:lnTo>
                    <a:pt x="10061804" y="8995778"/>
                  </a:lnTo>
                  <a:lnTo>
                    <a:pt x="10082746" y="8995778"/>
                  </a:lnTo>
                  <a:lnTo>
                    <a:pt x="10082746" y="1736966"/>
                  </a:lnTo>
                  <a:lnTo>
                    <a:pt x="20104100" y="1794306"/>
                  </a:lnTo>
                  <a:lnTo>
                    <a:pt x="20104100" y="177336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1" name="object 5">
              <a:extLst>
                <a:ext uri="{FF2B5EF4-FFF2-40B4-BE49-F238E27FC236}">
                  <a16:creationId xmlns:a16="http://schemas.microsoft.com/office/drawing/2014/main" id="{F7ADF22D-0AB9-F5C8-05DA-C9C5DF99AEC2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0" y="4005360"/>
              <a:ext cx="2098800" cy="354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2" name="object 6">
            <a:extLst>
              <a:ext uri="{FF2B5EF4-FFF2-40B4-BE49-F238E27FC236}">
                <a16:creationId xmlns:a16="http://schemas.microsoft.com/office/drawing/2014/main" id="{4B957006-CBA6-78E2-6152-929CE7D1A6CE}"/>
              </a:ext>
            </a:extLst>
          </p:cNvPr>
          <p:cNvSpPr/>
          <p:nvPr/>
        </p:nvSpPr>
        <p:spPr>
          <a:xfrm>
            <a:off x="1458118" y="1445126"/>
            <a:ext cx="1766967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20">
                <a:solidFill>
                  <a:srgbClr val="000000"/>
                </a:solidFill>
                <a:latin typeface="Arial"/>
              </a:rPr>
              <a:t>“Individualism”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object 7">
            <a:extLst>
              <a:ext uri="{FF2B5EF4-FFF2-40B4-BE49-F238E27FC236}">
                <a16:creationId xmlns:a16="http://schemas.microsoft.com/office/drawing/2014/main" id="{96488234-B505-894C-023A-B5797DE11BDD}"/>
              </a:ext>
            </a:extLst>
          </p:cNvPr>
          <p:cNvSpPr/>
          <p:nvPr/>
        </p:nvSpPr>
        <p:spPr>
          <a:xfrm>
            <a:off x="7244759" y="1445126"/>
            <a:ext cx="1029241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6">
                <a:solidFill>
                  <a:srgbClr val="000000"/>
                </a:solidFill>
                <a:latin typeface="Arial"/>
              </a:rPr>
              <a:t>“Holism”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object 8">
            <a:extLst>
              <a:ext uri="{FF2B5EF4-FFF2-40B4-BE49-F238E27FC236}">
                <a16:creationId xmlns:a16="http://schemas.microsoft.com/office/drawing/2014/main" id="{A408ACBC-5AEF-438B-11EC-3F86A276915F}"/>
              </a:ext>
            </a:extLst>
          </p:cNvPr>
          <p:cNvSpPr/>
          <p:nvPr/>
        </p:nvSpPr>
        <p:spPr>
          <a:xfrm>
            <a:off x="98011" y="3754872"/>
            <a:ext cx="562094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04512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13">
                <a:solidFill>
                  <a:srgbClr val="000000"/>
                </a:solidFill>
                <a:latin typeface="Arial MT"/>
              </a:rPr>
              <a:t>Max </a:t>
            </a:r>
            <a:r>
              <a:rPr lang="fr-FR" sz="1404" spc="27">
                <a:solidFill>
                  <a:srgbClr val="000000"/>
                </a:solidFill>
                <a:latin typeface="Arial MT"/>
              </a:rPr>
              <a:t>Weber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object 9">
            <a:extLst>
              <a:ext uri="{FF2B5EF4-FFF2-40B4-BE49-F238E27FC236}">
                <a16:creationId xmlns:a16="http://schemas.microsoft.com/office/drawing/2014/main" id="{583FD0C8-F655-A8BB-C591-45A6AA04CD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821292" y="2053609"/>
            <a:ext cx="1259025" cy="16048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object 10">
            <a:extLst>
              <a:ext uri="{FF2B5EF4-FFF2-40B4-BE49-F238E27FC236}">
                <a16:creationId xmlns:a16="http://schemas.microsoft.com/office/drawing/2014/main" id="{0428937D-D756-A058-564E-EF288B24EFE1}"/>
              </a:ext>
            </a:extLst>
          </p:cNvPr>
          <p:cNvSpPr/>
          <p:nvPr/>
        </p:nvSpPr>
        <p:spPr>
          <a:xfrm>
            <a:off x="9069487" y="3616605"/>
            <a:ext cx="815162" cy="55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318" rIns="0" bIns="0" anchor="t">
            <a:spAutoFit/>
          </a:bodyPr>
          <a:lstStyle/>
          <a:p>
            <a:pPr marL="6318" indent="173464">
              <a:lnSpc>
                <a:spcPct val="133000"/>
              </a:lnSpc>
              <a:spcBef>
                <a:spcPts val="50"/>
              </a:spcBef>
              <a:tabLst>
                <a:tab pos="0" algn="l"/>
              </a:tabLst>
            </a:pPr>
            <a:r>
              <a:rPr lang="fr-FR" sz="1404" spc="-6">
                <a:solidFill>
                  <a:srgbClr val="000000"/>
                </a:solidFill>
                <a:latin typeface="Arial MT"/>
              </a:rPr>
              <a:t>Emile </a:t>
            </a:r>
            <a:r>
              <a:rPr lang="fr-FR" sz="1404" spc="26">
                <a:solidFill>
                  <a:srgbClr val="000000"/>
                </a:solidFill>
                <a:latin typeface="Arial MT"/>
              </a:rPr>
              <a:t>Durkheim</a:t>
            </a:r>
            <a:endParaRPr lang="fr-FR" sz="1404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11">
            <a:extLst>
              <a:ext uri="{FF2B5EF4-FFF2-40B4-BE49-F238E27FC236}">
                <a16:creationId xmlns:a16="http://schemas.microsoft.com/office/drawing/2014/main" id="{970CB00A-7AD8-1FE1-40CA-7438046A3C9E}"/>
              </a:ext>
            </a:extLst>
          </p:cNvPr>
          <p:cNvGrpSpPr/>
          <p:nvPr/>
        </p:nvGrpSpPr>
        <p:grpSpPr>
          <a:xfrm>
            <a:off x="1213353" y="2285017"/>
            <a:ext cx="2994945" cy="3307399"/>
            <a:chOff x="2419560" y="4557240"/>
            <a:chExt cx="5973120" cy="6596280"/>
          </a:xfrm>
        </p:grpSpPr>
        <p:sp>
          <p:nvSpPr>
            <p:cNvPr id="228" name="object 12">
              <a:extLst>
                <a:ext uri="{FF2B5EF4-FFF2-40B4-BE49-F238E27FC236}">
                  <a16:creationId xmlns:a16="http://schemas.microsoft.com/office/drawing/2014/main" id="{D1DD3A65-9ADA-540F-050E-18002AAAA559}"/>
                </a:ext>
              </a:extLst>
            </p:cNvPr>
            <p:cNvSpPr/>
            <p:nvPr/>
          </p:nvSpPr>
          <p:spPr>
            <a:xfrm>
              <a:off x="2419560" y="8994960"/>
              <a:ext cx="864000" cy="2158560"/>
            </a:xfrm>
            <a:custGeom>
              <a:avLst/>
              <a:gdLst>
                <a:gd name="textAreaLeft" fmla="*/ 0 w 864000"/>
                <a:gd name="textAreaRight" fmla="*/ 864360 w 864000"/>
                <a:gd name="textAreaTop" fmla="*/ 0 h 2158560"/>
                <a:gd name="textAreaBottom" fmla="*/ 2158920 h 2158560"/>
              </a:gdLst>
              <a:ahLst/>
              <a:cxnLst/>
              <a:rect l="textAreaLeft" t="textAreaTop" r="textAreaRight" b="textAreaBottom"/>
              <a:pathLst>
                <a:path w="864235" h="2159000">
                  <a:moveTo>
                    <a:pt x="411182" y="1981200"/>
                  </a:moveTo>
                  <a:lnTo>
                    <a:pt x="317484" y="1981200"/>
                  </a:lnTo>
                  <a:lnTo>
                    <a:pt x="321276" y="1993900"/>
                  </a:lnTo>
                  <a:lnTo>
                    <a:pt x="323136" y="2006600"/>
                  </a:lnTo>
                  <a:lnTo>
                    <a:pt x="325238" y="2019300"/>
                  </a:lnTo>
                  <a:lnTo>
                    <a:pt x="323580" y="2032000"/>
                  </a:lnTo>
                  <a:lnTo>
                    <a:pt x="314164" y="2044700"/>
                  </a:lnTo>
                  <a:lnTo>
                    <a:pt x="303477" y="2070100"/>
                  </a:lnTo>
                  <a:lnTo>
                    <a:pt x="291222" y="2082800"/>
                  </a:lnTo>
                  <a:lnTo>
                    <a:pt x="281506" y="2095500"/>
                  </a:lnTo>
                  <a:lnTo>
                    <a:pt x="278439" y="2120900"/>
                  </a:lnTo>
                  <a:lnTo>
                    <a:pt x="279333" y="2133600"/>
                  </a:lnTo>
                  <a:lnTo>
                    <a:pt x="281503" y="2133600"/>
                  </a:lnTo>
                  <a:lnTo>
                    <a:pt x="285401" y="2146300"/>
                  </a:lnTo>
                  <a:lnTo>
                    <a:pt x="291476" y="2146300"/>
                  </a:lnTo>
                  <a:lnTo>
                    <a:pt x="306681" y="2159000"/>
                  </a:lnTo>
                  <a:lnTo>
                    <a:pt x="360049" y="2159000"/>
                  </a:lnTo>
                  <a:lnTo>
                    <a:pt x="391711" y="2146300"/>
                  </a:lnTo>
                  <a:lnTo>
                    <a:pt x="402176" y="2133600"/>
                  </a:lnTo>
                  <a:lnTo>
                    <a:pt x="404393" y="2120900"/>
                  </a:lnTo>
                  <a:lnTo>
                    <a:pt x="403359" y="2095500"/>
                  </a:lnTo>
                  <a:lnTo>
                    <a:pt x="404071" y="2082800"/>
                  </a:lnTo>
                  <a:lnTo>
                    <a:pt x="408697" y="2070100"/>
                  </a:lnTo>
                  <a:lnTo>
                    <a:pt x="412656" y="2057400"/>
                  </a:lnTo>
                  <a:lnTo>
                    <a:pt x="414481" y="2044700"/>
                  </a:lnTo>
                  <a:lnTo>
                    <a:pt x="412706" y="2019300"/>
                  </a:lnTo>
                  <a:lnTo>
                    <a:pt x="411469" y="2019300"/>
                  </a:lnTo>
                  <a:lnTo>
                    <a:pt x="409642" y="2006600"/>
                  </a:lnTo>
                  <a:lnTo>
                    <a:pt x="407611" y="1993900"/>
                  </a:lnTo>
                  <a:lnTo>
                    <a:pt x="405765" y="1993900"/>
                  </a:lnTo>
                  <a:lnTo>
                    <a:pt x="411182" y="1981200"/>
                  </a:lnTo>
                  <a:close/>
                </a:path>
                <a:path w="864235" h="2159000">
                  <a:moveTo>
                    <a:pt x="857300" y="2146300"/>
                  </a:moveTo>
                  <a:lnTo>
                    <a:pt x="763697" y="2146300"/>
                  </a:lnTo>
                  <a:lnTo>
                    <a:pt x="799666" y="2159000"/>
                  </a:lnTo>
                  <a:lnTo>
                    <a:pt x="842429" y="2159000"/>
                  </a:lnTo>
                  <a:lnTo>
                    <a:pt x="857300" y="2146300"/>
                  </a:lnTo>
                  <a:close/>
                </a:path>
                <a:path w="864235" h="2159000">
                  <a:moveTo>
                    <a:pt x="738978" y="1981200"/>
                  </a:moveTo>
                  <a:lnTo>
                    <a:pt x="653304" y="1981200"/>
                  </a:lnTo>
                  <a:lnTo>
                    <a:pt x="654433" y="2006600"/>
                  </a:lnTo>
                  <a:lnTo>
                    <a:pt x="653829" y="2019300"/>
                  </a:lnTo>
                  <a:lnTo>
                    <a:pt x="650380" y="2044700"/>
                  </a:lnTo>
                  <a:lnTo>
                    <a:pt x="642975" y="2057400"/>
                  </a:lnTo>
                  <a:lnTo>
                    <a:pt x="639445" y="2082800"/>
                  </a:lnTo>
                  <a:lnTo>
                    <a:pt x="642772" y="2095500"/>
                  </a:lnTo>
                  <a:lnTo>
                    <a:pt x="648233" y="2108200"/>
                  </a:lnTo>
                  <a:lnTo>
                    <a:pt x="651103" y="2120900"/>
                  </a:lnTo>
                  <a:lnTo>
                    <a:pt x="670540" y="2120900"/>
                  </a:lnTo>
                  <a:lnTo>
                    <a:pt x="681808" y="2133600"/>
                  </a:lnTo>
                  <a:lnTo>
                    <a:pt x="726448" y="2133600"/>
                  </a:lnTo>
                  <a:lnTo>
                    <a:pt x="728616" y="2146300"/>
                  </a:lnTo>
                  <a:lnTo>
                    <a:pt x="863848" y="2146300"/>
                  </a:lnTo>
                  <a:lnTo>
                    <a:pt x="862268" y="2133600"/>
                  </a:lnTo>
                  <a:lnTo>
                    <a:pt x="852757" y="2120900"/>
                  </a:lnTo>
                  <a:lnTo>
                    <a:pt x="832380" y="2095500"/>
                  </a:lnTo>
                  <a:lnTo>
                    <a:pt x="812460" y="2082800"/>
                  </a:lnTo>
                  <a:lnTo>
                    <a:pt x="795080" y="2070100"/>
                  </a:lnTo>
                  <a:lnTo>
                    <a:pt x="782322" y="2057400"/>
                  </a:lnTo>
                  <a:lnTo>
                    <a:pt x="766178" y="2032000"/>
                  </a:lnTo>
                  <a:lnTo>
                    <a:pt x="753539" y="2019300"/>
                  </a:lnTo>
                  <a:lnTo>
                    <a:pt x="744455" y="1993900"/>
                  </a:lnTo>
                  <a:lnTo>
                    <a:pt x="738978" y="1981200"/>
                  </a:lnTo>
                  <a:close/>
                </a:path>
                <a:path w="864235" h="2159000">
                  <a:moveTo>
                    <a:pt x="614267" y="1015058"/>
                  </a:moveTo>
                  <a:lnTo>
                    <a:pt x="614045" y="1016000"/>
                  </a:lnTo>
                  <a:lnTo>
                    <a:pt x="183114" y="1016000"/>
                  </a:lnTo>
                  <a:lnTo>
                    <a:pt x="179243" y="1066800"/>
                  </a:lnTo>
                  <a:lnTo>
                    <a:pt x="179333" y="1092200"/>
                  </a:lnTo>
                  <a:lnTo>
                    <a:pt x="179423" y="1117600"/>
                  </a:lnTo>
                  <a:lnTo>
                    <a:pt x="183057" y="1168400"/>
                  </a:lnTo>
                  <a:lnTo>
                    <a:pt x="189548" y="1219200"/>
                  </a:lnTo>
                  <a:lnTo>
                    <a:pt x="195419" y="1257300"/>
                  </a:lnTo>
                  <a:lnTo>
                    <a:pt x="206478" y="1308100"/>
                  </a:lnTo>
                  <a:lnTo>
                    <a:pt x="220556" y="1358900"/>
                  </a:lnTo>
                  <a:lnTo>
                    <a:pt x="235487" y="1422400"/>
                  </a:lnTo>
                  <a:lnTo>
                    <a:pt x="249101" y="1485900"/>
                  </a:lnTo>
                  <a:lnTo>
                    <a:pt x="259231" y="1536700"/>
                  </a:lnTo>
                  <a:lnTo>
                    <a:pt x="263708" y="1562100"/>
                  </a:lnTo>
                  <a:lnTo>
                    <a:pt x="266910" y="1638300"/>
                  </a:lnTo>
                  <a:lnTo>
                    <a:pt x="271432" y="1701800"/>
                  </a:lnTo>
                  <a:lnTo>
                    <a:pt x="276959" y="1752600"/>
                  </a:lnTo>
                  <a:lnTo>
                    <a:pt x="283180" y="1816100"/>
                  </a:lnTo>
                  <a:lnTo>
                    <a:pt x="289782" y="1866900"/>
                  </a:lnTo>
                  <a:lnTo>
                    <a:pt x="296452" y="1905000"/>
                  </a:lnTo>
                  <a:lnTo>
                    <a:pt x="302878" y="1943100"/>
                  </a:lnTo>
                  <a:lnTo>
                    <a:pt x="308747" y="1981200"/>
                  </a:lnTo>
                  <a:lnTo>
                    <a:pt x="415416" y="1981200"/>
                  </a:lnTo>
                  <a:lnTo>
                    <a:pt x="415793" y="1955800"/>
                  </a:lnTo>
                  <a:lnTo>
                    <a:pt x="415749" y="1892300"/>
                  </a:lnTo>
                  <a:lnTo>
                    <a:pt x="414908" y="1841500"/>
                  </a:lnTo>
                  <a:lnTo>
                    <a:pt x="414021" y="1816100"/>
                  </a:lnTo>
                  <a:lnTo>
                    <a:pt x="413451" y="1778000"/>
                  </a:lnTo>
                  <a:lnTo>
                    <a:pt x="412678" y="1752600"/>
                  </a:lnTo>
                  <a:lnTo>
                    <a:pt x="411182" y="1714500"/>
                  </a:lnTo>
                  <a:lnTo>
                    <a:pt x="408956" y="1676400"/>
                  </a:lnTo>
                  <a:lnTo>
                    <a:pt x="406374" y="1663700"/>
                  </a:lnTo>
                  <a:lnTo>
                    <a:pt x="403487" y="1638300"/>
                  </a:lnTo>
                  <a:lnTo>
                    <a:pt x="400346" y="1600200"/>
                  </a:lnTo>
                  <a:lnTo>
                    <a:pt x="399170" y="1587500"/>
                  </a:lnTo>
                  <a:lnTo>
                    <a:pt x="398331" y="1574800"/>
                  </a:lnTo>
                  <a:lnTo>
                    <a:pt x="398267" y="1562100"/>
                  </a:lnTo>
                  <a:lnTo>
                    <a:pt x="398203" y="1549400"/>
                  </a:lnTo>
                  <a:lnTo>
                    <a:pt x="399161" y="1536700"/>
                  </a:lnTo>
                  <a:lnTo>
                    <a:pt x="404071" y="1447800"/>
                  </a:lnTo>
                  <a:lnTo>
                    <a:pt x="404936" y="1397000"/>
                  </a:lnTo>
                  <a:lnTo>
                    <a:pt x="406257" y="1346200"/>
                  </a:lnTo>
                  <a:lnTo>
                    <a:pt x="408077" y="1295400"/>
                  </a:lnTo>
                  <a:lnTo>
                    <a:pt x="410438" y="1257300"/>
                  </a:lnTo>
                  <a:lnTo>
                    <a:pt x="413383" y="1193800"/>
                  </a:lnTo>
                  <a:lnTo>
                    <a:pt x="414467" y="1193800"/>
                  </a:lnTo>
                  <a:lnTo>
                    <a:pt x="419242" y="1181100"/>
                  </a:lnTo>
                  <a:lnTo>
                    <a:pt x="649707" y="1181100"/>
                  </a:lnTo>
                  <a:lnTo>
                    <a:pt x="642975" y="1130300"/>
                  </a:lnTo>
                  <a:lnTo>
                    <a:pt x="636633" y="1092200"/>
                  </a:lnTo>
                  <a:lnTo>
                    <a:pt x="628736" y="1066800"/>
                  </a:lnTo>
                  <a:lnTo>
                    <a:pt x="620127" y="1041400"/>
                  </a:lnTo>
                  <a:lnTo>
                    <a:pt x="614267" y="1015058"/>
                  </a:lnTo>
                  <a:close/>
                </a:path>
                <a:path w="864235" h="2159000">
                  <a:moveTo>
                    <a:pt x="649707" y="1181100"/>
                  </a:moveTo>
                  <a:lnTo>
                    <a:pt x="419242" y="1181100"/>
                  </a:lnTo>
                  <a:lnTo>
                    <a:pt x="423034" y="1193800"/>
                  </a:lnTo>
                  <a:lnTo>
                    <a:pt x="442836" y="1231900"/>
                  </a:lnTo>
                  <a:lnTo>
                    <a:pt x="459133" y="1282700"/>
                  </a:lnTo>
                  <a:lnTo>
                    <a:pt x="474312" y="1320800"/>
                  </a:lnTo>
                  <a:lnTo>
                    <a:pt x="490761" y="1358900"/>
                  </a:lnTo>
                  <a:lnTo>
                    <a:pt x="509071" y="1409700"/>
                  </a:lnTo>
                  <a:lnTo>
                    <a:pt x="531109" y="1473200"/>
                  </a:lnTo>
                  <a:lnTo>
                    <a:pt x="550200" y="1536700"/>
                  </a:lnTo>
                  <a:lnTo>
                    <a:pt x="559672" y="1574800"/>
                  </a:lnTo>
                  <a:lnTo>
                    <a:pt x="569255" y="1638300"/>
                  </a:lnTo>
                  <a:lnTo>
                    <a:pt x="574548" y="1676400"/>
                  </a:lnTo>
                  <a:lnTo>
                    <a:pt x="579651" y="1714500"/>
                  </a:lnTo>
                  <a:lnTo>
                    <a:pt x="589801" y="1778000"/>
                  </a:lnTo>
                  <a:lnTo>
                    <a:pt x="603862" y="1841500"/>
                  </a:lnTo>
                  <a:lnTo>
                    <a:pt x="618706" y="1892300"/>
                  </a:lnTo>
                  <a:lnTo>
                    <a:pt x="631206" y="1943100"/>
                  </a:lnTo>
                  <a:lnTo>
                    <a:pt x="638235" y="1968500"/>
                  </a:lnTo>
                  <a:lnTo>
                    <a:pt x="639318" y="1981200"/>
                  </a:lnTo>
                  <a:lnTo>
                    <a:pt x="749306" y="1981200"/>
                  </a:lnTo>
                  <a:lnTo>
                    <a:pt x="747172" y="1943100"/>
                  </a:lnTo>
                  <a:lnTo>
                    <a:pt x="742194" y="1892300"/>
                  </a:lnTo>
                  <a:lnTo>
                    <a:pt x="735997" y="1841500"/>
                  </a:lnTo>
                  <a:lnTo>
                    <a:pt x="731629" y="1790700"/>
                  </a:lnTo>
                  <a:lnTo>
                    <a:pt x="728480" y="1739900"/>
                  </a:lnTo>
                  <a:lnTo>
                    <a:pt x="725940" y="1701800"/>
                  </a:lnTo>
                  <a:lnTo>
                    <a:pt x="719766" y="1651000"/>
                  </a:lnTo>
                  <a:lnTo>
                    <a:pt x="711142" y="1612900"/>
                  </a:lnTo>
                  <a:lnTo>
                    <a:pt x="702721" y="1574800"/>
                  </a:lnTo>
                  <a:lnTo>
                    <a:pt x="697157" y="1549400"/>
                  </a:lnTo>
                  <a:lnTo>
                    <a:pt x="686591" y="1498600"/>
                  </a:lnTo>
                  <a:lnTo>
                    <a:pt x="678464" y="1460500"/>
                  </a:lnTo>
                  <a:lnTo>
                    <a:pt x="671556" y="1409700"/>
                  </a:lnTo>
                  <a:lnTo>
                    <a:pt x="664648" y="1346200"/>
                  </a:lnTo>
                  <a:lnTo>
                    <a:pt x="662328" y="1320800"/>
                  </a:lnTo>
                  <a:lnTo>
                    <a:pt x="657875" y="1257300"/>
                  </a:lnTo>
                  <a:lnTo>
                    <a:pt x="651390" y="1193800"/>
                  </a:lnTo>
                  <a:lnTo>
                    <a:pt x="649707" y="1181100"/>
                  </a:lnTo>
                  <a:close/>
                </a:path>
                <a:path w="864235" h="2159000">
                  <a:moveTo>
                    <a:pt x="453342" y="0"/>
                  </a:moveTo>
                  <a:lnTo>
                    <a:pt x="414194" y="0"/>
                  </a:lnTo>
                  <a:lnTo>
                    <a:pt x="389687" y="12700"/>
                  </a:lnTo>
                  <a:lnTo>
                    <a:pt x="363737" y="25400"/>
                  </a:lnTo>
                  <a:lnTo>
                    <a:pt x="338546" y="50800"/>
                  </a:lnTo>
                  <a:lnTo>
                    <a:pt x="326882" y="76200"/>
                  </a:lnTo>
                  <a:lnTo>
                    <a:pt x="318736" y="101600"/>
                  </a:lnTo>
                  <a:lnTo>
                    <a:pt x="308050" y="127000"/>
                  </a:lnTo>
                  <a:lnTo>
                    <a:pt x="288767" y="177800"/>
                  </a:lnTo>
                  <a:lnTo>
                    <a:pt x="274500" y="228600"/>
                  </a:lnTo>
                  <a:lnTo>
                    <a:pt x="277127" y="254000"/>
                  </a:lnTo>
                  <a:lnTo>
                    <a:pt x="284823" y="279400"/>
                  </a:lnTo>
                  <a:lnTo>
                    <a:pt x="285760" y="304800"/>
                  </a:lnTo>
                  <a:lnTo>
                    <a:pt x="268111" y="342900"/>
                  </a:lnTo>
                  <a:lnTo>
                    <a:pt x="258350" y="355600"/>
                  </a:lnTo>
                  <a:lnTo>
                    <a:pt x="257478" y="368300"/>
                  </a:lnTo>
                  <a:lnTo>
                    <a:pt x="260568" y="381000"/>
                  </a:lnTo>
                  <a:lnTo>
                    <a:pt x="262693" y="393700"/>
                  </a:lnTo>
                  <a:lnTo>
                    <a:pt x="228921" y="393700"/>
                  </a:lnTo>
                  <a:lnTo>
                    <a:pt x="191828" y="419100"/>
                  </a:lnTo>
                  <a:lnTo>
                    <a:pt x="174310" y="444500"/>
                  </a:lnTo>
                  <a:lnTo>
                    <a:pt x="155196" y="469900"/>
                  </a:lnTo>
                  <a:lnTo>
                    <a:pt x="130449" y="508000"/>
                  </a:lnTo>
                  <a:lnTo>
                    <a:pt x="101826" y="558800"/>
                  </a:lnTo>
                  <a:lnTo>
                    <a:pt x="71080" y="609600"/>
                  </a:lnTo>
                  <a:lnTo>
                    <a:pt x="39967" y="647700"/>
                  </a:lnTo>
                  <a:lnTo>
                    <a:pt x="10243" y="698500"/>
                  </a:lnTo>
                  <a:lnTo>
                    <a:pt x="6417" y="698500"/>
                  </a:lnTo>
                  <a:lnTo>
                    <a:pt x="5333" y="711200"/>
                  </a:lnTo>
                  <a:lnTo>
                    <a:pt x="1520" y="711200"/>
                  </a:lnTo>
                  <a:lnTo>
                    <a:pt x="0" y="723900"/>
                  </a:lnTo>
                  <a:lnTo>
                    <a:pt x="1019" y="736600"/>
                  </a:lnTo>
                  <a:lnTo>
                    <a:pt x="4825" y="749300"/>
                  </a:lnTo>
                  <a:lnTo>
                    <a:pt x="12230" y="762000"/>
                  </a:lnTo>
                  <a:lnTo>
                    <a:pt x="18607" y="787400"/>
                  </a:lnTo>
                  <a:lnTo>
                    <a:pt x="25797" y="800100"/>
                  </a:lnTo>
                  <a:lnTo>
                    <a:pt x="35641" y="838200"/>
                  </a:lnTo>
                  <a:lnTo>
                    <a:pt x="50345" y="863600"/>
                  </a:lnTo>
                  <a:lnTo>
                    <a:pt x="69893" y="889000"/>
                  </a:lnTo>
                  <a:lnTo>
                    <a:pt x="91575" y="927100"/>
                  </a:lnTo>
                  <a:lnTo>
                    <a:pt x="112679" y="952500"/>
                  </a:lnTo>
                  <a:lnTo>
                    <a:pt x="116605" y="965200"/>
                  </a:lnTo>
                  <a:lnTo>
                    <a:pt x="120163" y="977900"/>
                  </a:lnTo>
                  <a:lnTo>
                    <a:pt x="125651" y="990600"/>
                  </a:lnTo>
                  <a:lnTo>
                    <a:pt x="135368" y="1003300"/>
                  </a:lnTo>
                  <a:lnTo>
                    <a:pt x="143054" y="1016000"/>
                  </a:lnTo>
                  <a:lnTo>
                    <a:pt x="614045" y="1016000"/>
                  </a:lnTo>
                  <a:lnTo>
                    <a:pt x="611652" y="1003300"/>
                  </a:lnTo>
                  <a:lnTo>
                    <a:pt x="628922" y="1003300"/>
                  </a:lnTo>
                  <a:lnTo>
                    <a:pt x="645879" y="990600"/>
                  </a:lnTo>
                  <a:lnTo>
                    <a:pt x="658925" y="990600"/>
                  </a:lnTo>
                  <a:lnTo>
                    <a:pt x="669837" y="977900"/>
                  </a:lnTo>
                  <a:lnTo>
                    <a:pt x="680394" y="965200"/>
                  </a:lnTo>
                  <a:lnTo>
                    <a:pt x="708854" y="927100"/>
                  </a:lnTo>
                  <a:lnTo>
                    <a:pt x="718213" y="914400"/>
                  </a:lnTo>
                  <a:lnTo>
                    <a:pt x="166860" y="914400"/>
                  </a:lnTo>
                  <a:lnTo>
                    <a:pt x="147720" y="876300"/>
                  </a:lnTo>
                  <a:lnTo>
                    <a:pt x="132066" y="825500"/>
                  </a:lnTo>
                  <a:lnTo>
                    <a:pt x="117935" y="774700"/>
                  </a:lnTo>
                  <a:lnTo>
                    <a:pt x="103367" y="736600"/>
                  </a:lnTo>
                  <a:lnTo>
                    <a:pt x="103022" y="723900"/>
                  </a:lnTo>
                  <a:lnTo>
                    <a:pt x="114778" y="698500"/>
                  </a:lnTo>
                  <a:lnTo>
                    <a:pt x="133443" y="685800"/>
                  </a:lnTo>
                  <a:lnTo>
                    <a:pt x="153823" y="660400"/>
                  </a:lnTo>
                  <a:lnTo>
                    <a:pt x="167090" y="647700"/>
                  </a:lnTo>
                  <a:lnTo>
                    <a:pt x="178356" y="635000"/>
                  </a:lnTo>
                  <a:lnTo>
                    <a:pt x="189928" y="622300"/>
                  </a:lnTo>
                  <a:lnTo>
                    <a:pt x="204109" y="609600"/>
                  </a:lnTo>
                  <a:lnTo>
                    <a:pt x="205735" y="596900"/>
                  </a:lnTo>
                  <a:lnTo>
                    <a:pt x="606131" y="596900"/>
                  </a:lnTo>
                  <a:lnTo>
                    <a:pt x="615791" y="571500"/>
                  </a:lnTo>
                  <a:lnTo>
                    <a:pt x="791973" y="571500"/>
                  </a:lnTo>
                  <a:lnTo>
                    <a:pt x="772445" y="546100"/>
                  </a:lnTo>
                  <a:lnTo>
                    <a:pt x="754351" y="533400"/>
                  </a:lnTo>
                  <a:lnTo>
                    <a:pt x="733819" y="508000"/>
                  </a:lnTo>
                  <a:lnTo>
                    <a:pt x="698030" y="457200"/>
                  </a:lnTo>
                  <a:lnTo>
                    <a:pt x="682494" y="431800"/>
                  </a:lnTo>
                  <a:lnTo>
                    <a:pt x="662690" y="406400"/>
                  </a:lnTo>
                  <a:lnTo>
                    <a:pt x="640944" y="393700"/>
                  </a:lnTo>
                  <a:lnTo>
                    <a:pt x="617557" y="381000"/>
                  </a:lnTo>
                  <a:lnTo>
                    <a:pt x="564413" y="381000"/>
                  </a:lnTo>
                  <a:lnTo>
                    <a:pt x="564732" y="368300"/>
                  </a:lnTo>
                  <a:lnTo>
                    <a:pt x="559622" y="355600"/>
                  </a:lnTo>
                  <a:lnTo>
                    <a:pt x="553394" y="342900"/>
                  </a:lnTo>
                  <a:lnTo>
                    <a:pt x="550360" y="317500"/>
                  </a:lnTo>
                  <a:lnTo>
                    <a:pt x="555967" y="292100"/>
                  </a:lnTo>
                  <a:lnTo>
                    <a:pt x="567358" y="279400"/>
                  </a:lnTo>
                  <a:lnTo>
                    <a:pt x="576385" y="254000"/>
                  </a:lnTo>
                  <a:lnTo>
                    <a:pt x="574902" y="215900"/>
                  </a:lnTo>
                  <a:lnTo>
                    <a:pt x="554762" y="139700"/>
                  </a:lnTo>
                  <a:lnTo>
                    <a:pt x="549353" y="114300"/>
                  </a:lnTo>
                  <a:lnTo>
                    <a:pt x="540014" y="88900"/>
                  </a:lnTo>
                  <a:lnTo>
                    <a:pt x="524885" y="63500"/>
                  </a:lnTo>
                  <a:lnTo>
                    <a:pt x="502105" y="38100"/>
                  </a:lnTo>
                  <a:lnTo>
                    <a:pt x="497229" y="38100"/>
                  </a:lnTo>
                  <a:lnTo>
                    <a:pt x="486934" y="25400"/>
                  </a:lnTo>
                  <a:lnTo>
                    <a:pt x="477647" y="25400"/>
                  </a:lnTo>
                  <a:lnTo>
                    <a:pt x="470883" y="12700"/>
                  </a:lnTo>
                  <a:lnTo>
                    <a:pt x="462798" y="12700"/>
                  </a:lnTo>
                  <a:lnTo>
                    <a:pt x="453342" y="0"/>
                  </a:lnTo>
                  <a:close/>
                </a:path>
                <a:path w="864235" h="2159000">
                  <a:moveTo>
                    <a:pt x="611652" y="1003300"/>
                  </a:moveTo>
                  <a:lnTo>
                    <a:pt x="614045" y="1016000"/>
                  </a:lnTo>
                  <a:lnTo>
                    <a:pt x="614267" y="1015058"/>
                  </a:lnTo>
                  <a:lnTo>
                    <a:pt x="611652" y="1003300"/>
                  </a:lnTo>
                  <a:close/>
                </a:path>
                <a:path w="864235" h="2159000">
                  <a:moveTo>
                    <a:pt x="617036" y="1003300"/>
                  </a:moveTo>
                  <a:lnTo>
                    <a:pt x="611652" y="1003300"/>
                  </a:lnTo>
                  <a:lnTo>
                    <a:pt x="614267" y="1015058"/>
                  </a:lnTo>
                  <a:lnTo>
                    <a:pt x="617036" y="1003300"/>
                  </a:lnTo>
                  <a:close/>
                </a:path>
                <a:path w="864235" h="2159000">
                  <a:moveTo>
                    <a:pt x="791973" y="571500"/>
                  </a:moveTo>
                  <a:lnTo>
                    <a:pt x="638269" y="571500"/>
                  </a:lnTo>
                  <a:lnTo>
                    <a:pt x="645176" y="584200"/>
                  </a:lnTo>
                  <a:lnTo>
                    <a:pt x="676169" y="609600"/>
                  </a:lnTo>
                  <a:lnTo>
                    <a:pt x="714241" y="647700"/>
                  </a:lnTo>
                  <a:lnTo>
                    <a:pt x="746522" y="685800"/>
                  </a:lnTo>
                  <a:lnTo>
                    <a:pt x="760142" y="711200"/>
                  </a:lnTo>
                  <a:lnTo>
                    <a:pt x="757679" y="723900"/>
                  </a:lnTo>
                  <a:lnTo>
                    <a:pt x="750186" y="736600"/>
                  </a:lnTo>
                  <a:lnTo>
                    <a:pt x="737513" y="762000"/>
                  </a:lnTo>
                  <a:lnTo>
                    <a:pt x="719506" y="787400"/>
                  </a:lnTo>
                  <a:lnTo>
                    <a:pt x="705580" y="812800"/>
                  </a:lnTo>
                  <a:lnTo>
                    <a:pt x="690993" y="838200"/>
                  </a:lnTo>
                  <a:lnTo>
                    <a:pt x="675086" y="863600"/>
                  </a:lnTo>
                  <a:lnTo>
                    <a:pt x="657198" y="889000"/>
                  </a:lnTo>
                  <a:lnTo>
                    <a:pt x="654461" y="889000"/>
                  </a:lnTo>
                  <a:lnTo>
                    <a:pt x="649172" y="901700"/>
                  </a:lnTo>
                  <a:lnTo>
                    <a:pt x="200317" y="901700"/>
                  </a:lnTo>
                  <a:lnTo>
                    <a:pt x="184350" y="914400"/>
                  </a:lnTo>
                  <a:lnTo>
                    <a:pt x="718213" y="914400"/>
                  </a:lnTo>
                  <a:lnTo>
                    <a:pt x="746290" y="876300"/>
                  </a:lnTo>
                  <a:lnTo>
                    <a:pt x="785159" y="825500"/>
                  </a:lnTo>
                  <a:lnTo>
                    <a:pt x="817914" y="787400"/>
                  </a:lnTo>
                  <a:lnTo>
                    <a:pt x="837011" y="749300"/>
                  </a:lnTo>
                  <a:lnTo>
                    <a:pt x="843028" y="736600"/>
                  </a:lnTo>
                  <a:lnTo>
                    <a:pt x="849439" y="723900"/>
                  </a:lnTo>
                  <a:lnTo>
                    <a:pt x="854631" y="711200"/>
                  </a:lnTo>
                  <a:lnTo>
                    <a:pt x="856991" y="685800"/>
                  </a:lnTo>
                  <a:lnTo>
                    <a:pt x="854089" y="673100"/>
                  </a:lnTo>
                  <a:lnTo>
                    <a:pt x="846730" y="660400"/>
                  </a:lnTo>
                  <a:lnTo>
                    <a:pt x="838151" y="647700"/>
                  </a:lnTo>
                  <a:lnTo>
                    <a:pt x="831593" y="635000"/>
                  </a:lnTo>
                  <a:lnTo>
                    <a:pt x="823574" y="622300"/>
                  </a:lnTo>
                  <a:lnTo>
                    <a:pt x="813002" y="609600"/>
                  </a:lnTo>
                  <a:lnTo>
                    <a:pt x="801821" y="584200"/>
                  </a:lnTo>
                  <a:lnTo>
                    <a:pt x="791973" y="571500"/>
                  </a:lnTo>
                  <a:close/>
                </a:path>
                <a:path w="864235" h="2159000">
                  <a:moveTo>
                    <a:pt x="606131" y="596900"/>
                  </a:moveTo>
                  <a:lnTo>
                    <a:pt x="229845" y="596900"/>
                  </a:lnTo>
                  <a:lnTo>
                    <a:pt x="231200" y="609600"/>
                  </a:lnTo>
                  <a:lnTo>
                    <a:pt x="232384" y="622300"/>
                  </a:lnTo>
                  <a:lnTo>
                    <a:pt x="234095" y="622300"/>
                  </a:lnTo>
                  <a:lnTo>
                    <a:pt x="236010" y="635000"/>
                  </a:lnTo>
                  <a:lnTo>
                    <a:pt x="237803" y="647700"/>
                  </a:lnTo>
                  <a:lnTo>
                    <a:pt x="243824" y="673100"/>
                  </a:lnTo>
                  <a:lnTo>
                    <a:pt x="250282" y="698500"/>
                  </a:lnTo>
                  <a:lnTo>
                    <a:pt x="255623" y="711200"/>
                  </a:lnTo>
                  <a:lnTo>
                    <a:pt x="258291" y="723900"/>
                  </a:lnTo>
                  <a:lnTo>
                    <a:pt x="256618" y="800100"/>
                  </a:lnTo>
                  <a:lnTo>
                    <a:pt x="246438" y="838200"/>
                  </a:lnTo>
                  <a:lnTo>
                    <a:pt x="232195" y="863600"/>
                  </a:lnTo>
                  <a:lnTo>
                    <a:pt x="218332" y="901700"/>
                  </a:lnTo>
                  <a:lnTo>
                    <a:pt x="614232" y="901700"/>
                  </a:lnTo>
                  <a:lnTo>
                    <a:pt x="603017" y="889000"/>
                  </a:lnTo>
                  <a:lnTo>
                    <a:pt x="573217" y="889000"/>
                  </a:lnTo>
                  <a:lnTo>
                    <a:pt x="570948" y="876300"/>
                  </a:lnTo>
                  <a:lnTo>
                    <a:pt x="566038" y="863600"/>
                  </a:lnTo>
                  <a:lnTo>
                    <a:pt x="561331" y="838200"/>
                  </a:lnTo>
                  <a:lnTo>
                    <a:pt x="559672" y="812800"/>
                  </a:lnTo>
                  <a:lnTo>
                    <a:pt x="563229" y="749300"/>
                  </a:lnTo>
                  <a:lnTo>
                    <a:pt x="570322" y="698500"/>
                  </a:lnTo>
                  <a:lnTo>
                    <a:pt x="579244" y="673100"/>
                  </a:lnTo>
                  <a:lnTo>
                    <a:pt x="588287" y="647700"/>
                  </a:lnTo>
                  <a:lnTo>
                    <a:pt x="597201" y="609600"/>
                  </a:lnTo>
                  <a:lnTo>
                    <a:pt x="606131" y="5969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9" name="object 13">
              <a:extLst>
                <a:ext uri="{FF2B5EF4-FFF2-40B4-BE49-F238E27FC236}">
                  <a16:creationId xmlns:a16="http://schemas.microsoft.com/office/drawing/2014/main" id="{7B64E809-EFD9-F1E7-9833-B4B477E79B5D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5477040" y="4557240"/>
              <a:ext cx="2915640" cy="334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0" name="object 14">
            <a:extLst>
              <a:ext uri="{FF2B5EF4-FFF2-40B4-BE49-F238E27FC236}">
                <a16:creationId xmlns:a16="http://schemas.microsoft.com/office/drawing/2014/main" id="{420E5469-444D-3D08-9DCD-BB9A61CA6F06}"/>
              </a:ext>
            </a:extLst>
          </p:cNvPr>
          <p:cNvSpPr/>
          <p:nvPr/>
        </p:nvSpPr>
        <p:spPr>
          <a:xfrm>
            <a:off x="2377252" y="2036461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object 15">
            <a:extLst>
              <a:ext uri="{FF2B5EF4-FFF2-40B4-BE49-F238E27FC236}">
                <a16:creationId xmlns:a16="http://schemas.microsoft.com/office/drawing/2014/main" id="{3D4A164B-A3F4-425B-1FE7-44CDF2F4F5DF}"/>
              </a:ext>
            </a:extLst>
          </p:cNvPr>
          <p:cNvSpPr/>
          <p:nvPr/>
        </p:nvSpPr>
        <p:spPr>
          <a:xfrm>
            <a:off x="2062992" y="2490072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bject 16">
            <a:extLst>
              <a:ext uri="{FF2B5EF4-FFF2-40B4-BE49-F238E27FC236}">
                <a16:creationId xmlns:a16="http://schemas.microsoft.com/office/drawing/2014/main" id="{DF8F4850-937A-B310-871D-05B5779B1073}"/>
              </a:ext>
            </a:extLst>
          </p:cNvPr>
          <p:cNvSpPr/>
          <p:nvPr/>
        </p:nvSpPr>
        <p:spPr>
          <a:xfrm>
            <a:off x="4169669" y="2491515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17">
            <a:extLst>
              <a:ext uri="{FF2B5EF4-FFF2-40B4-BE49-F238E27FC236}">
                <a16:creationId xmlns:a16="http://schemas.microsoft.com/office/drawing/2014/main" id="{0002F522-6236-EC9A-6147-EC3C95DB40A0}"/>
              </a:ext>
            </a:extLst>
          </p:cNvPr>
          <p:cNvSpPr/>
          <p:nvPr/>
        </p:nvSpPr>
        <p:spPr>
          <a:xfrm>
            <a:off x="4379417" y="3166605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object 18">
            <a:extLst>
              <a:ext uri="{FF2B5EF4-FFF2-40B4-BE49-F238E27FC236}">
                <a16:creationId xmlns:a16="http://schemas.microsoft.com/office/drawing/2014/main" id="{AD275291-3BD8-F96F-FABA-424642E5AB92}"/>
              </a:ext>
            </a:extLst>
          </p:cNvPr>
          <p:cNvSpPr/>
          <p:nvPr/>
        </p:nvSpPr>
        <p:spPr>
          <a:xfrm>
            <a:off x="2097288" y="3166605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bject 19">
            <a:extLst>
              <a:ext uri="{FF2B5EF4-FFF2-40B4-BE49-F238E27FC236}">
                <a16:creationId xmlns:a16="http://schemas.microsoft.com/office/drawing/2014/main" id="{3F1921AA-4763-8A5F-3958-9019131390D6}"/>
              </a:ext>
            </a:extLst>
          </p:cNvPr>
          <p:cNvSpPr/>
          <p:nvPr/>
        </p:nvSpPr>
        <p:spPr>
          <a:xfrm>
            <a:off x="358299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bject 20">
            <a:extLst>
              <a:ext uri="{FF2B5EF4-FFF2-40B4-BE49-F238E27FC236}">
                <a16:creationId xmlns:a16="http://schemas.microsoft.com/office/drawing/2014/main" id="{BA40C911-9203-373A-A7B7-D8CD11AD580F}"/>
              </a:ext>
            </a:extLst>
          </p:cNvPr>
          <p:cNvSpPr/>
          <p:nvPr/>
        </p:nvSpPr>
        <p:spPr>
          <a:xfrm>
            <a:off x="1672739" y="3773103"/>
            <a:ext cx="1135920" cy="990252"/>
          </a:xfrm>
          <a:custGeom>
            <a:avLst/>
            <a:gdLst>
              <a:gd name="textAreaLeft" fmla="*/ 0 w 2265480"/>
              <a:gd name="textAreaRight" fmla="*/ 2265840 w 2265480"/>
              <a:gd name="textAreaTop" fmla="*/ 0 h 1974960"/>
              <a:gd name="textAreaBottom" fmla="*/ 1975320 h 1974960"/>
            </a:gdLst>
            <a:ahLst/>
            <a:cxnLst/>
            <a:rect l="textAreaLeft" t="textAreaTop" r="textAreaRight" b="textAreaBottom"/>
            <a:pathLst>
              <a:path w="2265679" h="1975484">
                <a:moveTo>
                  <a:pt x="2265272" y="0"/>
                </a:moveTo>
                <a:lnTo>
                  <a:pt x="1348732" y="10215"/>
                </a:lnTo>
                <a:lnTo>
                  <a:pt x="1573890" y="275164"/>
                </a:lnTo>
                <a:lnTo>
                  <a:pt x="0" y="1612677"/>
                </a:lnTo>
                <a:lnTo>
                  <a:pt x="308292" y="1975452"/>
                </a:lnTo>
                <a:lnTo>
                  <a:pt x="1882181" y="637939"/>
                </a:lnTo>
                <a:lnTo>
                  <a:pt x="2107338" y="902887"/>
                </a:lnTo>
                <a:lnTo>
                  <a:pt x="2265272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object 21">
            <a:extLst>
              <a:ext uri="{FF2B5EF4-FFF2-40B4-BE49-F238E27FC236}">
                <a16:creationId xmlns:a16="http://schemas.microsoft.com/office/drawing/2014/main" id="{3A4E2EA3-7BA0-96C1-4DEA-9BCC03FB5F33}"/>
              </a:ext>
            </a:extLst>
          </p:cNvPr>
          <p:cNvSpPr/>
          <p:nvPr/>
        </p:nvSpPr>
        <p:spPr>
          <a:xfrm rot="19260000">
            <a:off x="1608299" y="3894625"/>
            <a:ext cx="667328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bject 22">
            <a:extLst>
              <a:ext uri="{FF2B5EF4-FFF2-40B4-BE49-F238E27FC236}">
                <a16:creationId xmlns:a16="http://schemas.microsoft.com/office/drawing/2014/main" id="{29C621DC-7BB6-9DB8-0C19-661FEABCDBDC}"/>
              </a:ext>
            </a:extLst>
          </p:cNvPr>
          <p:cNvSpPr/>
          <p:nvPr/>
        </p:nvSpPr>
        <p:spPr>
          <a:xfrm>
            <a:off x="5980680" y="2544765"/>
            <a:ext cx="740794" cy="184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679" rIns="0" bIns="0" anchor="t">
            <a:spAutoFit/>
          </a:bodyPr>
          <a:lstStyle/>
          <a:p>
            <a:pPr marL="6318">
              <a:spcBef>
                <a:spcPts val="53"/>
              </a:spcBef>
            </a:pPr>
            <a:r>
              <a:rPr lang="fr-FR" sz="1153" spc="-6">
                <a:solidFill>
                  <a:srgbClr val="0076BA"/>
                </a:solidFill>
                <a:latin typeface="Arial MT"/>
              </a:rPr>
              <a:t>Institutions</a:t>
            </a:r>
            <a:endParaRPr lang="fr-FR" sz="1153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object 23">
            <a:extLst>
              <a:ext uri="{FF2B5EF4-FFF2-40B4-BE49-F238E27FC236}">
                <a16:creationId xmlns:a16="http://schemas.microsoft.com/office/drawing/2014/main" id="{F64EDCFF-1873-2555-1BF7-DEF12A7A1C70}"/>
              </a:ext>
            </a:extLst>
          </p:cNvPr>
          <p:cNvSpPr/>
          <p:nvPr/>
        </p:nvSpPr>
        <p:spPr>
          <a:xfrm>
            <a:off x="8087357" y="2546208"/>
            <a:ext cx="479603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13">
                <a:solidFill>
                  <a:srgbClr val="0076BA"/>
                </a:solidFill>
                <a:latin typeface="Arial MT"/>
              </a:rPr>
              <a:t>Values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object 24">
            <a:extLst>
              <a:ext uri="{FF2B5EF4-FFF2-40B4-BE49-F238E27FC236}">
                <a16:creationId xmlns:a16="http://schemas.microsoft.com/office/drawing/2014/main" id="{91D26D90-96B9-38AE-A84A-78674ED1C2D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664253" y="2339710"/>
            <a:ext cx="1461913" cy="16790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object 25">
            <a:extLst>
              <a:ext uri="{FF2B5EF4-FFF2-40B4-BE49-F238E27FC236}">
                <a16:creationId xmlns:a16="http://schemas.microsoft.com/office/drawing/2014/main" id="{ECB65BA4-ED1C-5A03-440B-299C30DB2FD2}"/>
              </a:ext>
            </a:extLst>
          </p:cNvPr>
          <p:cNvSpPr/>
          <p:nvPr/>
        </p:nvSpPr>
        <p:spPr>
          <a:xfrm>
            <a:off x="6295120" y="2091335"/>
            <a:ext cx="2361732" cy="266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03" rIns="0" bIns="0" anchor="t">
            <a:spAutoFit/>
          </a:bodyPr>
          <a:lstStyle/>
          <a:p>
            <a:pPr marL="6318">
              <a:spcBef>
                <a:spcPts val="65"/>
              </a:spcBef>
            </a:pPr>
            <a:r>
              <a:rPr lang="fr-FR" sz="1680" b="1">
                <a:solidFill>
                  <a:srgbClr val="0076BA"/>
                </a:solidFill>
                <a:latin typeface="Arial"/>
              </a:rPr>
              <a:t>Collective</a:t>
            </a:r>
            <a:r>
              <a:rPr lang="fr-FR" sz="1680" b="1" spc="160">
                <a:solidFill>
                  <a:srgbClr val="0076BA"/>
                </a:solidFill>
                <a:latin typeface="Arial"/>
              </a:rPr>
              <a:t> </a:t>
            </a:r>
            <a:r>
              <a:rPr lang="fr-FR" sz="1680" b="1" spc="36">
                <a:solidFill>
                  <a:srgbClr val="0076BA"/>
                </a:solidFill>
                <a:latin typeface="Arial"/>
              </a:rPr>
              <a:t>phenomena</a:t>
            </a:r>
            <a:endParaRPr lang="fr-FR" sz="168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object 26">
            <a:extLst>
              <a:ext uri="{FF2B5EF4-FFF2-40B4-BE49-F238E27FC236}">
                <a16:creationId xmlns:a16="http://schemas.microsoft.com/office/drawing/2014/main" id="{C58EEAB6-B6C3-5644-AD9F-2738EC627747}"/>
              </a:ext>
            </a:extLst>
          </p:cNvPr>
          <p:cNvSpPr/>
          <p:nvPr/>
        </p:nvSpPr>
        <p:spPr>
          <a:xfrm>
            <a:off x="8297104" y="3221479"/>
            <a:ext cx="494946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30">
                <a:solidFill>
                  <a:srgbClr val="0076BA"/>
                </a:solidFill>
                <a:latin typeface="Arial MT"/>
              </a:rPr>
              <a:t>Norms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object 27">
            <a:extLst>
              <a:ext uri="{FF2B5EF4-FFF2-40B4-BE49-F238E27FC236}">
                <a16:creationId xmlns:a16="http://schemas.microsoft.com/office/drawing/2014/main" id="{D278201F-BED9-6B05-2921-55DE40D25536}"/>
              </a:ext>
            </a:extLst>
          </p:cNvPr>
          <p:cNvSpPr/>
          <p:nvPr/>
        </p:nvSpPr>
        <p:spPr>
          <a:xfrm>
            <a:off x="6014976" y="3221479"/>
            <a:ext cx="488628" cy="196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81" rIns="0" bIns="0" anchor="t">
            <a:spAutoFit/>
          </a:bodyPr>
          <a:lstStyle/>
          <a:p>
            <a:pPr marL="6318">
              <a:spcBef>
                <a:spcPts val="60"/>
              </a:spcBef>
            </a:pPr>
            <a:r>
              <a:rPr lang="fr-FR" sz="1228" spc="-6">
                <a:solidFill>
                  <a:srgbClr val="0076BA"/>
                </a:solidFill>
                <a:latin typeface="Arial MT"/>
              </a:rPr>
              <a:t>Beliefs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28">
            <a:extLst>
              <a:ext uri="{FF2B5EF4-FFF2-40B4-BE49-F238E27FC236}">
                <a16:creationId xmlns:a16="http://schemas.microsoft.com/office/drawing/2014/main" id="{7096FB3F-829E-73D6-FCE2-038A4BCF1892}"/>
              </a:ext>
            </a:extLst>
          </p:cNvPr>
          <p:cNvSpPr/>
          <p:nvPr/>
        </p:nvSpPr>
        <p:spPr>
          <a:xfrm>
            <a:off x="5716420" y="3792959"/>
            <a:ext cx="1085559" cy="950541"/>
          </a:xfrm>
          <a:custGeom>
            <a:avLst/>
            <a:gdLst>
              <a:gd name="textAreaLeft" fmla="*/ 0 w 2165040"/>
              <a:gd name="textAreaRight" fmla="*/ 2165400 w 2165040"/>
              <a:gd name="textAreaTop" fmla="*/ 0 h 1895760"/>
              <a:gd name="textAreaBottom" fmla="*/ 1896120 h 1895760"/>
            </a:gdLst>
            <a:ahLst/>
            <a:cxnLst/>
            <a:rect l="textAreaLeft" t="textAreaTop" r="textAreaRight" b="textAreaBottom"/>
            <a:pathLst>
              <a:path w="2165350" h="1896109">
                <a:moveTo>
                  <a:pt x="1822373" y="0"/>
                </a:moveTo>
                <a:lnTo>
                  <a:pt x="472781" y="1146898"/>
                </a:lnTo>
                <a:lnTo>
                  <a:pt x="230328" y="861589"/>
                </a:lnTo>
                <a:lnTo>
                  <a:pt x="0" y="1896030"/>
                </a:lnTo>
                <a:lnTo>
                  <a:pt x="1058051" y="1835596"/>
                </a:lnTo>
                <a:lnTo>
                  <a:pt x="815587" y="1550287"/>
                </a:lnTo>
                <a:lnTo>
                  <a:pt x="2165180" y="403390"/>
                </a:lnTo>
                <a:lnTo>
                  <a:pt x="1822373" y="0"/>
                </a:lnTo>
                <a:close/>
              </a:path>
            </a:pathLst>
          </a:custGeom>
          <a:solidFill>
            <a:srgbClr val="B517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object 29">
            <a:extLst>
              <a:ext uri="{FF2B5EF4-FFF2-40B4-BE49-F238E27FC236}">
                <a16:creationId xmlns:a16="http://schemas.microsoft.com/office/drawing/2014/main" id="{EDC6F1DB-35BF-05D6-8353-5474A2B390A2}"/>
              </a:ext>
            </a:extLst>
          </p:cNvPr>
          <p:cNvSpPr/>
          <p:nvPr/>
        </p:nvSpPr>
        <p:spPr>
          <a:xfrm rot="19260000">
            <a:off x="5691871" y="3847152"/>
            <a:ext cx="595487" cy="153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156"/>
              </a:lnSpc>
            </a:pPr>
            <a:r>
              <a:rPr lang="fr-FR" sz="1228" b="1" spc="-6">
                <a:solidFill>
                  <a:srgbClr val="EE220C"/>
                </a:solidFill>
                <a:latin typeface="Arial"/>
              </a:rPr>
              <a:t>Explain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30">
            <a:extLst>
              <a:ext uri="{FF2B5EF4-FFF2-40B4-BE49-F238E27FC236}">
                <a16:creationId xmlns:a16="http://schemas.microsoft.com/office/drawing/2014/main" id="{5AB2D4F6-287A-4A86-5D95-2C1AE9BBDE07}"/>
              </a:ext>
            </a:extLst>
          </p:cNvPr>
          <p:cNvSpPr/>
          <p:nvPr/>
        </p:nvSpPr>
        <p:spPr>
          <a:xfrm>
            <a:off x="5212990" y="4485016"/>
            <a:ext cx="420036" cy="1082310"/>
          </a:xfrm>
          <a:custGeom>
            <a:avLst/>
            <a:gdLst>
              <a:gd name="textAreaLeft" fmla="*/ 0 w 837720"/>
              <a:gd name="textAreaRight" fmla="*/ 838080 w 837720"/>
              <a:gd name="textAreaTop" fmla="*/ 0 h 2158560"/>
              <a:gd name="textAreaBottom" fmla="*/ 2158920 h 2158560"/>
            </a:gdLst>
            <a:ahLst/>
            <a:cxnLst/>
            <a:rect l="textAreaLeft" t="textAreaTop" r="textAreaRight" b="textAreaBottom"/>
            <a:pathLst>
              <a:path w="838200" h="2159000">
                <a:moveTo>
                  <a:pt x="161091" y="2133600"/>
                </a:moveTo>
                <a:lnTo>
                  <a:pt x="1015" y="2133600"/>
                </a:lnTo>
                <a:lnTo>
                  <a:pt x="1557" y="2146300"/>
                </a:lnTo>
                <a:lnTo>
                  <a:pt x="15227" y="2146300"/>
                </a:lnTo>
                <a:lnTo>
                  <a:pt x="34213" y="2159000"/>
                </a:lnTo>
                <a:lnTo>
                  <a:pt x="93869" y="2159000"/>
                </a:lnTo>
                <a:lnTo>
                  <a:pt x="125035" y="2146300"/>
                </a:lnTo>
                <a:lnTo>
                  <a:pt x="161091" y="2133600"/>
                </a:lnTo>
                <a:close/>
              </a:path>
              <a:path w="838200" h="2159000">
                <a:moveTo>
                  <a:pt x="618357" y="1257300"/>
                </a:moveTo>
                <a:lnTo>
                  <a:pt x="415896" y="1257300"/>
                </a:lnTo>
                <a:lnTo>
                  <a:pt x="421390" y="1295400"/>
                </a:lnTo>
                <a:lnTo>
                  <a:pt x="427410" y="1346200"/>
                </a:lnTo>
                <a:lnTo>
                  <a:pt x="433863" y="1397000"/>
                </a:lnTo>
                <a:lnTo>
                  <a:pt x="440659" y="1435100"/>
                </a:lnTo>
                <a:lnTo>
                  <a:pt x="447706" y="1485900"/>
                </a:lnTo>
                <a:lnTo>
                  <a:pt x="450575" y="1511300"/>
                </a:lnTo>
                <a:lnTo>
                  <a:pt x="454325" y="1536700"/>
                </a:lnTo>
                <a:lnTo>
                  <a:pt x="457771" y="1574800"/>
                </a:lnTo>
                <a:lnTo>
                  <a:pt x="459727" y="1612900"/>
                </a:lnTo>
                <a:lnTo>
                  <a:pt x="460420" y="1651000"/>
                </a:lnTo>
                <a:lnTo>
                  <a:pt x="460539" y="1727200"/>
                </a:lnTo>
                <a:lnTo>
                  <a:pt x="459932" y="1790700"/>
                </a:lnTo>
                <a:lnTo>
                  <a:pt x="459368" y="1854200"/>
                </a:lnTo>
                <a:lnTo>
                  <a:pt x="459389" y="1917700"/>
                </a:lnTo>
                <a:lnTo>
                  <a:pt x="460534" y="1968500"/>
                </a:lnTo>
                <a:lnTo>
                  <a:pt x="463342" y="2006600"/>
                </a:lnTo>
                <a:lnTo>
                  <a:pt x="468355" y="2032000"/>
                </a:lnTo>
                <a:lnTo>
                  <a:pt x="467519" y="2044700"/>
                </a:lnTo>
                <a:lnTo>
                  <a:pt x="464461" y="2057400"/>
                </a:lnTo>
                <a:lnTo>
                  <a:pt x="458358" y="2095500"/>
                </a:lnTo>
                <a:lnTo>
                  <a:pt x="448387" y="2120900"/>
                </a:lnTo>
                <a:lnTo>
                  <a:pt x="453147" y="2146300"/>
                </a:lnTo>
                <a:lnTo>
                  <a:pt x="488149" y="2159000"/>
                </a:lnTo>
                <a:lnTo>
                  <a:pt x="568519" y="2159000"/>
                </a:lnTo>
                <a:lnTo>
                  <a:pt x="588224" y="2133600"/>
                </a:lnTo>
                <a:lnTo>
                  <a:pt x="592106" y="2108200"/>
                </a:lnTo>
                <a:lnTo>
                  <a:pt x="588679" y="2082800"/>
                </a:lnTo>
                <a:lnTo>
                  <a:pt x="586456" y="2070100"/>
                </a:lnTo>
                <a:lnTo>
                  <a:pt x="589985" y="2057400"/>
                </a:lnTo>
                <a:lnTo>
                  <a:pt x="594376" y="2044700"/>
                </a:lnTo>
                <a:lnTo>
                  <a:pt x="598867" y="2032000"/>
                </a:lnTo>
                <a:lnTo>
                  <a:pt x="602696" y="2006600"/>
                </a:lnTo>
                <a:lnTo>
                  <a:pt x="606713" y="1955800"/>
                </a:lnTo>
                <a:lnTo>
                  <a:pt x="608493" y="1905000"/>
                </a:lnTo>
                <a:lnTo>
                  <a:pt x="608612" y="1866900"/>
                </a:lnTo>
                <a:lnTo>
                  <a:pt x="608652" y="1854200"/>
                </a:lnTo>
                <a:lnTo>
                  <a:pt x="607807" y="1803400"/>
                </a:lnTo>
                <a:lnTo>
                  <a:pt x="606574" y="1752600"/>
                </a:lnTo>
                <a:lnTo>
                  <a:pt x="605569" y="1689100"/>
                </a:lnTo>
                <a:lnTo>
                  <a:pt x="605462" y="1663700"/>
                </a:lnTo>
                <a:lnTo>
                  <a:pt x="605408" y="1651000"/>
                </a:lnTo>
                <a:lnTo>
                  <a:pt x="607911" y="1612900"/>
                </a:lnTo>
                <a:lnTo>
                  <a:pt x="612886" y="1562100"/>
                </a:lnTo>
                <a:lnTo>
                  <a:pt x="617761" y="1511300"/>
                </a:lnTo>
                <a:lnTo>
                  <a:pt x="619963" y="1435100"/>
                </a:lnTo>
                <a:lnTo>
                  <a:pt x="619937" y="1384300"/>
                </a:lnTo>
                <a:lnTo>
                  <a:pt x="619788" y="1346200"/>
                </a:lnTo>
                <a:lnTo>
                  <a:pt x="619738" y="1333500"/>
                </a:lnTo>
                <a:lnTo>
                  <a:pt x="619181" y="1295400"/>
                </a:lnTo>
                <a:lnTo>
                  <a:pt x="618357" y="1257300"/>
                </a:lnTo>
                <a:close/>
              </a:path>
              <a:path w="838200" h="2159000">
                <a:moveTo>
                  <a:pt x="521987" y="342900"/>
                </a:moveTo>
                <a:lnTo>
                  <a:pt x="305407" y="342900"/>
                </a:lnTo>
                <a:lnTo>
                  <a:pt x="269398" y="355600"/>
                </a:lnTo>
                <a:lnTo>
                  <a:pt x="226072" y="368300"/>
                </a:lnTo>
                <a:lnTo>
                  <a:pt x="185993" y="381000"/>
                </a:lnTo>
                <a:lnTo>
                  <a:pt x="159726" y="393700"/>
                </a:lnTo>
                <a:lnTo>
                  <a:pt x="138080" y="431800"/>
                </a:lnTo>
                <a:lnTo>
                  <a:pt x="106922" y="482600"/>
                </a:lnTo>
                <a:lnTo>
                  <a:pt x="72249" y="546100"/>
                </a:lnTo>
                <a:lnTo>
                  <a:pt x="40056" y="609600"/>
                </a:lnTo>
                <a:lnTo>
                  <a:pt x="16343" y="660400"/>
                </a:lnTo>
                <a:lnTo>
                  <a:pt x="6780" y="711200"/>
                </a:lnTo>
                <a:lnTo>
                  <a:pt x="6706" y="723900"/>
                </a:lnTo>
                <a:lnTo>
                  <a:pt x="6632" y="736600"/>
                </a:lnTo>
                <a:lnTo>
                  <a:pt x="7905" y="749300"/>
                </a:lnTo>
                <a:lnTo>
                  <a:pt x="11843" y="762000"/>
                </a:lnTo>
                <a:lnTo>
                  <a:pt x="28650" y="800100"/>
                </a:lnTo>
                <a:lnTo>
                  <a:pt x="46642" y="850900"/>
                </a:lnTo>
                <a:lnTo>
                  <a:pt x="65902" y="901700"/>
                </a:lnTo>
                <a:lnTo>
                  <a:pt x="86517" y="952500"/>
                </a:lnTo>
                <a:lnTo>
                  <a:pt x="108569" y="990600"/>
                </a:lnTo>
                <a:lnTo>
                  <a:pt x="132145" y="1028700"/>
                </a:lnTo>
                <a:lnTo>
                  <a:pt x="138103" y="1028700"/>
                </a:lnTo>
                <a:lnTo>
                  <a:pt x="146090" y="1041400"/>
                </a:lnTo>
                <a:lnTo>
                  <a:pt x="167338" y="1041400"/>
                </a:lnTo>
                <a:lnTo>
                  <a:pt x="181039" y="1054100"/>
                </a:lnTo>
                <a:lnTo>
                  <a:pt x="195295" y="1054100"/>
                </a:lnTo>
                <a:lnTo>
                  <a:pt x="206402" y="1066800"/>
                </a:lnTo>
                <a:lnTo>
                  <a:pt x="210656" y="1079500"/>
                </a:lnTo>
                <a:lnTo>
                  <a:pt x="208388" y="1117600"/>
                </a:lnTo>
                <a:lnTo>
                  <a:pt x="202710" y="1206500"/>
                </a:lnTo>
                <a:lnTo>
                  <a:pt x="199490" y="1270000"/>
                </a:lnTo>
                <a:lnTo>
                  <a:pt x="196143" y="1320800"/>
                </a:lnTo>
                <a:lnTo>
                  <a:pt x="192764" y="1384300"/>
                </a:lnTo>
                <a:lnTo>
                  <a:pt x="189448" y="1435100"/>
                </a:lnTo>
                <a:lnTo>
                  <a:pt x="186290" y="1473200"/>
                </a:lnTo>
                <a:lnTo>
                  <a:pt x="182424" y="1524000"/>
                </a:lnTo>
                <a:lnTo>
                  <a:pt x="178912" y="1574800"/>
                </a:lnTo>
                <a:lnTo>
                  <a:pt x="175705" y="1612900"/>
                </a:lnTo>
                <a:lnTo>
                  <a:pt x="172751" y="1663700"/>
                </a:lnTo>
                <a:lnTo>
                  <a:pt x="169241" y="1701800"/>
                </a:lnTo>
                <a:lnTo>
                  <a:pt x="165704" y="1765300"/>
                </a:lnTo>
                <a:lnTo>
                  <a:pt x="160944" y="1816100"/>
                </a:lnTo>
                <a:lnTo>
                  <a:pt x="153765" y="1866900"/>
                </a:lnTo>
                <a:lnTo>
                  <a:pt x="142972" y="1930400"/>
                </a:lnTo>
                <a:lnTo>
                  <a:pt x="134804" y="1968500"/>
                </a:lnTo>
                <a:lnTo>
                  <a:pt x="127140" y="2006600"/>
                </a:lnTo>
                <a:lnTo>
                  <a:pt x="123332" y="2032000"/>
                </a:lnTo>
                <a:lnTo>
                  <a:pt x="126732" y="2032000"/>
                </a:lnTo>
                <a:lnTo>
                  <a:pt x="107112" y="2070100"/>
                </a:lnTo>
                <a:lnTo>
                  <a:pt x="77427" y="2082800"/>
                </a:lnTo>
                <a:lnTo>
                  <a:pt x="44900" y="2095500"/>
                </a:lnTo>
                <a:lnTo>
                  <a:pt x="16751" y="2108200"/>
                </a:lnTo>
                <a:lnTo>
                  <a:pt x="9413" y="2108200"/>
                </a:lnTo>
                <a:lnTo>
                  <a:pt x="3908" y="2120900"/>
                </a:lnTo>
                <a:lnTo>
                  <a:pt x="637" y="2120900"/>
                </a:lnTo>
                <a:lnTo>
                  <a:pt x="0" y="2133600"/>
                </a:lnTo>
                <a:lnTo>
                  <a:pt x="273429" y="2133600"/>
                </a:lnTo>
                <a:lnTo>
                  <a:pt x="281436" y="2120900"/>
                </a:lnTo>
                <a:lnTo>
                  <a:pt x="285446" y="2108200"/>
                </a:lnTo>
                <a:lnTo>
                  <a:pt x="285899" y="2082800"/>
                </a:lnTo>
                <a:lnTo>
                  <a:pt x="283240" y="2057400"/>
                </a:lnTo>
                <a:lnTo>
                  <a:pt x="280539" y="2057400"/>
                </a:lnTo>
                <a:lnTo>
                  <a:pt x="294168" y="2032000"/>
                </a:lnTo>
                <a:lnTo>
                  <a:pt x="300889" y="1993900"/>
                </a:lnTo>
                <a:lnTo>
                  <a:pt x="307476" y="1955800"/>
                </a:lnTo>
                <a:lnTo>
                  <a:pt x="313873" y="1905000"/>
                </a:lnTo>
                <a:lnTo>
                  <a:pt x="320026" y="1854200"/>
                </a:lnTo>
                <a:lnTo>
                  <a:pt x="325881" y="1790700"/>
                </a:lnTo>
                <a:lnTo>
                  <a:pt x="331383" y="1727200"/>
                </a:lnTo>
                <a:lnTo>
                  <a:pt x="336479" y="1663700"/>
                </a:lnTo>
                <a:lnTo>
                  <a:pt x="341113" y="1600200"/>
                </a:lnTo>
                <a:lnTo>
                  <a:pt x="345989" y="1562100"/>
                </a:lnTo>
                <a:lnTo>
                  <a:pt x="354269" y="1511300"/>
                </a:lnTo>
                <a:lnTo>
                  <a:pt x="364778" y="1447800"/>
                </a:lnTo>
                <a:lnTo>
                  <a:pt x="376339" y="1397000"/>
                </a:lnTo>
                <a:lnTo>
                  <a:pt x="387778" y="1346200"/>
                </a:lnTo>
                <a:lnTo>
                  <a:pt x="397917" y="1295400"/>
                </a:lnTo>
                <a:lnTo>
                  <a:pt x="405582" y="1257300"/>
                </a:lnTo>
                <a:lnTo>
                  <a:pt x="618357" y="1257300"/>
                </a:lnTo>
                <a:lnTo>
                  <a:pt x="618083" y="1244600"/>
                </a:lnTo>
                <a:lnTo>
                  <a:pt x="616258" y="1193800"/>
                </a:lnTo>
                <a:lnTo>
                  <a:pt x="613523" y="1155700"/>
                </a:lnTo>
                <a:lnTo>
                  <a:pt x="613789" y="1117600"/>
                </a:lnTo>
                <a:lnTo>
                  <a:pt x="617250" y="1092200"/>
                </a:lnTo>
                <a:lnTo>
                  <a:pt x="618172" y="1054100"/>
                </a:lnTo>
                <a:lnTo>
                  <a:pt x="610822" y="1016000"/>
                </a:lnTo>
                <a:lnTo>
                  <a:pt x="671838" y="1016000"/>
                </a:lnTo>
                <a:lnTo>
                  <a:pt x="687364" y="1003300"/>
                </a:lnTo>
                <a:lnTo>
                  <a:pt x="701175" y="990600"/>
                </a:lnTo>
                <a:lnTo>
                  <a:pt x="727646" y="952500"/>
                </a:lnTo>
                <a:lnTo>
                  <a:pt x="176982" y="952500"/>
                </a:lnTo>
                <a:lnTo>
                  <a:pt x="162074" y="914400"/>
                </a:lnTo>
                <a:lnTo>
                  <a:pt x="143734" y="850900"/>
                </a:lnTo>
                <a:lnTo>
                  <a:pt x="127424" y="787400"/>
                </a:lnTo>
                <a:lnTo>
                  <a:pt x="118606" y="749300"/>
                </a:lnTo>
                <a:lnTo>
                  <a:pt x="120136" y="736600"/>
                </a:lnTo>
                <a:lnTo>
                  <a:pt x="121470" y="723900"/>
                </a:lnTo>
                <a:lnTo>
                  <a:pt x="123517" y="698500"/>
                </a:lnTo>
                <a:lnTo>
                  <a:pt x="127747" y="698500"/>
                </a:lnTo>
                <a:lnTo>
                  <a:pt x="138845" y="673100"/>
                </a:lnTo>
                <a:lnTo>
                  <a:pt x="154819" y="660400"/>
                </a:lnTo>
                <a:lnTo>
                  <a:pt x="172824" y="635000"/>
                </a:lnTo>
                <a:lnTo>
                  <a:pt x="190018" y="609600"/>
                </a:lnTo>
                <a:lnTo>
                  <a:pt x="798810" y="609600"/>
                </a:lnTo>
                <a:lnTo>
                  <a:pt x="773755" y="558800"/>
                </a:lnTo>
                <a:lnTo>
                  <a:pt x="743678" y="508000"/>
                </a:lnTo>
                <a:lnTo>
                  <a:pt x="713555" y="469900"/>
                </a:lnTo>
                <a:lnTo>
                  <a:pt x="688367" y="431800"/>
                </a:lnTo>
                <a:lnTo>
                  <a:pt x="673092" y="406400"/>
                </a:lnTo>
                <a:lnTo>
                  <a:pt x="647959" y="381000"/>
                </a:lnTo>
                <a:lnTo>
                  <a:pt x="604851" y="368300"/>
                </a:lnTo>
                <a:lnTo>
                  <a:pt x="558086" y="355600"/>
                </a:lnTo>
                <a:lnTo>
                  <a:pt x="521987" y="342900"/>
                </a:lnTo>
                <a:close/>
              </a:path>
              <a:path w="838200" h="2159000">
                <a:moveTo>
                  <a:pt x="798810" y="609600"/>
                </a:moveTo>
                <a:lnTo>
                  <a:pt x="631261" y="609600"/>
                </a:lnTo>
                <a:lnTo>
                  <a:pt x="636748" y="622300"/>
                </a:lnTo>
                <a:lnTo>
                  <a:pt x="638905" y="622300"/>
                </a:lnTo>
                <a:lnTo>
                  <a:pt x="665521" y="647700"/>
                </a:lnTo>
                <a:lnTo>
                  <a:pt x="687403" y="673100"/>
                </a:lnTo>
                <a:lnTo>
                  <a:pt x="702889" y="685800"/>
                </a:lnTo>
                <a:lnTo>
                  <a:pt x="710316" y="698500"/>
                </a:lnTo>
                <a:lnTo>
                  <a:pt x="712221" y="723900"/>
                </a:lnTo>
                <a:lnTo>
                  <a:pt x="713779" y="736600"/>
                </a:lnTo>
                <a:lnTo>
                  <a:pt x="714831" y="749300"/>
                </a:lnTo>
                <a:lnTo>
                  <a:pt x="715216" y="749300"/>
                </a:lnTo>
                <a:lnTo>
                  <a:pt x="709652" y="774700"/>
                </a:lnTo>
                <a:lnTo>
                  <a:pt x="696233" y="838200"/>
                </a:lnTo>
                <a:lnTo>
                  <a:pt x="679868" y="889000"/>
                </a:lnTo>
                <a:lnTo>
                  <a:pt x="665469" y="927100"/>
                </a:lnTo>
                <a:lnTo>
                  <a:pt x="219624" y="927100"/>
                </a:lnTo>
                <a:lnTo>
                  <a:pt x="210701" y="939800"/>
                </a:lnTo>
                <a:lnTo>
                  <a:pt x="194249" y="939800"/>
                </a:lnTo>
                <a:lnTo>
                  <a:pt x="186357" y="952500"/>
                </a:lnTo>
                <a:lnTo>
                  <a:pt x="727646" y="952500"/>
                </a:lnTo>
                <a:lnTo>
                  <a:pt x="753553" y="901700"/>
                </a:lnTo>
                <a:lnTo>
                  <a:pt x="777417" y="850900"/>
                </a:lnTo>
                <a:lnTo>
                  <a:pt x="797763" y="800100"/>
                </a:lnTo>
                <a:lnTo>
                  <a:pt x="813112" y="762000"/>
                </a:lnTo>
                <a:lnTo>
                  <a:pt x="821988" y="736600"/>
                </a:lnTo>
                <a:lnTo>
                  <a:pt x="833236" y="723900"/>
                </a:lnTo>
                <a:lnTo>
                  <a:pt x="837721" y="711200"/>
                </a:lnTo>
                <a:lnTo>
                  <a:pt x="836621" y="685800"/>
                </a:lnTo>
                <a:lnTo>
                  <a:pt x="831119" y="660400"/>
                </a:lnTo>
                <a:lnTo>
                  <a:pt x="828417" y="647700"/>
                </a:lnTo>
                <a:lnTo>
                  <a:pt x="813863" y="647700"/>
                </a:lnTo>
                <a:lnTo>
                  <a:pt x="798810" y="609600"/>
                </a:lnTo>
                <a:close/>
              </a:path>
              <a:path w="838200" h="2159000">
                <a:moveTo>
                  <a:pt x="615900" y="609600"/>
                </a:moveTo>
                <a:lnTo>
                  <a:pt x="206227" y="609600"/>
                </a:lnTo>
                <a:lnTo>
                  <a:pt x="207441" y="622300"/>
                </a:lnTo>
                <a:lnTo>
                  <a:pt x="210620" y="635000"/>
                </a:lnTo>
                <a:lnTo>
                  <a:pt x="212621" y="660400"/>
                </a:lnTo>
                <a:lnTo>
                  <a:pt x="214316" y="698500"/>
                </a:lnTo>
                <a:lnTo>
                  <a:pt x="216582" y="723900"/>
                </a:lnTo>
                <a:lnTo>
                  <a:pt x="221587" y="762000"/>
                </a:lnTo>
                <a:lnTo>
                  <a:pt x="226594" y="812800"/>
                </a:lnTo>
                <a:lnTo>
                  <a:pt x="229977" y="850900"/>
                </a:lnTo>
                <a:lnTo>
                  <a:pt x="230044" y="863600"/>
                </a:lnTo>
                <a:lnTo>
                  <a:pt x="230111" y="876300"/>
                </a:lnTo>
                <a:lnTo>
                  <a:pt x="229732" y="901700"/>
                </a:lnTo>
                <a:lnTo>
                  <a:pt x="229911" y="901700"/>
                </a:lnTo>
                <a:lnTo>
                  <a:pt x="230111" y="914400"/>
                </a:lnTo>
                <a:lnTo>
                  <a:pt x="227024" y="927100"/>
                </a:lnTo>
                <a:lnTo>
                  <a:pt x="653330" y="927100"/>
                </a:lnTo>
                <a:lnTo>
                  <a:pt x="634494" y="914400"/>
                </a:lnTo>
                <a:lnTo>
                  <a:pt x="613423" y="914400"/>
                </a:lnTo>
                <a:lnTo>
                  <a:pt x="594581" y="901700"/>
                </a:lnTo>
                <a:lnTo>
                  <a:pt x="595119" y="863600"/>
                </a:lnTo>
                <a:lnTo>
                  <a:pt x="597283" y="800100"/>
                </a:lnTo>
                <a:lnTo>
                  <a:pt x="600820" y="749300"/>
                </a:lnTo>
                <a:lnTo>
                  <a:pt x="606119" y="698500"/>
                </a:lnTo>
                <a:lnTo>
                  <a:pt x="611314" y="660400"/>
                </a:lnTo>
                <a:lnTo>
                  <a:pt x="614539" y="622300"/>
                </a:lnTo>
                <a:lnTo>
                  <a:pt x="615900" y="609600"/>
                </a:lnTo>
                <a:close/>
              </a:path>
              <a:path w="838200" h="2159000">
                <a:moveTo>
                  <a:pt x="505746" y="317500"/>
                </a:moveTo>
                <a:lnTo>
                  <a:pt x="316711" y="317500"/>
                </a:lnTo>
                <a:lnTo>
                  <a:pt x="314363" y="330200"/>
                </a:lnTo>
                <a:lnTo>
                  <a:pt x="310797" y="342900"/>
                </a:lnTo>
                <a:lnTo>
                  <a:pt x="516573" y="342900"/>
                </a:lnTo>
                <a:lnTo>
                  <a:pt x="510615" y="330200"/>
                </a:lnTo>
                <a:lnTo>
                  <a:pt x="506825" y="330200"/>
                </a:lnTo>
                <a:lnTo>
                  <a:pt x="505746" y="317500"/>
                </a:lnTo>
                <a:close/>
              </a:path>
              <a:path w="838200" h="2159000">
                <a:moveTo>
                  <a:pt x="491212" y="304800"/>
                </a:moveTo>
                <a:lnTo>
                  <a:pt x="326024" y="304800"/>
                </a:lnTo>
                <a:lnTo>
                  <a:pt x="318443" y="317500"/>
                </a:lnTo>
                <a:lnTo>
                  <a:pt x="498400" y="317500"/>
                </a:lnTo>
                <a:lnTo>
                  <a:pt x="491212" y="304800"/>
                </a:lnTo>
                <a:close/>
              </a:path>
              <a:path w="838200" h="2159000">
                <a:moveTo>
                  <a:pt x="511872" y="215900"/>
                </a:moveTo>
                <a:lnTo>
                  <a:pt x="309435" y="215900"/>
                </a:lnTo>
                <a:lnTo>
                  <a:pt x="318946" y="228600"/>
                </a:lnTo>
                <a:lnTo>
                  <a:pt x="323551" y="241300"/>
                </a:lnTo>
                <a:lnTo>
                  <a:pt x="329456" y="254000"/>
                </a:lnTo>
                <a:lnTo>
                  <a:pt x="334548" y="279400"/>
                </a:lnTo>
                <a:lnTo>
                  <a:pt x="336715" y="304800"/>
                </a:lnTo>
                <a:lnTo>
                  <a:pt x="483580" y="304800"/>
                </a:lnTo>
                <a:lnTo>
                  <a:pt x="482528" y="292100"/>
                </a:lnTo>
                <a:lnTo>
                  <a:pt x="482161" y="279400"/>
                </a:lnTo>
                <a:lnTo>
                  <a:pt x="483011" y="279400"/>
                </a:lnTo>
                <a:lnTo>
                  <a:pt x="485611" y="266700"/>
                </a:lnTo>
                <a:lnTo>
                  <a:pt x="490280" y="254000"/>
                </a:lnTo>
                <a:lnTo>
                  <a:pt x="494497" y="254000"/>
                </a:lnTo>
                <a:lnTo>
                  <a:pt x="498205" y="241300"/>
                </a:lnTo>
                <a:lnTo>
                  <a:pt x="501349" y="228600"/>
                </a:lnTo>
                <a:lnTo>
                  <a:pt x="506782" y="228600"/>
                </a:lnTo>
                <a:lnTo>
                  <a:pt x="511872" y="215900"/>
                </a:lnTo>
                <a:close/>
              </a:path>
              <a:path w="838200" h="2159000">
                <a:moveTo>
                  <a:pt x="526856" y="152400"/>
                </a:moveTo>
                <a:lnTo>
                  <a:pt x="299453" y="152400"/>
                </a:lnTo>
                <a:lnTo>
                  <a:pt x="297186" y="165100"/>
                </a:lnTo>
                <a:lnTo>
                  <a:pt x="299994" y="190500"/>
                </a:lnTo>
                <a:lnTo>
                  <a:pt x="302802" y="203200"/>
                </a:lnTo>
                <a:lnTo>
                  <a:pt x="305001" y="215900"/>
                </a:lnTo>
                <a:lnTo>
                  <a:pt x="516860" y="215900"/>
                </a:lnTo>
                <a:lnTo>
                  <a:pt x="521987" y="203200"/>
                </a:lnTo>
                <a:lnTo>
                  <a:pt x="525112" y="190500"/>
                </a:lnTo>
                <a:lnTo>
                  <a:pt x="527964" y="165100"/>
                </a:lnTo>
                <a:lnTo>
                  <a:pt x="526856" y="152400"/>
                </a:lnTo>
                <a:close/>
              </a:path>
              <a:path w="838200" h="2159000">
                <a:moveTo>
                  <a:pt x="473800" y="12700"/>
                </a:moveTo>
                <a:lnTo>
                  <a:pt x="365079" y="12700"/>
                </a:lnTo>
                <a:lnTo>
                  <a:pt x="347994" y="25400"/>
                </a:lnTo>
                <a:lnTo>
                  <a:pt x="331301" y="38100"/>
                </a:lnTo>
                <a:lnTo>
                  <a:pt x="309436" y="76200"/>
                </a:lnTo>
                <a:lnTo>
                  <a:pt x="302514" y="101600"/>
                </a:lnTo>
                <a:lnTo>
                  <a:pt x="303513" y="139700"/>
                </a:lnTo>
                <a:lnTo>
                  <a:pt x="305407" y="152400"/>
                </a:lnTo>
                <a:lnTo>
                  <a:pt x="518102" y="152400"/>
                </a:lnTo>
                <a:lnTo>
                  <a:pt x="521439" y="127000"/>
                </a:lnTo>
                <a:lnTo>
                  <a:pt x="521570" y="101600"/>
                </a:lnTo>
                <a:lnTo>
                  <a:pt x="521635" y="88900"/>
                </a:lnTo>
                <a:lnTo>
                  <a:pt x="512490" y="50800"/>
                </a:lnTo>
                <a:lnTo>
                  <a:pt x="487810" y="25400"/>
                </a:lnTo>
                <a:lnTo>
                  <a:pt x="474271" y="25400"/>
                </a:lnTo>
                <a:lnTo>
                  <a:pt x="473800" y="12700"/>
                </a:lnTo>
                <a:close/>
              </a:path>
              <a:path w="838200" h="2159000">
                <a:moveTo>
                  <a:pt x="434417" y="0"/>
                </a:moveTo>
                <a:lnTo>
                  <a:pt x="399823" y="0"/>
                </a:lnTo>
                <a:lnTo>
                  <a:pt x="382406" y="12700"/>
                </a:lnTo>
                <a:lnTo>
                  <a:pt x="451343" y="12700"/>
                </a:lnTo>
                <a:lnTo>
                  <a:pt x="43441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object 31">
            <a:extLst>
              <a:ext uri="{FF2B5EF4-FFF2-40B4-BE49-F238E27FC236}">
                <a16:creationId xmlns:a16="http://schemas.microsoft.com/office/drawing/2014/main" id="{D5036624-FCD3-9D38-409E-DCFCC7FF2F8A}"/>
              </a:ext>
            </a:extLst>
          </p:cNvPr>
          <p:cNvSpPr/>
          <p:nvPr/>
        </p:nvSpPr>
        <p:spPr>
          <a:xfrm>
            <a:off x="5803965" y="4860828"/>
            <a:ext cx="782491" cy="488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50361" indent="-44223">
              <a:lnSpc>
                <a:spcPct val="135000"/>
              </a:lnSpc>
              <a:spcBef>
                <a:spcPts val="48"/>
              </a:spcBef>
              <a:tabLst>
                <a:tab pos="0" algn="l"/>
              </a:tabLst>
            </a:pPr>
            <a:r>
              <a:rPr lang="fr-FR" sz="1228" b="1" spc="23">
                <a:solidFill>
                  <a:srgbClr val="970E53"/>
                </a:solidFill>
                <a:latin typeface="Arial"/>
              </a:rPr>
              <a:t>Individual </a:t>
            </a:r>
            <a:r>
              <a:rPr lang="fr-FR" sz="1228" b="1" spc="20">
                <a:solidFill>
                  <a:srgbClr val="970E53"/>
                </a:solidFill>
                <a:latin typeface="Arial"/>
              </a:rPr>
              <a:t>behavior</a:t>
            </a:r>
            <a:endParaRPr lang="fr-FR" sz="1228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7934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E4C9-7C4C-55DD-3D77-0FD52829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>
            <a:extLst>
              <a:ext uri="{FF2B5EF4-FFF2-40B4-BE49-F238E27FC236}">
                <a16:creationId xmlns:a16="http://schemas.microsoft.com/office/drawing/2014/main" id="{A2CA0FBC-7951-DBAC-9928-9E862848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8" y="118592"/>
            <a:ext cx="6162994" cy="899790"/>
          </a:xfrm>
          <a:prstGeom prst="rect">
            <a:avLst/>
          </a:prstGeom>
          <a:noFill/>
          <a:ln w="0">
            <a:noFill/>
          </a:ln>
        </p:spPr>
        <p:txBody>
          <a:bodyPr lIns="0" tIns="52888" rIns="0" bIns="0" anchor="t">
            <a:spAutoFit/>
          </a:bodyPr>
          <a:lstStyle/>
          <a:p>
            <a:pPr marL="6318">
              <a:lnSpc>
                <a:spcPts val="3339"/>
              </a:lnSpc>
              <a:spcBef>
                <a:spcPts val="417"/>
              </a:spcBef>
            </a:pPr>
            <a:r>
              <a:rPr lang="fr-FR" sz="3033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typical </a:t>
            </a:r>
            <a:r>
              <a:rPr lang="fr-FR" sz="3033" b="1" spc="-115">
                <a:solidFill>
                  <a:schemeClr val="dk1"/>
                </a:solidFill>
                <a:latin typeface="Arial"/>
              </a:rPr>
              <a:t>individualist</a:t>
            </a:r>
            <a:r>
              <a:rPr lang="fr-FR" sz="3033" b="1" spc="-88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>
                <a:solidFill>
                  <a:schemeClr val="dk1"/>
                </a:solidFill>
                <a:latin typeface="Arial"/>
              </a:rPr>
              <a:t>or</a:t>
            </a:r>
            <a:r>
              <a:rPr lang="fr-FR" sz="3033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5">
                <a:solidFill>
                  <a:schemeClr val="dk1"/>
                </a:solidFill>
                <a:latin typeface="Arial"/>
              </a:rPr>
              <a:t>(“agentic”) </a:t>
            </a:r>
            <a:r>
              <a:rPr lang="fr-FR" sz="3033" b="1" spc="-70">
                <a:solidFill>
                  <a:schemeClr val="dk1"/>
                </a:solidFill>
                <a:latin typeface="Arial"/>
              </a:rPr>
              <a:t>paradigm:</a:t>
            </a:r>
            <a:r>
              <a:rPr lang="fr-FR" sz="3033" b="1" spc="-10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12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3033" b="1" spc="-82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138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3033" b="1" spc="-75">
                <a:solidFill>
                  <a:schemeClr val="dk1"/>
                </a:solidFill>
                <a:latin typeface="Arial"/>
              </a:rPr>
              <a:t> </a:t>
            </a:r>
            <a:r>
              <a:rPr lang="fr-FR" sz="3033" b="1" spc="-6">
                <a:solidFill>
                  <a:schemeClr val="dk1"/>
                </a:solidFill>
                <a:latin typeface="Arial"/>
              </a:rPr>
              <a:t>Theory</a:t>
            </a:r>
            <a:endParaRPr lang="fr-FR" sz="3033"/>
          </a:p>
        </p:txBody>
      </p:sp>
      <p:sp>
        <p:nvSpPr>
          <p:cNvPr id="249" name="object 3">
            <a:extLst>
              <a:ext uri="{FF2B5EF4-FFF2-40B4-BE49-F238E27FC236}">
                <a16:creationId xmlns:a16="http://schemas.microsoft.com/office/drawing/2014/main" id="{432ED413-AC0C-02F1-FC73-009C796333A8}"/>
              </a:ext>
            </a:extLst>
          </p:cNvPr>
          <p:cNvSpPr/>
          <p:nvPr/>
        </p:nvSpPr>
        <p:spPr>
          <a:xfrm>
            <a:off x="277252" y="1284115"/>
            <a:ext cx="9374906" cy="3848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137" rIns="0" bIns="0" anchor="t">
            <a:spAutoFit/>
          </a:bodyPr>
          <a:lstStyle/>
          <a:p>
            <a:pPr marL="241695" indent="-235558">
              <a:lnSpc>
                <a:spcPct val="113000"/>
              </a:lnSpc>
              <a:spcBef>
                <a:spcPts val="48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 spc="36">
                <a:solidFill>
                  <a:srgbClr val="000000"/>
                </a:solidFill>
                <a:latin typeface="Arial MT"/>
              </a:rPr>
              <a:t>One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popular</a:t>
            </a:r>
            <a:r>
              <a:rPr lang="fr-FR" sz="1855" b="1" spc="2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05">
                <a:solidFill>
                  <a:srgbClr val="000000"/>
                </a:solidFill>
                <a:latin typeface="Arial"/>
              </a:rPr>
              <a:t>successful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paradigm: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predominant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in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economics,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influential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political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part</a:t>
            </a:r>
            <a:r>
              <a:rPr lang="fr-FR" sz="1855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sociology.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1695" indent="-235558">
              <a:lnSpc>
                <a:spcPct val="113000"/>
              </a:lnSpc>
              <a:spcBef>
                <a:spcPts val="951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59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Main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idea:</a:t>
            </a:r>
            <a:r>
              <a:rPr lang="fr-FR" sz="1855" spc="-4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i="1" spc="-46">
                <a:solidFill>
                  <a:srgbClr val="000000"/>
                </a:solidFill>
                <a:latin typeface="Arial"/>
              </a:rPr>
              <a:t>individuals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make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rational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8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by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23">
                <a:solidFill>
                  <a:srgbClr val="000000"/>
                </a:solidFill>
                <a:latin typeface="Arial"/>
              </a:rPr>
              <a:t>analyzing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the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85">
                <a:solidFill>
                  <a:srgbClr val="EE220C"/>
                </a:solidFill>
                <a:latin typeface="Arial"/>
              </a:rPr>
              <a:t>costs</a:t>
            </a:r>
            <a:r>
              <a:rPr lang="fr-FR" sz="1855" b="1" i="1" spc="-13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and 	</a:t>
            </a:r>
            <a:r>
              <a:rPr lang="fr-FR" sz="1855" b="1" i="1">
                <a:solidFill>
                  <a:srgbClr val="EE220C"/>
                </a:solidFill>
                <a:latin typeface="Arial"/>
              </a:rPr>
              <a:t>benefits</a:t>
            </a:r>
            <a:r>
              <a:rPr lang="fr-FR" sz="1855" b="1" i="1" spc="-36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of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>
                <a:solidFill>
                  <a:srgbClr val="000000"/>
                </a:solidFill>
                <a:latin typeface="Arial"/>
              </a:rPr>
              <a:t>every</a:t>
            </a:r>
            <a:r>
              <a:rPr lang="fr-FR" sz="1855" b="1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13">
                <a:solidFill>
                  <a:srgbClr val="000000"/>
                </a:solidFill>
                <a:latin typeface="Arial"/>
              </a:rPr>
              <a:t>available</a:t>
            </a:r>
            <a:r>
              <a:rPr lang="fr-FR" sz="1855" b="1" i="1" spc="-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i="1" spc="-6">
                <a:solidFill>
                  <a:srgbClr val="000000"/>
                </a:solidFill>
                <a:latin typeface="Arial"/>
              </a:rPr>
              <a:t>option.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242056" indent="-235558">
              <a:spcBef>
                <a:spcPts val="145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42056" algn="l"/>
              </a:tabLst>
            </a:pPr>
            <a:r>
              <a:rPr lang="fr-FR" sz="1855" spc="-88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 rational decisions,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individuals/agents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use: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82304" lvl="1" indent="-235558">
              <a:lnSpc>
                <a:spcPct val="113000"/>
              </a:lnSpc>
              <a:spcBef>
                <a:spcPts val="140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83207" algn="l"/>
              </a:tabLst>
            </a:pP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76BA"/>
                </a:solidFill>
                <a:latin typeface="Arial"/>
              </a:rPr>
              <a:t>information</a:t>
            </a:r>
            <a:r>
              <a:rPr lang="fr-FR" sz="1855" b="1" spc="2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—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their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respective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85">
                <a:solidFill>
                  <a:srgbClr val="000000"/>
                </a:solidFill>
                <a:latin typeface="Arial"/>
              </a:rPr>
              <a:t>costs</a:t>
            </a:r>
            <a:r>
              <a:rPr lang="fr-FR" sz="1855" b="1" spc="1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">
                <a:solidFill>
                  <a:srgbClr val="000000"/>
                </a:solidFill>
                <a:latin typeface="Arial"/>
              </a:rPr>
              <a:t>benefits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48189" indent="-235558">
              <a:lnSpc>
                <a:spcPct val="113000"/>
              </a:lnSpc>
              <a:spcBef>
                <a:spcPts val="141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preferences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relative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value</a:t>
            </a:r>
            <a:r>
              <a:rPr lang="fr-FR" sz="1855" b="1" spc="-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ascribe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3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objects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apples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27">
                <a:solidFill>
                  <a:srgbClr val="000000"/>
                </a:solidFill>
                <a:latin typeface="Arial MT"/>
              </a:rPr>
              <a:t>pears).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Most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preferred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options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0">
                <a:solidFill>
                  <a:srgbClr val="000000"/>
                </a:solidFill>
                <a:latin typeface="Arial MT"/>
              </a:rPr>
              <a:t>bring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more</a:t>
            </a:r>
            <a:r>
              <a:rPr lang="fr-FR" sz="1855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EE220C"/>
                </a:solidFill>
                <a:latin typeface="Arial"/>
              </a:rPr>
              <a:t>utility</a:t>
            </a:r>
            <a:r>
              <a:rPr lang="fr-FR" sz="1855" b="1" spc="10">
                <a:solidFill>
                  <a:srgbClr val="EE220C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855" spc="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satisfaction,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well-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being…)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781546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6AB5-3A08-F02F-7F58-36B712FB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>
            <a:extLst>
              <a:ext uri="{FF2B5EF4-FFF2-40B4-BE49-F238E27FC236}">
                <a16:creationId xmlns:a16="http://schemas.microsoft.com/office/drawing/2014/main" id="{20A55F1C-2185-3032-0B72-28DECB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1" name="object 3">
            <a:extLst>
              <a:ext uri="{FF2B5EF4-FFF2-40B4-BE49-F238E27FC236}">
                <a16:creationId xmlns:a16="http://schemas.microsoft.com/office/drawing/2014/main" id="{CE217418-EE48-69C1-21D5-C48AB668CC15}"/>
              </a:ext>
            </a:extLst>
          </p:cNvPr>
          <p:cNvSpPr/>
          <p:nvPr/>
        </p:nvSpPr>
        <p:spPr>
          <a:xfrm>
            <a:off x="319311" y="1155595"/>
            <a:ext cx="9183750" cy="4434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5054" rIns="0" bIns="0" anchor="t">
            <a:spAutoFit/>
          </a:bodyPr>
          <a:lstStyle/>
          <a:p>
            <a:pPr marL="6318">
              <a:spcBef>
                <a:spcPts val="434"/>
              </a:spcBef>
            </a:pPr>
            <a:r>
              <a:rPr lang="fr-FR" sz="1855" spc="-6">
                <a:solidFill>
                  <a:srgbClr val="000000"/>
                </a:solidFill>
                <a:latin typeface="Arial MT"/>
              </a:rPr>
              <a:t>Assumptions: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4327" indent="-231226">
              <a:lnSpc>
                <a:spcPct val="114000"/>
              </a:lnSpc>
              <a:spcBef>
                <a:spcPts val="584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704868" algn="l"/>
              </a:tabLst>
            </a:pPr>
            <a:r>
              <a:rPr lang="fr-FR" sz="180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instrumentally</a:t>
            </a:r>
            <a:r>
              <a:rPr lang="fr-FR" sz="1805" b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rational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05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05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3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05" spc="-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 spc="-16">
                <a:solidFill>
                  <a:srgbClr val="0076BA"/>
                </a:solidFill>
                <a:latin typeface="Arial"/>
              </a:rPr>
              <a:t>maximizes 	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their</a:t>
            </a:r>
            <a:r>
              <a:rPr lang="fr-FR" sz="1805" b="1" spc="33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b="1" spc="-30">
                <a:solidFill>
                  <a:srgbClr val="0076BA"/>
                </a:solidFill>
                <a:latin typeface="Arial"/>
              </a:rPr>
              <a:t>satisfaction</a:t>
            </a:r>
            <a:r>
              <a:rPr lang="fr-FR" sz="1805" b="1">
                <a:solidFill>
                  <a:srgbClr val="0076BA"/>
                </a:solidFill>
                <a:latin typeface="Arial"/>
              </a:rPr>
              <a:t> </a:t>
            </a:r>
            <a:r>
              <a:rPr lang="fr-FR" sz="1805" spc="26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information</a:t>
            </a:r>
            <a:r>
              <a:rPr lang="fr-FR" sz="1805" b="1" spc="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and </a:t>
            </a:r>
            <a:r>
              <a:rPr lang="fr-FR" sz="1805" b="1" spc="-10">
                <a:solidFill>
                  <a:srgbClr val="000000"/>
                </a:solidFill>
                <a:latin typeface="Arial"/>
              </a:rPr>
              <a:t>preferences</a:t>
            </a:r>
            <a:r>
              <a:rPr lang="fr-FR" sz="1805" b="1">
                <a:solidFill>
                  <a:srgbClr val="000000"/>
                </a:solidFill>
                <a:latin typeface="Arial"/>
              </a:rPr>
              <a:t> </a:t>
            </a:r>
            <a:r>
              <a:rPr lang="fr-FR" sz="1805">
                <a:solidFill>
                  <a:srgbClr val="000000"/>
                </a:solidFill>
                <a:latin typeface="Arial MT"/>
              </a:rPr>
              <a:t>they </a:t>
            </a:r>
            <a:r>
              <a:rPr lang="fr-FR" sz="1805" spc="-10">
                <a:solidFill>
                  <a:srgbClr val="000000"/>
                </a:solidFill>
                <a:latin typeface="Arial MT"/>
              </a:rPr>
              <a:t>have</a:t>
            </a:r>
            <a:endParaRPr lang="fr-FR" sz="1805">
              <a:solidFill>
                <a:srgbClr val="000000"/>
              </a:solidFill>
              <a:latin typeface="Arial"/>
            </a:endParaRPr>
          </a:p>
          <a:p>
            <a:pPr marL="748189" lvl="1" indent="-235558">
              <a:lnSpc>
                <a:spcPct val="113000"/>
              </a:lnSpc>
              <a:spcBef>
                <a:spcPts val="102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Individuals'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0">
                <a:solidFill>
                  <a:srgbClr val="0076BA"/>
                </a:solidFill>
                <a:latin typeface="Arial"/>
              </a:rPr>
              <a:t>selfish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act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way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maximizes</a:t>
            </a:r>
            <a:r>
              <a:rPr lang="fr-FR" sz="1855" spc="-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>
                <a:solidFill>
                  <a:srgbClr val="000000"/>
                </a:solidFill>
                <a:latin typeface="Arial"/>
              </a:rPr>
              <a:t>their</a:t>
            </a:r>
            <a:r>
              <a:rPr lang="fr-FR" sz="1855" b="1" spc="10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13">
                <a:solidFill>
                  <a:srgbClr val="000000"/>
                </a:solidFill>
                <a:latin typeface="Arial"/>
              </a:rPr>
              <a:t>own 	</a:t>
            </a:r>
            <a:r>
              <a:rPr lang="fr-FR" sz="1855" b="1" spc="-23">
                <a:solidFill>
                  <a:srgbClr val="000000"/>
                </a:solidFill>
                <a:latin typeface="Arial"/>
              </a:rPr>
              <a:t>personal</a:t>
            </a:r>
            <a:r>
              <a:rPr lang="fr-FR" sz="1855" b="1" spc="2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b="1" spc="-37">
                <a:solidFill>
                  <a:srgbClr val="000000"/>
                </a:solidFill>
                <a:latin typeface="Arial"/>
              </a:rPr>
              <a:t>satisfaction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,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given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what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have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88"/>
              </a:spcBef>
              <a:tabLst>
                <a:tab pos="749092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6318">
              <a:tabLst>
                <a:tab pos="749092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855" spc="-10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6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855" spc="-5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successful?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536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Allows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build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3">
                <a:solidFill>
                  <a:srgbClr val="0076BA"/>
                </a:solidFill>
                <a:latin typeface="Arial"/>
              </a:rPr>
              <a:t>models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: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simplified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descriptions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complex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phenomena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18045" indent="-235558">
              <a:spcBef>
                <a:spcPts val="1494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18045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allow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20">
                <a:solidFill>
                  <a:srgbClr val="0076BA"/>
                </a:solidFill>
                <a:latin typeface="Arial"/>
              </a:rPr>
              <a:t>predictions</a:t>
            </a:r>
            <a:r>
              <a:rPr lang="fr-FR" sz="1855" b="1" spc="-17">
                <a:solidFill>
                  <a:srgbClr val="0076BA"/>
                </a:solidFill>
                <a:latin typeface="Arial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(if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X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happens,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73">
                <a:solidFill>
                  <a:srgbClr val="000000"/>
                </a:solidFill>
                <a:latin typeface="Arial MT"/>
              </a:rPr>
              <a:t>Y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will</a:t>
            </a:r>
            <a:r>
              <a:rPr lang="fr-FR" sz="1855" spc="-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happen)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3605" indent="-221298">
              <a:lnSpc>
                <a:spcPct val="113000"/>
              </a:lnSpc>
              <a:spcBef>
                <a:spcPts val="1379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4507" algn="l"/>
              </a:tabLst>
            </a:pPr>
            <a:r>
              <a:rPr lang="fr-FR" sz="1730" spc="33">
                <a:solidFill>
                  <a:srgbClr val="000000"/>
                </a:solidFill>
                <a:latin typeface="Arial MT"/>
              </a:rPr>
              <a:t>It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23">
                <a:solidFill>
                  <a:srgbClr val="000000"/>
                </a:solidFill>
                <a:latin typeface="Arial MT"/>
              </a:rPr>
              <a:t>has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7">
                <a:solidFill>
                  <a:srgbClr val="000000"/>
                </a:solidFill>
                <a:latin typeface="Arial MT"/>
              </a:rPr>
              <a:t>been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-13">
                <a:solidFill>
                  <a:srgbClr val="0076BA"/>
                </a:solidFill>
                <a:latin typeface="Arial"/>
              </a:rPr>
              <a:t>highly</a:t>
            </a:r>
            <a:r>
              <a:rPr lang="fr-FR" sz="1730" b="1" spc="46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 b="1" spc="-88">
                <a:solidFill>
                  <a:srgbClr val="0076BA"/>
                </a:solidFill>
                <a:latin typeface="Arial"/>
              </a:rPr>
              <a:t>successful</a:t>
            </a:r>
            <a:r>
              <a:rPr lang="fr-FR" sz="1730" b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describing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many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(e.g.,</a:t>
            </a:r>
            <a:r>
              <a:rPr lang="fr-FR" sz="1730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23">
                <a:solidFill>
                  <a:srgbClr val="000000"/>
                </a:solidFill>
                <a:latin typeface="Arial MT"/>
              </a:rPr>
              <a:t>economic 	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behavior,</a:t>
            </a:r>
            <a:r>
              <a:rPr lang="fr-FR" sz="1730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b="1" spc="26">
                <a:solidFill>
                  <a:srgbClr val="000000"/>
                </a:solidFill>
                <a:latin typeface="Arial"/>
              </a:rPr>
              <a:t>but</a:t>
            </a:r>
            <a:r>
              <a:rPr lang="fr-FR" sz="1730" b="1" spc="3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30">
                <a:solidFill>
                  <a:srgbClr val="000000"/>
                </a:solidFill>
                <a:latin typeface="Arial"/>
              </a:rPr>
              <a:t>also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>
                <a:solidFill>
                  <a:srgbClr val="000000"/>
                </a:solidFill>
                <a:latin typeface="Arial"/>
              </a:rPr>
              <a:t>more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10">
                <a:solidFill>
                  <a:srgbClr val="000000"/>
                </a:solidFill>
                <a:latin typeface="Arial"/>
              </a:rPr>
              <a:t>"social"</a:t>
            </a:r>
            <a:r>
              <a:rPr lang="fr-FR" sz="1730" b="1" spc="33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 b="1" spc="-57">
                <a:solidFill>
                  <a:srgbClr val="000000"/>
                </a:solidFill>
                <a:latin typeface="Arial"/>
              </a:rPr>
              <a:t>decisions</a:t>
            </a:r>
            <a:r>
              <a:rPr lang="fr-FR" sz="1730" b="1" spc="6">
                <a:solidFill>
                  <a:srgbClr val="000000"/>
                </a:solidFill>
                <a:latin typeface="Arial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like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crime,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education,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48">
                <a:solidFill>
                  <a:srgbClr val="000000"/>
                </a:solidFill>
                <a:latin typeface="Arial MT"/>
              </a:rPr>
              <a:t>founding</a:t>
            </a:r>
            <a:r>
              <a:rPr lang="fr-FR" sz="173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730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30" spc="-6">
                <a:solidFill>
                  <a:srgbClr val="000000"/>
                </a:solidFill>
                <a:latin typeface="Arial MT"/>
              </a:rPr>
              <a:t>family...)</a:t>
            </a:r>
            <a:endParaRPr lang="fr-FR" sz="173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0320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B6A4-4A19-0FA7-4ABE-EAFEAC0C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>
            <a:extLst>
              <a:ext uri="{FF2B5EF4-FFF2-40B4-BE49-F238E27FC236}">
                <a16:creationId xmlns:a16="http://schemas.microsoft.com/office/drawing/2014/main" id="{C3DC7EE4-D0F1-5C79-5C2D-D8ED78D6C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9" y="115162"/>
            <a:ext cx="7288805" cy="855074"/>
          </a:xfrm>
          <a:prstGeom prst="rect">
            <a:avLst/>
          </a:prstGeom>
          <a:noFill/>
          <a:ln w="0">
            <a:noFill/>
          </a:ln>
        </p:spPr>
        <p:txBody>
          <a:bodyPr lIns="0" tIns="6318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50"/>
              </a:spcBef>
            </a:pPr>
            <a:r>
              <a:rPr lang="fr-FR" sz="5515" b="1" spc="-205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46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5515" b="1" spc="-115">
                <a:solidFill>
                  <a:schemeClr val="dk1"/>
                </a:solidFill>
                <a:latin typeface="Arial"/>
              </a:rPr>
              <a:t> </a:t>
            </a:r>
            <a:r>
              <a:rPr lang="fr-FR" sz="5515" b="1" spc="-208">
                <a:solidFill>
                  <a:schemeClr val="dk1"/>
                </a:solidFill>
                <a:latin typeface="Arial"/>
              </a:rPr>
              <a:t>Theory</a:t>
            </a:r>
            <a:endParaRPr lang="fr-FR" sz="5515"/>
          </a:p>
        </p:txBody>
      </p:sp>
      <p:sp>
        <p:nvSpPr>
          <p:cNvPr id="253" name="object 3">
            <a:extLst>
              <a:ext uri="{FF2B5EF4-FFF2-40B4-BE49-F238E27FC236}">
                <a16:creationId xmlns:a16="http://schemas.microsoft.com/office/drawing/2014/main" id="{1CB07E57-AED3-B502-0AA7-21087EE0569C}"/>
              </a:ext>
            </a:extLst>
          </p:cNvPr>
          <p:cNvSpPr/>
          <p:nvPr/>
        </p:nvSpPr>
        <p:spPr>
          <a:xfrm>
            <a:off x="319310" y="1004512"/>
            <a:ext cx="9619129" cy="4388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5090" rIns="0" bIns="0" anchor="t">
            <a:spAutoFit/>
          </a:bodyPr>
          <a:lstStyle/>
          <a:p>
            <a:pPr marL="6318">
              <a:spcBef>
                <a:spcPts val="591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Bad</a:t>
            </a:r>
            <a:r>
              <a:rPr lang="fr-FR" sz="1855" spc="-3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436820">
              <a:lnSpc>
                <a:spcPct val="113000"/>
              </a:lnSpc>
              <a:spcBef>
                <a:spcPts val="249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selfish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(they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help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friends,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families,</a:t>
            </a:r>
            <a:r>
              <a:rPr lang="fr-FR" sz="1855" spc="-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volunteer...)"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640"/>
              </a:spcBef>
            </a:pPr>
            <a:r>
              <a:rPr lang="fr-FR" sz="1454" spc="11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454" spc="-4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">
                <a:solidFill>
                  <a:srgbClr val="000000"/>
                </a:solidFill>
                <a:latin typeface="Arial MT"/>
              </a:rPr>
              <a:t>Some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10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454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explain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have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an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interest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26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others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even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454" spc="-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454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4" spc="-6">
                <a:solidFill>
                  <a:srgbClr val="000000"/>
                </a:solidFill>
                <a:latin typeface="Arial MT"/>
              </a:rPr>
              <a:t>selfish</a:t>
            </a:r>
            <a:endParaRPr lang="fr-FR" sz="1454">
              <a:solidFill>
                <a:srgbClr val="000000"/>
              </a:solidFill>
              <a:latin typeface="Arial"/>
            </a:endParaRPr>
          </a:p>
          <a:p>
            <a:pPr marL="1103601">
              <a:spcBef>
                <a:spcPts val="1120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1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altruistic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helping</a:t>
            </a:r>
            <a:r>
              <a:rPr lang="fr-FR" sz="1379" spc="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others)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  <a:spcBef>
                <a:spcPts val="834"/>
              </a:spcBef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6">
                <a:solidFill>
                  <a:srgbClr val="000000"/>
                </a:solidFill>
                <a:latin typeface="Arial MT"/>
              </a:rPr>
              <a:t>humans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animals: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0">
                <a:solidFill>
                  <a:srgbClr val="000000"/>
                </a:solidFill>
                <a:latin typeface="Arial MT"/>
              </a:rPr>
              <a:t>obey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norms,</a:t>
            </a:r>
            <a:r>
              <a:rPr lang="fr-FR" sz="1855" spc="2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conformism,</a:t>
            </a:r>
            <a:r>
              <a:rPr lang="fr-FR" sz="1855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etc...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103601">
              <a:lnSpc>
                <a:spcPct val="114000"/>
              </a:lnSpc>
              <a:spcBef>
                <a:spcPts val="489"/>
              </a:spcBef>
            </a:pPr>
            <a:r>
              <a:rPr lang="fr-FR" sz="1379" spc="121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13">
                <a:solidFill>
                  <a:srgbClr val="000000"/>
                </a:solidFill>
                <a:latin typeface="Arial MT"/>
              </a:rPr>
              <a:t>Increasingly,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5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models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introduce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(=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56">
                <a:solidFill>
                  <a:srgbClr val="000000"/>
                </a:solidFill>
                <a:latin typeface="Arial MT"/>
              </a:rPr>
              <a:t>get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satisfaction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26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379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following the</a:t>
            </a:r>
            <a:r>
              <a:rPr lang="fr-FR" sz="1379" spc="2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46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37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>
                <a:solidFill>
                  <a:srgbClr val="000000"/>
                </a:solidFill>
                <a:latin typeface="Arial MT"/>
              </a:rPr>
              <a:t>your</a:t>
            </a:r>
            <a:r>
              <a:rPr lang="fr-FR" sz="137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79" spc="-6">
                <a:solidFill>
                  <a:srgbClr val="000000"/>
                </a:solidFill>
                <a:latin typeface="Arial MT"/>
              </a:rPr>
              <a:t>group)</a:t>
            </a:r>
            <a:endParaRPr lang="fr-FR" sz="1379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28"/>
              </a:spcBef>
            </a:pPr>
            <a:endParaRPr lang="fr-FR" sz="1379">
              <a:solidFill>
                <a:srgbClr val="000000"/>
              </a:solidFill>
              <a:latin typeface="Arial"/>
            </a:endParaRPr>
          </a:p>
          <a:p>
            <a:pPr marL="505050">
              <a:lnSpc>
                <a:spcPct val="113000"/>
              </a:lnSpc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"RCT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obviously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wrong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because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46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-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rather </a:t>
            </a:r>
            <a:r>
              <a:rPr lang="fr-FR" sz="1855" spc="65">
                <a:solidFill>
                  <a:srgbClr val="000000"/>
                </a:solidFill>
                <a:latin typeface="Arial MT"/>
              </a:rPr>
              <a:t>stupid"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1056129">
              <a:lnSpc>
                <a:spcPct val="114000"/>
              </a:lnSpc>
              <a:spcBef>
                <a:spcPts val="334"/>
              </a:spcBef>
            </a:pPr>
            <a:r>
              <a:rPr lang="fr-FR" sz="1329" spc="108">
                <a:solidFill>
                  <a:srgbClr val="000000"/>
                </a:solidFill>
                <a:latin typeface="Arial MT"/>
              </a:rPr>
              <a:t>=&gt;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When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investigate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behavior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6">
                <a:solidFill>
                  <a:srgbClr val="000000"/>
                </a:solidFill>
                <a:latin typeface="Arial MT"/>
              </a:rPr>
              <a:t>deeply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3">
                <a:solidFill>
                  <a:srgbClr val="000000"/>
                </a:solidFill>
                <a:latin typeface="Arial MT"/>
              </a:rPr>
              <a:t>(even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weird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behaviors)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you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10">
                <a:solidFill>
                  <a:srgbClr val="000000"/>
                </a:solidFill>
                <a:latin typeface="Arial MT"/>
              </a:rPr>
              <a:t>realize</a:t>
            </a:r>
            <a:r>
              <a:rPr lang="fr-FR" sz="1329" spc="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underlying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rational</a:t>
            </a:r>
            <a:r>
              <a:rPr lang="fr-FR" sz="1329" spc="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27">
                <a:solidFill>
                  <a:srgbClr val="000000"/>
                </a:solidFill>
                <a:latin typeface="Arial MT"/>
              </a:rPr>
              <a:t>logic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(given</a:t>
            </a:r>
            <a:r>
              <a:rPr lang="fr-FR" sz="1329" spc="8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information</a:t>
            </a:r>
            <a:r>
              <a:rPr lang="fr-FR" sz="1329" spc="9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329" spc="9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329" spc="-6">
                <a:solidFill>
                  <a:srgbClr val="000000"/>
                </a:solidFill>
                <a:latin typeface="Arial MT"/>
              </a:rPr>
              <a:t>preferences)</a:t>
            </a:r>
            <a:endParaRPr lang="fr-FR" sz="1329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11459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8558-BBD9-F954-7DB7-C4884ED4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>
            <a:extLst>
              <a:ext uri="{FF2B5EF4-FFF2-40B4-BE49-F238E27FC236}">
                <a16:creationId xmlns:a16="http://schemas.microsoft.com/office/drawing/2014/main" id="{95F57348-F7A5-D8B0-FDC1-16C77432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58" y="254693"/>
            <a:ext cx="7816603" cy="731460"/>
          </a:xfrm>
          <a:prstGeom prst="rect">
            <a:avLst/>
          </a:prstGeom>
          <a:noFill/>
          <a:ln w="0">
            <a:noFill/>
          </a:ln>
        </p:spPr>
        <p:txBody>
          <a:bodyPr lIns="0" tIns="6137" rIns="0" bIns="0" anchor="t">
            <a:spAutoFit/>
          </a:bodyPr>
          <a:lstStyle/>
          <a:p>
            <a:pPr marL="6318">
              <a:lnSpc>
                <a:spcPct val="100000"/>
              </a:lnSpc>
              <a:spcBef>
                <a:spcPts val="48"/>
              </a:spcBef>
            </a:pPr>
            <a:r>
              <a:rPr lang="fr-FR" sz="4713" b="1" spc="-177">
                <a:solidFill>
                  <a:schemeClr val="dk1"/>
                </a:solidFill>
                <a:latin typeface="Arial"/>
              </a:rPr>
              <a:t>Rational</a:t>
            </a:r>
            <a:r>
              <a:rPr lang="fr-FR" sz="4713" b="1" spc="-101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211">
                <a:solidFill>
                  <a:schemeClr val="dk1"/>
                </a:solidFill>
                <a:latin typeface="Arial"/>
              </a:rPr>
              <a:t>Choice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158">
                <a:solidFill>
                  <a:schemeClr val="dk1"/>
                </a:solidFill>
                <a:latin typeface="Arial"/>
              </a:rPr>
              <a:t>Theory</a:t>
            </a:r>
            <a:r>
              <a:rPr lang="fr-FR" sz="4713" b="1" spc="-98">
                <a:solidFill>
                  <a:schemeClr val="dk1"/>
                </a:solidFill>
                <a:latin typeface="Arial"/>
              </a:rPr>
              <a:t> </a:t>
            </a:r>
            <a:r>
              <a:rPr lang="fr-FR" sz="4713" b="1" spc="-338">
                <a:solidFill>
                  <a:schemeClr val="dk1"/>
                </a:solidFill>
                <a:latin typeface="Arial"/>
              </a:rPr>
              <a:t>(RCT)</a:t>
            </a:r>
            <a:endParaRPr lang="fr-FR" sz="4713"/>
          </a:p>
        </p:txBody>
      </p:sp>
      <p:sp>
        <p:nvSpPr>
          <p:cNvPr id="255" name="object 3">
            <a:extLst>
              <a:ext uri="{FF2B5EF4-FFF2-40B4-BE49-F238E27FC236}">
                <a16:creationId xmlns:a16="http://schemas.microsoft.com/office/drawing/2014/main" id="{701F89D0-A283-52D3-77AF-081BCABA9A5A}"/>
              </a:ext>
            </a:extLst>
          </p:cNvPr>
          <p:cNvSpPr/>
          <p:nvPr/>
        </p:nvSpPr>
        <p:spPr>
          <a:xfrm>
            <a:off x="319310" y="1158483"/>
            <a:ext cx="8195303" cy="3922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2527" rIns="0" bIns="0" anchor="t">
            <a:spAutoFit/>
          </a:bodyPr>
          <a:lstStyle/>
          <a:p>
            <a:pPr marL="6318">
              <a:spcBef>
                <a:spcPts val="414"/>
              </a:spcBef>
            </a:pPr>
            <a:r>
              <a:rPr lang="fr-FR" sz="1855" spc="56">
                <a:solidFill>
                  <a:srgbClr val="000000"/>
                </a:solidFill>
                <a:latin typeface="Arial MT"/>
              </a:rPr>
              <a:t>Good</a:t>
            </a:r>
            <a:r>
              <a:rPr lang="fr-FR" sz="1855" spc="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critiques: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8659" indent="-235558">
              <a:lnSpc>
                <a:spcPct val="113000"/>
              </a:lnSpc>
              <a:spcBef>
                <a:spcPts val="577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9742" algn="l"/>
              </a:tabLst>
            </a:pPr>
            <a:r>
              <a:rPr lang="fr-FR" sz="1855" spc="-111">
                <a:solidFill>
                  <a:srgbClr val="000000"/>
                </a:solidFill>
                <a:latin typeface="Arial MT"/>
              </a:rPr>
              <a:t>RCT</a:t>
            </a:r>
            <a:r>
              <a:rPr lang="fr-FR" sz="1855" spc="-2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37">
                <a:solidFill>
                  <a:srgbClr val="000000"/>
                </a:solidFill>
                <a:latin typeface="Arial MT"/>
              </a:rPr>
              <a:t>researchers</a:t>
            </a:r>
            <a:r>
              <a:rPr lang="fr-FR" sz="1855" spc="-8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make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0">
                <a:solidFill>
                  <a:srgbClr val="000000"/>
                </a:solidFill>
                <a:latin typeface="Arial MT"/>
              </a:rPr>
              <a:t>assumptions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3">
                <a:solidFill>
                  <a:srgbClr val="000000"/>
                </a:solidFill>
                <a:latin typeface="Arial MT"/>
              </a:rPr>
              <a:t>people's</a:t>
            </a:r>
            <a:r>
              <a:rPr lang="fr-FR" sz="1855" spc="-5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preferences.</a:t>
            </a:r>
            <a:r>
              <a:rPr lang="fr-FR" sz="1855" spc="-5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But 	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82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these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8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come</a:t>
            </a:r>
            <a:r>
              <a:rPr lang="fr-FR" sz="1855" spc="-3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from?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 marL="700175" indent="-227074">
              <a:lnSpc>
                <a:spcPct val="114000"/>
              </a:lnSpc>
              <a:spcBef>
                <a:spcPts val="1913"/>
              </a:spcBef>
              <a:buClr>
                <a:srgbClr val="000000"/>
              </a:buClr>
              <a:buSzPct val="123000"/>
              <a:buFont typeface="Symbol" charset="2"/>
              <a:buChar char=""/>
              <a:tabLst>
                <a:tab pos="700175" algn="l"/>
              </a:tabLst>
            </a:pPr>
            <a:r>
              <a:rPr lang="fr-FR" sz="1780">
                <a:solidFill>
                  <a:srgbClr val="000000"/>
                </a:solidFill>
                <a:latin typeface="Arial MT"/>
              </a:rPr>
              <a:t>Why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78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preferences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seem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37">
                <a:solidFill>
                  <a:srgbClr val="000000"/>
                </a:solidFill>
                <a:latin typeface="Arial MT"/>
              </a:rPr>
              <a:t>often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so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irrational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stupid?</a:t>
            </a:r>
            <a:r>
              <a:rPr lang="fr-FR" sz="1780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For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example: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eating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salt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fat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26">
                <a:solidFill>
                  <a:srgbClr val="000000"/>
                </a:solidFill>
                <a:latin typeface="Arial MT"/>
              </a:rPr>
              <a:t>makes</a:t>
            </a:r>
            <a:r>
              <a:rPr lang="fr-FR" sz="1780" spc="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0">
                <a:solidFill>
                  <a:srgbClr val="000000"/>
                </a:solidFill>
                <a:latin typeface="Arial MT"/>
              </a:rPr>
              <a:t>us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16">
                <a:solidFill>
                  <a:srgbClr val="000000"/>
                </a:solidFill>
                <a:latin typeface="Arial MT"/>
              </a:rPr>
              <a:t>sick,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smoking cigarettes,</a:t>
            </a:r>
            <a:r>
              <a:rPr lang="fr-FR" sz="1780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27">
                <a:solidFill>
                  <a:srgbClr val="000000"/>
                </a:solidFill>
                <a:latin typeface="Arial MT"/>
              </a:rPr>
              <a:t>driving</a:t>
            </a:r>
            <a:r>
              <a:rPr lang="fr-FR" sz="178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780" spc="-6">
                <a:solidFill>
                  <a:srgbClr val="000000"/>
                </a:solidFill>
                <a:latin typeface="Arial MT"/>
              </a:rPr>
              <a:t>drunk...?</a:t>
            </a:r>
            <a:endParaRPr lang="fr-FR" sz="178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371"/>
              </a:spcBef>
              <a:tabLst>
                <a:tab pos="700175" algn="l"/>
              </a:tabLst>
            </a:pPr>
            <a:endParaRPr lang="fr-FR" sz="1780">
              <a:solidFill>
                <a:srgbClr val="000000"/>
              </a:solidFill>
              <a:latin typeface="Arial"/>
            </a:endParaRPr>
          </a:p>
          <a:p>
            <a:pPr marL="835734" lvl="1" indent="-235558">
              <a:lnSpc>
                <a:spcPct val="113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836817" algn="l"/>
              </a:tabLst>
            </a:pPr>
            <a:r>
              <a:rPr lang="fr-FR" sz="1855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855" spc="-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b="1" spc="-68">
                <a:solidFill>
                  <a:srgbClr val="000000"/>
                </a:solidFill>
                <a:latin typeface="Arial"/>
              </a:rPr>
              <a:t>selfish</a:t>
            </a:r>
            <a:r>
              <a:rPr lang="fr-FR" sz="1855" b="1" spc="-3">
                <a:solidFill>
                  <a:srgbClr val="000000"/>
                </a:solidFill>
                <a:latin typeface="Arial"/>
              </a:rPr>
              <a:t> </a:t>
            </a:r>
            <a:r>
              <a:rPr lang="fr-FR" sz="1855" spc="-143">
                <a:solidFill>
                  <a:srgbClr val="000000"/>
                </a:solidFill>
                <a:latin typeface="Arial MT"/>
              </a:rPr>
              <a:t>(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15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only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care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36">
                <a:solidFill>
                  <a:srgbClr val="000000"/>
                </a:solidFill>
                <a:latin typeface="Arial MT"/>
              </a:rPr>
              <a:t>about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>
                <a:solidFill>
                  <a:srgbClr val="000000"/>
                </a:solidFill>
                <a:latin typeface="Arial MT"/>
              </a:rPr>
              <a:t>their</a:t>
            </a:r>
            <a:r>
              <a:rPr lang="fr-FR" sz="1855" spc="-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855" spc="-13">
                <a:solidFill>
                  <a:srgbClr val="000000"/>
                </a:solidFill>
                <a:latin typeface="Arial MT"/>
              </a:rPr>
              <a:t>own 	</a:t>
            </a:r>
            <a:r>
              <a:rPr lang="fr-FR" sz="1855" spc="-6">
                <a:solidFill>
                  <a:srgbClr val="000000"/>
                </a:solidFill>
                <a:latin typeface="Arial MT"/>
              </a:rPr>
              <a:t>satisfaction)</a:t>
            </a: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328"/>
              </a:spcBef>
              <a:tabLst>
                <a:tab pos="836817" algn="l"/>
              </a:tabLst>
            </a:pPr>
            <a:endParaRPr lang="fr-FR" sz="1855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836817" algn="l"/>
              </a:tabLst>
            </a:pPr>
            <a:r>
              <a:rPr lang="fr-FR" sz="1855" spc="-111">
                <a:solidFill>
                  <a:srgbClr val="EE220C"/>
                </a:solidFill>
                <a:latin typeface="Arial MT"/>
              </a:rPr>
              <a:t>RCT</a:t>
            </a:r>
            <a:r>
              <a:rPr lang="fr-FR" sz="1855" spc="-7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is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50">
                <a:solidFill>
                  <a:srgbClr val="EE220C"/>
                </a:solidFill>
                <a:latin typeface="Arial MT"/>
              </a:rPr>
              <a:t>not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>
                <a:solidFill>
                  <a:srgbClr val="EE220C"/>
                </a:solidFill>
                <a:latin typeface="Arial MT"/>
              </a:rPr>
              <a:t>perfect,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0">
                <a:solidFill>
                  <a:srgbClr val="EE220C"/>
                </a:solidFill>
                <a:latin typeface="Arial MT"/>
              </a:rPr>
              <a:t>but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</a:t>
            </a:r>
            <a:r>
              <a:rPr lang="fr-FR" sz="1855" spc="63">
                <a:solidFill>
                  <a:srgbClr val="EE220C"/>
                </a:solidFill>
                <a:latin typeface="Arial MT"/>
              </a:rPr>
              <a:t>it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works </a:t>
            </a:r>
            <a:r>
              <a:rPr lang="fr-FR" sz="1855" spc="36">
                <a:solidFill>
                  <a:srgbClr val="EE220C"/>
                </a:solidFill>
                <a:latin typeface="Arial MT"/>
              </a:rPr>
              <a:t>pretty</a:t>
            </a:r>
            <a:r>
              <a:rPr lang="fr-FR" sz="1855" spc="-6">
                <a:solidFill>
                  <a:srgbClr val="EE220C"/>
                </a:solidFill>
                <a:latin typeface="Arial MT"/>
              </a:rPr>
              <a:t> well!</a:t>
            </a:r>
            <a:endParaRPr lang="fr-FR" sz="185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6400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0690-9549-0495-80E6-B7B0173F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29">
            <a:extLst>
              <a:ext uri="{FF2B5EF4-FFF2-40B4-BE49-F238E27FC236}">
                <a16:creationId xmlns:a16="http://schemas.microsoft.com/office/drawing/2014/main" id="{78BF8D57-E787-06D9-702A-60D38F9EE672}"/>
              </a:ext>
            </a:extLst>
          </p:cNvPr>
          <p:cNvSpPr/>
          <p:nvPr/>
        </p:nvSpPr>
        <p:spPr>
          <a:xfrm>
            <a:off x="0" y="2007367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III) Skill 3: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B0A6D628-4A3C-A7E5-41E0-56F0CBB4C827}"/>
              </a:ext>
            </a:extLst>
          </p:cNvPr>
          <p:cNvSpPr/>
          <p:nvPr/>
        </p:nvSpPr>
        <p:spPr>
          <a:xfrm>
            <a:off x="1" y="241365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A)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62B8C205-645F-267E-CA4E-8415C7C8C322}"/>
              </a:ext>
            </a:extLst>
          </p:cNvPr>
          <p:cNvSpPr/>
          <p:nvPr/>
        </p:nvSpPr>
        <p:spPr>
          <a:xfrm>
            <a:off x="0" y="2803605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B)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5973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8DD88A36-79A6-85F5-6CEC-403720B03F65}"/>
              </a:ext>
            </a:extLst>
          </p:cNvPr>
          <p:cNvSpPr/>
          <p:nvPr/>
        </p:nvSpPr>
        <p:spPr>
          <a:xfrm>
            <a:off x="0" y="144347"/>
            <a:ext cx="1008062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Workshop 3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37AF4F2C-CE91-3BEF-2078-7981AF20A8E3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Apply RCT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your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research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topic (10mn)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95966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02C0-B0AC-A1D6-66E0-E01292AE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E65BA3D-9884-8E4A-663D-9623964A60C1}"/>
              </a:ext>
            </a:extLst>
          </p:cNvPr>
          <p:cNvSpPr/>
          <p:nvPr/>
        </p:nvSpPr>
        <p:spPr>
          <a:xfrm>
            <a:off x="0" y="2011039"/>
            <a:ext cx="1008062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Skill </a:t>
            </a:r>
            <a:r>
              <a:rPr lang="fr-MA" sz="2000" b="1" dirty="0">
                <a:solidFill>
                  <a:schemeClr val="dk1"/>
                </a:solidFill>
                <a:latin typeface="Avenir Next LT Pro"/>
              </a:rPr>
              <a:t>3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« 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Exert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Imperialism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»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C1B7455B-9CA6-E793-84E9-A7A722EDF17A}"/>
              </a:ext>
            </a:extLst>
          </p:cNvPr>
          <p:cNvSpPr/>
          <p:nvPr/>
        </p:nvSpPr>
        <p:spPr>
          <a:xfrm>
            <a:off x="0" y="2498175"/>
            <a:ext cx="10080624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capacity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apply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16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new social </a:t>
            </a:r>
            <a:r>
              <a:rPr lang="fr-MA" sz="16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objects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2927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F979-ABBA-8E5B-1E8D-1529FB23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>
            <a:extLst>
              <a:ext uri="{FF2B5EF4-FFF2-40B4-BE49-F238E27FC236}">
                <a16:creationId xmlns:a16="http://schemas.microsoft.com/office/drawing/2014/main" id="{7E09B3B0-D0A5-8E43-B0FF-4B783DFA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  <p:sp>
        <p:nvSpPr>
          <p:cNvPr id="257" name="object 3">
            <a:extLst>
              <a:ext uri="{FF2B5EF4-FFF2-40B4-BE49-F238E27FC236}">
                <a16:creationId xmlns:a16="http://schemas.microsoft.com/office/drawing/2014/main" id="{73D62C21-740D-08D9-E9ED-5266C1070DFC}"/>
              </a:ext>
            </a:extLst>
          </p:cNvPr>
          <p:cNvSpPr/>
          <p:nvPr/>
        </p:nvSpPr>
        <p:spPr>
          <a:xfrm>
            <a:off x="4430680" y="3058121"/>
            <a:ext cx="1157220" cy="692599"/>
          </a:xfrm>
          <a:custGeom>
            <a:avLst/>
            <a:gdLst>
              <a:gd name="textAreaLeft" fmla="*/ 0 w 2307960"/>
              <a:gd name="textAreaRight" fmla="*/ 2308320 w 2307960"/>
              <a:gd name="textAreaTop" fmla="*/ 0 h 1381320"/>
              <a:gd name="textAreaBottom" fmla="*/ 1381680 h 1381320"/>
            </a:gdLst>
            <a:ahLst/>
            <a:cxnLst/>
            <a:rect l="textAreaLeft" t="textAreaTop" r="textAreaRight" b="textAreaBottom"/>
            <a:pathLst>
              <a:path w="2308225" h="1381759">
                <a:moveTo>
                  <a:pt x="2099599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1172786"/>
                </a:lnTo>
                <a:lnTo>
                  <a:pt x="159" y="1214247"/>
                </a:lnTo>
                <a:lnTo>
                  <a:pt x="4307" y="1274241"/>
                </a:lnTo>
                <a:lnTo>
                  <a:pt x="22518" y="1319989"/>
                </a:lnTo>
                <a:lnTo>
                  <a:pt x="61148" y="1358619"/>
                </a:lnTo>
                <a:lnTo>
                  <a:pt x="106896" y="1376830"/>
                </a:lnTo>
                <a:lnTo>
                  <a:pt x="166890" y="1380978"/>
                </a:lnTo>
                <a:lnTo>
                  <a:pt x="208351" y="1381138"/>
                </a:lnTo>
                <a:lnTo>
                  <a:pt x="2099599" y="1381138"/>
                </a:lnTo>
                <a:lnTo>
                  <a:pt x="2141061" y="1380978"/>
                </a:lnTo>
                <a:lnTo>
                  <a:pt x="2201060" y="1376830"/>
                </a:lnTo>
                <a:lnTo>
                  <a:pt x="2246810" y="1358619"/>
                </a:lnTo>
                <a:lnTo>
                  <a:pt x="2285435" y="1319989"/>
                </a:lnTo>
                <a:lnTo>
                  <a:pt x="2303648" y="1274241"/>
                </a:lnTo>
                <a:lnTo>
                  <a:pt x="2307800" y="1214247"/>
                </a:lnTo>
                <a:lnTo>
                  <a:pt x="2307960" y="1172786"/>
                </a:lnTo>
                <a:lnTo>
                  <a:pt x="2307960" y="208351"/>
                </a:lnTo>
                <a:lnTo>
                  <a:pt x="2307800" y="166890"/>
                </a:lnTo>
                <a:lnTo>
                  <a:pt x="2303648" y="106896"/>
                </a:lnTo>
                <a:lnTo>
                  <a:pt x="2285435" y="61148"/>
                </a:lnTo>
                <a:lnTo>
                  <a:pt x="2246810" y="22518"/>
                </a:lnTo>
                <a:lnTo>
                  <a:pt x="2201060" y="4307"/>
                </a:lnTo>
                <a:lnTo>
                  <a:pt x="2141061" y="159"/>
                </a:lnTo>
                <a:lnTo>
                  <a:pt x="209959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object 4">
            <a:extLst>
              <a:ext uri="{FF2B5EF4-FFF2-40B4-BE49-F238E27FC236}">
                <a16:creationId xmlns:a16="http://schemas.microsoft.com/office/drawing/2014/main" id="{C9757F48-9904-F66E-6061-2A5494B617AD}"/>
              </a:ext>
            </a:extLst>
          </p:cNvPr>
          <p:cNvSpPr/>
          <p:nvPr/>
        </p:nvSpPr>
        <p:spPr>
          <a:xfrm>
            <a:off x="4519128" y="3097111"/>
            <a:ext cx="980144" cy="58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549"/>
              </a:lnSpc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Cognitive</a:t>
            </a:r>
            <a:endParaRPr lang="fr-FR" sz="1304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615"/>
              </a:lnSpc>
              <a:spcBef>
                <a:spcPts val="20"/>
              </a:spcBef>
            </a:pPr>
            <a:r>
              <a:rPr lang="fr-FR" sz="1304" spc="30">
                <a:solidFill>
                  <a:srgbClr val="FFFFFF"/>
                </a:solidFill>
                <a:latin typeface="Arial MT"/>
              </a:rPr>
              <a:t>mechanisms </a:t>
            </a:r>
            <a:r>
              <a:rPr lang="fr-FR" sz="1304" spc="33">
                <a:solidFill>
                  <a:srgbClr val="FFFFFF"/>
                </a:solidFill>
                <a:latin typeface="Arial MT"/>
              </a:rPr>
              <a:t>for</a:t>
            </a:r>
            <a:endParaRPr lang="fr-FR" sz="130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5">
            <a:extLst>
              <a:ext uri="{FF2B5EF4-FFF2-40B4-BE49-F238E27FC236}">
                <a16:creationId xmlns:a16="http://schemas.microsoft.com/office/drawing/2014/main" id="{366873CF-657F-FA3A-842C-2350A2E97A48}"/>
              </a:ext>
            </a:extLst>
          </p:cNvPr>
          <p:cNvSpPr/>
          <p:nvPr/>
        </p:nvSpPr>
        <p:spPr>
          <a:xfrm>
            <a:off x="409202" y="2383392"/>
            <a:ext cx="1794945" cy="1988086"/>
          </a:xfrm>
          <a:custGeom>
            <a:avLst/>
            <a:gdLst>
              <a:gd name="textAreaLeft" fmla="*/ 0 w 3579840"/>
              <a:gd name="textAreaRight" fmla="*/ 3580200 w 3579840"/>
              <a:gd name="textAreaTop" fmla="*/ 0 h 3965040"/>
              <a:gd name="textAreaBottom" fmla="*/ 3965400 h 3965040"/>
            </a:gdLst>
            <a:ahLst/>
            <a:cxnLst/>
            <a:rect l="textAreaLeft" t="textAreaTop" r="textAreaRight" b="textAreaBottom"/>
            <a:pathLst>
              <a:path w="3580129" h="3965575">
                <a:moveTo>
                  <a:pt x="3142598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4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3528090"/>
                </a:lnTo>
                <a:lnTo>
                  <a:pt x="171" y="3599081"/>
                </a:lnTo>
                <a:lnTo>
                  <a:pt x="1370" y="3658993"/>
                </a:lnTo>
                <a:lnTo>
                  <a:pt x="4625" y="3709056"/>
                </a:lnTo>
                <a:lnTo>
                  <a:pt x="10964" y="3750502"/>
                </a:lnTo>
                <a:lnTo>
                  <a:pt x="41198" y="3826919"/>
                </a:lnTo>
                <a:lnTo>
                  <a:pt x="67751" y="3864759"/>
                </a:lnTo>
                <a:lnTo>
                  <a:pt x="100323" y="3897332"/>
                </a:lnTo>
                <a:lnTo>
                  <a:pt x="138164" y="3923885"/>
                </a:lnTo>
                <a:lnTo>
                  <a:pt x="180522" y="3943669"/>
                </a:lnTo>
                <a:lnTo>
                  <a:pt x="256027" y="3960458"/>
                </a:lnTo>
                <a:lnTo>
                  <a:pt x="306090" y="3963712"/>
                </a:lnTo>
                <a:lnTo>
                  <a:pt x="366002" y="3964912"/>
                </a:lnTo>
                <a:lnTo>
                  <a:pt x="436992" y="3965083"/>
                </a:lnTo>
                <a:lnTo>
                  <a:pt x="3142598" y="3965083"/>
                </a:lnTo>
                <a:lnTo>
                  <a:pt x="3213589" y="3964912"/>
                </a:lnTo>
                <a:lnTo>
                  <a:pt x="3273500" y="3963712"/>
                </a:lnTo>
                <a:lnTo>
                  <a:pt x="3323563" y="3960458"/>
                </a:lnTo>
                <a:lnTo>
                  <a:pt x="3365009" y="3954119"/>
                </a:lnTo>
                <a:lnTo>
                  <a:pt x="3441427" y="3923885"/>
                </a:lnTo>
                <a:lnTo>
                  <a:pt x="3479267" y="3897332"/>
                </a:lnTo>
                <a:lnTo>
                  <a:pt x="3511840" y="3864759"/>
                </a:lnTo>
                <a:lnTo>
                  <a:pt x="3538393" y="3826919"/>
                </a:lnTo>
                <a:lnTo>
                  <a:pt x="3558176" y="3784561"/>
                </a:lnTo>
                <a:lnTo>
                  <a:pt x="3574965" y="3709056"/>
                </a:lnTo>
                <a:lnTo>
                  <a:pt x="3578220" y="3658993"/>
                </a:lnTo>
                <a:lnTo>
                  <a:pt x="3579420" y="3599081"/>
                </a:lnTo>
                <a:lnTo>
                  <a:pt x="3579591" y="3528090"/>
                </a:lnTo>
                <a:lnTo>
                  <a:pt x="3579591" y="436992"/>
                </a:lnTo>
                <a:lnTo>
                  <a:pt x="3579420" y="366001"/>
                </a:lnTo>
                <a:lnTo>
                  <a:pt x="3578220" y="306089"/>
                </a:lnTo>
                <a:lnTo>
                  <a:pt x="3574965" y="256026"/>
                </a:lnTo>
                <a:lnTo>
                  <a:pt x="3568627" y="214581"/>
                </a:lnTo>
                <a:lnTo>
                  <a:pt x="3538393" y="138163"/>
                </a:lnTo>
                <a:lnTo>
                  <a:pt x="3511840" y="100323"/>
                </a:lnTo>
                <a:lnTo>
                  <a:pt x="3479267" y="67750"/>
                </a:lnTo>
                <a:lnTo>
                  <a:pt x="3441427" y="41197"/>
                </a:lnTo>
                <a:lnTo>
                  <a:pt x="3399069" y="21414"/>
                </a:lnTo>
                <a:lnTo>
                  <a:pt x="3323563" y="4625"/>
                </a:lnTo>
                <a:lnTo>
                  <a:pt x="3273500" y="1370"/>
                </a:lnTo>
                <a:lnTo>
                  <a:pt x="3213589" y="171"/>
                </a:lnTo>
                <a:lnTo>
                  <a:pt x="3142598" y="0"/>
                </a:lnTo>
                <a:close/>
              </a:path>
            </a:pathLst>
          </a:custGeom>
          <a:solidFill>
            <a:srgbClr val="0076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0" name="object 6">
            <a:extLst>
              <a:ext uri="{FF2B5EF4-FFF2-40B4-BE49-F238E27FC236}">
                <a16:creationId xmlns:a16="http://schemas.microsoft.com/office/drawing/2014/main" id="{5CADA1B7-91E3-F358-D4E1-C99F6DE62ABC}"/>
              </a:ext>
            </a:extLst>
          </p:cNvPr>
          <p:cNvGrpSpPr/>
          <p:nvPr/>
        </p:nvGrpSpPr>
        <p:grpSpPr>
          <a:xfrm>
            <a:off x="2243136" y="1888627"/>
            <a:ext cx="5074185" cy="3681406"/>
            <a:chOff x="4473360" y="3766680"/>
            <a:chExt cx="10119960" cy="7342200"/>
          </a:xfrm>
        </p:grpSpPr>
        <p:pic>
          <p:nvPicPr>
            <p:cNvPr id="261" name="object 7">
              <a:extLst>
                <a:ext uri="{FF2B5EF4-FFF2-40B4-BE49-F238E27FC236}">
                  <a16:creationId xmlns:a16="http://schemas.microsoft.com/office/drawing/2014/main" id="{0F4247C7-E0AD-4FED-2C3C-C0B0EBFF22A9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6779520" y="3766680"/>
              <a:ext cx="7332480" cy="734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2" name="object 8">
              <a:extLst>
                <a:ext uri="{FF2B5EF4-FFF2-40B4-BE49-F238E27FC236}">
                  <a16:creationId xmlns:a16="http://schemas.microsoft.com/office/drawing/2014/main" id="{AF250DB1-41EE-1A27-996D-E0FF0AB8B8BF}"/>
                </a:ext>
              </a:extLst>
            </p:cNvPr>
            <p:cNvSpPr/>
            <p:nvPr/>
          </p:nvSpPr>
          <p:spPr>
            <a:xfrm>
              <a:off x="4473360" y="6451560"/>
              <a:ext cx="3370320" cy="360"/>
            </a:xfrm>
            <a:custGeom>
              <a:avLst/>
              <a:gdLst>
                <a:gd name="textAreaLeft" fmla="*/ 0 w 3370320"/>
                <a:gd name="textAreaRight" fmla="*/ 3370680 w 33703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noFill/>
            <a:ln w="115179">
              <a:solidFill>
                <a:srgbClr val="EE220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object 9">
              <a:extLst>
                <a:ext uri="{FF2B5EF4-FFF2-40B4-BE49-F238E27FC236}">
                  <a16:creationId xmlns:a16="http://schemas.microsoft.com/office/drawing/2014/main" id="{CDD4602A-527B-D27D-9B17-EE4DA84652CC}"/>
                </a:ext>
              </a:extLst>
            </p:cNvPr>
            <p:cNvSpPr/>
            <p:nvPr/>
          </p:nvSpPr>
          <p:spPr>
            <a:xfrm>
              <a:off x="7675920" y="6231960"/>
              <a:ext cx="439560" cy="43956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439560"/>
                <a:gd name="textAreaBottom" fmla="*/ 439920 h 439560"/>
              </a:gdLst>
              <a:ahLst/>
              <a:cxnLst/>
              <a:rect l="textAreaLeft" t="textAreaTop" r="textAreaRight" b="textAreaBottom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object 10">
              <a:extLst>
                <a:ext uri="{FF2B5EF4-FFF2-40B4-BE49-F238E27FC236}">
                  <a16:creationId xmlns:a16="http://schemas.microsoft.com/office/drawing/2014/main" id="{50D1701B-B3EF-332C-4CF5-3EA909B8B415}"/>
                </a:ext>
              </a:extLst>
            </p:cNvPr>
            <p:cNvSpPr/>
            <p:nvPr/>
          </p:nvSpPr>
          <p:spPr>
            <a:xfrm>
              <a:off x="12292920" y="6451560"/>
              <a:ext cx="2120400" cy="360"/>
            </a:xfrm>
            <a:custGeom>
              <a:avLst/>
              <a:gdLst>
                <a:gd name="textAreaLeft" fmla="*/ 0 w 2120400"/>
                <a:gd name="textAreaRight" fmla="*/ 2120760 w 21204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20900">
                  <a:moveTo>
                    <a:pt x="0" y="0"/>
                  </a:moveTo>
                  <a:lnTo>
                    <a:pt x="2083759" y="0"/>
                  </a:lnTo>
                  <a:lnTo>
                    <a:pt x="2120407" y="0"/>
                  </a:lnTo>
                </a:path>
              </a:pathLst>
            </a:custGeom>
            <a:noFill/>
            <a:ln w="73296">
              <a:solidFill>
                <a:srgbClr val="0076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object 11">
              <a:extLst>
                <a:ext uri="{FF2B5EF4-FFF2-40B4-BE49-F238E27FC236}">
                  <a16:creationId xmlns:a16="http://schemas.microsoft.com/office/drawing/2014/main" id="{695AC594-F04A-6A38-0C6C-7962CFE1C8DD}"/>
                </a:ext>
              </a:extLst>
            </p:cNvPr>
            <p:cNvSpPr/>
            <p:nvPr/>
          </p:nvSpPr>
          <p:spPr>
            <a:xfrm>
              <a:off x="14304240" y="6307200"/>
              <a:ext cx="289080" cy="289080"/>
            </a:xfrm>
            <a:custGeom>
              <a:avLst/>
              <a:gdLst>
                <a:gd name="textAreaLeft" fmla="*/ 0 w 289080"/>
                <a:gd name="textAreaRight" fmla="*/ 289440 w 289080"/>
                <a:gd name="textAreaTop" fmla="*/ 0 h 289080"/>
                <a:gd name="textAreaBottom" fmla="*/ 289440 h 289080"/>
              </a:gdLst>
              <a:ahLst/>
              <a:cxnLst/>
              <a:rect l="textAreaLeft" t="textAreaTop" r="textAreaRight" b="textAreaBottom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6B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903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6" name="object 12">
            <a:extLst>
              <a:ext uri="{FF2B5EF4-FFF2-40B4-BE49-F238E27FC236}">
                <a16:creationId xmlns:a16="http://schemas.microsoft.com/office/drawing/2014/main" id="{47773575-D82D-5C46-D72D-4FC56C4C558E}"/>
              </a:ext>
            </a:extLst>
          </p:cNvPr>
          <p:cNvSpPr/>
          <p:nvPr/>
        </p:nvSpPr>
        <p:spPr>
          <a:xfrm>
            <a:off x="507397" y="2881948"/>
            <a:ext cx="1598375" cy="9637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30" rIns="0" bIns="0" anchor="t">
            <a:spAutoFit/>
          </a:bodyPr>
          <a:lstStyle/>
          <a:p>
            <a:pPr marL="6137" algn="ctr">
              <a:lnSpc>
                <a:spcPct val="102000"/>
              </a:lnSpc>
              <a:spcBef>
                <a:spcPts val="27"/>
              </a:spcBef>
            </a:pPr>
            <a:r>
              <a:rPr lang="fr-FR" sz="1554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54" spc="-70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54" spc="26">
                <a:solidFill>
                  <a:srgbClr val="FFFFFF"/>
                </a:solidFill>
                <a:latin typeface="Arial MT"/>
              </a:rPr>
              <a:t>beliefs, </a:t>
            </a:r>
            <a:r>
              <a:rPr lang="fr-FR" sz="1554" spc="23">
                <a:solidFill>
                  <a:srgbClr val="FFFFFF"/>
                </a:solidFill>
                <a:latin typeface="Arial MT"/>
              </a:rPr>
              <a:t>preferences, </a:t>
            </a:r>
            <a:r>
              <a:rPr lang="fr-FR" sz="1554" spc="37">
                <a:solidFill>
                  <a:srgbClr val="FFFFFF"/>
                </a:solidFill>
                <a:latin typeface="Arial MT"/>
              </a:rPr>
              <a:t>habits,</a:t>
            </a:r>
            <a:r>
              <a:rPr lang="fr-FR" sz="1554" spc="13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48">
                <a:solidFill>
                  <a:srgbClr val="FFFFFF"/>
                </a:solidFill>
                <a:latin typeface="Arial MT"/>
              </a:rPr>
              <a:t>tools,</a:t>
            </a:r>
            <a:r>
              <a:rPr lang="fr-FR" sz="1554" spc="16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54" spc="33">
                <a:solidFill>
                  <a:srgbClr val="FFFFFF"/>
                </a:solidFill>
                <a:latin typeface="Arial MT"/>
              </a:rPr>
              <a:t>etc.</a:t>
            </a:r>
            <a:endParaRPr lang="fr-FR" sz="1554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13">
            <a:extLst>
              <a:ext uri="{FF2B5EF4-FFF2-40B4-BE49-F238E27FC236}">
                <a16:creationId xmlns:a16="http://schemas.microsoft.com/office/drawing/2014/main" id="{D0B5A4FD-69E1-40BE-1939-B90A5E526DDB}"/>
              </a:ext>
            </a:extLst>
          </p:cNvPr>
          <p:cNvSpPr/>
          <p:nvPr/>
        </p:nvSpPr>
        <p:spPr>
          <a:xfrm>
            <a:off x="7864614" y="3000360"/>
            <a:ext cx="1325992" cy="4130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2632" spc="-6">
                <a:solidFill>
                  <a:srgbClr val="0076BA"/>
                </a:solidFill>
                <a:latin typeface="Arial MT"/>
              </a:rPr>
              <a:t>Behavior</a:t>
            </a:r>
            <a:endParaRPr lang="fr-FR" sz="2632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object 14">
            <a:extLst>
              <a:ext uri="{FF2B5EF4-FFF2-40B4-BE49-F238E27FC236}">
                <a16:creationId xmlns:a16="http://schemas.microsoft.com/office/drawing/2014/main" id="{3C65C410-0616-68AD-ECB6-37AED77F9CF7}"/>
              </a:ext>
            </a:extLst>
          </p:cNvPr>
          <p:cNvSpPr/>
          <p:nvPr/>
        </p:nvSpPr>
        <p:spPr>
          <a:xfrm>
            <a:off x="2321295" y="2803068"/>
            <a:ext cx="1361010" cy="285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942" rIns="0" bIns="0" anchor="t">
            <a:spAutoFit/>
          </a:bodyPr>
          <a:lstStyle/>
          <a:p>
            <a:pPr marL="6318">
              <a:spcBef>
                <a:spcPts val="63"/>
              </a:spcBef>
            </a:pPr>
            <a:r>
              <a:rPr lang="fr-FR" sz="1805" b="1" spc="-33">
                <a:solidFill>
                  <a:srgbClr val="EE220C"/>
                </a:solidFill>
                <a:latin typeface="Arial"/>
              </a:rPr>
              <a:t>Socialization</a:t>
            </a:r>
            <a:endParaRPr lang="fr-FR" sz="1805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15">
            <a:extLst>
              <a:ext uri="{FF2B5EF4-FFF2-40B4-BE49-F238E27FC236}">
                <a16:creationId xmlns:a16="http://schemas.microsoft.com/office/drawing/2014/main" id="{0D25527D-3F4E-836A-742C-2D884E106BD6}"/>
              </a:ext>
            </a:extLst>
          </p:cNvPr>
          <p:cNvSpPr/>
          <p:nvPr/>
        </p:nvSpPr>
        <p:spPr>
          <a:xfrm>
            <a:off x="4379778" y="2583753"/>
            <a:ext cx="1649097" cy="1302346"/>
          </a:xfrm>
          <a:custGeom>
            <a:avLst/>
            <a:gdLst>
              <a:gd name="textAreaLeft" fmla="*/ 0 w 3288960"/>
              <a:gd name="textAreaRight" fmla="*/ 3289320 w 3288960"/>
              <a:gd name="textAreaTop" fmla="*/ 0 h 2597400"/>
              <a:gd name="textAreaBottom" fmla="*/ 2597760 h 2597400"/>
            </a:gdLst>
            <a:ahLst/>
            <a:cxnLst/>
            <a:rect l="textAreaLeft" t="textAreaTop" r="textAreaRight" b="textAreaBottom"/>
            <a:pathLst>
              <a:path w="3289300" h="2597784">
                <a:moveTo>
                  <a:pt x="2994135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7" y="14448"/>
                </a:lnTo>
                <a:lnTo>
                  <a:pt x="86529" y="31866"/>
                </a:lnTo>
                <a:lnTo>
                  <a:pt x="56223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2302610"/>
                </a:lnTo>
                <a:lnTo>
                  <a:pt x="225" y="2361281"/>
                </a:lnTo>
                <a:lnTo>
                  <a:pt x="1805" y="2408596"/>
                </a:lnTo>
                <a:lnTo>
                  <a:pt x="14447" y="2475649"/>
                </a:lnTo>
                <a:lnTo>
                  <a:pt x="31865" y="2510916"/>
                </a:lnTo>
                <a:lnTo>
                  <a:pt x="56223" y="2541222"/>
                </a:lnTo>
                <a:lnTo>
                  <a:pt x="86529" y="2565579"/>
                </a:lnTo>
                <a:lnTo>
                  <a:pt x="121797" y="2582997"/>
                </a:lnTo>
                <a:lnTo>
                  <a:pt x="188849" y="2595639"/>
                </a:lnTo>
                <a:lnTo>
                  <a:pt x="236164" y="2597219"/>
                </a:lnTo>
                <a:lnTo>
                  <a:pt x="294835" y="2597445"/>
                </a:lnTo>
                <a:lnTo>
                  <a:pt x="2994135" y="2597445"/>
                </a:lnTo>
                <a:lnTo>
                  <a:pt x="3052805" y="2597219"/>
                </a:lnTo>
                <a:lnTo>
                  <a:pt x="3100120" y="2595639"/>
                </a:lnTo>
                <a:lnTo>
                  <a:pt x="3167176" y="2582997"/>
                </a:lnTo>
                <a:lnTo>
                  <a:pt x="3202439" y="2565579"/>
                </a:lnTo>
                <a:lnTo>
                  <a:pt x="3232744" y="2541222"/>
                </a:lnTo>
                <a:lnTo>
                  <a:pt x="3257101" y="2510916"/>
                </a:lnTo>
                <a:lnTo>
                  <a:pt x="3274524" y="2475649"/>
                </a:lnTo>
                <a:lnTo>
                  <a:pt x="3287158" y="2408596"/>
                </a:lnTo>
                <a:lnTo>
                  <a:pt x="3288738" y="2361281"/>
                </a:lnTo>
                <a:lnTo>
                  <a:pt x="3288963" y="2302610"/>
                </a:lnTo>
                <a:lnTo>
                  <a:pt x="3288963" y="294835"/>
                </a:lnTo>
                <a:lnTo>
                  <a:pt x="3288738" y="236164"/>
                </a:lnTo>
                <a:lnTo>
                  <a:pt x="3287158" y="188849"/>
                </a:lnTo>
                <a:lnTo>
                  <a:pt x="3274524" y="121797"/>
                </a:lnTo>
                <a:lnTo>
                  <a:pt x="3257101" y="86529"/>
                </a:lnTo>
                <a:lnTo>
                  <a:pt x="3232744" y="56223"/>
                </a:lnTo>
                <a:lnTo>
                  <a:pt x="3202439" y="31866"/>
                </a:lnTo>
                <a:lnTo>
                  <a:pt x="3167176" y="14448"/>
                </a:lnTo>
                <a:lnTo>
                  <a:pt x="3100120" y="1806"/>
                </a:lnTo>
                <a:lnTo>
                  <a:pt x="3052805" y="225"/>
                </a:lnTo>
                <a:lnTo>
                  <a:pt x="2994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903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object 16">
            <a:extLst>
              <a:ext uri="{FF2B5EF4-FFF2-40B4-BE49-F238E27FC236}">
                <a16:creationId xmlns:a16="http://schemas.microsoft.com/office/drawing/2014/main" id="{E0D08EF0-4155-44C4-494A-1C5BA8563C4F}"/>
              </a:ext>
            </a:extLst>
          </p:cNvPr>
          <p:cNvSpPr/>
          <p:nvPr/>
        </p:nvSpPr>
        <p:spPr>
          <a:xfrm>
            <a:off x="4589886" y="2631949"/>
            <a:ext cx="1228880" cy="9389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8" rIns="0" bIns="0" anchor="t">
            <a:spAutoFit/>
          </a:bodyPr>
          <a:lstStyle/>
          <a:p>
            <a:pPr marL="6318" algn="ctr">
              <a:lnSpc>
                <a:spcPct val="101000"/>
              </a:lnSpc>
              <a:spcBef>
                <a:spcPts val="23"/>
              </a:spcBef>
            </a:pPr>
            <a:r>
              <a:rPr lang="fr-FR" sz="1529" spc="20">
                <a:solidFill>
                  <a:srgbClr val="FFFFFF"/>
                </a:solidFill>
                <a:latin typeface="Arial MT"/>
              </a:rPr>
              <a:t>Interiorized </a:t>
            </a:r>
            <a:r>
              <a:rPr lang="fr-FR" sz="1529" spc="-36">
                <a:solidFill>
                  <a:srgbClr val="FFFFFF"/>
                </a:solidFill>
                <a:latin typeface="Arial MT"/>
              </a:rPr>
              <a:t>values,</a:t>
            </a:r>
            <a:r>
              <a:rPr lang="fr-FR" sz="1529" spc="-48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20">
                <a:solidFill>
                  <a:srgbClr val="FFFFFF"/>
                </a:solidFill>
                <a:latin typeface="Arial MT"/>
              </a:rPr>
              <a:t>norms, </a:t>
            </a:r>
            <a:r>
              <a:rPr lang="fr-FR" sz="1529" spc="-6">
                <a:solidFill>
                  <a:srgbClr val="FFFFFF"/>
                </a:solidFill>
                <a:latin typeface="Arial MT"/>
              </a:rPr>
              <a:t>preferences, habits,</a:t>
            </a:r>
            <a:r>
              <a:rPr lang="fr-FR" sz="1529" spc="-101">
                <a:solidFill>
                  <a:srgbClr val="FFFFFF"/>
                </a:solidFill>
                <a:latin typeface="Arial MT"/>
              </a:rPr>
              <a:t> </a:t>
            </a:r>
            <a:r>
              <a:rPr lang="fr-FR" sz="1529" spc="-10">
                <a:solidFill>
                  <a:srgbClr val="FFFFFF"/>
                </a:solidFill>
                <a:latin typeface="Arial MT"/>
              </a:rPr>
              <a:t>etc.</a:t>
            </a:r>
            <a:endParaRPr lang="fr-FR" sz="1529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17">
            <a:extLst>
              <a:ext uri="{FF2B5EF4-FFF2-40B4-BE49-F238E27FC236}">
                <a16:creationId xmlns:a16="http://schemas.microsoft.com/office/drawing/2014/main" id="{054B7D92-5C2A-B8FF-D388-CF2EE7B0155A}"/>
              </a:ext>
            </a:extLst>
          </p:cNvPr>
          <p:cNvSpPr/>
          <p:nvPr/>
        </p:nvSpPr>
        <p:spPr>
          <a:xfrm>
            <a:off x="555592" y="1336101"/>
            <a:ext cx="5312091" cy="1007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4058452">
              <a:lnSpc>
                <a:spcPts val="2701"/>
              </a:lnSpc>
              <a:spcBef>
                <a:spcPts val="68"/>
              </a:spcBef>
            </a:pPr>
            <a:r>
              <a:rPr lang="fr-FR" sz="2256" spc="23">
                <a:solidFill>
                  <a:srgbClr val="000000"/>
                </a:solidFill>
                <a:latin typeface="Arial MT"/>
              </a:rPr>
              <a:t>Individual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8736">
              <a:lnSpc>
                <a:spcPts val="2278"/>
              </a:lnSpc>
            </a:pPr>
            <a:r>
              <a:rPr lang="fr-FR" sz="1905">
                <a:solidFill>
                  <a:srgbClr val="0076BA"/>
                </a:solidFill>
                <a:latin typeface="Arial MT"/>
              </a:rPr>
              <a:t>Culture</a:t>
            </a:r>
            <a:r>
              <a:rPr lang="fr-FR" sz="1905" spc="-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46">
                <a:solidFill>
                  <a:srgbClr val="0076BA"/>
                </a:solidFill>
                <a:latin typeface="Arial MT"/>
              </a:rPr>
              <a:t>of</a:t>
            </a:r>
            <a:r>
              <a:rPr lang="fr-FR" sz="1905" spc="3">
                <a:solidFill>
                  <a:srgbClr val="0076BA"/>
                </a:solidFill>
                <a:latin typeface="Arial MT"/>
              </a:rPr>
              <a:t> </a:t>
            </a:r>
            <a:r>
              <a:rPr lang="fr-FR" sz="1905" spc="13">
                <a:solidFill>
                  <a:srgbClr val="0076BA"/>
                </a:solidFill>
                <a:latin typeface="Arial MT"/>
              </a:rPr>
              <a:t>the</a:t>
            </a:r>
            <a:endParaRPr lang="fr-FR" sz="1905">
              <a:solidFill>
                <a:srgbClr val="000000"/>
              </a:solidFill>
              <a:latin typeface="Arial"/>
            </a:endParaRPr>
          </a:p>
          <a:p>
            <a:pPr marL="6318">
              <a:spcBef>
                <a:spcPts val="453"/>
              </a:spcBef>
            </a:pPr>
            <a:r>
              <a:rPr lang="fr-FR" sz="1905" spc="20">
                <a:solidFill>
                  <a:srgbClr val="0076BA"/>
                </a:solidFill>
                <a:latin typeface="Arial MT"/>
              </a:rPr>
              <a:t>group/society</a:t>
            </a:r>
            <a:endParaRPr lang="fr-FR" sz="1905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0394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05D9-9E74-2FAD-A40A-1EDD4C45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>
            <a:extLst>
              <a:ext uri="{FF2B5EF4-FFF2-40B4-BE49-F238E27FC236}">
                <a16:creationId xmlns:a16="http://schemas.microsoft.com/office/drawing/2014/main" id="{B9531F22-A093-08F5-A2C1-B76EAFE708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286095" y="864440"/>
            <a:ext cx="3717146" cy="24736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>
            <a:extLst>
              <a:ext uri="{FF2B5EF4-FFF2-40B4-BE49-F238E27FC236}">
                <a16:creationId xmlns:a16="http://schemas.microsoft.com/office/drawing/2014/main" id="{70C5FEB8-3267-2F1B-C8C3-5FAA939BA11F}"/>
              </a:ext>
            </a:extLst>
          </p:cNvPr>
          <p:cNvSpPr/>
          <p:nvPr/>
        </p:nvSpPr>
        <p:spPr>
          <a:xfrm>
            <a:off x="223643" y="1809566"/>
            <a:ext cx="8949093" cy="3222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64" rIns="0" bIns="0" anchor="t">
            <a:spAutoFit/>
          </a:bodyPr>
          <a:lstStyle/>
          <a:p>
            <a:pPr marL="18231">
              <a:spcBef>
                <a:spcPts val="68"/>
              </a:spcBef>
            </a:pPr>
            <a:r>
              <a:rPr lang="fr-FR" sz="2256" i="1" spc="-65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256" i="1" spc="-37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-27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0000"/>
                </a:solidFill>
                <a:latin typeface="Arial"/>
              </a:rPr>
              <a:t>la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256" i="1" spc="-33">
                <a:solidFill>
                  <a:srgbClr val="000000"/>
                </a:solidFill>
                <a:latin typeface="Arial"/>
              </a:rPr>
              <a:t> 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(1894)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2"/>
              </a:spcBef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294222" indent="-288084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294763" algn="l"/>
              </a:tabLst>
            </a:pPr>
            <a:r>
              <a:rPr lang="fr-FR" sz="2256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4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256" spc="-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6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56" spc="-1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b="1" spc="-60">
                <a:solidFill>
                  <a:srgbClr val="D31876"/>
                </a:solidFill>
                <a:latin typeface="Arial"/>
              </a:rPr>
              <a:t>“social 	</a:t>
            </a:r>
            <a:r>
              <a:rPr lang="fr-FR" sz="2256" b="1" spc="-6">
                <a:solidFill>
                  <a:srgbClr val="D31876"/>
                </a:solidFill>
                <a:latin typeface="Arial"/>
              </a:rPr>
              <a:t>facts”</a:t>
            </a:r>
            <a:r>
              <a:rPr lang="fr-FR" sz="2256" spc="-6">
                <a:solidFill>
                  <a:srgbClr val="000000"/>
                </a:solidFill>
                <a:latin typeface="Arial MT"/>
              </a:rPr>
              <a:t>: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540609" algn="ctr">
              <a:lnSpc>
                <a:spcPct val="114000"/>
              </a:lnSpc>
              <a:spcBef>
                <a:spcPts val="1640"/>
              </a:spcBef>
              <a:tabLst>
                <a:tab pos="2406660" algn="l"/>
              </a:tabLst>
            </a:pPr>
            <a:r>
              <a:rPr lang="fr-FR" sz="2256" spc="-6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256" spc="-121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56" spc="17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56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256" b="1" i="1" spc="1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256" b="1" i="1" spc="1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de</a:t>
            </a:r>
            <a:r>
              <a:rPr lang="fr-FR" sz="2256" i="1" spc="-2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6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256" i="1" spc="-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-1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256" b="1" i="1" spc="1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17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16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256" i="1" spc="-16">
                <a:solidFill>
                  <a:srgbClr val="0076BA"/>
                </a:solidFill>
                <a:latin typeface="Arial"/>
              </a:rPr>
              <a:t>,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5">
                <a:solidFill>
                  <a:srgbClr val="0076BA"/>
                </a:solidFill>
                <a:latin typeface="Arial"/>
              </a:rPr>
              <a:t>et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33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3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256" i="1" spc="-2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256" i="1" spc="-20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5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256" b="1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en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63">
                <a:solidFill>
                  <a:srgbClr val="0076BA"/>
                </a:solidFill>
                <a:latin typeface="Arial"/>
              </a:rPr>
              <a:t>du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 spc="43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i="1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256" i="1" spc="-33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-2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>
                <a:solidFill>
                  <a:srgbClr val="0076BA"/>
                </a:solidFill>
                <a:latin typeface="Arial"/>
              </a:rPr>
              <a:t>à</a:t>
            </a:r>
            <a:r>
              <a:rPr lang="fr-FR" sz="2256" b="1" i="1" spc="6">
                <a:solidFill>
                  <a:srgbClr val="0076BA"/>
                </a:solidFill>
                <a:latin typeface="Arial"/>
              </a:rPr>
              <a:t> </a:t>
            </a:r>
            <a:r>
              <a:rPr lang="fr-FR" sz="2256" b="1" i="1" spc="56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256" i="1" spc="56">
                <a:solidFill>
                  <a:srgbClr val="0076BA"/>
                </a:solidFill>
                <a:latin typeface="Arial"/>
              </a:rPr>
              <a:t>”</a:t>
            </a:r>
            <a:endParaRPr lang="fr-FR" sz="2256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"/>
              </a:spcBef>
              <a:tabLst>
                <a:tab pos="2406660" algn="l"/>
              </a:tabLst>
            </a:pPr>
            <a:endParaRPr lang="fr-FR" sz="2256">
              <a:solidFill>
                <a:srgbClr val="000000"/>
              </a:solidFill>
              <a:latin typeface="Arial"/>
            </a:endParaRPr>
          </a:p>
          <a:p>
            <a:pPr marL="493137" algn="ctr">
              <a:tabLst>
                <a:tab pos="2406660" algn="l"/>
              </a:tabLst>
            </a:pPr>
            <a:r>
              <a:rPr lang="fr-FR" sz="2081" b="1" u="sng" spc="-13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081" b="1" u="sng" spc="-37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081" b="1" u="sng" spc="-3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081" b="1" u="sng" spc="-6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08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>
            <a:extLst>
              <a:ext uri="{FF2B5EF4-FFF2-40B4-BE49-F238E27FC236}">
                <a16:creationId xmlns:a16="http://schemas.microsoft.com/office/drawing/2014/main" id="{040FAEE6-DBE0-5081-951A-E916DBD7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4" y="21480"/>
            <a:ext cx="9263714" cy="1082632"/>
          </a:xfrm>
          <a:prstGeom prst="rect">
            <a:avLst/>
          </a:prstGeom>
          <a:noFill/>
          <a:ln w="0">
            <a:noFill/>
          </a:ln>
        </p:spPr>
        <p:txBody>
          <a:bodyPr lIns="0" tIns="157762" rIns="0" bIns="0" anchor="t">
            <a:spAutoFit/>
          </a:bodyPr>
          <a:lstStyle/>
          <a:p>
            <a:pPr marL="228879">
              <a:lnSpc>
                <a:spcPts val="3570"/>
              </a:lnSpc>
              <a:spcBef>
                <a:spcPts val="460"/>
              </a:spcBef>
            </a:pPr>
            <a:r>
              <a:rPr lang="fr-FR" sz="3259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259" b="1" spc="-105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08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150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259" b="1" spc="-75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9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259" b="1" spc="-91">
                <a:solidFill>
                  <a:schemeClr val="dk1"/>
                </a:solidFill>
                <a:latin typeface="Arial"/>
              </a:rPr>
              <a:t> </a:t>
            </a:r>
            <a:r>
              <a:rPr lang="fr-FR" sz="3259" b="1" spc="-213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259" b="1" spc="-165">
                <a:solidFill>
                  <a:schemeClr val="dk1"/>
                </a:solidFill>
                <a:latin typeface="Arial"/>
              </a:rPr>
              <a:t>facts</a:t>
            </a:r>
            <a:endParaRPr lang="fr-FR" sz="3259"/>
          </a:p>
        </p:txBody>
      </p:sp>
    </p:spTree>
    <p:extLst>
      <p:ext uri="{BB962C8B-B14F-4D97-AF65-F5344CB8AC3E}">
        <p14:creationId xmlns:p14="http://schemas.microsoft.com/office/powerpoint/2010/main" val="289632008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A8EF-F806-AD68-524E-A2AB7CBB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EC3ACC0-0CB6-046D-3B25-D6D748F2275E}"/>
              </a:ext>
            </a:extLst>
          </p:cNvPr>
          <p:cNvSpPr/>
          <p:nvPr/>
        </p:nvSpPr>
        <p:spPr>
          <a:xfrm>
            <a:off x="-1" y="1149118"/>
            <a:ext cx="1008062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truly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matters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social science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paradigm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real « engine », the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superficial</a:t>
            </a:r>
            <a:endParaRPr lang="fr-F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social science discipline by Sofia Martinez on Prezi">
            <a:extLst>
              <a:ext uri="{FF2B5EF4-FFF2-40B4-BE49-F238E27FC236}">
                <a16:creationId xmlns:a16="http://schemas.microsoft.com/office/drawing/2014/main" id="{089BBE71-10EB-5E70-4DCD-83BFD6C3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89" y="2516649"/>
            <a:ext cx="3118440" cy="1750781"/>
          </a:xfrm>
          <a:prstGeom prst="rect">
            <a:avLst/>
          </a:prstGeom>
        </p:spPr>
      </p:pic>
      <p:pic>
        <p:nvPicPr>
          <p:cNvPr id="7" name="Picture 6" descr="A society's cultural practices shape the structure of its social networks">
            <a:extLst>
              <a:ext uri="{FF2B5EF4-FFF2-40B4-BE49-F238E27FC236}">
                <a16:creationId xmlns:a16="http://schemas.microsoft.com/office/drawing/2014/main" id="{4A3ADFA4-B0B9-D68C-758E-75B814FB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15" y="1855550"/>
            <a:ext cx="3901440" cy="2599944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97551D75-4FF7-3FD1-5973-DC4A2BD8773F}"/>
              </a:ext>
            </a:extLst>
          </p:cNvPr>
          <p:cNvSpPr/>
          <p:nvPr/>
        </p:nvSpPr>
        <p:spPr>
          <a:xfrm>
            <a:off x="685800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discipline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E44BF40D-8787-A7D5-7774-CACA35C86291}"/>
              </a:ext>
            </a:extLst>
          </p:cNvPr>
          <p:cNvSpPr/>
          <p:nvPr/>
        </p:nvSpPr>
        <p:spPr>
          <a:xfrm>
            <a:off x="6675664" y="4521432"/>
            <a:ext cx="179614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By </a:t>
            </a:r>
            <a:r>
              <a:rPr lang="fr-MA" sz="11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</a:t>
            </a:r>
            <a:r>
              <a:rPr lang="fr-MA" sz="11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(or area)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11164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B9B7-3383-754B-9498-99218F05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eatise on the Family — Harvard University Press">
            <a:extLst>
              <a:ext uri="{FF2B5EF4-FFF2-40B4-BE49-F238E27FC236}">
                <a16:creationId xmlns:a16="http://schemas.microsoft.com/office/drawing/2014/main" id="{983EBFD0-8B1A-50D6-3911-AC45DF42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07" y="391885"/>
            <a:ext cx="3043528" cy="47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7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E5E5E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5543</TotalTime>
  <Words>4797</Words>
  <Application>Microsoft Office PowerPoint</Application>
  <PresentationFormat>Custom</PresentationFormat>
  <Paragraphs>483</Paragraphs>
  <Slides>94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94</vt:i4>
      </vt:variant>
    </vt:vector>
  </HeadingPairs>
  <TitlesOfParts>
    <vt:vector size="107" baseType="lpstr">
      <vt:lpstr>Arial</vt:lpstr>
      <vt:lpstr>Arial MT</vt:lpstr>
      <vt:lpstr>Avenir Next LT Pro</vt:lpstr>
      <vt:lpstr>Calibri</vt:lpstr>
      <vt:lpstr>OpenSymbol</vt:lpstr>
      <vt:lpstr>Segoe UI Emoji</vt:lpstr>
      <vt:lpstr>Symbol</vt:lpstr>
      <vt:lpstr>Times New Roman</vt:lpstr>
      <vt:lpstr>Trebuchet MS</vt:lpstr>
      <vt:lpstr>Wingdings</vt:lpstr>
      <vt:lpstr>Office</vt:lpstr>
      <vt:lpstr>Thème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does it mean to do social science? as opposed to just “talking about society”?</vt:lpstr>
      <vt:lpstr>PowerPoint Presentation</vt:lpstr>
      <vt:lpstr>The scientific method</vt:lpstr>
      <vt:lpstr>The scientific method</vt:lpstr>
      <vt:lpstr>Ignoring “folk-theories”</vt:lpstr>
      <vt:lpstr>Ignoring “folk-theories”</vt:lpstr>
      <vt:lpstr>Ignoring “folk-theories”</vt:lpstr>
      <vt:lpstr>Science can yield counter-intuitive results</vt:lpstr>
      <vt:lpstr>Axiologic neutrality</vt:lpstr>
      <vt:lpstr>Descriptive claims ≠ Normative claims</vt:lpstr>
      <vt:lpstr>Descriptive claims ≠ Normative claims</vt:lpstr>
      <vt:lpstr>Descriptive claims ≠ Normative claims</vt:lpstr>
      <vt:lpstr>Methods in social science</vt:lpstr>
      <vt:lpstr>Quantitative methods</vt:lpstr>
      <vt:lpstr>Quantitative methods</vt:lpstr>
      <vt:lpstr>PowerPoint Presentation</vt:lpstr>
      <vt:lpstr>PowerPoint Presentation</vt:lpstr>
      <vt:lpstr>Quantitative methods</vt:lpstr>
      <vt:lpstr>Quantitative methods</vt:lpstr>
      <vt:lpstr>PowerPoint Presentation</vt:lpstr>
      <vt:lpstr>PowerPoint Presentation</vt:lpstr>
      <vt:lpstr>PowerPoint Presentation</vt:lpstr>
      <vt:lpstr>PowerPoint Presentation</vt:lpstr>
      <vt:lpstr>Problem: descriptive data says little about causality</vt:lpstr>
      <vt:lpstr>Quantitative methods</vt:lpstr>
      <vt:lpstr>Quantitative methods</vt:lpstr>
      <vt:lpstr>Quantitative methods</vt:lpstr>
      <vt:lpstr>Qualitative methods</vt:lpstr>
      <vt:lpstr>Qualitative methods</vt:lpstr>
      <vt:lpstr>Mathematical Models</vt:lpstr>
      <vt:lpstr>Mathematical Models</vt:lpstr>
      <vt:lpstr>Mathematical Models</vt:lpstr>
      <vt:lpstr>Mathematical Models</vt:lpstr>
      <vt:lpstr>These methods are used in all disciplines, but each discipline has more predominant approaches</vt:lpstr>
      <vt:lpstr>Theoretical paradigms in social sciences</vt:lpstr>
      <vt:lpstr>It is common to distinguish two broad ‘families’ of paradigms (although the distinction is somewhat artificial!)</vt:lpstr>
      <vt:lpstr>A typical individualist or (“agentic”) paradigm: Rational Choice Theory</vt:lpstr>
      <vt:lpstr>Rational Choice Theory</vt:lpstr>
      <vt:lpstr>Rational Choice Theory</vt:lpstr>
      <vt:lpstr>Rational Choice Theory (RCT)</vt:lpstr>
      <vt:lpstr>A typically holistic paradigm: Durkheimian social facts</vt:lpstr>
      <vt:lpstr>A typically holistic paradigm: Durkheimian social facts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Theoretical paradigms in social sciences</vt:lpstr>
      <vt:lpstr>It is common to distinguish two broad ‘families’ of paradigms (although the distinction is somewhat artificial!)</vt:lpstr>
      <vt:lpstr>A typical individualist or (“agentic”) paradigm: Rational Choice Theory</vt:lpstr>
      <vt:lpstr>Rational Choice Theory</vt:lpstr>
      <vt:lpstr>Rational Choice Theory</vt:lpstr>
      <vt:lpstr>Rational Choice Theory (RCT)</vt:lpstr>
      <vt:lpstr>PowerPoint Presentation</vt:lpstr>
      <vt:lpstr>PowerPoint Presentation</vt:lpstr>
      <vt:lpstr>PowerPoint Presentation</vt:lpstr>
      <vt:lpstr>A typically holistic paradigm: Durkheimian social facts</vt:lpstr>
      <vt:lpstr>A typically holistic paradigm: Durkheimian social facts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Amine Sijilmassi</dc:creator>
  <dc:description/>
  <cp:lastModifiedBy>Amine SIJILMASSI</cp:lastModifiedBy>
  <cp:revision>35</cp:revision>
  <dcterms:created xsi:type="dcterms:W3CDTF">2026-09-01T15:59:19Z</dcterms:created>
  <dcterms:modified xsi:type="dcterms:W3CDTF">2026-09-10T08:29:06Z</dcterms:modified>
  <dc:language>fr-FR</dc:language>
</cp:coreProperties>
</file>