
<file path=[Content_Types].xml><?xml version="1.0" encoding="utf-8"?>
<Types xmlns="http://schemas.openxmlformats.org/package/2006/content-types">
  <Default Extension="jpeg" ContentType="image/jpeg"/>
  <Default Extension="jpg" ContentType="image/jpeg"/>
  <Default Extension="jpg&amp;f=1&amp;nofb=1&amp;ipt=0faff8d171084cd8c8842e09e63dce9ebb796d94b16dd37def9f6ae752028266" ContentType="image/jpeg"/>
  <Default Extension="org&amp;utm_campaign=index&amp;utm_content=original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media/image48.png" ContentType="image/jpeg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3" r:id="rId3"/>
  </p:sldMasterIdLst>
  <p:notesMasterIdLst>
    <p:notesMasterId r:id="rId6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9" r:id="rId12"/>
    <p:sldId id="281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4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5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9" r:id="rId54"/>
    <p:sldId id="320" r:id="rId55"/>
    <p:sldId id="315" r:id="rId56"/>
    <p:sldId id="316" r:id="rId57"/>
    <p:sldId id="317" r:id="rId58"/>
    <p:sldId id="318" r:id="rId59"/>
    <p:sldId id="321" r:id="rId60"/>
    <p:sldId id="322" r:id="rId61"/>
    <p:sldId id="323" r:id="rId62"/>
  </p:sldIdLst>
  <p:sldSz cx="10080625" cy="567055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D9C50B-FB1D-4435-90BD-CA66E8F63A0A}" v="355" dt="2026-09-02T09:26:47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758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notesMaster" Target="notesMasters/notes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theme" Target="theme/theme1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tableStyles" Target="tableStyle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ine SIJILMASSI" userId="e4021463-8212-4a47-8e05-1eade5e16ef5" providerId="ADAL" clId="{DE3AB4F5-6A8F-4C37-95B6-8B0AC4AF65F9}"/>
    <pc:docChg chg="undo custSel addSld delSld modSld">
      <pc:chgData name="Amine SIJILMASSI" userId="e4021463-8212-4a47-8e05-1eade5e16ef5" providerId="ADAL" clId="{DE3AB4F5-6A8F-4C37-95B6-8B0AC4AF65F9}" dt="2026-09-03T08:30:55.947" v="1610" actId="1076"/>
      <pc:docMkLst>
        <pc:docMk/>
      </pc:docMkLst>
      <pc:sldChg chg="modAnim">
        <pc:chgData name="Amine SIJILMASSI" userId="e4021463-8212-4a47-8e05-1eade5e16ef5" providerId="ADAL" clId="{DE3AB4F5-6A8F-4C37-95B6-8B0AC4AF65F9}" dt="2026-09-02T08:05:00.495" v="1586"/>
        <pc:sldMkLst>
          <pc:docMk/>
          <pc:sldMk cId="0" sldId="258"/>
        </pc:sldMkLst>
      </pc:sldChg>
      <pc:sldChg chg="modSp mod">
        <pc:chgData name="Amine SIJILMASSI" userId="e4021463-8212-4a47-8e05-1eade5e16ef5" providerId="ADAL" clId="{DE3AB4F5-6A8F-4C37-95B6-8B0AC4AF65F9}" dt="2026-09-02T09:21:36.072" v="1589" actId="1036"/>
        <pc:sldMkLst>
          <pc:docMk/>
          <pc:sldMk cId="0" sldId="260"/>
        </pc:sldMkLst>
        <pc:spChg chg="mod">
          <ac:chgData name="Amine SIJILMASSI" userId="e4021463-8212-4a47-8e05-1eade5e16ef5" providerId="ADAL" clId="{DE3AB4F5-6A8F-4C37-95B6-8B0AC4AF65F9}" dt="2026-09-02T09:21:36.072" v="1589" actId="1036"/>
          <ac:spMkLst>
            <pc:docMk/>
            <pc:sldMk cId="0" sldId="260"/>
            <ac:spMk id="62" creationId="{00000000-0000-0000-0000-000000000000}"/>
          </ac:spMkLst>
        </pc:spChg>
      </pc:sldChg>
      <pc:sldChg chg="addSp delSp mod">
        <pc:chgData name="Amine SIJILMASSI" userId="e4021463-8212-4a47-8e05-1eade5e16ef5" providerId="ADAL" clId="{DE3AB4F5-6A8F-4C37-95B6-8B0AC4AF65F9}" dt="2026-09-02T06:38:11.224" v="1" actId="22"/>
        <pc:sldMkLst>
          <pc:docMk/>
          <pc:sldMk cId="0" sldId="263"/>
        </pc:sldMkLst>
        <pc:picChg chg="add del">
          <ac:chgData name="Amine SIJILMASSI" userId="e4021463-8212-4a47-8e05-1eade5e16ef5" providerId="ADAL" clId="{DE3AB4F5-6A8F-4C37-95B6-8B0AC4AF65F9}" dt="2026-09-02T06:38:11.224" v="1" actId="22"/>
          <ac:picMkLst>
            <pc:docMk/>
            <pc:sldMk cId="0" sldId="263"/>
            <ac:picMk id="3" creationId="{D968ED5B-26A5-ADA5-22F9-A35C6E07354E}"/>
          </ac:picMkLst>
        </pc:picChg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69"/>
        </pc:sldMkLst>
      </pc:sldChg>
      <pc:sldChg chg="add del">
        <pc:chgData name="Amine SIJILMASSI" userId="e4021463-8212-4a47-8e05-1eade5e16ef5" providerId="ADAL" clId="{DE3AB4F5-6A8F-4C37-95B6-8B0AC4AF65F9}" dt="2026-09-02T06:39:29.317" v="3" actId="47"/>
        <pc:sldMkLst>
          <pc:docMk/>
          <pc:sldMk cId="0" sldId="270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1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2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3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4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5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6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7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8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79"/>
        </pc:sldMkLst>
      </pc:sldChg>
      <pc:sldChg chg="add">
        <pc:chgData name="Amine SIJILMASSI" userId="e4021463-8212-4a47-8e05-1eade5e16ef5" providerId="ADAL" clId="{DE3AB4F5-6A8F-4C37-95B6-8B0AC4AF65F9}" dt="2026-09-02T06:39:20.776" v="2"/>
        <pc:sldMkLst>
          <pc:docMk/>
          <pc:sldMk cId="0" sldId="280"/>
        </pc:sldMkLst>
      </pc:sldChg>
      <pc:sldChg chg="addSp delSp modSp new mod">
        <pc:chgData name="Amine SIJILMASSI" userId="e4021463-8212-4a47-8e05-1eade5e16ef5" providerId="ADAL" clId="{DE3AB4F5-6A8F-4C37-95B6-8B0AC4AF65F9}" dt="2026-09-02T06:40:42.381" v="109" actId="122"/>
        <pc:sldMkLst>
          <pc:docMk/>
          <pc:sldMk cId="3511946082" sldId="281"/>
        </pc:sldMkLst>
        <pc:spChg chg="del">
          <ac:chgData name="Amine SIJILMASSI" userId="e4021463-8212-4a47-8e05-1eade5e16ef5" providerId="ADAL" clId="{DE3AB4F5-6A8F-4C37-95B6-8B0AC4AF65F9}" dt="2026-09-02T06:39:44.348" v="7" actId="478"/>
          <ac:spMkLst>
            <pc:docMk/>
            <pc:sldMk cId="3511946082" sldId="281"/>
            <ac:spMk id="2" creationId="{676DA28F-C2F0-D82D-B0B7-22D2CD8D8E56}"/>
          </ac:spMkLst>
        </pc:spChg>
        <pc:spChg chg="del">
          <ac:chgData name="Amine SIJILMASSI" userId="e4021463-8212-4a47-8e05-1eade5e16ef5" providerId="ADAL" clId="{DE3AB4F5-6A8F-4C37-95B6-8B0AC4AF65F9}" dt="2026-09-02T06:39:42.764" v="6" actId="478"/>
          <ac:spMkLst>
            <pc:docMk/>
            <pc:sldMk cId="3511946082" sldId="281"/>
            <ac:spMk id="3" creationId="{DE287824-E1A7-52E3-3FCF-1FA8E3ECF18A}"/>
          </ac:spMkLst>
        </pc:spChg>
        <pc:spChg chg="add mod">
          <ac:chgData name="Amine SIJILMASSI" userId="e4021463-8212-4a47-8e05-1eade5e16ef5" providerId="ADAL" clId="{DE3AB4F5-6A8F-4C37-95B6-8B0AC4AF65F9}" dt="2026-09-02T06:40:42.381" v="109" actId="122"/>
          <ac:spMkLst>
            <pc:docMk/>
            <pc:sldMk cId="3511946082" sldId="281"/>
            <ac:spMk id="5" creationId="{31BE5E80-2104-135D-8FB2-28E4BDCD2CB6}"/>
          </ac:spMkLst>
        </pc:spChg>
        <pc:spChg chg="add mod">
          <ac:chgData name="Amine SIJILMASSI" userId="e4021463-8212-4a47-8e05-1eade5e16ef5" providerId="ADAL" clId="{DE3AB4F5-6A8F-4C37-95B6-8B0AC4AF65F9}" dt="2026-09-02T06:40:36.507" v="108" actId="113"/>
          <ac:spMkLst>
            <pc:docMk/>
            <pc:sldMk cId="3511946082" sldId="281"/>
            <ac:spMk id="7" creationId="{C8446F48-D198-EFBC-40C3-80990EA2CC00}"/>
          </ac:spMkLst>
        </pc:spChg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84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85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86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87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88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89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0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1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2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3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4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5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6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7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8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299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300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301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302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303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304"/>
        </pc:sldMkLst>
      </pc:sldChg>
      <pc:sldChg chg="add">
        <pc:chgData name="Amine SIJILMASSI" userId="e4021463-8212-4a47-8e05-1eade5e16ef5" providerId="ADAL" clId="{DE3AB4F5-6A8F-4C37-95B6-8B0AC4AF65F9}" dt="2026-09-02T06:41:53.924" v="110"/>
        <pc:sldMkLst>
          <pc:docMk/>
          <pc:sldMk cId="0" sldId="305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07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08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09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10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11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12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13"/>
        </pc:sldMkLst>
      </pc:sldChg>
      <pc:sldChg chg="add">
        <pc:chgData name="Amine SIJILMASSI" userId="e4021463-8212-4a47-8e05-1eade5e16ef5" providerId="ADAL" clId="{DE3AB4F5-6A8F-4C37-95B6-8B0AC4AF65F9}" dt="2026-09-02T06:42:41.203" v="111"/>
        <pc:sldMkLst>
          <pc:docMk/>
          <pc:sldMk cId="0" sldId="314"/>
        </pc:sldMkLst>
      </pc:sldChg>
      <pc:sldChg chg="modSp add mod modNotesTx">
        <pc:chgData name="Amine SIJILMASSI" userId="e4021463-8212-4a47-8e05-1eade5e16ef5" providerId="ADAL" clId="{DE3AB4F5-6A8F-4C37-95B6-8B0AC4AF65F9}" dt="2026-09-02T06:44:24.939" v="160" actId="20577"/>
        <pc:sldMkLst>
          <pc:docMk/>
          <pc:sldMk cId="2856063800" sldId="315"/>
        </pc:sldMkLst>
        <pc:spChg chg="mod">
          <ac:chgData name="Amine SIJILMASSI" userId="e4021463-8212-4a47-8e05-1eade5e16ef5" providerId="ADAL" clId="{DE3AB4F5-6A8F-4C37-95B6-8B0AC4AF65F9}" dt="2026-09-02T06:44:13.950" v="156" actId="20577"/>
          <ac:spMkLst>
            <pc:docMk/>
            <pc:sldMk cId="2856063800" sldId="315"/>
            <ac:spMk id="77" creationId="{9AC3F5A6-8D15-DE33-2B5E-CC0F091C9008}"/>
          </ac:spMkLst>
        </pc:spChg>
      </pc:sldChg>
      <pc:sldChg chg="addSp delSp modSp new mod">
        <pc:chgData name="Amine SIJILMASSI" userId="e4021463-8212-4a47-8e05-1eade5e16ef5" providerId="ADAL" clId="{DE3AB4F5-6A8F-4C37-95B6-8B0AC4AF65F9}" dt="2026-09-02T06:46:46.597" v="266" actId="1076"/>
        <pc:sldMkLst>
          <pc:docMk/>
          <pc:sldMk cId="3149631544" sldId="316"/>
        </pc:sldMkLst>
        <pc:spChg chg="del">
          <ac:chgData name="Amine SIJILMASSI" userId="e4021463-8212-4a47-8e05-1eade5e16ef5" providerId="ADAL" clId="{DE3AB4F5-6A8F-4C37-95B6-8B0AC4AF65F9}" dt="2026-09-02T06:44:32.193" v="162" actId="478"/>
          <ac:spMkLst>
            <pc:docMk/>
            <pc:sldMk cId="3149631544" sldId="316"/>
            <ac:spMk id="2" creationId="{566121A7-3407-C5E3-CC59-6FC433DFFBDD}"/>
          </ac:spMkLst>
        </pc:spChg>
        <pc:spChg chg="del">
          <ac:chgData name="Amine SIJILMASSI" userId="e4021463-8212-4a47-8e05-1eade5e16ef5" providerId="ADAL" clId="{DE3AB4F5-6A8F-4C37-95B6-8B0AC4AF65F9}" dt="2026-09-02T06:44:32.193" v="162" actId="478"/>
          <ac:spMkLst>
            <pc:docMk/>
            <pc:sldMk cId="3149631544" sldId="316"/>
            <ac:spMk id="3" creationId="{A1704A8D-10F3-EAA9-4204-AE25E8BBF08F}"/>
          </ac:spMkLst>
        </pc:spChg>
        <pc:spChg chg="add mod">
          <ac:chgData name="Amine SIJILMASSI" userId="e4021463-8212-4a47-8e05-1eade5e16ef5" providerId="ADAL" clId="{DE3AB4F5-6A8F-4C37-95B6-8B0AC4AF65F9}" dt="2026-09-02T06:46:46.597" v="266" actId="1076"/>
          <ac:spMkLst>
            <pc:docMk/>
            <pc:sldMk cId="3149631544" sldId="316"/>
            <ac:spMk id="5" creationId="{3EE05154-69E5-308C-6537-C1BFC5B392C1}"/>
          </ac:spMkLst>
        </pc:spChg>
        <pc:spChg chg="add mod">
          <ac:chgData name="Amine SIJILMASSI" userId="e4021463-8212-4a47-8e05-1eade5e16ef5" providerId="ADAL" clId="{DE3AB4F5-6A8F-4C37-95B6-8B0AC4AF65F9}" dt="2026-09-02T06:46:39.655" v="265" actId="1076"/>
          <ac:spMkLst>
            <pc:docMk/>
            <pc:sldMk cId="3149631544" sldId="316"/>
            <ac:spMk id="8" creationId="{D59FB3D1-389F-DB8B-0D22-BDAB34C1FDEF}"/>
          </ac:spMkLst>
        </pc:spChg>
        <pc:picChg chg="add mod">
          <ac:chgData name="Amine SIJILMASSI" userId="e4021463-8212-4a47-8e05-1eade5e16ef5" providerId="ADAL" clId="{DE3AB4F5-6A8F-4C37-95B6-8B0AC4AF65F9}" dt="2026-09-02T06:45:58.659" v="258" actId="1076"/>
          <ac:picMkLst>
            <pc:docMk/>
            <pc:sldMk cId="3149631544" sldId="316"/>
            <ac:picMk id="6" creationId="{D78938C9-AA76-7666-D29B-5E55670A13CF}"/>
          </ac:picMkLst>
        </pc:picChg>
      </pc:sldChg>
      <pc:sldChg chg="addSp delSp modSp new mod">
        <pc:chgData name="Amine SIJILMASSI" userId="e4021463-8212-4a47-8e05-1eade5e16ef5" providerId="ADAL" clId="{DE3AB4F5-6A8F-4C37-95B6-8B0AC4AF65F9}" dt="2026-09-02T07:42:43.996" v="1011"/>
        <pc:sldMkLst>
          <pc:docMk/>
          <pc:sldMk cId="3453053749" sldId="317"/>
        </pc:sldMkLst>
        <pc:spChg chg="del">
          <ac:chgData name="Amine SIJILMASSI" userId="e4021463-8212-4a47-8e05-1eade5e16ef5" providerId="ADAL" clId="{DE3AB4F5-6A8F-4C37-95B6-8B0AC4AF65F9}" dt="2026-09-02T06:47:10.611" v="268" actId="478"/>
          <ac:spMkLst>
            <pc:docMk/>
            <pc:sldMk cId="3453053749" sldId="317"/>
            <ac:spMk id="2" creationId="{4DAC97F8-20D8-586B-F5C2-6C743EA631DE}"/>
          </ac:spMkLst>
        </pc:spChg>
        <pc:spChg chg="add del mod">
          <ac:chgData name="Amine SIJILMASSI" userId="e4021463-8212-4a47-8e05-1eade5e16ef5" providerId="ADAL" clId="{DE3AB4F5-6A8F-4C37-95B6-8B0AC4AF65F9}" dt="2026-09-02T07:42:43.996" v="1011"/>
          <ac:spMkLst>
            <pc:docMk/>
            <pc:sldMk cId="3453053749" sldId="317"/>
            <ac:spMk id="2" creationId="{9175F262-177C-FB42-074B-E8973EB49C88}"/>
          </ac:spMkLst>
        </pc:spChg>
        <pc:spChg chg="del">
          <ac:chgData name="Amine SIJILMASSI" userId="e4021463-8212-4a47-8e05-1eade5e16ef5" providerId="ADAL" clId="{DE3AB4F5-6A8F-4C37-95B6-8B0AC4AF65F9}" dt="2026-09-02T06:47:10.611" v="268" actId="478"/>
          <ac:spMkLst>
            <pc:docMk/>
            <pc:sldMk cId="3453053749" sldId="317"/>
            <ac:spMk id="3" creationId="{2FAF7D02-3EFD-C44C-5B6F-36E7E419D9C8}"/>
          </ac:spMkLst>
        </pc:spChg>
        <pc:spChg chg="add mod">
          <ac:chgData name="Amine SIJILMASSI" userId="e4021463-8212-4a47-8e05-1eade5e16ef5" providerId="ADAL" clId="{DE3AB4F5-6A8F-4C37-95B6-8B0AC4AF65F9}" dt="2026-09-02T07:06:26.659" v="661" actId="1076"/>
          <ac:spMkLst>
            <pc:docMk/>
            <pc:sldMk cId="3453053749" sldId="317"/>
            <ac:spMk id="5" creationId="{36A0790D-13A7-48FA-C7E4-B38AB4D4393F}"/>
          </ac:spMkLst>
        </pc:spChg>
        <pc:spChg chg="add mod">
          <ac:chgData name="Amine SIJILMASSI" userId="e4021463-8212-4a47-8e05-1eade5e16ef5" providerId="ADAL" clId="{DE3AB4F5-6A8F-4C37-95B6-8B0AC4AF65F9}" dt="2026-09-02T06:52:34.187" v="353" actId="20577"/>
          <ac:spMkLst>
            <pc:docMk/>
            <pc:sldMk cId="3453053749" sldId="317"/>
            <ac:spMk id="8" creationId="{AE518F56-6AB0-0F2A-4364-E0D986B13906}"/>
          </ac:spMkLst>
        </pc:spChg>
        <pc:spChg chg="add mod">
          <ac:chgData name="Amine SIJILMASSI" userId="e4021463-8212-4a47-8e05-1eade5e16ef5" providerId="ADAL" clId="{DE3AB4F5-6A8F-4C37-95B6-8B0AC4AF65F9}" dt="2026-09-02T06:58:11.327" v="467" actId="20577"/>
          <ac:spMkLst>
            <pc:docMk/>
            <pc:sldMk cId="3453053749" sldId="317"/>
            <ac:spMk id="11" creationId="{69086FB3-EB9E-78CF-D8C4-146C1094541C}"/>
          </ac:spMkLst>
        </pc:spChg>
        <pc:spChg chg="add mod">
          <ac:chgData name="Amine SIJILMASSI" userId="e4021463-8212-4a47-8e05-1eade5e16ef5" providerId="ADAL" clId="{DE3AB4F5-6A8F-4C37-95B6-8B0AC4AF65F9}" dt="2026-09-02T07:42:31.415" v="1009" actId="20577"/>
          <ac:spMkLst>
            <pc:docMk/>
            <pc:sldMk cId="3453053749" sldId="317"/>
            <ac:spMk id="14" creationId="{CAD96E37-BF55-B112-48FE-91B9A5D5BB08}"/>
          </ac:spMkLst>
        </pc:spChg>
        <pc:spChg chg="add mod">
          <ac:chgData name="Amine SIJILMASSI" userId="e4021463-8212-4a47-8e05-1eade5e16ef5" providerId="ADAL" clId="{DE3AB4F5-6A8F-4C37-95B6-8B0AC4AF65F9}" dt="2026-09-02T07:09:03.246" v="695" actId="1076"/>
          <ac:spMkLst>
            <pc:docMk/>
            <pc:sldMk cId="3453053749" sldId="317"/>
            <ac:spMk id="19" creationId="{7DE70D2F-89EF-C977-B4CF-497323742BA0}"/>
          </ac:spMkLst>
        </pc:spChg>
        <pc:spChg chg="add mod">
          <ac:chgData name="Amine SIJILMASSI" userId="e4021463-8212-4a47-8e05-1eade5e16ef5" providerId="ADAL" clId="{DE3AB4F5-6A8F-4C37-95B6-8B0AC4AF65F9}" dt="2026-09-02T07:09:25.067" v="717" actId="20577"/>
          <ac:spMkLst>
            <pc:docMk/>
            <pc:sldMk cId="3453053749" sldId="317"/>
            <ac:spMk id="21" creationId="{82189C4F-AB3F-7F88-104C-F4BBCB92C784}"/>
          </ac:spMkLst>
        </pc:spChg>
        <pc:spChg chg="add mod">
          <ac:chgData name="Amine SIJILMASSI" userId="e4021463-8212-4a47-8e05-1eade5e16ef5" providerId="ADAL" clId="{DE3AB4F5-6A8F-4C37-95B6-8B0AC4AF65F9}" dt="2026-09-02T07:10:24.754" v="817" actId="20577"/>
          <ac:spMkLst>
            <pc:docMk/>
            <pc:sldMk cId="3453053749" sldId="317"/>
            <ac:spMk id="23" creationId="{C8FB4340-994E-B89F-FE47-07C8A1843344}"/>
          </ac:spMkLst>
        </pc:spChg>
        <pc:spChg chg="add mod">
          <ac:chgData name="Amine SIJILMASSI" userId="e4021463-8212-4a47-8e05-1eade5e16ef5" providerId="ADAL" clId="{DE3AB4F5-6A8F-4C37-95B6-8B0AC4AF65F9}" dt="2026-09-02T07:11:03.639" v="943" actId="20577"/>
          <ac:spMkLst>
            <pc:docMk/>
            <pc:sldMk cId="3453053749" sldId="317"/>
            <ac:spMk id="25" creationId="{6DB59AC4-5D81-95D0-991A-52FDEA827DF6}"/>
          </ac:spMkLst>
        </pc:spChg>
        <pc:picChg chg="add mod">
          <ac:chgData name="Amine SIJILMASSI" userId="e4021463-8212-4a47-8e05-1eade5e16ef5" providerId="ADAL" clId="{DE3AB4F5-6A8F-4C37-95B6-8B0AC4AF65F9}" dt="2026-09-02T07:42:17.638" v="963" actId="1076"/>
          <ac:picMkLst>
            <pc:docMk/>
            <pc:sldMk cId="3453053749" sldId="317"/>
            <ac:picMk id="3" creationId="{6ECF518C-4D5C-B6E5-2009-A96B5F0A9F1C}"/>
          </ac:picMkLst>
        </pc:picChg>
        <pc:picChg chg="add mod">
          <ac:chgData name="Amine SIJILMASSI" userId="e4021463-8212-4a47-8e05-1eade5e16ef5" providerId="ADAL" clId="{DE3AB4F5-6A8F-4C37-95B6-8B0AC4AF65F9}" dt="2026-09-02T06:52:30.988" v="350" actId="1076"/>
          <ac:picMkLst>
            <pc:docMk/>
            <pc:sldMk cId="3453053749" sldId="317"/>
            <ac:picMk id="6" creationId="{A480E7CC-8093-75CA-9604-8A0D54436C19}"/>
          </ac:picMkLst>
        </pc:picChg>
        <pc:picChg chg="add mod">
          <ac:chgData name="Amine SIJILMASSI" userId="e4021463-8212-4a47-8e05-1eade5e16ef5" providerId="ADAL" clId="{DE3AB4F5-6A8F-4C37-95B6-8B0AC4AF65F9}" dt="2026-09-02T06:56:57.386" v="357" actId="1076"/>
          <ac:picMkLst>
            <pc:docMk/>
            <pc:sldMk cId="3453053749" sldId="317"/>
            <ac:picMk id="9" creationId="{97828D2D-E1B9-A7B4-D600-828FBD1A4963}"/>
          </ac:picMkLst>
        </pc:picChg>
        <pc:picChg chg="add del mod">
          <ac:chgData name="Amine SIJILMASSI" userId="e4021463-8212-4a47-8e05-1eade5e16ef5" providerId="ADAL" clId="{DE3AB4F5-6A8F-4C37-95B6-8B0AC4AF65F9}" dt="2026-09-02T07:03:51.410" v="592" actId="478"/>
          <ac:picMkLst>
            <pc:docMk/>
            <pc:sldMk cId="3453053749" sldId="317"/>
            <ac:picMk id="12" creationId="{974E2875-648F-39B2-81C0-A0A8AEAE6D6E}"/>
          </ac:picMkLst>
        </pc:picChg>
        <pc:picChg chg="add del mod">
          <ac:chgData name="Amine SIJILMASSI" userId="e4021463-8212-4a47-8e05-1eade5e16ef5" providerId="ADAL" clId="{DE3AB4F5-6A8F-4C37-95B6-8B0AC4AF65F9}" dt="2026-09-02T07:42:04.502" v="956" actId="478"/>
          <ac:picMkLst>
            <pc:docMk/>
            <pc:sldMk cId="3453053749" sldId="317"/>
            <ac:picMk id="15" creationId="{1DE3D68A-170D-3C85-4ED9-C7498E0D144F}"/>
          </ac:picMkLst>
        </pc:picChg>
        <pc:picChg chg="add del mod">
          <ac:chgData name="Amine SIJILMASSI" userId="e4021463-8212-4a47-8e05-1eade5e16ef5" providerId="ADAL" clId="{DE3AB4F5-6A8F-4C37-95B6-8B0AC4AF65F9}" dt="2026-09-02T07:07:41.981" v="665" actId="478"/>
          <ac:picMkLst>
            <pc:docMk/>
            <pc:sldMk cId="3453053749" sldId="317"/>
            <ac:picMk id="16" creationId="{51D8AEF7-EDD8-7D2F-2424-091D3CB1B6B3}"/>
          </ac:picMkLst>
        </pc:picChg>
        <pc:picChg chg="add mod">
          <ac:chgData name="Amine SIJILMASSI" userId="e4021463-8212-4a47-8e05-1eade5e16ef5" providerId="ADAL" clId="{DE3AB4F5-6A8F-4C37-95B6-8B0AC4AF65F9}" dt="2026-09-02T07:08:50.237" v="669" actId="1076"/>
          <ac:picMkLst>
            <pc:docMk/>
            <pc:sldMk cId="3453053749" sldId="317"/>
            <ac:picMk id="17" creationId="{F9742661-FE89-831E-A3E7-FB008593AECD}"/>
          </ac:picMkLst>
        </pc:picChg>
      </pc:sldChg>
      <pc:sldChg chg="addSp delSp modSp new mod">
        <pc:chgData name="Amine SIJILMASSI" userId="e4021463-8212-4a47-8e05-1eade5e16ef5" providerId="ADAL" clId="{DE3AB4F5-6A8F-4C37-95B6-8B0AC4AF65F9}" dt="2026-09-02T07:55:21.983" v="1436" actId="20577"/>
        <pc:sldMkLst>
          <pc:docMk/>
          <pc:sldMk cId="250182674" sldId="318"/>
        </pc:sldMkLst>
        <pc:spChg chg="del">
          <ac:chgData name="Amine SIJILMASSI" userId="e4021463-8212-4a47-8e05-1eade5e16ef5" providerId="ADAL" clId="{DE3AB4F5-6A8F-4C37-95B6-8B0AC4AF65F9}" dt="2026-09-02T07:42:48.985" v="1013" actId="478"/>
          <ac:spMkLst>
            <pc:docMk/>
            <pc:sldMk cId="250182674" sldId="318"/>
            <ac:spMk id="2" creationId="{68A7D4B2-171E-115F-A3A5-50E9770802C2}"/>
          </ac:spMkLst>
        </pc:spChg>
        <pc:spChg chg="del">
          <ac:chgData name="Amine SIJILMASSI" userId="e4021463-8212-4a47-8e05-1eade5e16ef5" providerId="ADAL" clId="{DE3AB4F5-6A8F-4C37-95B6-8B0AC4AF65F9}" dt="2026-09-02T07:42:48.985" v="1013" actId="478"/>
          <ac:spMkLst>
            <pc:docMk/>
            <pc:sldMk cId="250182674" sldId="318"/>
            <ac:spMk id="3" creationId="{FA403B6C-6DB1-E38E-F7C6-EF250385A907}"/>
          </ac:spMkLst>
        </pc:spChg>
        <pc:spChg chg="add mod">
          <ac:chgData name="Amine SIJILMASSI" userId="e4021463-8212-4a47-8e05-1eade5e16ef5" providerId="ADAL" clId="{DE3AB4F5-6A8F-4C37-95B6-8B0AC4AF65F9}" dt="2026-09-02T07:49:03.032" v="1217" actId="313"/>
          <ac:spMkLst>
            <pc:docMk/>
            <pc:sldMk cId="250182674" sldId="318"/>
            <ac:spMk id="5" creationId="{7EBA89CD-36AA-9EE6-88D9-75EE23DFE24B}"/>
          </ac:spMkLst>
        </pc:spChg>
        <pc:spChg chg="add mod">
          <ac:chgData name="Amine SIJILMASSI" userId="e4021463-8212-4a47-8e05-1eade5e16ef5" providerId="ADAL" clId="{DE3AB4F5-6A8F-4C37-95B6-8B0AC4AF65F9}" dt="2026-09-02T07:50:22.857" v="1259" actId="20577"/>
          <ac:spMkLst>
            <pc:docMk/>
            <pc:sldMk cId="250182674" sldId="318"/>
            <ac:spMk id="7" creationId="{C325E509-9E14-2525-52C6-E9B0AF945BB9}"/>
          </ac:spMkLst>
        </pc:spChg>
        <pc:spChg chg="add mod">
          <ac:chgData name="Amine SIJILMASSI" userId="e4021463-8212-4a47-8e05-1eade5e16ef5" providerId="ADAL" clId="{DE3AB4F5-6A8F-4C37-95B6-8B0AC4AF65F9}" dt="2026-09-02T07:51:23.913" v="1321" actId="1076"/>
          <ac:spMkLst>
            <pc:docMk/>
            <pc:sldMk cId="250182674" sldId="318"/>
            <ac:spMk id="10" creationId="{E9F2E5A6-275D-BAEE-1F1B-F49A3A660882}"/>
          </ac:spMkLst>
        </pc:spChg>
        <pc:spChg chg="add mod">
          <ac:chgData name="Amine SIJILMASSI" userId="e4021463-8212-4a47-8e05-1eade5e16ef5" providerId="ADAL" clId="{DE3AB4F5-6A8F-4C37-95B6-8B0AC4AF65F9}" dt="2026-09-02T07:54:54.397" v="1385" actId="20577"/>
          <ac:spMkLst>
            <pc:docMk/>
            <pc:sldMk cId="250182674" sldId="318"/>
            <ac:spMk id="13" creationId="{8ACC4398-2A56-4623-50FC-E11748FA24A5}"/>
          </ac:spMkLst>
        </pc:spChg>
        <pc:spChg chg="add mod">
          <ac:chgData name="Amine SIJILMASSI" userId="e4021463-8212-4a47-8e05-1eade5e16ef5" providerId="ADAL" clId="{DE3AB4F5-6A8F-4C37-95B6-8B0AC4AF65F9}" dt="2026-09-02T07:55:21.983" v="1436" actId="20577"/>
          <ac:spMkLst>
            <pc:docMk/>
            <pc:sldMk cId="250182674" sldId="318"/>
            <ac:spMk id="17" creationId="{2FCF16D5-82E3-CEE3-E37E-99239EB920EB}"/>
          </ac:spMkLst>
        </pc:spChg>
        <pc:picChg chg="add mod">
          <ac:chgData name="Amine SIJILMASSI" userId="e4021463-8212-4a47-8e05-1eade5e16ef5" providerId="ADAL" clId="{DE3AB4F5-6A8F-4C37-95B6-8B0AC4AF65F9}" dt="2026-09-02T07:51:04.272" v="1272" actId="1076"/>
          <ac:picMkLst>
            <pc:docMk/>
            <pc:sldMk cId="250182674" sldId="318"/>
            <ac:picMk id="8" creationId="{E9093D74-1083-4569-4BD3-9A86EA3BB870}"/>
          </ac:picMkLst>
        </pc:picChg>
        <pc:picChg chg="add mod">
          <ac:chgData name="Amine SIJILMASSI" userId="e4021463-8212-4a47-8e05-1eade5e16ef5" providerId="ADAL" clId="{DE3AB4F5-6A8F-4C37-95B6-8B0AC4AF65F9}" dt="2026-09-02T07:52:48.331" v="1325" actId="1076"/>
          <ac:picMkLst>
            <pc:docMk/>
            <pc:sldMk cId="250182674" sldId="318"/>
            <ac:picMk id="11" creationId="{E6D363D6-97C0-3402-D0FC-7E113856FE4B}"/>
          </ac:picMkLst>
        </pc:picChg>
        <pc:picChg chg="add del mod">
          <ac:chgData name="Amine SIJILMASSI" userId="e4021463-8212-4a47-8e05-1eade5e16ef5" providerId="ADAL" clId="{DE3AB4F5-6A8F-4C37-95B6-8B0AC4AF65F9}" dt="2026-09-02T07:54:46.697" v="1367" actId="478"/>
          <ac:picMkLst>
            <pc:docMk/>
            <pc:sldMk cId="250182674" sldId="318"/>
            <ac:picMk id="14" creationId="{4508AAE2-6F8B-4ADC-A73F-ED941BA5C47B}"/>
          </ac:picMkLst>
        </pc:picChg>
        <pc:picChg chg="add mod">
          <ac:chgData name="Amine SIJILMASSI" userId="e4021463-8212-4a47-8e05-1eade5e16ef5" providerId="ADAL" clId="{DE3AB4F5-6A8F-4C37-95B6-8B0AC4AF65F9}" dt="2026-09-02T07:54:49.356" v="1370" actId="1076"/>
          <ac:picMkLst>
            <pc:docMk/>
            <pc:sldMk cId="250182674" sldId="318"/>
            <ac:picMk id="15" creationId="{D697229C-6FF7-7897-2334-207CDE616A5C}"/>
          </ac:picMkLst>
        </pc:picChg>
      </pc:sldChg>
      <pc:sldChg chg="addSp delSp modSp new mod">
        <pc:chgData name="Amine SIJILMASSI" userId="e4021463-8212-4a47-8e05-1eade5e16ef5" providerId="ADAL" clId="{DE3AB4F5-6A8F-4C37-95B6-8B0AC4AF65F9}" dt="2026-09-02T07:46:19.186" v="1172" actId="20577"/>
        <pc:sldMkLst>
          <pc:docMk/>
          <pc:sldMk cId="1396195825" sldId="319"/>
        </pc:sldMkLst>
        <pc:spChg chg="del">
          <ac:chgData name="Amine SIJILMASSI" userId="e4021463-8212-4a47-8e05-1eade5e16ef5" providerId="ADAL" clId="{DE3AB4F5-6A8F-4C37-95B6-8B0AC4AF65F9}" dt="2026-09-02T07:43:37.541" v="1015" actId="478"/>
          <ac:spMkLst>
            <pc:docMk/>
            <pc:sldMk cId="1396195825" sldId="319"/>
            <ac:spMk id="2" creationId="{D62D61A4-2535-068E-28D2-7C4E7CC752A1}"/>
          </ac:spMkLst>
        </pc:spChg>
        <pc:spChg chg="del">
          <ac:chgData name="Amine SIJILMASSI" userId="e4021463-8212-4a47-8e05-1eade5e16ef5" providerId="ADAL" clId="{DE3AB4F5-6A8F-4C37-95B6-8B0AC4AF65F9}" dt="2026-09-02T07:43:37.541" v="1015" actId="478"/>
          <ac:spMkLst>
            <pc:docMk/>
            <pc:sldMk cId="1396195825" sldId="319"/>
            <ac:spMk id="3" creationId="{B5D83D52-50CA-75D9-F6A1-CE75930BBE6C}"/>
          </ac:spMkLst>
        </pc:spChg>
        <pc:spChg chg="add mod">
          <ac:chgData name="Amine SIJILMASSI" userId="e4021463-8212-4a47-8e05-1eade5e16ef5" providerId="ADAL" clId="{DE3AB4F5-6A8F-4C37-95B6-8B0AC4AF65F9}" dt="2026-09-02T07:44:18.956" v="1126" actId="20577"/>
          <ac:spMkLst>
            <pc:docMk/>
            <pc:sldMk cId="1396195825" sldId="319"/>
            <ac:spMk id="5" creationId="{BE76D01E-AF4B-D0AD-406E-076EFBEC4CAC}"/>
          </ac:spMkLst>
        </pc:spChg>
        <pc:spChg chg="add mod">
          <ac:chgData name="Amine SIJILMASSI" userId="e4021463-8212-4a47-8e05-1eade5e16ef5" providerId="ADAL" clId="{DE3AB4F5-6A8F-4C37-95B6-8B0AC4AF65F9}" dt="2026-09-02T07:46:05.683" v="1152" actId="20577"/>
          <ac:spMkLst>
            <pc:docMk/>
            <pc:sldMk cId="1396195825" sldId="319"/>
            <ac:spMk id="9" creationId="{35C3EB75-490A-5689-43A2-C631D60FF45E}"/>
          </ac:spMkLst>
        </pc:spChg>
        <pc:spChg chg="add mod">
          <ac:chgData name="Amine SIJILMASSI" userId="e4021463-8212-4a47-8e05-1eade5e16ef5" providerId="ADAL" clId="{DE3AB4F5-6A8F-4C37-95B6-8B0AC4AF65F9}" dt="2026-09-02T07:46:19.186" v="1172" actId="20577"/>
          <ac:spMkLst>
            <pc:docMk/>
            <pc:sldMk cId="1396195825" sldId="319"/>
            <ac:spMk id="11" creationId="{9CBA32FB-F8E9-98D1-9E9B-D17B8EC277B2}"/>
          </ac:spMkLst>
        </pc:spChg>
        <pc:picChg chg="add mod">
          <ac:chgData name="Amine SIJILMASSI" userId="e4021463-8212-4a47-8e05-1eade5e16ef5" providerId="ADAL" clId="{DE3AB4F5-6A8F-4C37-95B6-8B0AC4AF65F9}" dt="2026-09-02T07:45:50.282" v="1138" actId="1076"/>
          <ac:picMkLst>
            <pc:docMk/>
            <pc:sldMk cId="1396195825" sldId="319"/>
            <ac:picMk id="6" creationId="{E162ED8E-99A1-6014-70FA-7701724C059D}"/>
          </ac:picMkLst>
        </pc:picChg>
        <pc:picChg chg="add mod">
          <ac:chgData name="Amine SIJILMASSI" userId="e4021463-8212-4a47-8e05-1eade5e16ef5" providerId="ADAL" clId="{DE3AB4F5-6A8F-4C37-95B6-8B0AC4AF65F9}" dt="2026-09-02T07:45:37.583" v="1135" actId="1076"/>
          <ac:picMkLst>
            <pc:docMk/>
            <pc:sldMk cId="1396195825" sldId="319"/>
            <ac:picMk id="7" creationId="{3DB2E2E4-7C90-7769-B22D-A972302A64EB}"/>
          </ac:picMkLst>
        </pc:picChg>
      </pc:sldChg>
      <pc:sldChg chg="addSp delSp modSp new mod">
        <pc:chgData name="Amine SIJILMASSI" userId="e4021463-8212-4a47-8e05-1eade5e16ef5" providerId="ADAL" clId="{DE3AB4F5-6A8F-4C37-95B6-8B0AC4AF65F9}" dt="2026-09-02T09:25:57.910" v="1590" actId="1076"/>
        <pc:sldMkLst>
          <pc:docMk/>
          <pc:sldMk cId="597538360" sldId="320"/>
        </pc:sldMkLst>
        <pc:spChg chg="del">
          <ac:chgData name="Amine SIJILMASSI" userId="e4021463-8212-4a47-8e05-1eade5e16ef5" providerId="ADAL" clId="{DE3AB4F5-6A8F-4C37-95B6-8B0AC4AF65F9}" dt="2026-09-02T07:46:29.577" v="1174" actId="478"/>
          <ac:spMkLst>
            <pc:docMk/>
            <pc:sldMk cId="597538360" sldId="320"/>
            <ac:spMk id="2" creationId="{075FE109-D46F-6BC8-B28F-464CBE84A04B}"/>
          </ac:spMkLst>
        </pc:spChg>
        <pc:spChg chg="del">
          <ac:chgData name="Amine SIJILMASSI" userId="e4021463-8212-4a47-8e05-1eade5e16ef5" providerId="ADAL" clId="{DE3AB4F5-6A8F-4C37-95B6-8B0AC4AF65F9}" dt="2026-09-02T07:46:29.577" v="1174" actId="478"/>
          <ac:spMkLst>
            <pc:docMk/>
            <pc:sldMk cId="597538360" sldId="320"/>
            <ac:spMk id="3" creationId="{29E16EFF-993E-7018-5988-A7C5CAAC420E}"/>
          </ac:spMkLst>
        </pc:spChg>
        <pc:picChg chg="add mod">
          <ac:chgData name="Amine SIJILMASSI" userId="e4021463-8212-4a47-8e05-1eade5e16ef5" providerId="ADAL" clId="{DE3AB4F5-6A8F-4C37-95B6-8B0AC4AF65F9}" dt="2026-09-02T09:25:57.910" v="1590" actId="1076"/>
          <ac:picMkLst>
            <pc:docMk/>
            <pc:sldMk cId="597538360" sldId="320"/>
            <ac:picMk id="4" creationId="{BC778E7C-F931-5998-AB4D-88EC7588D4D8}"/>
          </ac:picMkLst>
        </pc:picChg>
      </pc:sldChg>
      <pc:sldChg chg="addSp delSp modSp new mod">
        <pc:chgData name="Amine SIJILMASSI" userId="e4021463-8212-4a47-8e05-1eade5e16ef5" providerId="ADAL" clId="{DE3AB4F5-6A8F-4C37-95B6-8B0AC4AF65F9}" dt="2026-09-02T07:57:03.882" v="1477" actId="20577"/>
        <pc:sldMkLst>
          <pc:docMk/>
          <pc:sldMk cId="2042825276" sldId="321"/>
        </pc:sldMkLst>
        <pc:spChg chg="del">
          <ac:chgData name="Amine SIJILMASSI" userId="e4021463-8212-4a47-8e05-1eade5e16ef5" providerId="ADAL" clId="{DE3AB4F5-6A8F-4C37-95B6-8B0AC4AF65F9}" dt="2026-09-02T07:55:30.952" v="1438" actId="478"/>
          <ac:spMkLst>
            <pc:docMk/>
            <pc:sldMk cId="2042825276" sldId="321"/>
            <ac:spMk id="2" creationId="{957DCAF1-0597-76C4-D078-F9828931243A}"/>
          </ac:spMkLst>
        </pc:spChg>
        <pc:spChg chg="del">
          <ac:chgData name="Amine SIJILMASSI" userId="e4021463-8212-4a47-8e05-1eade5e16ef5" providerId="ADAL" clId="{DE3AB4F5-6A8F-4C37-95B6-8B0AC4AF65F9}" dt="2026-09-02T07:55:30.952" v="1438" actId="478"/>
          <ac:spMkLst>
            <pc:docMk/>
            <pc:sldMk cId="2042825276" sldId="321"/>
            <ac:spMk id="3" creationId="{2D9E7041-3F37-1B50-0213-1EEBB1B4C607}"/>
          </ac:spMkLst>
        </pc:spChg>
        <pc:spChg chg="add mod">
          <ac:chgData name="Amine SIJILMASSI" userId="e4021463-8212-4a47-8e05-1eade5e16ef5" providerId="ADAL" clId="{DE3AB4F5-6A8F-4C37-95B6-8B0AC4AF65F9}" dt="2026-09-02T07:57:03.882" v="1477" actId="20577"/>
          <ac:spMkLst>
            <pc:docMk/>
            <pc:sldMk cId="2042825276" sldId="321"/>
            <ac:spMk id="5" creationId="{A2477937-B4FC-176E-1038-910C5DC495D9}"/>
          </ac:spMkLst>
        </pc:spChg>
        <pc:spChg chg="add mod">
          <ac:chgData name="Amine SIJILMASSI" userId="e4021463-8212-4a47-8e05-1eade5e16ef5" providerId="ADAL" clId="{DE3AB4F5-6A8F-4C37-95B6-8B0AC4AF65F9}" dt="2026-09-02T07:55:48.024" v="1450" actId="403"/>
          <ac:spMkLst>
            <pc:docMk/>
            <pc:sldMk cId="2042825276" sldId="321"/>
            <ac:spMk id="7" creationId="{58026C39-1AFA-BFDB-F33C-97AAD2C3BBC4}"/>
          </ac:spMkLst>
        </pc:spChg>
        <pc:spChg chg="add mod">
          <ac:chgData name="Amine SIJILMASSI" userId="e4021463-8212-4a47-8e05-1eade5e16ef5" providerId="ADAL" clId="{DE3AB4F5-6A8F-4C37-95B6-8B0AC4AF65F9}" dt="2026-09-02T07:56:10.776" v="1458" actId="1076"/>
          <ac:spMkLst>
            <pc:docMk/>
            <pc:sldMk cId="2042825276" sldId="321"/>
            <ac:spMk id="9" creationId="{50BFB973-6103-7B61-FAEF-F0BE923DF30A}"/>
          </ac:spMkLst>
        </pc:spChg>
        <pc:spChg chg="add mod">
          <ac:chgData name="Amine SIJILMASSI" userId="e4021463-8212-4a47-8e05-1eade5e16ef5" providerId="ADAL" clId="{DE3AB4F5-6A8F-4C37-95B6-8B0AC4AF65F9}" dt="2026-09-02T07:56:26.783" v="1468" actId="1076"/>
          <ac:spMkLst>
            <pc:docMk/>
            <pc:sldMk cId="2042825276" sldId="321"/>
            <ac:spMk id="11" creationId="{AC2DC999-EEC2-7D06-3682-6810D43A89C1}"/>
          </ac:spMkLst>
        </pc:spChg>
        <pc:spChg chg="add mod">
          <ac:chgData name="Amine SIJILMASSI" userId="e4021463-8212-4a47-8e05-1eade5e16ef5" providerId="ADAL" clId="{DE3AB4F5-6A8F-4C37-95B6-8B0AC4AF65F9}" dt="2026-09-02T07:56:54.273" v="1475" actId="20577"/>
          <ac:spMkLst>
            <pc:docMk/>
            <pc:sldMk cId="2042825276" sldId="321"/>
            <ac:spMk id="13" creationId="{64B7C408-157D-EF9A-EF74-EB8AA78CC9AA}"/>
          </ac:spMkLst>
        </pc:spChg>
      </pc:sldChg>
      <pc:sldChg chg="addSp delSp modSp new mod">
        <pc:chgData name="Amine SIJILMASSI" userId="e4021463-8212-4a47-8e05-1eade5e16ef5" providerId="ADAL" clId="{DE3AB4F5-6A8F-4C37-95B6-8B0AC4AF65F9}" dt="2026-09-02T07:59:04.517" v="1585" actId="1076"/>
        <pc:sldMkLst>
          <pc:docMk/>
          <pc:sldMk cId="3179193367" sldId="322"/>
        </pc:sldMkLst>
        <pc:spChg chg="del">
          <ac:chgData name="Amine SIJILMASSI" userId="e4021463-8212-4a47-8e05-1eade5e16ef5" providerId="ADAL" clId="{DE3AB4F5-6A8F-4C37-95B6-8B0AC4AF65F9}" dt="2026-09-02T07:57:14.537" v="1479" actId="478"/>
          <ac:spMkLst>
            <pc:docMk/>
            <pc:sldMk cId="3179193367" sldId="322"/>
            <ac:spMk id="2" creationId="{6160B10A-32A3-60DE-CF7F-E258D67FA90B}"/>
          </ac:spMkLst>
        </pc:spChg>
        <pc:spChg chg="del">
          <ac:chgData name="Amine SIJILMASSI" userId="e4021463-8212-4a47-8e05-1eade5e16ef5" providerId="ADAL" clId="{DE3AB4F5-6A8F-4C37-95B6-8B0AC4AF65F9}" dt="2026-09-02T07:57:14.537" v="1479" actId="478"/>
          <ac:spMkLst>
            <pc:docMk/>
            <pc:sldMk cId="3179193367" sldId="322"/>
            <ac:spMk id="3" creationId="{052FA300-42D0-2D64-839B-182E86BADF8C}"/>
          </ac:spMkLst>
        </pc:spChg>
        <pc:spChg chg="add mod">
          <ac:chgData name="Amine SIJILMASSI" userId="e4021463-8212-4a47-8e05-1eade5e16ef5" providerId="ADAL" clId="{DE3AB4F5-6A8F-4C37-95B6-8B0AC4AF65F9}" dt="2026-09-02T07:57:25.278" v="1507" actId="20577"/>
          <ac:spMkLst>
            <pc:docMk/>
            <pc:sldMk cId="3179193367" sldId="322"/>
            <ac:spMk id="5" creationId="{572E376F-EE96-FFA3-DDEC-D9828B8AA23B}"/>
          </ac:spMkLst>
        </pc:spChg>
        <pc:spChg chg="add mod">
          <ac:chgData name="Amine SIJILMASSI" userId="e4021463-8212-4a47-8e05-1eade5e16ef5" providerId="ADAL" clId="{DE3AB4F5-6A8F-4C37-95B6-8B0AC4AF65F9}" dt="2026-09-02T07:58:16.294" v="1571" actId="20577"/>
          <ac:spMkLst>
            <pc:docMk/>
            <pc:sldMk cId="3179193367" sldId="322"/>
            <ac:spMk id="7" creationId="{CA4FBF67-C85A-1E56-35FF-7DBECAE3CBBB}"/>
          </ac:spMkLst>
        </pc:spChg>
        <pc:picChg chg="add del mod">
          <ac:chgData name="Amine SIJILMASSI" userId="e4021463-8212-4a47-8e05-1eade5e16ef5" providerId="ADAL" clId="{DE3AB4F5-6A8F-4C37-95B6-8B0AC4AF65F9}" dt="2026-09-02T07:58:50.566" v="1580" actId="478"/>
          <ac:picMkLst>
            <pc:docMk/>
            <pc:sldMk cId="3179193367" sldId="322"/>
            <ac:picMk id="8" creationId="{570BB985-2CCE-CCB2-E2D4-81D07BBA532C}"/>
          </ac:picMkLst>
        </pc:picChg>
        <pc:picChg chg="add mod">
          <ac:chgData name="Amine SIJILMASSI" userId="e4021463-8212-4a47-8e05-1eade5e16ef5" providerId="ADAL" clId="{DE3AB4F5-6A8F-4C37-95B6-8B0AC4AF65F9}" dt="2026-09-02T07:59:04.517" v="1585" actId="1076"/>
          <ac:picMkLst>
            <pc:docMk/>
            <pc:sldMk cId="3179193367" sldId="322"/>
            <ac:picMk id="9" creationId="{F265EF0B-D1B9-1F2C-E683-B642D5996710}"/>
          </ac:picMkLst>
        </pc:picChg>
      </pc:sldChg>
      <pc:sldChg chg="addSp delSp modSp new mod">
        <pc:chgData name="Amine SIJILMASSI" userId="e4021463-8212-4a47-8e05-1eade5e16ef5" providerId="ADAL" clId="{DE3AB4F5-6A8F-4C37-95B6-8B0AC4AF65F9}" dt="2026-09-03T08:30:55.947" v="1610" actId="1076"/>
        <pc:sldMkLst>
          <pc:docMk/>
          <pc:sldMk cId="4090751204" sldId="323"/>
        </pc:sldMkLst>
        <pc:spChg chg="del">
          <ac:chgData name="Amine SIJILMASSI" userId="e4021463-8212-4a47-8e05-1eade5e16ef5" providerId="ADAL" clId="{DE3AB4F5-6A8F-4C37-95B6-8B0AC4AF65F9}" dt="2026-09-02T09:26:25.200" v="1592" actId="478"/>
          <ac:spMkLst>
            <pc:docMk/>
            <pc:sldMk cId="4090751204" sldId="323"/>
            <ac:spMk id="2" creationId="{300ACBAC-6328-CE49-66E9-3137858BD46A}"/>
          </ac:spMkLst>
        </pc:spChg>
        <pc:spChg chg="del">
          <ac:chgData name="Amine SIJILMASSI" userId="e4021463-8212-4a47-8e05-1eade5e16ef5" providerId="ADAL" clId="{DE3AB4F5-6A8F-4C37-95B6-8B0AC4AF65F9}" dt="2026-09-02T09:26:25.200" v="1592" actId="478"/>
          <ac:spMkLst>
            <pc:docMk/>
            <pc:sldMk cId="4090751204" sldId="323"/>
            <ac:spMk id="3" creationId="{69F94E73-AE0A-8D98-8FEB-4710B69AFADC}"/>
          </ac:spMkLst>
        </pc:spChg>
        <pc:spChg chg="add mod">
          <ac:chgData name="Amine SIJILMASSI" userId="e4021463-8212-4a47-8e05-1eade5e16ef5" providerId="ADAL" clId="{DE3AB4F5-6A8F-4C37-95B6-8B0AC4AF65F9}" dt="2026-09-03T08:30:55.947" v="1610" actId="1076"/>
          <ac:spMkLst>
            <pc:docMk/>
            <pc:sldMk cId="4090751204" sldId="323"/>
            <ac:spMk id="4" creationId="{E8139946-F1DE-9CA8-CD5D-A144702DE657}"/>
          </ac:spMkLst>
        </pc:spChg>
      </pc:sldChg>
    </pc:docChg>
  </pc:docChgLst>
  <pc:docChgLst>
    <pc:chgData name="Amine SIJILMASSI" userId="S::amine.sijilmassi@um6p.ma::e4021463-8212-4a47-8e05-1eade5e16ef5" providerId="AD" clId="Web-{00000000-0000-0000-0000-000000000000}"/>
    <pc:docChg chg="delSld">
      <pc:chgData name="Amine SIJILMASSI" userId="S::amine.sijilmassi@um6p.ma::e4021463-8212-4a47-8e05-1eade5e16ef5" providerId="AD" clId="Web-{00000000-0000-0000-0000-000000000000}" dt="2026-09-02T06:25:14.171" v="0"/>
      <pc:docMkLst>
        <pc:docMk/>
      </pc:docMkLst>
      <pc:sldChg chg="del">
        <pc:chgData name="Amine SIJILMASSI" userId="S::amine.sijilmassi@um6p.ma::e4021463-8212-4a47-8e05-1eade5e16ef5" providerId="AD" clId="Web-{00000000-0000-0000-0000-000000000000}" dt="2026-09-02T06:25:14.171" v="0"/>
        <pc:sldMkLst>
          <pc:docMk/>
          <pc:sldMk cId="0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fr-FR" sz="364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Cliquez pour déplacer la diapo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</a:p>
        </p:txBody>
      </p:sp>
      <p:sp>
        <p:nvSpPr>
          <p:cNvPr id="4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&lt;en-tête&gt;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dt" idx="1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</a:p>
        </p:txBody>
      </p:sp>
      <p:sp>
        <p:nvSpPr>
          <p:cNvPr id="44" name="PlaceHolder 5"/>
          <p:cNvSpPr>
            <a:spLocks noGrp="1"/>
          </p:cNvSpPr>
          <p:nvPr>
            <p:ph type="ftr" idx="2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45" name="PlaceHolder 6"/>
          <p:cNvSpPr>
            <a:spLocks noGrp="1"/>
          </p:cNvSpPr>
          <p:nvPr>
            <p:ph type="sldNum" idx="2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80DD9B4-9F21-41E0-8B07-D57FC0C64E1E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algn="l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lang="fr-M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means, in this course, you will not have a lot lectures. Rather, you will work a lot on personal projects. I’m starting with this point because I suspect that this is the point that will be most unusual, and perhaps frustrating to you; because you will have to learn a lot by yourself. Don’t expect a class where you just learn your lesson and apply it. A lot of your time will be devoted to solve problems on your own. 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lang="fr-M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means that in this course you’ll get a lot of freedom to choose what you want to work on, what kind of data, and what techniques you want to use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lang="fr-M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one is very important. The ability to ask good, relevant and precise questions, and to communicate results effectively, is as important as writing a good program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lang="fr-M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Related to ths point above, ultimately data analysis is a tool: the most complex tools are not necessarily the best; what matters is that the analysis we do helps us answer the question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fr-MA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088F44A-93CD-42FE-96B2-F83DBE581559}" type="slidenum">
              <a:rPr lang="fr-MA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pPr indent="0" algn="r">
              <a:buNone/>
            </a:pPr>
            <a:fld id="{280DD9B4-9F21-41E0-8B07-D57FC0C64E1E}" type="slidenum">
              <a:rPr lang="fr-F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53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22164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3680" y="21600"/>
            <a:ext cx="8532000" cy="205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fr-FR" sz="9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1512000" y="3174840"/>
            <a:ext cx="7055640" cy="1524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B062D80-32AE-4F96-B305-52B5BAD03AFB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iapositive de tit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dt" idx="4"/>
          </p:nvPr>
        </p:nvSpPr>
        <p:spPr>
          <a:xfrm>
            <a:off x="692640" y="5255280"/>
            <a:ext cx="2267640" cy="301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fr-MA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venir Next LT Pro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fr-MA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venir Next LT Pro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5"/>
          </p:nvPr>
        </p:nvSpPr>
        <p:spPr>
          <a:xfrm>
            <a:off x="3338640" y="5255280"/>
            <a:ext cx="3401640" cy="301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sldNum" idx="6"/>
          </p:nvPr>
        </p:nvSpPr>
        <p:spPr>
          <a:xfrm>
            <a:off x="7118640" y="5255280"/>
            <a:ext cx="2267640" cy="301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MA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venir Next L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19D96C-F57F-4CBA-B8E6-BFA21FFAB019}" type="slidenum">
              <a:rPr lang="fr-MA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venir Next LT Pro"/>
              </a:rPr>
              <a:t>‹#›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title"/>
          </p:nvPr>
        </p:nvSpPr>
        <p:spPr>
          <a:xfrm>
            <a:off x="50364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fr-FR" sz="364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fr-FR" sz="364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Cliquez pour éditer le format du texte-titre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503640" y="132624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825"/>
              </a:spcBef>
              <a:buClr>
                <a:srgbClr val="000000"/>
              </a:buClr>
              <a:buFont typeface="Arial"/>
              <a:buChar char="•"/>
              <a:defRPr lang="fr-FR" sz="231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1pPr>
            <a:lvl2pPr lvl="1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979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2pPr>
            <a:lvl3pPr lvl="2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3pPr>
            <a:lvl4pPr lvl="3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4pPr>
            <a:lvl5pPr lvl="4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5pPr>
            <a:lvl6pPr lvl="5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6pPr>
            <a:lvl7pPr lvl="6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825"/>
              </a:spcBef>
              <a:buClr>
                <a:srgbClr val="000000"/>
              </a:buClr>
              <a:buFont typeface="Arial"/>
              <a:buChar char="•"/>
            </a:pPr>
            <a:r>
              <a:rPr lang="fr-FR" sz="231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Cliquez pour éditer le format du plan de texte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979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Second niveau de plan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Troisième niveau de plan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Quatrième niveau de plan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Cinquième niveau de plan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Sixième niveau de plan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re et 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364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fr-FR" sz="364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fr-FR" sz="364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Cliquez pour éditer le format du texte-titre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3640" y="132624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825"/>
              </a:spcBef>
              <a:buClr>
                <a:srgbClr val="000000"/>
              </a:buClr>
              <a:buFont typeface="Arial"/>
              <a:buChar char="•"/>
              <a:defRPr lang="fr-FR" sz="231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1pPr>
            <a:lvl2pPr lvl="1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979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2pPr>
            <a:lvl3pPr lvl="2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3pPr>
            <a:lvl4pPr lvl="3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4pPr>
            <a:lvl5pPr lvl="4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5pPr>
            <a:lvl6pPr lvl="5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6pPr>
            <a:lvl7pPr lvl="6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825"/>
              </a:spcBef>
              <a:buClr>
                <a:srgbClr val="000000"/>
              </a:buClr>
              <a:buFont typeface="Arial"/>
              <a:buChar char="•"/>
            </a:pPr>
            <a:r>
              <a:rPr lang="fr-FR" sz="231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Cliquez pour éditer le format du plan de texte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979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Second niveau de plan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Troisième niveau de plan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Quatrième niveau de plan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41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9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Cinquième niveau de plan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Sixième niveau de plan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65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object 16"/>
          <p:cNvSpPr/>
          <p:nvPr/>
        </p:nvSpPr>
        <p:spPr>
          <a:xfrm>
            <a:off x="-722" y="-722"/>
            <a:ext cx="10082119" cy="5671297"/>
          </a:xfrm>
          <a:custGeom>
            <a:avLst/>
            <a:gdLst>
              <a:gd name="textAreaLeft" fmla="*/ 0 w 20107080"/>
              <a:gd name="textAreaRight" fmla="*/ 20107440 w 20107080"/>
              <a:gd name="textAreaTop" fmla="*/ 0 h 11310840"/>
              <a:gd name="textAreaBottom" fmla="*/ 11311200 h 11310840"/>
            </a:gdLst>
            <a:ahLst/>
            <a:cxnLst/>
            <a:rect l="textAreaLeft" t="textAreaTop" r="textAreaRight" b="textAreaBottom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903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3900" y="21661"/>
            <a:ext cx="8532426" cy="46871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fr-FR" sz="3384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3384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3427376" y="5273644"/>
            <a:ext cx="3225563" cy="2833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702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r>
              <a:rPr lang="en-US"/>
              <a:t>&lt;pied de page&gt;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503988" y="5273644"/>
            <a:ext cx="2318312" cy="2833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702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r>
              <a:rPr lang="en-US"/>
              <a:t>&lt;date/heure&gt;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7258014" y="5273644"/>
            <a:ext cx="2318312" cy="2833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fr-FR" sz="702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fld id="{DBBBDCA1-0229-4EB2-9585-2A5FAD024C04}" type="slidenum">
              <a:rPr lang="en-US" smtClean="0"/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503989" y="1326895"/>
            <a:ext cx="9072337" cy="328862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216605" indent="-162454" algn="l">
              <a:spcBef>
                <a:spcPts val="71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6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3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433210" lvl="1" indent="-162454" algn="l">
              <a:spcBef>
                <a:spcPts val="56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649814" lvl="2" indent="-144403" algn="l">
              <a:spcBef>
                <a:spcPts val="42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866419" lvl="3" indent="-108302" algn="l">
              <a:spcBef>
                <a:spcPts val="28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1083024" lvl="4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1299629" lvl="5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1516234" lvl="6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3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  <p:extLst>
      <p:ext uri="{BB962C8B-B14F-4D97-AF65-F5344CB8AC3E}">
        <p14:creationId xmlns:p14="http://schemas.microsoft.com/office/powerpoint/2010/main" val="762504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g object 16"/>
          <p:cNvSpPr/>
          <p:nvPr/>
        </p:nvSpPr>
        <p:spPr>
          <a:xfrm>
            <a:off x="-722" y="-722"/>
            <a:ext cx="10082119" cy="5671297"/>
          </a:xfrm>
          <a:custGeom>
            <a:avLst/>
            <a:gdLst>
              <a:gd name="textAreaLeft" fmla="*/ 0 w 20107080"/>
              <a:gd name="textAreaRight" fmla="*/ 20107440 w 20107080"/>
              <a:gd name="textAreaTop" fmla="*/ 0 h 11310840"/>
              <a:gd name="textAreaBottom" fmla="*/ 11311200 h 11310840"/>
            </a:gdLst>
            <a:ahLst/>
            <a:cxnLst/>
            <a:rect l="textAreaLeft" t="textAreaTop" r="textAreaRight" b="textAreaBottom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903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3358" y="21480"/>
            <a:ext cx="9264040" cy="120144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3384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3384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3989" y="1304151"/>
            <a:ext cx="4384809" cy="333007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-162454" algn="l">
              <a:spcBef>
                <a:spcPts val="71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6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229240" lvl="1" indent="-162454" algn="l">
              <a:spcBef>
                <a:spcPts val="56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458480" lvl="2" indent="-144403" algn="l">
              <a:spcBef>
                <a:spcPts val="42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687720" lvl="3" indent="-108302" algn="l">
              <a:spcBef>
                <a:spcPts val="28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916960" lvl="4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1146200" lvl="5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1375440" lvl="6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191516" y="1304151"/>
            <a:ext cx="4384809" cy="333007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-162454" algn="l">
              <a:spcBef>
                <a:spcPts val="71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6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229240" lvl="1" indent="-162454" algn="l">
              <a:spcBef>
                <a:spcPts val="56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458480" lvl="2" indent="-144403" algn="l">
              <a:spcBef>
                <a:spcPts val="42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687720" lvl="3" indent="-108302" algn="l">
              <a:spcBef>
                <a:spcPts val="28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916960" lvl="4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1146200" lvl="5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1375440" lvl="6" indent="-108302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507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  <p:sp>
        <p:nvSpPr>
          <p:cNvPr id="18" name="PlaceHolder 4"/>
          <p:cNvSpPr>
            <a:spLocks noGrp="1"/>
          </p:cNvSpPr>
          <p:nvPr>
            <p:ph type="ftr" idx="7"/>
          </p:nvPr>
        </p:nvSpPr>
        <p:spPr>
          <a:xfrm>
            <a:off x="3427376" y="5273644"/>
            <a:ext cx="3225563" cy="2833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702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r>
              <a:rPr lang="en-US"/>
              <a:t>&lt;pied de page&gt;</a:t>
            </a:r>
          </a:p>
        </p:txBody>
      </p:sp>
      <p:sp>
        <p:nvSpPr>
          <p:cNvPr id="19" name="PlaceHolder 5"/>
          <p:cNvSpPr>
            <a:spLocks noGrp="1"/>
          </p:cNvSpPr>
          <p:nvPr>
            <p:ph type="dt" idx="8"/>
          </p:nvPr>
        </p:nvSpPr>
        <p:spPr>
          <a:xfrm>
            <a:off x="503988" y="5273644"/>
            <a:ext cx="2318312" cy="2833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702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r>
              <a:rPr lang="en-US"/>
              <a:t>&lt;date/heure&gt;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9"/>
          </p:nvPr>
        </p:nvSpPr>
        <p:spPr>
          <a:xfrm>
            <a:off x="7258014" y="5273644"/>
            <a:ext cx="2318312" cy="2833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fr-FR" sz="702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fld id="{ABCD9193-E3DA-465C-88A3-1F2718C0A6E2}" type="slidenum">
              <a:rPr lang="en-US" smtClean="0"/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4974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-720" y="-720"/>
            <a:ext cx="10081440" cy="5670720"/>
          </a:xfrm>
          <a:custGeom>
            <a:avLst/>
            <a:gdLst>
              <a:gd name="textAreaLeft" fmla="*/ 0 w 10081440"/>
              <a:gd name="textAreaRight" fmla="*/ 10081800 w 10081440"/>
              <a:gd name="textAreaTop" fmla="*/ 0 h 5670720"/>
              <a:gd name="textAreaBottom" fmla="*/ 5671080 h 5670720"/>
            </a:gdLst>
            <a:ahLst/>
            <a:cxnLst/>
            <a:rect l="textAreaLeft" t="textAreaTop" r="textAreaRight" b="textAreaBottom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3680" y="21600"/>
            <a:ext cx="8532000" cy="205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ftr" idx="7"/>
          </p:nvPr>
        </p:nvSpPr>
        <p:spPr>
          <a:xfrm>
            <a:off x="3426840" y="5272920"/>
            <a:ext cx="32252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dt" idx="8"/>
          </p:nvPr>
        </p:nvSpPr>
        <p:spPr>
          <a:xfrm>
            <a:off x="5036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9"/>
          </p:nvPr>
        </p:nvSpPr>
        <p:spPr>
          <a:xfrm>
            <a:off x="72572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42776F0-D0FA-42F0-BE19-BCEF9CD567AD}" type="slidenum">
              <a: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50364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864000" lvl="1" indent="-324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1296000" lvl="2" indent="-288000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728000" lvl="3" indent="-216000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2160000" lvl="4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592000" lvl="5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3024000" lvl="6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bg object 16"/>
          <p:cNvSpPr/>
          <p:nvPr/>
        </p:nvSpPr>
        <p:spPr>
          <a:xfrm>
            <a:off x="-720" y="-720"/>
            <a:ext cx="10081440" cy="5670720"/>
          </a:xfrm>
          <a:custGeom>
            <a:avLst/>
            <a:gdLst>
              <a:gd name="textAreaLeft" fmla="*/ 0 w 10081440"/>
              <a:gd name="textAreaRight" fmla="*/ 10081800 w 10081440"/>
              <a:gd name="textAreaTop" fmla="*/ 0 h 5670720"/>
              <a:gd name="textAreaBottom" fmla="*/ 5671080 h 5670720"/>
            </a:gdLst>
            <a:ahLst/>
            <a:cxnLst/>
            <a:rect l="textAreaLeft" t="textAreaTop" r="textAreaRight" b="textAreaBottom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3320" y="21240"/>
            <a:ext cx="9263520" cy="120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68600" y="1805400"/>
            <a:ext cx="8591760" cy="275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457200" lvl="1" indent="-324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914400" lvl="2" indent="-288000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371600" lvl="3" indent="-216000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1828800" lvl="4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286000" lvl="5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2743200" lvl="6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5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ftr" idx="10"/>
          </p:nvPr>
        </p:nvSpPr>
        <p:spPr>
          <a:xfrm>
            <a:off x="3426840" y="5272920"/>
            <a:ext cx="32252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26" name="PlaceHolder 4"/>
          <p:cNvSpPr>
            <a:spLocks noGrp="1"/>
          </p:cNvSpPr>
          <p:nvPr>
            <p:ph type="dt" idx="11"/>
          </p:nvPr>
        </p:nvSpPr>
        <p:spPr>
          <a:xfrm>
            <a:off x="5036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2"/>
          </p:nvPr>
        </p:nvSpPr>
        <p:spPr>
          <a:xfrm>
            <a:off x="72572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BBDB0F4-866C-48B7-A96B-71159FC0A82D}" type="slidenum">
              <a: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g object 16"/>
          <p:cNvSpPr/>
          <p:nvPr/>
        </p:nvSpPr>
        <p:spPr>
          <a:xfrm>
            <a:off x="-720" y="-720"/>
            <a:ext cx="10081440" cy="5670720"/>
          </a:xfrm>
          <a:custGeom>
            <a:avLst/>
            <a:gdLst>
              <a:gd name="textAreaLeft" fmla="*/ 0 w 10081440"/>
              <a:gd name="textAreaRight" fmla="*/ 10081800 w 10081440"/>
              <a:gd name="textAreaTop" fmla="*/ 0 h 5670720"/>
              <a:gd name="textAreaBottom" fmla="*/ 5671080 h 5670720"/>
            </a:gdLst>
            <a:ahLst/>
            <a:cxnLst/>
            <a:rect l="textAreaLeft" t="textAreaTop" r="textAreaRight" b="textAreaBottom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3320" y="21240"/>
            <a:ext cx="9263520" cy="120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30" name="PlaceHolder 2"/>
          <p:cNvSpPr>
            <a:spLocks noGrp="1"/>
          </p:cNvSpPr>
          <p:nvPr>
            <p:ph type="ftr" idx="13"/>
          </p:nvPr>
        </p:nvSpPr>
        <p:spPr>
          <a:xfrm>
            <a:off x="3426840" y="5272920"/>
            <a:ext cx="32252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31" name="PlaceHolder 3"/>
          <p:cNvSpPr>
            <a:spLocks noGrp="1"/>
          </p:cNvSpPr>
          <p:nvPr>
            <p:ph type="dt" idx="14"/>
          </p:nvPr>
        </p:nvSpPr>
        <p:spPr>
          <a:xfrm>
            <a:off x="5036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5"/>
          </p:nvPr>
        </p:nvSpPr>
        <p:spPr>
          <a:xfrm>
            <a:off x="72572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2EB7A17-C2B8-4881-8660-CE38A42DD261}" type="slidenum">
              <a: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0364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864000" lvl="1" indent="-324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1296000" lvl="2" indent="-288000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728000" lvl="3" indent="-216000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2160000" lvl="4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592000" lvl="5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3024000" lvl="6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bg object 16"/>
          <p:cNvSpPr/>
          <p:nvPr/>
        </p:nvSpPr>
        <p:spPr>
          <a:xfrm>
            <a:off x="-720" y="-720"/>
            <a:ext cx="10081440" cy="5670720"/>
          </a:xfrm>
          <a:custGeom>
            <a:avLst/>
            <a:gdLst>
              <a:gd name="textAreaLeft" fmla="*/ 0 w 10081440"/>
              <a:gd name="textAreaRight" fmla="*/ 10081800 w 10081440"/>
              <a:gd name="textAreaTop" fmla="*/ 0 h 5670720"/>
              <a:gd name="textAreaBottom" fmla="*/ 5671080 h 5670720"/>
            </a:gdLst>
            <a:ahLst/>
            <a:cxnLst/>
            <a:rect l="textAreaLeft" t="textAreaTop" r="textAreaRight" b="textAreaBottom"/>
            <a:pathLst>
              <a:path w="20107275" h="11311255">
                <a:moveTo>
                  <a:pt x="0" y="11311173"/>
                </a:moveTo>
                <a:lnTo>
                  <a:pt x="20106717" y="11311173"/>
                </a:lnTo>
                <a:lnTo>
                  <a:pt x="20106717" y="0"/>
                </a:lnTo>
                <a:lnTo>
                  <a:pt x="0" y="0"/>
                </a:lnTo>
                <a:lnTo>
                  <a:pt x="0" y="11311173"/>
                </a:lnTo>
                <a:close/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3680" y="21600"/>
            <a:ext cx="8532000" cy="205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67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ftr" idx="16"/>
          </p:nvPr>
        </p:nvSpPr>
        <p:spPr>
          <a:xfrm>
            <a:off x="3426840" y="5272920"/>
            <a:ext cx="32252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37" name="PlaceHolder 3"/>
          <p:cNvSpPr>
            <a:spLocks noGrp="1"/>
          </p:cNvSpPr>
          <p:nvPr>
            <p:ph type="dt" idx="17"/>
          </p:nvPr>
        </p:nvSpPr>
        <p:spPr>
          <a:xfrm>
            <a:off x="5036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18"/>
          </p:nvPr>
        </p:nvSpPr>
        <p:spPr>
          <a:xfrm>
            <a:off x="7257240" y="5272920"/>
            <a:ext cx="2318040" cy="28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def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2739C2B-72AB-426E-8A5C-8F61C5842EED}" type="slidenum">
              <a:rPr lang="fr-FR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50364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70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864000" lvl="1" indent="-324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1296000" lvl="2" indent="-288000" algn="l">
              <a:spcBef>
                <a:spcPts val="42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728000" lvl="3" indent="-216000" algn="l">
              <a:spcBef>
                <a:spcPts val="28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9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2160000" lvl="4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592000" lvl="5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3024000" lvl="6" indent="-216000" algn="l">
              <a:spcBef>
                <a:spcPts val="14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texte-titre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A8B1ED3-41E1-4D13-A7DD-283216F63C3F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8" r:id="rId3"/>
    <p:sldLayoutId id="214748365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minelasso/SOC501-2026" TargetMode="Externa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hyperlink" Target="http://www.gapminder.org/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wresearch.org/social-trends/2021/10/05/rising-share-of-u-s-adults-are-living-%20without-a-spouse-or-partner/pst_10-05-21_unpartnered_adults-0-0/" TargetMode="External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jpe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ylervigen.com/spurious-correlations" TargetMode="External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&amp;f=1&amp;nofb=1&amp;ipt=0faff8d171084cd8c8842e09e63dce9ebb796d94b16dd37def9f6ae752028266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3.jpeg"/><Relationship Id="rId4" Type="http://schemas.openxmlformats.org/officeDocument/2006/relationships/image" Target="../media/image52.jp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4.org&amp;utm_campaign=index&amp;utm_content=origi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6.jpe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ZoneTexte 3"/>
          <p:cNvSpPr/>
          <p:nvPr/>
        </p:nvSpPr>
        <p:spPr>
          <a:xfrm>
            <a:off x="1762560" y="1620000"/>
            <a:ext cx="6553800" cy="118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36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(DAT501) Sociology: Theory and Methods</a:t>
            </a:r>
            <a:endParaRPr lang="fr-F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Picture 2" descr="Université Mohammed VI Polytechnique — Wikipédia"/>
          <p:cNvPicPr/>
          <p:nvPr/>
        </p:nvPicPr>
        <p:blipFill>
          <a:blip r:embed="rId2"/>
          <a:stretch/>
        </p:blipFill>
        <p:spPr>
          <a:xfrm>
            <a:off x="7802640" y="0"/>
            <a:ext cx="2276640" cy="155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ZoneTexte 5"/>
          <p:cNvSpPr/>
          <p:nvPr/>
        </p:nvSpPr>
        <p:spPr>
          <a:xfrm>
            <a:off x="1762560" y="4534560"/>
            <a:ext cx="65538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Amine Sijilmassi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ZoneTexte 6"/>
          <p:cNvSpPr/>
          <p:nvPr/>
        </p:nvSpPr>
        <p:spPr>
          <a:xfrm>
            <a:off x="0" y="3631320"/>
            <a:ext cx="100796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Week 1: Introduction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ZoneTexte 7"/>
          <p:cNvSpPr/>
          <p:nvPr/>
        </p:nvSpPr>
        <p:spPr>
          <a:xfrm>
            <a:off x="1762560" y="4814280"/>
            <a:ext cx="65538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amine.sijilmassi@um6p.ma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ZoneTexte 1"/>
          <p:cNvSpPr/>
          <p:nvPr/>
        </p:nvSpPr>
        <p:spPr>
          <a:xfrm>
            <a:off x="0" y="2351520"/>
            <a:ext cx="10079640" cy="57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32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PART 1: Practical details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ZoneTexte 2"/>
          <p:cNvSpPr/>
          <p:nvPr/>
        </p:nvSpPr>
        <p:spPr>
          <a:xfrm>
            <a:off x="0" y="360"/>
            <a:ext cx="1007964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4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Course principles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ZoneTexte 4"/>
          <p:cNvSpPr/>
          <p:nvPr/>
        </p:nvSpPr>
        <p:spPr>
          <a:xfrm>
            <a:off x="0" y="1268640"/>
            <a:ext cx="655380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1. « Social sciences »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ZoneTexte 10"/>
          <p:cNvSpPr/>
          <p:nvPr/>
        </p:nvSpPr>
        <p:spPr>
          <a:xfrm>
            <a:off x="0" y="3419280"/>
            <a:ext cx="774000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4. Thinking like a social scientist is a skill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ZoneTexte 11"/>
          <p:cNvSpPr/>
          <p:nvPr/>
        </p:nvSpPr>
        <p:spPr>
          <a:xfrm>
            <a:off x="0" y="4139280"/>
            <a:ext cx="1008000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5. What matters is what </a:t>
            </a:r>
            <a:r>
              <a:rPr lang="fr-MA" sz="2400" b="0" i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you </a:t>
            </a: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implement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ZoneTexte 12"/>
          <p:cNvSpPr/>
          <p:nvPr/>
        </p:nvSpPr>
        <p:spPr>
          <a:xfrm>
            <a:off x="0" y="2700000"/>
            <a:ext cx="655380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3. Not a list of theories and methods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ZoneTexte 30"/>
          <p:cNvSpPr/>
          <p:nvPr/>
        </p:nvSpPr>
        <p:spPr>
          <a:xfrm>
            <a:off x="0" y="1980000"/>
            <a:ext cx="1008000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2. No distinction between theory and methods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ZoneTexte 13"/>
          <p:cNvSpPr/>
          <p:nvPr/>
        </p:nvSpPr>
        <p:spPr>
          <a:xfrm>
            <a:off x="0" y="360"/>
            <a:ext cx="10079640" cy="57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32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Syllabus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2706840" y="2678040"/>
            <a:ext cx="4729680" cy="346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fr-FR" sz="1800" b="0" u="none" strike="noStrike" dirty="0">
                <a:solidFill>
                  <a:srgbClr val="000000"/>
                </a:solidFill>
                <a:effectLst/>
                <a:uFillTx/>
                <a:latin typeface="Arial"/>
                <a:hlinkClick r:id="rId2"/>
              </a:rPr>
              <a:t>https://github.com/aminelasso/SOC501-2026</a:t>
            </a:r>
            <a:endParaRPr lang="fr-FR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ZoneTexte 8"/>
          <p:cNvSpPr/>
          <p:nvPr/>
        </p:nvSpPr>
        <p:spPr>
          <a:xfrm>
            <a:off x="0" y="360"/>
            <a:ext cx="10079640" cy="57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32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Organization of the class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ZoneTexte 9"/>
          <p:cNvSpPr/>
          <p:nvPr/>
        </p:nvSpPr>
        <p:spPr>
          <a:xfrm>
            <a:off x="0" y="1175400"/>
            <a:ext cx="10079640" cy="72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1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(5 minutes) </a:t>
            </a:r>
            <a:r>
              <a:rPr lang="fr-MA" sz="21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short quizz </a:t>
            </a:r>
            <a:r>
              <a:rPr lang="fr-MA" sz="21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on Canvas on class material from the previous week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ZoneTexte 18"/>
          <p:cNvSpPr/>
          <p:nvPr/>
        </p:nvSpPr>
        <p:spPr>
          <a:xfrm>
            <a:off x="985" y="1727164"/>
            <a:ext cx="10079640" cy="41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1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(~30 minutes) Lecture (or student presentations)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ZoneTexte 19"/>
          <p:cNvSpPr/>
          <p:nvPr/>
        </p:nvSpPr>
        <p:spPr>
          <a:xfrm>
            <a:off x="0" y="2448720"/>
            <a:ext cx="10079640" cy="41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1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(1h30-2h30) TD on a specific example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ZoneTexte 21"/>
          <p:cNvSpPr/>
          <p:nvPr/>
        </p:nvSpPr>
        <p:spPr>
          <a:xfrm>
            <a:off x="0" y="3630240"/>
            <a:ext cx="10079640" cy="41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1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Mandatory readings 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ZoneTexte 22"/>
          <p:cNvSpPr/>
          <p:nvPr/>
        </p:nvSpPr>
        <p:spPr>
          <a:xfrm>
            <a:off x="0" y="4131000"/>
            <a:ext cx="10079640" cy="41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1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Add one observation in the weekly journal</a:t>
            </a:r>
            <a:endParaRPr lang="fr-F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ZoneTexte 23"/>
          <p:cNvSpPr/>
          <p:nvPr/>
        </p:nvSpPr>
        <p:spPr>
          <a:xfrm>
            <a:off x="0" y="3060000"/>
            <a:ext cx="100796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At home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ZoneTexte 24"/>
          <p:cNvSpPr/>
          <p:nvPr/>
        </p:nvSpPr>
        <p:spPr>
          <a:xfrm>
            <a:off x="0" y="720000"/>
            <a:ext cx="100796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In class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ZoneTexte 14"/>
          <p:cNvSpPr/>
          <p:nvPr/>
        </p:nvSpPr>
        <p:spPr>
          <a:xfrm>
            <a:off x="0" y="360"/>
            <a:ext cx="1007964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4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Evaluation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ZoneTexte 15"/>
          <p:cNvSpPr/>
          <p:nvPr/>
        </p:nvSpPr>
        <p:spPr>
          <a:xfrm>
            <a:off x="0" y="1455120"/>
            <a:ext cx="100796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(20%) </a:t>
            </a:r>
            <a:r>
              <a:rPr lang="fr-MA" sz="24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Final </a:t>
            </a:r>
            <a:r>
              <a:rPr lang="fr-MA" sz="24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essay</a:t>
            </a:r>
            <a:r>
              <a:rPr lang="fr-MA" sz="2400" b="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(50 % </a:t>
            </a:r>
            <a:r>
              <a:rPr lang="fr-MA" sz="2400" b="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written</a:t>
            </a:r>
            <a:r>
              <a:rPr lang="fr-MA" sz="2400" b="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, 50 % oral)</a:t>
            </a:r>
            <a:endParaRPr lang="fr-FR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ZoneTexte 16"/>
          <p:cNvSpPr/>
          <p:nvPr/>
        </p:nvSpPr>
        <p:spPr>
          <a:xfrm>
            <a:off x="0" y="1951920"/>
            <a:ext cx="100796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(30%) </a:t>
            </a:r>
            <a:r>
              <a:rPr lang="fr-MA" sz="2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Midterms</a:t>
            </a: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: 2-hour analysis of a paper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ZoneTexte 17"/>
          <p:cNvSpPr/>
          <p:nvPr/>
        </p:nvSpPr>
        <p:spPr>
          <a:xfrm>
            <a:off x="0" y="2448720"/>
            <a:ext cx="100796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(40%) </a:t>
            </a:r>
            <a:r>
              <a:rPr lang="fr-MA" sz="2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Final exam</a:t>
            </a: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:</a:t>
            </a:r>
            <a:r>
              <a:rPr lang="fr-MA" sz="24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3-hour analysis of a paper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ZoneTexte 20"/>
          <p:cNvSpPr/>
          <p:nvPr/>
        </p:nvSpPr>
        <p:spPr>
          <a:xfrm>
            <a:off x="0" y="2943360"/>
            <a:ext cx="1007964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  <a:ea typeface="Microsoft YaHei"/>
              </a:rPr>
              <a:t>(10%) </a:t>
            </a:r>
            <a:r>
              <a:rPr lang="fr-MA" sz="2400" b="1" u="none" strike="noStrike">
                <a:solidFill>
                  <a:schemeClr val="dk1"/>
                </a:solidFill>
                <a:effectLst/>
                <a:uFillTx/>
                <a:latin typeface="Avenir Next LT Pro"/>
                <a:ea typeface="Microsoft YaHei"/>
              </a:rPr>
              <a:t>Participation &amp; attendance </a:t>
            </a: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  <a:ea typeface="Microsoft YaHei"/>
              </a:rPr>
              <a:t>(1/3 Class exercises ; 1/3 short tests ; </a:t>
            </a:r>
            <a:r>
              <a:rPr lang="fr-MA" sz="2400" b="0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1/3 Weekly Journal )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ZoneTexte 25"/>
          <p:cNvSpPr/>
          <p:nvPr/>
        </p:nvSpPr>
        <p:spPr>
          <a:xfrm>
            <a:off x="0" y="434160"/>
            <a:ext cx="10079640" cy="57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32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FOR NEXT WEEK: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ZoneTexte 26"/>
          <p:cNvSpPr/>
          <p:nvPr/>
        </p:nvSpPr>
        <p:spPr>
          <a:xfrm>
            <a:off x="0" y="1355040"/>
            <a:ext cx="100796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rgbClr val="000000"/>
                </a:solidFill>
                <a:effectLst/>
                <a:uFillTx/>
                <a:latin typeface="Avenir Next LT Pro"/>
              </a:rPr>
              <a:t>Mandatory reading (see Syllabus)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ZoneTexte 27"/>
          <p:cNvSpPr/>
          <p:nvPr/>
        </p:nvSpPr>
        <p:spPr>
          <a:xfrm>
            <a:off x="0" y="2063880"/>
            <a:ext cx="100796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rgbClr val="000000"/>
                </a:solidFill>
                <a:effectLst/>
                <a:uFillTx/>
                <a:latin typeface="Avenir Next LT Pro"/>
              </a:rPr>
              <a:t>First addition to the « Weekly Journal »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ZoneTexte 28"/>
          <p:cNvSpPr/>
          <p:nvPr/>
        </p:nvSpPr>
        <p:spPr>
          <a:xfrm>
            <a:off x="360" y="2783880"/>
            <a:ext cx="1007964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MA" sz="2400" b="0" u="none" strike="noStrike">
                <a:solidFill>
                  <a:srgbClr val="000000"/>
                </a:solidFill>
                <a:effectLst/>
                <a:uFillTx/>
                <a:latin typeface="Avenir Next LT Pro"/>
              </a:rPr>
              <a:t>Choose the topic of your final essay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ZoneTexte 29"/>
          <p:cNvSpPr/>
          <p:nvPr/>
        </p:nvSpPr>
        <p:spPr>
          <a:xfrm>
            <a:off x="0" y="2351520"/>
            <a:ext cx="10079640" cy="57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32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PART 2: What is social science?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object 2"/>
          <p:cNvSpPr/>
          <p:nvPr/>
        </p:nvSpPr>
        <p:spPr>
          <a:xfrm>
            <a:off x="3182486" y="2335919"/>
            <a:ext cx="3762814" cy="34967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spcBef>
                <a:spcPts val="50"/>
              </a:spcBef>
            </a:pPr>
            <a:r>
              <a:rPr lang="fr-FR" sz="2231" b="1">
                <a:solidFill>
                  <a:srgbClr val="000000"/>
                </a:solidFill>
                <a:latin typeface="Arial"/>
              </a:rPr>
              <a:t>Everyone</a:t>
            </a:r>
            <a:r>
              <a:rPr lang="fr-FR" sz="2231" b="1" spc="-46">
                <a:solidFill>
                  <a:srgbClr val="000000"/>
                </a:solidFill>
                <a:latin typeface="Arial"/>
              </a:rPr>
              <a:t> </a:t>
            </a:r>
            <a:r>
              <a:rPr lang="fr-FR" sz="2231">
                <a:solidFill>
                  <a:srgbClr val="000000"/>
                </a:solidFill>
                <a:latin typeface="Arial MT"/>
              </a:rPr>
              <a:t>talks</a:t>
            </a:r>
            <a:r>
              <a:rPr lang="fr-FR" sz="2231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31" spc="78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2231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31" spc="-6">
                <a:solidFill>
                  <a:srgbClr val="000000"/>
                </a:solidFill>
                <a:latin typeface="Arial MT"/>
              </a:rPr>
              <a:t>society</a:t>
            </a:r>
            <a:endParaRPr lang="fr-FR" sz="223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" name="object 3"/>
          <p:cNvPicPr/>
          <p:nvPr/>
        </p:nvPicPr>
        <p:blipFill>
          <a:blip r:embed="rId2"/>
          <a:stretch/>
        </p:blipFill>
        <p:spPr>
          <a:xfrm>
            <a:off x="287902" y="3001623"/>
            <a:ext cx="2863176" cy="2030685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object 4"/>
          <p:cNvPicPr/>
          <p:nvPr/>
        </p:nvPicPr>
        <p:blipFill>
          <a:blip r:embed="rId3"/>
          <a:stretch/>
        </p:blipFill>
        <p:spPr>
          <a:xfrm>
            <a:off x="3225266" y="3022562"/>
            <a:ext cx="3515341" cy="1986822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object 5"/>
          <p:cNvPicPr/>
          <p:nvPr/>
        </p:nvPicPr>
        <p:blipFill>
          <a:blip r:embed="rId4"/>
          <a:stretch/>
        </p:blipFill>
        <p:spPr>
          <a:xfrm>
            <a:off x="6943676" y="3001623"/>
            <a:ext cx="2586822" cy="203086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4076" y="21661"/>
            <a:ext cx="8532126" cy="1003973"/>
          </a:xfrm>
          <a:prstGeom prst="rect">
            <a:avLst/>
          </a:prstGeom>
          <a:noFill/>
          <a:ln w="0">
            <a:noFill/>
          </a:ln>
        </p:spPr>
        <p:txBody>
          <a:bodyPr lIns="0" tIns="74910" rIns="0" bIns="0" anchor="t">
            <a:spAutoFit/>
          </a:bodyPr>
          <a:lstStyle/>
          <a:p>
            <a:pPr marL="1599626">
              <a:lnSpc>
                <a:spcPct val="100000"/>
              </a:lnSpc>
              <a:spcBef>
                <a:spcPts val="590"/>
              </a:spcBef>
            </a:pPr>
            <a:r>
              <a:rPr lang="fr-FR" sz="2808" b="1" spc="75">
                <a:solidFill>
                  <a:schemeClr val="dk1"/>
                </a:solidFill>
                <a:latin typeface="Arial"/>
              </a:rPr>
              <a:t>What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>
                <a:solidFill>
                  <a:schemeClr val="dk1"/>
                </a:solidFill>
                <a:latin typeface="Arial"/>
              </a:rPr>
              <a:t>does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 spc="75">
                <a:solidFill>
                  <a:schemeClr val="dk1"/>
                </a:solidFill>
                <a:latin typeface="Arial"/>
              </a:rPr>
              <a:t>it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 spc="53">
                <a:solidFill>
                  <a:schemeClr val="dk1"/>
                </a:solidFill>
                <a:latin typeface="Arial"/>
              </a:rPr>
              <a:t>mean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 spc="78">
                <a:solidFill>
                  <a:schemeClr val="dk1"/>
                </a:solidFill>
                <a:latin typeface="Arial"/>
              </a:rPr>
              <a:t>to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 spc="85">
                <a:solidFill>
                  <a:schemeClr val="dk1"/>
                </a:solidFill>
                <a:latin typeface="Arial"/>
              </a:rPr>
              <a:t>do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 spc="-26">
                <a:solidFill>
                  <a:schemeClr val="dk1"/>
                </a:solidFill>
                <a:latin typeface="Arial"/>
              </a:rPr>
              <a:t>social</a:t>
            </a:r>
            <a:r>
              <a:rPr lang="fr-FR" sz="2808" b="1" spc="-78">
                <a:solidFill>
                  <a:schemeClr val="dk1"/>
                </a:solidFill>
                <a:latin typeface="Arial"/>
              </a:rPr>
              <a:t> </a:t>
            </a:r>
            <a:r>
              <a:rPr lang="fr-FR" sz="2808" b="1" i="1" u="sng" spc="-6">
                <a:solidFill>
                  <a:schemeClr val="dk1"/>
                </a:solidFill>
                <a:uFill>
                  <a:solidFill>
                    <a:srgbClr val="000000"/>
                  </a:solidFill>
                </a:uFill>
                <a:latin typeface="Trebuchet MS"/>
              </a:rPr>
              <a:t>science</a:t>
            </a:r>
            <a:r>
              <a:rPr lang="fr-FR" sz="2808" b="1" spc="-6">
                <a:solidFill>
                  <a:schemeClr val="dk1"/>
                </a:solidFill>
                <a:latin typeface="Arial"/>
              </a:rPr>
              <a:t>?</a:t>
            </a:r>
            <a:endParaRPr lang="fr-FR" sz="2808"/>
          </a:p>
          <a:p>
            <a:pPr marL="1621467">
              <a:lnSpc>
                <a:spcPct val="100000"/>
              </a:lnSpc>
              <a:spcBef>
                <a:spcPts val="539"/>
              </a:spcBef>
            </a:pPr>
            <a:r>
              <a:rPr lang="fr-FR" sz="2808" spc="-122">
                <a:solidFill>
                  <a:schemeClr val="dk1"/>
                </a:solidFill>
                <a:latin typeface="Arial MT"/>
              </a:rPr>
              <a:t>as</a:t>
            </a:r>
            <a:r>
              <a:rPr lang="fr-FR" sz="2808" spc="-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08" spc="122">
                <a:solidFill>
                  <a:schemeClr val="dk1"/>
                </a:solidFill>
                <a:latin typeface="Arial MT"/>
              </a:rPr>
              <a:t>opposed</a:t>
            </a:r>
            <a:r>
              <a:rPr lang="fr-FR" sz="2808" spc="-5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08" spc="128">
                <a:solidFill>
                  <a:schemeClr val="dk1"/>
                </a:solidFill>
                <a:latin typeface="Arial MT"/>
              </a:rPr>
              <a:t>to</a:t>
            </a:r>
            <a:r>
              <a:rPr lang="fr-FR" sz="2808" spc="-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08">
                <a:solidFill>
                  <a:schemeClr val="dk1"/>
                </a:solidFill>
                <a:latin typeface="Arial MT"/>
              </a:rPr>
              <a:t>just</a:t>
            </a:r>
            <a:r>
              <a:rPr lang="fr-FR" sz="2808" spc="-5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08" spc="78">
                <a:solidFill>
                  <a:schemeClr val="dk1"/>
                </a:solidFill>
                <a:latin typeface="Arial MT"/>
              </a:rPr>
              <a:t>“talking</a:t>
            </a:r>
            <a:r>
              <a:rPr lang="fr-FR" sz="2808" spc="-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08" spc="98">
                <a:solidFill>
                  <a:schemeClr val="dk1"/>
                </a:solidFill>
                <a:latin typeface="Arial MT"/>
              </a:rPr>
              <a:t>about</a:t>
            </a:r>
            <a:r>
              <a:rPr lang="fr-FR" sz="2808" spc="-5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08" spc="-6">
                <a:solidFill>
                  <a:schemeClr val="dk1"/>
                </a:solidFill>
                <a:latin typeface="Arial MT"/>
              </a:rPr>
              <a:t>society”?</a:t>
            </a:r>
            <a:endParaRPr lang="fr-FR" sz="2808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2">
            <a:extLst>
              <a:ext uri="{FF2B5EF4-FFF2-40B4-BE49-F238E27FC236}">
                <a16:creationId xmlns:a16="http://schemas.microsoft.com/office/drawing/2014/main" id="{31BE5E80-2104-135D-8FB2-28E4BDCD2CB6}"/>
              </a:ext>
            </a:extLst>
          </p:cNvPr>
          <p:cNvSpPr/>
          <p:nvPr/>
        </p:nvSpPr>
        <p:spPr>
          <a:xfrm>
            <a:off x="-1" y="2335919"/>
            <a:ext cx="10080625" cy="34967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6318" rIns="0" bIns="0" anchor="t">
            <a:spAutoFit/>
          </a:bodyPr>
          <a:lstStyle/>
          <a:p>
            <a:pPr marL="6318" algn="ctr">
              <a:spcBef>
                <a:spcPts val="50"/>
              </a:spcBef>
            </a:pPr>
            <a:r>
              <a:rPr lang="fr-FR" sz="2231" b="1" dirty="0">
                <a:solidFill>
                  <a:srgbClr val="000000"/>
                </a:solidFill>
                <a:latin typeface="Arial"/>
              </a:rPr>
              <a:t>Social science </a:t>
            </a:r>
            <a:r>
              <a:rPr lang="fr-FR" sz="2231" b="1" dirty="0" err="1">
                <a:solidFill>
                  <a:srgbClr val="000000"/>
                </a:solidFill>
                <a:latin typeface="Arial"/>
              </a:rPr>
              <a:t>wants</a:t>
            </a:r>
            <a:r>
              <a:rPr lang="fr-FR" sz="2231" b="1" dirty="0">
                <a:solidFill>
                  <a:srgbClr val="000000"/>
                </a:solidFill>
                <a:latin typeface="Arial"/>
              </a:rPr>
              <a:t> to talk about society in a « </a:t>
            </a:r>
            <a:r>
              <a:rPr lang="fr-FR" sz="2231" b="1" dirty="0" err="1">
                <a:solidFill>
                  <a:srgbClr val="000000"/>
                </a:solidFill>
                <a:latin typeface="Arial"/>
              </a:rPr>
              <a:t>disciplined</a:t>
            </a:r>
            <a:r>
              <a:rPr lang="fr-FR" sz="2231" b="1" dirty="0">
                <a:solidFill>
                  <a:srgbClr val="000000"/>
                </a:solidFill>
                <a:latin typeface="Arial"/>
              </a:rPr>
              <a:t> » </a:t>
            </a:r>
            <a:r>
              <a:rPr lang="fr-FR" sz="2231" b="1" dirty="0" err="1">
                <a:solidFill>
                  <a:srgbClr val="000000"/>
                </a:solidFill>
                <a:latin typeface="Arial"/>
              </a:rPr>
              <a:t>way</a:t>
            </a:r>
            <a:endParaRPr lang="fr-FR" sz="223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C8446F48-D198-EFBC-40C3-80990EA2CC00}"/>
              </a:ext>
            </a:extLst>
          </p:cNvPr>
          <p:cNvSpPr/>
          <p:nvPr/>
        </p:nvSpPr>
        <p:spPr>
          <a:xfrm>
            <a:off x="0" y="3150471"/>
            <a:ext cx="10080625" cy="34967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6318" rIns="0" bIns="0" anchor="t">
            <a:spAutoFit/>
          </a:bodyPr>
          <a:lstStyle/>
          <a:p>
            <a:pPr marL="6318" algn="ctr">
              <a:spcBef>
                <a:spcPts val="50"/>
              </a:spcBef>
            </a:pPr>
            <a:r>
              <a:rPr lang="fr-FR" sz="2231" dirty="0">
                <a:solidFill>
                  <a:srgbClr val="000000"/>
                </a:solidFill>
                <a:latin typeface="Arial"/>
              </a:rPr>
              <a:t>(or « </a:t>
            </a:r>
            <a:r>
              <a:rPr lang="fr-FR" sz="2231" dirty="0" err="1">
                <a:solidFill>
                  <a:srgbClr val="000000"/>
                </a:solidFill>
                <a:latin typeface="Arial"/>
              </a:rPr>
              <a:t>scientific</a:t>
            </a:r>
            <a:r>
              <a:rPr lang="fr-FR" sz="2231" dirty="0">
                <a:solidFill>
                  <a:srgbClr val="000000"/>
                </a:solidFill>
                <a:latin typeface="Arial"/>
              </a:rPr>
              <a:t> »)</a:t>
            </a:r>
          </a:p>
        </p:txBody>
      </p:sp>
    </p:spTree>
    <p:extLst>
      <p:ext uri="{BB962C8B-B14F-4D97-AF65-F5344CB8AC3E}">
        <p14:creationId xmlns:p14="http://schemas.microsoft.com/office/powerpoint/2010/main" val="3511946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673121"/>
          </a:xfrm>
          <a:prstGeom prst="rect">
            <a:avLst/>
          </a:prstGeom>
          <a:noFill/>
          <a:ln w="0">
            <a:noFill/>
          </a:ln>
        </p:spPr>
        <p:txBody>
          <a:bodyPr lIns="0" tIns="158484" rIns="0" bIns="0" anchor="t">
            <a:spAutoFit/>
          </a:bodyPr>
          <a:lstStyle/>
          <a:p>
            <a:pPr marL="2925970">
              <a:lnSpc>
                <a:spcPct val="100000"/>
              </a:lnSpc>
              <a:spcBef>
                <a:spcPts val="63"/>
              </a:spcBef>
            </a:pPr>
            <a:r>
              <a:rPr lang="fr-FR" sz="3334" b="1" dirty="0">
                <a:solidFill>
                  <a:schemeClr val="dk1"/>
                </a:solidFill>
                <a:latin typeface="Arial"/>
              </a:rPr>
              <a:t>The</a:t>
            </a:r>
            <a:r>
              <a:rPr lang="fr-FR" sz="3334" b="1" spc="-153" dirty="0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dirty="0" err="1">
                <a:solidFill>
                  <a:schemeClr val="dk1"/>
                </a:solidFill>
                <a:latin typeface="Arial"/>
              </a:rPr>
              <a:t>scientific</a:t>
            </a:r>
            <a:r>
              <a:rPr lang="fr-FR" sz="3334" b="1" spc="-150" dirty="0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95" dirty="0" err="1">
                <a:solidFill>
                  <a:schemeClr val="dk1"/>
                </a:solidFill>
                <a:latin typeface="Arial"/>
              </a:rPr>
              <a:t>method</a:t>
            </a:r>
            <a:endParaRPr lang="fr-FR" sz="3334" dirty="0"/>
          </a:p>
        </p:txBody>
      </p:sp>
      <p:grpSp>
        <p:nvGrpSpPr>
          <p:cNvPr id="87" name="object 3"/>
          <p:cNvGrpSpPr/>
          <p:nvPr/>
        </p:nvGrpSpPr>
        <p:grpSpPr>
          <a:xfrm>
            <a:off x="3022016" y="1610469"/>
            <a:ext cx="3875089" cy="3210468"/>
            <a:chOff x="6026760" y="3211920"/>
            <a:chExt cx="7728480" cy="6402960"/>
          </a:xfrm>
        </p:grpSpPr>
        <p:pic>
          <p:nvPicPr>
            <p:cNvPr id="88" name="object 4"/>
            <p:cNvPicPr/>
            <p:nvPr/>
          </p:nvPicPr>
          <p:blipFill>
            <a:blip r:embed="rId2"/>
            <a:stretch/>
          </p:blipFill>
          <p:spPr>
            <a:xfrm>
              <a:off x="6026760" y="3211920"/>
              <a:ext cx="3880080" cy="6402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9" name="object 5"/>
            <p:cNvPicPr/>
            <p:nvPr/>
          </p:nvPicPr>
          <p:blipFill>
            <a:blip r:embed="rId3"/>
            <a:stretch/>
          </p:blipFill>
          <p:spPr>
            <a:xfrm>
              <a:off x="9875160" y="3270240"/>
              <a:ext cx="3880080" cy="6286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90" name="object 6"/>
          <p:cNvSpPr/>
          <p:nvPr/>
        </p:nvSpPr>
        <p:spPr>
          <a:xfrm>
            <a:off x="3884471" y="4908842"/>
            <a:ext cx="363177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10">
                <a:solidFill>
                  <a:srgbClr val="000000"/>
                </a:solidFill>
                <a:latin typeface="Arial MT"/>
              </a:rPr>
              <a:t>1964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object 7"/>
          <p:cNvSpPr/>
          <p:nvPr/>
        </p:nvSpPr>
        <p:spPr>
          <a:xfrm>
            <a:off x="5634109" y="4908842"/>
            <a:ext cx="363177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10">
                <a:solidFill>
                  <a:srgbClr val="000000"/>
                </a:solidFill>
                <a:latin typeface="Arial MT"/>
              </a:rPr>
              <a:t>1970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673121"/>
          </a:xfrm>
          <a:prstGeom prst="rect">
            <a:avLst/>
          </a:prstGeom>
          <a:noFill/>
          <a:ln w="0">
            <a:noFill/>
          </a:ln>
        </p:spPr>
        <p:txBody>
          <a:bodyPr lIns="0" tIns="158484" rIns="0" bIns="0" anchor="t">
            <a:spAutoFit/>
          </a:bodyPr>
          <a:lstStyle/>
          <a:p>
            <a:pPr marL="2925970">
              <a:lnSpc>
                <a:spcPct val="100000"/>
              </a:lnSpc>
              <a:spcBef>
                <a:spcPts val="63"/>
              </a:spcBef>
            </a:pPr>
            <a:r>
              <a:rPr lang="fr-FR" sz="3334" b="1" dirty="0">
                <a:solidFill>
                  <a:schemeClr val="dk1"/>
                </a:solidFill>
                <a:latin typeface="Arial"/>
              </a:rPr>
              <a:t>The</a:t>
            </a:r>
            <a:r>
              <a:rPr lang="fr-FR" sz="3334" b="1" spc="-153" dirty="0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dirty="0" err="1">
                <a:solidFill>
                  <a:schemeClr val="dk1"/>
                </a:solidFill>
                <a:latin typeface="Arial"/>
              </a:rPr>
              <a:t>scientific</a:t>
            </a:r>
            <a:r>
              <a:rPr lang="fr-FR" sz="3334" b="1" spc="-150" dirty="0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95" dirty="0" err="1">
                <a:solidFill>
                  <a:schemeClr val="dk1"/>
                </a:solidFill>
                <a:latin typeface="Arial"/>
              </a:rPr>
              <a:t>method</a:t>
            </a:r>
            <a:endParaRPr lang="fr-FR" sz="3334" dirty="0"/>
          </a:p>
        </p:txBody>
      </p:sp>
      <p:pic>
        <p:nvPicPr>
          <p:cNvPr id="93" name="object 3"/>
          <p:cNvPicPr/>
          <p:nvPr/>
        </p:nvPicPr>
        <p:blipFill>
          <a:blip r:embed="rId2"/>
          <a:stretch/>
        </p:blipFill>
        <p:spPr>
          <a:xfrm>
            <a:off x="6975986" y="1340433"/>
            <a:ext cx="2229602" cy="1145848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4" name="object 4"/>
          <p:cNvGrpSpPr/>
          <p:nvPr/>
        </p:nvGrpSpPr>
        <p:grpSpPr>
          <a:xfrm>
            <a:off x="1145303" y="703068"/>
            <a:ext cx="8229960" cy="4911911"/>
            <a:chOff x="2283840" y="1402200"/>
            <a:chExt cx="16413840" cy="9796320"/>
          </a:xfrm>
        </p:grpSpPr>
        <p:pic>
          <p:nvPicPr>
            <p:cNvPr id="95" name="object 5"/>
            <p:cNvPicPr/>
            <p:nvPr/>
          </p:nvPicPr>
          <p:blipFill>
            <a:blip r:embed="rId3"/>
            <a:stretch/>
          </p:blipFill>
          <p:spPr>
            <a:xfrm>
              <a:off x="2356920" y="2382480"/>
              <a:ext cx="9832680" cy="8001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6" name="object 6"/>
            <p:cNvPicPr/>
            <p:nvPr/>
          </p:nvPicPr>
          <p:blipFill>
            <a:blip r:embed="rId4"/>
            <a:stretch/>
          </p:blipFill>
          <p:spPr>
            <a:xfrm>
              <a:off x="2355120" y="1402200"/>
              <a:ext cx="16342560" cy="1040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7" name="object 7"/>
            <p:cNvPicPr/>
            <p:nvPr/>
          </p:nvPicPr>
          <p:blipFill>
            <a:blip r:embed="rId5"/>
            <a:stretch/>
          </p:blipFill>
          <p:spPr>
            <a:xfrm>
              <a:off x="2283840" y="10011960"/>
              <a:ext cx="15849720" cy="11865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163715" y="160108"/>
            <a:ext cx="5260286" cy="553675"/>
          </a:xfrm>
          <a:prstGeom prst="rect">
            <a:avLst/>
          </a:prstGeom>
          <a:noFill/>
          <a:ln w="0">
            <a:noFill/>
          </a:ln>
        </p:spPr>
        <p:txBody>
          <a:bodyPr lIns="0" tIns="5776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46"/>
              </a:spcBef>
            </a:pPr>
            <a:r>
              <a:rPr lang="fr-FR" sz="3560" b="1" spc="70">
                <a:solidFill>
                  <a:schemeClr val="dk1"/>
                </a:solidFill>
                <a:latin typeface="Arial"/>
              </a:rPr>
              <a:t>Ignoring</a:t>
            </a:r>
            <a:r>
              <a:rPr lang="fr-FR" sz="3560" b="1" spc="-92">
                <a:solidFill>
                  <a:schemeClr val="dk1"/>
                </a:solidFill>
                <a:latin typeface="Arial"/>
              </a:rPr>
              <a:t> </a:t>
            </a:r>
            <a:r>
              <a:rPr lang="fr-FR" sz="3560" b="1" spc="40">
                <a:solidFill>
                  <a:schemeClr val="dk1"/>
                </a:solidFill>
                <a:latin typeface="Arial"/>
              </a:rPr>
              <a:t>“folk-</a:t>
            </a:r>
            <a:r>
              <a:rPr lang="fr-FR" sz="3560" b="1" spc="-6">
                <a:solidFill>
                  <a:schemeClr val="dk1"/>
                </a:solidFill>
                <a:latin typeface="Arial"/>
              </a:rPr>
              <a:t>theories”</a:t>
            </a:r>
            <a:endParaRPr lang="fr-FR" sz="3560"/>
          </a:p>
        </p:txBody>
      </p:sp>
      <p:pic>
        <p:nvPicPr>
          <p:cNvPr id="99" name="object 3"/>
          <p:cNvPicPr/>
          <p:nvPr/>
        </p:nvPicPr>
        <p:blipFill>
          <a:blip r:embed="rId2"/>
          <a:stretch/>
        </p:blipFill>
        <p:spPr>
          <a:xfrm>
            <a:off x="2259382" y="2422562"/>
            <a:ext cx="1267328" cy="192021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object 4"/>
          <p:cNvSpPr/>
          <p:nvPr/>
        </p:nvSpPr>
        <p:spPr>
          <a:xfrm>
            <a:off x="2706854" y="4323464"/>
            <a:ext cx="433213" cy="235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401" rIns="0" bIns="0" anchor="t">
            <a:spAutoFit/>
          </a:bodyPr>
          <a:lstStyle/>
          <a:p>
            <a:pPr marL="6318">
              <a:spcBef>
                <a:spcPts val="57"/>
              </a:spcBef>
            </a:pPr>
            <a:r>
              <a:rPr lang="fr-FR" sz="1479" spc="-10">
                <a:solidFill>
                  <a:srgbClr val="000000"/>
                </a:solidFill>
                <a:latin typeface="Arial MT"/>
              </a:rPr>
              <a:t>1894</a:t>
            </a:r>
            <a:endParaRPr lang="fr-FR" sz="1479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object 5"/>
          <p:cNvPicPr/>
          <p:nvPr/>
        </p:nvPicPr>
        <p:blipFill>
          <a:blip r:embed="rId3"/>
          <a:stretch/>
        </p:blipFill>
        <p:spPr>
          <a:xfrm>
            <a:off x="404870" y="2422562"/>
            <a:ext cx="1777436" cy="1838808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object 6"/>
          <p:cNvSpPr/>
          <p:nvPr/>
        </p:nvSpPr>
        <p:spPr>
          <a:xfrm>
            <a:off x="260105" y="4189709"/>
            <a:ext cx="3878157" cy="12010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96751" rIns="0" bIns="0" anchor="t">
            <a:spAutoFit/>
          </a:bodyPr>
          <a:lstStyle/>
          <a:p>
            <a:pPr algn="ctr">
              <a:spcBef>
                <a:spcPts val="762"/>
              </a:spcBef>
            </a:pPr>
            <a:r>
              <a:rPr lang="fr-FR" sz="1404" b="1">
                <a:solidFill>
                  <a:srgbClr val="000000"/>
                </a:solidFill>
                <a:latin typeface="Arial"/>
              </a:rPr>
              <a:t>Emile</a:t>
            </a:r>
            <a:r>
              <a:rPr lang="fr-FR" sz="1404" b="1" spc="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 spc="26">
                <a:solidFill>
                  <a:srgbClr val="000000"/>
                </a:solidFill>
                <a:latin typeface="Arial"/>
              </a:rPr>
              <a:t>Durkheim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277615" algn="ctr">
              <a:lnSpc>
                <a:spcPct val="112000"/>
              </a:lnSpc>
              <a:spcBef>
                <a:spcPts val="496"/>
              </a:spcBef>
            </a:pPr>
            <a:r>
              <a:rPr lang="fr-FR" sz="1404" spc="33">
                <a:solidFill>
                  <a:srgbClr val="000000"/>
                </a:solidFill>
                <a:latin typeface="Arial MT"/>
              </a:rPr>
              <a:t>(founder</a:t>
            </a:r>
            <a:r>
              <a:rPr lang="fr-FR" sz="1404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French </a:t>
            </a:r>
            <a:r>
              <a:rPr lang="fr-FR" sz="1404" spc="20">
                <a:solidFill>
                  <a:srgbClr val="000000"/>
                </a:solidFill>
                <a:latin typeface="Arial MT"/>
              </a:rPr>
              <a:t>sociology)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 algn="ctr">
              <a:spcBef>
                <a:spcPts val="246"/>
              </a:spcBef>
            </a:pPr>
            <a:r>
              <a:rPr lang="fr-FR" sz="1680" spc="70">
                <a:solidFill>
                  <a:srgbClr val="000000"/>
                </a:solidFill>
                <a:latin typeface="Arial MT"/>
              </a:rPr>
              <a:t>getting</a:t>
            </a:r>
            <a:r>
              <a:rPr lang="fr-FR" sz="168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80" spc="80">
                <a:solidFill>
                  <a:srgbClr val="000000"/>
                </a:solidFill>
                <a:latin typeface="Arial MT"/>
              </a:rPr>
              <a:t>rid</a:t>
            </a:r>
            <a:r>
              <a:rPr lang="fr-FR" sz="168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80" spc="63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680" spc="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80" b="1">
                <a:solidFill>
                  <a:srgbClr val="0076BA"/>
                </a:solidFill>
                <a:latin typeface="Arial"/>
              </a:rPr>
              <a:t>“prenotions”</a:t>
            </a:r>
            <a:r>
              <a:rPr lang="fr-FR" sz="1680" b="1" spc="6">
                <a:solidFill>
                  <a:srgbClr val="0076BA"/>
                </a:solidFill>
                <a:latin typeface="Arial"/>
              </a:rPr>
              <a:t> </a:t>
            </a:r>
            <a:r>
              <a:rPr lang="fr-FR" sz="1680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68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80" spc="-6">
                <a:solidFill>
                  <a:srgbClr val="000000"/>
                </a:solidFill>
                <a:latin typeface="Arial MT"/>
              </a:rPr>
              <a:t>establish</a:t>
            </a:r>
            <a:endParaRPr lang="fr-FR" sz="1680">
              <a:solidFill>
                <a:srgbClr val="000000"/>
              </a:solidFill>
              <a:latin typeface="Arial"/>
            </a:endParaRPr>
          </a:p>
          <a:p>
            <a:pPr algn="ctr">
              <a:spcBef>
                <a:spcPts val="298"/>
              </a:spcBef>
            </a:pPr>
            <a:r>
              <a:rPr lang="fr-FR" sz="1680" b="1" spc="40">
                <a:solidFill>
                  <a:srgbClr val="000000"/>
                </a:solidFill>
                <a:latin typeface="Arial"/>
              </a:rPr>
              <a:t>objective</a:t>
            </a:r>
            <a:r>
              <a:rPr lang="fr-FR" sz="1680" b="1" spc="-43">
                <a:solidFill>
                  <a:srgbClr val="000000"/>
                </a:solidFill>
                <a:latin typeface="Arial"/>
              </a:rPr>
              <a:t> </a:t>
            </a:r>
            <a:r>
              <a:rPr lang="fr-FR" sz="1680" b="1" spc="-6">
                <a:solidFill>
                  <a:srgbClr val="000000"/>
                </a:solidFill>
                <a:latin typeface="Arial"/>
              </a:rPr>
              <a:t>facts</a:t>
            </a:r>
            <a:endParaRPr lang="fr-FR" sz="168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object 7"/>
          <p:cNvSpPr/>
          <p:nvPr/>
        </p:nvSpPr>
        <p:spPr>
          <a:xfrm>
            <a:off x="7115336" y="5231947"/>
            <a:ext cx="2364439" cy="2417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spcBef>
                <a:spcPts val="50"/>
              </a:spcBef>
            </a:pPr>
            <a:r>
              <a:rPr lang="fr-FR" sz="1529">
                <a:solidFill>
                  <a:srgbClr val="000000"/>
                </a:solidFill>
                <a:latin typeface="Arial MT"/>
              </a:rPr>
              <a:t>“</a:t>
            </a:r>
            <a:r>
              <a:rPr lang="fr-FR" sz="1529" b="1">
                <a:solidFill>
                  <a:srgbClr val="0076BA"/>
                </a:solidFill>
                <a:latin typeface="Arial"/>
              </a:rPr>
              <a:t>sociologies</a:t>
            </a:r>
            <a:r>
              <a:rPr lang="fr-FR" sz="1529" b="1" spc="-48">
                <a:solidFill>
                  <a:srgbClr val="0076BA"/>
                </a:solidFill>
                <a:latin typeface="Arial"/>
              </a:rPr>
              <a:t> </a:t>
            </a:r>
            <a:r>
              <a:rPr lang="fr-FR" sz="1529" b="1" spc="-6">
                <a:solidFill>
                  <a:srgbClr val="0076BA"/>
                </a:solidFill>
                <a:latin typeface="Arial"/>
              </a:rPr>
              <a:t>spontanées</a:t>
            </a:r>
            <a:r>
              <a:rPr lang="fr-FR" sz="1529" spc="-6">
                <a:solidFill>
                  <a:srgbClr val="000000"/>
                </a:solidFill>
                <a:latin typeface="Arial MT"/>
              </a:rPr>
              <a:t>”</a:t>
            </a:r>
            <a:endParaRPr lang="fr-FR" sz="1529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4" name="object 8"/>
          <p:cNvGrpSpPr/>
          <p:nvPr/>
        </p:nvGrpSpPr>
        <p:grpSpPr>
          <a:xfrm>
            <a:off x="6635372" y="2468591"/>
            <a:ext cx="3041515" cy="2216786"/>
            <a:chOff x="13233240" y="4923360"/>
            <a:chExt cx="6066000" cy="4421160"/>
          </a:xfrm>
        </p:grpSpPr>
        <p:pic>
          <p:nvPicPr>
            <p:cNvPr id="105" name="object 9"/>
            <p:cNvPicPr/>
            <p:nvPr/>
          </p:nvPicPr>
          <p:blipFill>
            <a:blip r:embed="rId4"/>
            <a:stretch/>
          </p:blipFill>
          <p:spPr>
            <a:xfrm>
              <a:off x="13233240" y="4923360"/>
              <a:ext cx="3063240" cy="44211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6" name="object 10"/>
            <p:cNvPicPr/>
            <p:nvPr/>
          </p:nvPicPr>
          <p:blipFill>
            <a:blip r:embed="rId5"/>
            <a:stretch/>
          </p:blipFill>
          <p:spPr>
            <a:xfrm>
              <a:off x="16293600" y="4923360"/>
              <a:ext cx="3005640" cy="43959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7" name="object 11"/>
          <p:cNvSpPr/>
          <p:nvPr/>
        </p:nvSpPr>
        <p:spPr>
          <a:xfrm>
            <a:off x="6640788" y="4790251"/>
            <a:ext cx="1525270" cy="2475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303" rIns="0" bIns="0" anchor="t">
            <a:spAutoFit/>
          </a:bodyPr>
          <a:lstStyle/>
          <a:p>
            <a:pPr marL="6318">
              <a:spcBef>
                <a:spcPts val="65"/>
              </a:spcBef>
            </a:pPr>
            <a:r>
              <a:rPr lang="fr-FR" sz="1554" b="1">
                <a:solidFill>
                  <a:srgbClr val="000000"/>
                </a:solidFill>
                <a:latin typeface="Arial"/>
              </a:rPr>
              <a:t>Pierre</a:t>
            </a:r>
            <a:r>
              <a:rPr lang="fr-FR" sz="1554" b="1" spc="53">
                <a:solidFill>
                  <a:srgbClr val="000000"/>
                </a:solidFill>
                <a:latin typeface="Arial"/>
              </a:rPr>
              <a:t> </a:t>
            </a:r>
            <a:r>
              <a:rPr lang="fr-FR" sz="1554" b="1" spc="-6">
                <a:solidFill>
                  <a:srgbClr val="000000"/>
                </a:solidFill>
                <a:latin typeface="Arial"/>
              </a:rPr>
              <a:t>Bourdieu</a:t>
            </a:r>
            <a:endParaRPr lang="fr-FR" sz="1554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object 12"/>
          <p:cNvSpPr/>
          <p:nvPr/>
        </p:nvSpPr>
        <p:spPr>
          <a:xfrm>
            <a:off x="8766779" y="4681045"/>
            <a:ext cx="328159" cy="235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401" rIns="0" bIns="0" anchor="t">
            <a:spAutoFit/>
          </a:bodyPr>
          <a:lstStyle/>
          <a:p>
            <a:pPr marL="6318">
              <a:spcBef>
                <a:spcPts val="57"/>
              </a:spcBef>
            </a:pPr>
            <a:r>
              <a:rPr lang="fr-FR" sz="1479" spc="-13">
                <a:solidFill>
                  <a:srgbClr val="000000"/>
                </a:solidFill>
                <a:latin typeface="Arial MT"/>
              </a:rPr>
              <a:t>196</a:t>
            </a:r>
            <a:endParaRPr lang="fr-FR" sz="1479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object 13"/>
          <p:cNvSpPr/>
          <p:nvPr/>
        </p:nvSpPr>
        <p:spPr>
          <a:xfrm>
            <a:off x="717505" y="830325"/>
            <a:ext cx="8947830" cy="12832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464060" indent="-2457923">
              <a:lnSpc>
                <a:spcPct val="114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981" spc="6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981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27">
                <a:solidFill>
                  <a:srgbClr val="000000"/>
                </a:solidFill>
                <a:latin typeface="Arial MT"/>
              </a:rPr>
              <a:t>specific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85">
                <a:solidFill>
                  <a:srgbClr val="000000"/>
                </a:solidFill>
                <a:latin typeface="Arial MT"/>
              </a:rPr>
              <a:t>problem</a:t>
            </a:r>
            <a:r>
              <a:rPr lang="fr-FR" sz="1981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53">
                <a:solidFill>
                  <a:srgbClr val="000000"/>
                </a:solidFill>
                <a:latin typeface="Arial MT"/>
              </a:rPr>
              <a:t>with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science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33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30">
                <a:solidFill>
                  <a:srgbClr val="000000"/>
                </a:solidFill>
                <a:latin typeface="Arial MT"/>
              </a:rPr>
              <a:t>everyone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-26">
                <a:solidFill>
                  <a:srgbClr val="000000"/>
                </a:solidFill>
                <a:latin typeface="Arial MT"/>
              </a:rPr>
              <a:t>has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b="1">
                <a:solidFill>
                  <a:srgbClr val="000000"/>
                </a:solidFill>
                <a:latin typeface="Arial"/>
              </a:rPr>
              <a:t>intuitions</a:t>
            </a:r>
            <a:r>
              <a:rPr lang="fr-FR" sz="1981" b="1" spc="-40">
                <a:solidFill>
                  <a:srgbClr val="000000"/>
                </a:solidFill>
                <a:latin typeface="Arial"/>
              </a:rPr>
              <a:t> </a:t>
            </a:r>
            <a:r>
              <a:rPr lang="fr-FR" sz="1981" spc="78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b="1" spc="20">
                <a:solidFill>
                  <a:srgbClr val="000000"/>
                </a:solidFill>
                <a:latin typeface="Arial"/>
              </a:rPr>
              <a:t>“folk- </a:t>
            </a:r>
            <a:r>
              <a:rPr lang="fr-FR" sz="1981" b="1">
                <a:solidFill>
                  <a:srgbClr val="000000"/>
                </a:solidFill>
                <a:latin typeface="Arial"/>
              </a:rPr>
              <a:t>theories”</a:t>
            </a:r>
            <a:r>
              <a:rPr lang="fr-FR" sz="1981" b="1" spc="16">
                <a:solidFill>
                  <a:srgbClr val="000000"/>
                </a:solidFill>
                <a:latin typeface="Arial"/>
              </a:rPr>
              <a:t> </a:t>
            </a:r>
            <a:r>
              <a:rPr lang="fr-FR" sz="1981" spc="68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981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60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981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society</a:t>
            </a:r>
            <a:r>
              <a:rPr lang="fr-FR" sz="1981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-6">
                <a:solidFill>
                  <a:srgbClr val="000000"/>
                </a:solidFill>
                <a:latin typeface="Arial MT"/>
              </a:rPr>
              <a:t>works</a:t>
            </a:r>
            <a:endParaRPr lang="fr-FR" sz="1981">
              <a:solidFill>
                <a:srgbClr val="000000"/>
              </a:solidFill>
              <a:latin typeface="Arial"/>
            </a:endParaRPr>
          </a:p>
          <a:p>
            <a:pPr marL="1377607" indent="-291333">
              <a:lnSpc>
                <a:spcPct val="114000"/>
              </a:lnSpc>
              <a:spcBef>
                <a:spcPts val="191"/>
              </a:spcBef>
              <a:tabLst>
                <a:tab pos="0" algn="l"/>
              </a:tabLst>
            </a:pPr>
            <a:r>
              <a:rPr lang="fr-FR" sz="1655">
                <a:solidFill>
                  <a:srgbClr val="000000"/>
                </a:solidFill>
                <a:latin typeface="Arial MT"/>
              </a:rPr>
              <a:t>(e.g.</a:t>
            </a:r>
            <a:r>
              <a:rPr lang="fr-FR" sz="1655" spc="-8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48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65">
                <a:solidFill>
                  <a:srgbClr val="000000"/>
                </a:solidFill>
                <a:latin typeface="Arial MT"/>
              </a:rPr>
              <a:t>people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6">
                <a:solidFill>
                  <a:srgbClr val="000000"/>
                </a:solidFill>
                <a:latin typeface="Arial MT"/>
              </a:rPr>
              <a:t>behave</a:t>
            </a:r>
            <a:r>
              <a:rPr lang="fr-FR" sz="165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37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way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50">
                <a:solidFill>
                  <a:srgbClr val="000000"/>
                </a:solidFill>
                <a:latin typeface="Arial MT"/>
              </a:rPr>
              <a:t>do,</a:t>
            </a:r>
            <a:r>
              <a:rPr lang="fr-FR" sz="1655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37">
                <a:solidFill>
                  <a:srgbClr val="000000"/>
                </a:solidFill>
                <a:latin typeface="Arial MT"/>
              </a:rPr>
              <a:t>different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-6">
                <a:solidFill>
                  <a:srgbClr val="000000"/>
                </a:solidFill>
                <a:latin typeface="Arial MT"/>
              </a:rPr>
              <a:t>social </a:t>
            </a:r>
            <a:r>
              <a:rPr lang="fr-FR" sz="1655" spc="46">
                <a:solidFill>
                  <a:srgbClr val="000000"/>
                </a:solidFill>
                <a:latin typeface="Arial MT"/>
              </a:rPr>
              <a:t>groups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6">
                <a:solidFill>
                  <a:srgbClr val="000000"/>
                </a:solidFill>
                <a:latin typeface="Arial MT"/>
              </a:rPr>
              <a:t>behave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differently,</a:t>
            </a:r>
            <a:r>
              <a:rPr lang="fr-FR" sz="16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50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43">
                <a:solidFill>
                  <a:srgbClr val="000000"/>
                </a:solidFill>
                <a:latin typeface="Arial MT"/>
              </a:rPr>
              <a:t>political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6">
                <a:solidFill>
                  <a:srgbClr val="000000"/>
                </a:solidFill>
                <a:latin typeface="Arial MT"/>
              </a:rPr>
              <a:t>institutions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work,</a:t>
            </a:r>
            <a:r>
              <a:rPr lang="fr-FR" sz="16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-6">
                <a:solidFill>
                  <a:srgbClr val="000000"/>
                </a:solidFill>
                <a:latin typeface="Arial MT"/>
              </a:rPr>
              <a:t>etc.)</a:t>
            </a:r>
            <a:endParaRPr lang="fr-FR" sz="16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63715" y="160108"/>
            <a:ext cx="5260286" cy="553675"/>
          </a:xfrm>
          <a:prstGeom prst="rect">
            <a:avLst/>
          </a:prstGeom>
          <a:noFill/>
          <a:ln w="0">
            <a:noFill/>
          </a:ln>
        </p:spPr>
        <p:txBody>
          <a:bodyPr lIns="0" tIns="5776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46"/>
              </a:spcBef>
            </a:pPr>
            <a:r>
              <a:rPr lang="fr-FR" sz="3560" b="1" spc="70">
                <a:solidFill>
                  <a:schemeClr val="dk1"/>
                </a:solidFill>
                <a:latin typeface="Arial"/>
              </a:rPr>
              <a:t>Ignoring</a:t>
            </a:r>
            <a:r>
              <a:rPr lang="fr-FR" sz="3560" b="1" spc="-92">
                <a:solidFill>
                  <a:schemeClr val="dk1"/>
                </a:solidFill>
                <a:latin typeface="Arial"/>
              </a:rPr>
              <a:t> </a:t>
            </a:r>
            <a:r>
              <a:rPr lang="fr-FR" sz="3560" b="1" spc="40">
                <a:solidFill>
                  <a:schemeClr val="dk1"/>
                </a:solidFill>
                <a:latin typeface="Arial"/>
              </a:rPr>
              <a:t>“folk-</a:t>
            </a:r>
            <a:r>
              <a:rPr lang="fr-FR" sz="3560" b="1" spc="-6">
                <a:solidFill>
                  <a:schemeClr val="dk1"/>
                </a:solidFill>
                <a:latin typeface="Arial"/>
              </a:rPr>
              <a:t>theories”</a:t>
            </a:r>
            <a:endParaRPr lang="fr-FR" sz="3560"/>
          </a:p>
        </p:txBody>
      </p:sp>
      <p:sp>
        <p:nvSpPr>
          <p:cNvPr id="111" name="object 3"/>
          <p:cNvSpPr/>
          <p:nvPr/>
        </p:nvSpPr>
        <p:spPr>
          <a:xfrm>
            <a:off x="717505" y="830324"/>
            <a:ext cx="8947830" cy="15624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464060" indent="-2457923">
              <a:lnSpc>
                <a:spcPct val="114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981" spc="6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981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27">
                <a:solidFill>
                  <a:srgbClr val="000000"/>
                </a:solidFill>
                <a:latin typeface="Arial MT"/>
              </a:rPr>
              <a:t>specific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85">
                <a:solidFill>
                  <a:srgbClr val="000000"/>
                </a:solidFill>
                <a:latin typeface="Arial MT"/>
              </a:rPr>
              <a:t>problem</a:t>
            </a:r>
            <a:r>
              <a:rPr lang="fr-FR" sz="1981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53">
                <a:solidFill>
                  <a:srgbClr val="000000"/>
                </a:solidFill>
                <a:latin typeface="Arial MT"/>
              </a:rPr>
              <a:t>with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science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33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30">
                <a:solidFill>
                  <a:srgbClr val="000000"/>
                </a:solidFill>
                <a:latin typeface="Arial MT"/>
              </a:rPr>
              <a:t>everyone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-26">
                <a:solidFill>
                  <a:srgbClr val="000000"/>
                </a:solidFill>
                <a:latin typeface="Arial MT"/>
              </a:rPr>
              <a:t>has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b="1">
                <a:solidFill>
                  <a:srgbClr val="000000"/>
                </a:solidFill>
                <a:latin typeface="Arial"/>
              </a:rPr>
              <a:t>intuitions</a:t>
            </a:r>
            <a:r>
              <a:rPr lang="fr-FR" sz="1981" b="1" spc="-40">
                <a:solidFill>
                  <a:srgbClr val="000000"/>
                </a:solidFill>
                <a:latin typeface="Arial"/>
              </a:rPr>
              <a:t> </a:t>
            </a:r>
            <a:r>
              <a:rPr lang="fr-FR" sz="1981" spc="78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981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b="1" spc="20">
                <a:solidFill>
                  <a:srgbClr val="000000"/>
                </a:solidFill>
                <a:latin typeface="Arial"/>
              </a:rPr>
              <a:t>“folk- </a:t>
            </a:r>
            <a:r>
              <a:rPr lang="fr-FR" sz="1981" b="1">
                <a:solidFill>
                  <a:srgbClr val="000000"/>
                </a:solidFill>
                <a:latin typeface="Arial"/>
              </a:rPr>
              <a:t>theories”</a:t>
            </a:r>
            <a:r>
              <a:rPr lang="fr-FR" sz="1981" b="1" spc="16">
                <a:solidFill>
                  <a:srgbClr val="000000"/>
                </a:solidFill>
                <a:latin typeface="Arial"/>
              </a:rPr>
              <a:t> </a:t>
            </a:r>
            <a:r>
              <a:rPr lang="fr-FR" sz="1981" spc="68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981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60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981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>
                <a:solidFill>
                  <a:srgbClr val="000000"/>
                </a:solidFill>
                <a:latin typeface="Arial MT"/>
              </a:rPr>
              <a:t>society</a:t>
            </a:r>
            <a:r>
              <a:rPr lang="fr-FR" sz="1981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981" spc="-6">
                <a:solidFill>
                  <a:srgbClr val="000000"/>
                </a:solidFill>
                <a:latin typeface="Arial MT"/>
              </a:rPr>
              <a:t>works</a:t>
            </a:r>
            <a:endParaRPr lang="fr-FR" sz="1981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6"/>
              </a:spcBef>
              <a:tabLst>
                <a:tab pos="0" algn="l"/>
              </a:tabLst>
            </a:pPr>
            <a:endParaRPr lang="fr-FR" sz="1981">
              <a:solidFill>
                <a:srgbClr val="000000"/>
              </a:solidFill>
              <a:latin typeface="Arial"/>
            </a:endParaRPr>
          </a:p>
          <a:p>
            <a:pPr marL="1377607" indent="-291333">
              <a:lnSpc>
                <a:spcPct val="114000"/>
              </a:lnSpc>
              <a:tabLst>
                <a:tab pos="0" algn="l"/>
              </a:tabLst>
            </a:pPr>
            <a:r>
              <a:rPr lang="fr-FR" sz="1655">
                <a:solidFill>
                  <a:srgbClr val="000000"/>
                </a:solidFill>
                <a:latin typeface="Arial MT"/>
              </a:rPr>
              <a:t>(e.g.</a:t>
            </a:r>
            <a:r>
              <a:rPr lang="fr-FR" sz="1655" spc="-8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48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65">
                <a:solidFill>
                  <a:srgbClr val="000000"/>
                </a:solidFill>
                <a:latin typeface="Arial MT"/>
              </a:rPr>
              <a:t>people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6">
                <a:solidFill>
                  <a:srgbClr val="000000"/>
                </a:solidFill>
                <a:latin typeface="Arial MT"/>
              </a:rPr>
              <a:t>behave</a:t>
            </a:r>
            <a:r>
              <a:rPr lang="fr-FR" sz="165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37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way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50">
                <a:solidFill>
                  <a:srgbClr val="000000"/>
                </a:solidFill>
                <a:latin typeface="Arial MT"/>
              </a:rPr>
              <a:t>do,</a:t>
            </a:r>
            <a:r>
              <a:rPr lang="fr-FR" sz="1655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37">
                <a:solidFill>
                  <a:srgbClr val="000000"/>
                </a:solidFill>
                <a:latin typeface="Arial MT"/>
              </a:rPr>
              <a:t>different</a:t>
            </a:r>
            <a:r>
              <a:rPr lang="fr-FR" sz="16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-6">
                <a:solidFill>
                  <a:srgbClr val="000000"/>
                </a:solidFill>
                <a:latin typeface="Arial MT"/>
              </a:rPr>
              <a:t>social </a:t>
            </a:r>
            <a:r>
              <a:rPr lang="fr-FR" sz="1655" spc="46">
                <a:solidFill>
                  <a:srgbClr val="000000"/>
                </a:solidFill>
                <a:latin typeface="Arial MT"/>
              </a:rPr>
              <a:t>groups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6">
                <a:solidFill>
                  <a:srgbClr val="000000"/>
                </a:solidFill>
                <a:latin typeface="Arial MT"/>
              </a:rPr>
              <a:t>behave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differently,</a:t>
            </a:r>
            <a:r>
              <a:rPr lang="fr-FR" sz="16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50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43">
                <a:solidFill>
                  <a:srgbClr val="000000"/>
                </a:solidFill>
                <a:latin typeface="Arial MT"/>
              </a:rPr>
              <a:t>political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6">
                <a:solidFill>
                  <a:srgbClr val="000000"/>
                </a:solidFill>
                <a:latin typeface="Arial MT"/>
              </a:rPr>
              <a:t>institutions</a:t>
            </a:r>
            <a:r>
              <a:rPr lang="fr-FR" sz="165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>
                <a:solidFill>
                  <a:srgbClr val="000000"/>
                </a:solidFill>
                <a:latin typeface="Arial MT"/>
              </a:rPr>
              <a:t>work,</a:t>
            </a:r>
            <a:r>
              <a:rPr lang="fr-FR" sz="16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-6">
                <a:solidFill>
                  <a:srgbClr val="000000"/>
                </a:solidFill>
                <a:latin typeface="Arial MT"/>
              </a:rPr>
              <a:t>etc.)</a:t>
            </a:r>
            <a:endParaRPr lang="fr-FR" sz="165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2" name="object 4"/>
          <p:cNvPicPr/>
          <p:nvPr/>
        </p:nvPicPr>
        <p:blipFill>
          <a:blip r:embed="rId2"/>
          <a:stretch/>
        </p:blipFill>
        <p:spPr>
          <a:xfrm>
            <a:off x="696205" y="2950360"/>
            <a:ext cx="3236100" cy="2633573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object 5"/>
          <p:cNvSpPr/>
          <p:nvPr/>
        </p:nvSpPr>
        <p:spPr>
          <a:xfrm>
            <a:off x="1626349" y="2705595"/>
            <a:ext cx="1376173" cy="2224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spcBef>
                <a:spcPts val="50"/>
              </a:spcBef>
            </a:pPr>
            <a:r>
              <a:rPr lang="fr-FR" sz="1404" b="1" spc="-6">
                <a:solidFill>
                  <a:srgbClr val="000000"/>
                </a:solidFill>
                <a:latin typeface="Arial"/>
              </a:rPr>
              <a:t>Systematic</a:t>
            </a:r>
            <a:r>
              <a:rPr lang="fr-FR" sz="1404" b="1" spc="-88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 spc="17">
                <a:solidFill>
                  <a:srgbClr val="000000"/>
                </a:solidFill>
                <a:latin typeface="Arial"/>
              </a:rPr>
              <a:t>data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object 6"/>
          <p:cNvPicPr/>
          <p:nvPr/>
        </p:nvPicPr>
        <p:blipFill>
          <a:blip r:embed="rId3"/>
          <a:stretch/>
        </p:blipFill>
        <p:spPr>
          <a:xfrm>
            <a:off x="4830139" y="3231226"/>
            <a:ext cx="5250178" cy="1659205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object 7"/>
          <p:cNvSpPr/>
          <p:nvPr/>
        </p:nvSpPr>
        <p:spPr>
          <a:xfrm>
            <a:off x="5607214" y="2791696"/>
            <a:ext cx="3636821" cy="2224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spcBef>
                <a:spcPts val="50"/>
              </a:spcBef>
            </a:pPr>
            <a:r>
              <a:rPr lang="fr-FR" sz="1404" b="1" spc="-13">
                <a:solidFill>
                  <a:srgbClr val="000000"/>
                </a:solidFill>
                <a:latin typeface="Arial"/>
              </a:rPr>
              <a:t>Folk-</a:t>
            </a:r>
            <a:r>
              <a:rPr lang="fr-FR" sz="1404" b="1">
                <a:solidFill>
                  <a:srgbClr val="000000"/>
                </a:solidFill>
                <a:latin typeface="Arial"/>
              </a:rPr>
              <a:t>theories</a:t>
            </a:r>
            <a:r>
              <a:rPr lang="fr-FR" sz="1404" b="1" spc="10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>
                <a:solidFill>
                  <a:srgbClr val="000000"/>
                </a:solidFill>
                <a:latin typeface="Arial"/>
              </a:rPr>
              <a:t>based</a:t>
            </a:r>
            <a:r>
              <a:rPr lang="fr-FR" sz="1404" b="1" spc="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>
                <a:solidFill>
                  <a:srgbClr val="000000"/>
                </a:solidFill>
                <a:latin typeface="Arial"/>
              </a:rPr>
              <a:t>on</a:t>
            </a:r>
            <a:r>
              <a:rPr lang="fr-FR" sz="1404" b="1" spc="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>
                <a:solidFill>
                  <a:srgbClr val="000000"/>
                </a:solidFill>
                <a:latin typeface="Arial"/>
              </a:rPr>
              <a:t>personal</a:t>
            </a:r>
            <a:r>
              <a:rPr lang="fr-FR" sz="1404" b="1" spc="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 spc="-6">
                <a:solidFill>
                  <a:srgbClr val="000000"/>
                </a:solidFill>
                <a:latin typeface="Arial"/>
              </a:rPr>
              <a:t>anecdote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4076" y="21661"/>
            <a:ext cx="8532126" cy="618198"/>
          </a:xfrm>
          <a:prstGeom prst="rect">
            <a:avLst/>
          </a:prstGeom>
          <a:noFill/>
          <a:ln w="0">
            <a:noFill/>
          </a:ln>
        </p:spPr>
        <p:txBody>
          <a:bodyPr lIns="0" tIns="69675" rIns="0" bIns="0" anchor="t">
            <a:spAutoFit/>
          </a:bodyPr>
          <a:lstStyle/>
          <a:p>
            <a:pPr marL="123826">
              <a:lnSpc>
                <a:spcPct val="100000"/>
              </a:lnSpc>
              <a:spcBef>
                <a:spcPts val="46"/>
              </a:spcBef>
            </a:pPr>
            <a:r>
              <a:rPr lang="fr-FR" sz="3560" b="1" spc="70">
                <a:solidFill>
                  <a:schemeClr val="dk1"/>
                </a:solidFill>
                <a:latin typeface="Arial"/>
              </a:rPr>
              <a:t>Ignoring</a:t>
            </a:r>
            <a:r>
              <a:rPr lang="fr-FR" sz="3560" b="1" spc="-92">
                <a:solidFill>
                  <a:schemeClr val="dk1"/>
                </a:solidFill>
                <a:latin typeface="Arial"/>
              </a:rPr>
              <a:t> </a:t>
            </a:r>
            <a:r>
              <a:rPr lang="fr-FR" sz="3560" b="1" spc="40">
                <a:solidFill>
                  <a:schemeClr val="dk1"/>
                </a:solidFill>
                <a:latin typeface="Arial"/>
              </a:rPr>
              <a:t>“folk-</a:t>
            </a:r>
            <a:r>
              <a:rPr lang="fr-FR" sz="3560" b="1" spc="-6">
                <a:solidFill>
                  <a:schemeClr val="dk1"/>
                </a:solidFill>
                <a:latin typeface="Arial"/>
              </a:rPr>
              <a:t>theories”</a:t>
            </a:r>
            <a:endParaRPr lang="fr-FR" sz="3560"/>
          </a:p>
        </p:txBody>
      </p:sp>
      <p:sp>
        <p:nvSpPr>
          <p:cNvPr id="117" name="object 3"/>
          <p:cNvSpPr/>
          <p:nvPr/>
        </p:nvSpPr>
        <p:spPr>
          <a:xfrm>
            <a:off x="522198" y="2497291"/>
            <a:ext cx="8851982" cy="8995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 indent="393860">
              <a:lnSpc>
                <a:spcPct val="133000"/>
              </a:lnSpc>
              <a:spcBef>
                <a:spcPts val="50"/>
              </a:spcBef>
              <a:tabLst>
                <a:tab pos="0" algn="l"/>
              </a:tabLst>
            </a:pPr>
            <a:r>
              <a:rPr lang="fr-FR" sz="2306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306" spc="-6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306" spc="27">
                <a:solidFill>
                  <a:srgbClr val="000000"/>
                </a:solidFill>
                <a:latin typeface="Arial MT"/>
              </a:rPr>
              <a:t>scientific</a:t>
            </a:r>
            <a:r>
              <a:rPr lang="fr-FR" sz="2306" spc="-6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306" spc="33">
                <a:solidFill>
                  <a:srgbClr val="000000"/>
                </a:solidFill>
                <a:latin typeface="Arial MT"/>
              </a:rPr>
              <a:t>study</a:t>
            </a:r>
            <a:r>
              <a:rPr lang="fr-FR" sz="2306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306" spc="85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306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306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2306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306" spc="68">
                <a:solidFill>
                  <a:srgbClr val="000000"/>
                </a:solidFill>
                <a:latin typeface="Arial MT"/>
              </a:rPr>
              <a:t>phenomena</a:t>
            </a:r>
            <a:r>
              <a:rPr lang="fr-FR" sz="2306" spc="-6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306" b="1">
                <a:solidFill>
                  <a:srgbClr val="000000"/>
                </a:solidFill>
                <a:latin typeface="Arial"/>
              </a:rPr>
              <a:t>must</a:t>
            </a:r>
            <a:r>
              <a:rPr lang="fr-FR" sz="2306" b="1" spc="-63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73">
                <a:solidFill>
                  <a:srgbClr val="000000"/>
                </a:solidFill>
                <a:latin typeface="Arial"/>
              </a:rPr>
              <a:t>begin</a:t>
            </a:r>
            <a:r>
              <a:rPr lang="fr-FR" sz="2306" b="1" spc="-6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91">
                <a:solidFill>
                  <a:srgbClr val="000000"/>
                </a:solidFill>
                <a:latin typeface="Arial"/>
              </a:rPr>
              <a:t>with</a:t>
            </a:r>
            <a:r>
              <a:rPr lang="fr-FR" sz="2306" b="1" spc="-63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-26">
                <a:solidFill>
                  <a:srgbClr val="000000"/>
                </a:solidFill>
                <a:latin typeface="Arial"/>
              </a:rPr>
              <a:t>a </a:t>
            </a:r>
            <a:r>
              <a:rPr lang="fr-FR" sz="2306" b="1" spc="46">
                <a:solidFill>
                  <a:srgbClr val="000000"/>
                </a:solidFill>
                <a:latin typeface="Arial"/>
              </a:rPr>
              <a:t>departure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43">
                <a:solidFill>
                  <a:srgbClr val="000000"/>
                </a:solidFill>
                <a:latin typeface="Arial"/>
              </a:rPr>
              <a:t>from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>
                <a:solidFill>
                  <a:srgbClr val="000000"/>
                </a:solidFill>
                <a:latin typeface="Arial"/>
              </a:rPr>
              <a:t>these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27">
                <a:solidFill>
                  <a:srgbClr val="000000"/>
                </a:solidFill>
                <a:latin typeface="Arial"/>
              </a:rPr>
              <a:t>“folk-</a:t>
            </a:r>
            <a:r>
              <a:rPr lang="fr-FR" sz="2306" b="1">
                <a:solidFill>
                  <a:srgbClr val="000000"/>
                </a:solidFill>
                <a:latin typeface="Arial"/>
              </a:rPr>
              <a:t>theories”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50">
                <a:solidFill>
                  <a:srgbClr val="000000"/>
                </a:solidFill>
                <a:latin typeface="Arial"/>
              </a:rPr>
              <a:t>about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91">
                <a:solidFill>
                  <a:srgbClr val="000000"/>
                </a:solidFill>
                <a:latin typeface="Arial"/>
              </a:rPr>
              <a:t>how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>
                <a:solidFill>
                  <a:srgbClr val="000000"/>
                </a:solidFill>
                <a:latin typeface="Arial"/>
              </a:rPr>
              <a:t>society</a:t>
            </a:r>
            <a:r>
              <a:rPr lang="fr-FR" sz="2306" b="1" spc="-20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27">
                <a:solidFill>
                  <a:srgbClr val="000000"/>
                </a:solidFill>
                <a:latin typeface="Arial"/>
              </a:rPr>
              <a:t>works</a:t>
            </a:r>
            <a:endParaRPr lang="fr-FR" sz="2306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object 2"/>
          <p:cNvSpPr/>
          <p:nvPr/>
        </p:nvSpPr>
        <p:spPr>
          <a:xfrm>
            <a:off x="3135916" y="5064980"/>
            <a:ext cx="3553789" cy="34967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spcBef>
                <a:spcPts val="50"/>
              </a:spcBef>
            </a:pPr>
            <a:r>
              <a:rPr lang="fr-FR" sz="2231" u="sng" spc="-6">
                <a:solidFill>
                  <a:srgbClr val="5E5E5E"/>
                </a:solidFill>
                <a:uFill>
                  <a:solidFill>
                    <a:srgbClr val="5E5E5E"/>
                  </a:solidFill>
                </a:uFill>
                <a:latin typeface="Arial MT"/>
                <a:hlinkClick r:id="rId2"/>
              </a:rPr>
              <a:t>https://www.gapminder.org/</a:t>
            </a:r>
            <a:endParaRPr lang="fr-FR" sz="223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object 3"/>
          <p:cNvPicPr/>
          <p:nvPr/>
        </p:nvPicPr>
        <p:blipFill>
          <a:blip r:embed="rId3"/>
          <a:stretch/>
        </p:blipFill>
        <p:spPr>
          <a:xfrm>
            <a:off x="1450537" y="1039711"/>
            <a:ext cx="7474184" cy="3796208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655747"/>
          </a:xfrm>
          <a:prstGeom prst="rect">
            <a:avLst/>
          </a:prstGeom>
          <a:noFill/>
          <a:ln w="0">
            <a:noFill/>
          </a:ln>
        </p:spPr>
        <p:txBody>
          <a:bodyPr lIns="0" tIns="152708" rIns="0" bIns="0" anchor="t">
            <a:spAutoFit/>
          </a:bodyPr>
          <a:lstStyle/>
          <a:p>
            <a:pPr marL="231767">
              <a:lnSpc>
                <a:spcPct val="100000"/>
              </a:lnSpc>
              <a:spcBef>
                <a:spcPts val="56"/>
              </a:spcBef>
            </a:pPr>
            <a:r>
              <a:rPr lang="fr-FR" sz="3259" b="1" spc="-20">
                <a:solidFill>
                  <a:schemeClr val="dk1"/>
                </a:solidFill>
                <a:latin typeface="Arial"/>
              </a:rPr>
              <a:t>Science</a:t>
            </a:r>
            <a:r>
              <a:rPr lang="fr-FR" sz="3259" b="1" spc="-11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20">
                <a:solidFill>
                  <a:schemeClr val="dk1"/>
                </a:solidFill>
                <a:latin typeface="Arial"/>
              </a:rPr>
              <a:t>can</a:t>
            </a:r>
            <a:r>
              <a:rPr lang="fr-FR" sz="3259" b="1" spc="-11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88">
                <a:solidFill>
                  <a:schemeClr val="dk1"/>
                </a:solidFill>
                <a:latin typeface="Arial"/>
              </a:rPr>
              <a:t>yield</a:t>
            </a:r>
            <a:r>
              <a:rPr lang="fr-FR" sz="3259" b="1" spc="-11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>
                <a:solidFill>
                  <a:schemeClr val="dk1"/>
                </a:solidFill>
                <a:latin typeface="Arial"/>
              </a:rPr>
              <a:t>counter-</a:t>
            </a:r>
            <a:r>
              <a:rPr lang="fr-FR" sz="3259" b="1" spc="56">
                <a:solidFill>
                  <a:schemeClr val="dk1"/>
                </a:solidFill>
                <a:latin typeface="Arial"/>
              </a:rPr>
              <a:t>intuitive</a:t>
            </a:r>
            <a:r>
              <a:rPr lang="fr-FR" sz="3259" b="1" spc="-11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6">
                <a:solidFill>
                  <a:schemeClr val="dk1"/>
                </a:solidFill>
                <a:latin typeface="Arial"/>
              </a:rPr>
              <a:t>results</a:t>
            </a:r>
            <a:endParaRPr lang="fr-FR" sz="3259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3189165" y="159025"/>
            <a:ext cx="4080323" cy="521109"/>
          </a:xfrm>
          <a:prstGeom prst="rect">
            <a:avLst/>
          </a:prstGeom>
          <a:noFill/>
          <a:ln w="0">
            <a:noFill/>
          </a:ln>
        </p:spPr>
        <p:txBody>
          <a:bodyPr lIns="0" tIns="7942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3"/>
              </a:spcBef>
            </a:pPr>
            <a:r>
              <a:rPr lang="fr-FR" sz="3334" b="1" spc="48">
                <a:solidFill>
                  <a:schemeClr val="dk1"/>
                </a:solidFill>
                <a:latin typeface="Arial"/>
              </a:rPr>
              <a:t>Axiologic</a:t>
            </a:r>
            <a:r>
              <a:rPr lang="fr-FR" sz="3334" b="1" spc="-70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53">
                <a:solidFill>
                  <a:schemeClr val="dk1"/>
                </a:solidFill>
                <a:latin typeface="Arial"/>
              </a:rPr>
              <a:t>neutrality</a:t>
            </a:r>
            <a:endParaRPr lang="fr-FR" sz="3334"/>
          </a:p>
        </p:txBody>
      </p:sp>
      <p:grpSp>
        <p:nvGrpSpPr>
          <p:cNvPr id="122" name="object 3"/>
          <p:cNvGrpSpPr/>
          <p:nvPr/>
        </p:nvGrpSpPr>
        <p:grpSpPr>
          <a:xfrm>
            <a:off x="177" y="2085559"/>
            <a:ext cx="4775449" cy="3584294"/>
            <a:chOff x="0" y="4159440"/>
            <a:chExt cx="9524160" cy="7148520"/>
          </a:xfrm>
        </p:grpSpPr>
        <p:pic>
          <p:nvPicPr>
            <p:cNvPr id="123" name="object 4"/>
            <p:cNvPicPr/>
            <p:nvPr/>
          </p:nvPicPr>
          <p:blipFill>
            <a:blip r:embed="rId2"/>
            <a:stretch/>
          </p:blipFill>
          <p:spPr>
            <a:xfrm>
              <a:off x="0" y="4159440"/>
              <a:ext cx="4433760" cy="71485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4" name="object 5"/>
            <p:cNvPicPr/>
            <p:nvPr/>
          </p:nvPicPr>
          <p:blipFill>
            <a:blip r:embed="rId3"/>
            <a:stretch/>
          </p:blipFill>
          <p:spPr>
            <a:xfrm>
              <a:off x="3326760" y="4479120"/>
              <a:ext cx="6197400" cy="6828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25" name="object 6"/>
          <p:cNvSpPr/>
          <p:nvPr/>
        </p:nvSpPr>
        <p:spPr>
          <a:xfrm>
            <a:off x="266061" y="1076353"/>
            <a:ext cx="1628339" cy="8423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96751" rIns="0" bIns="0" anchor="t">
            <a:spAutoFit/>
          </a:bodyPr>
          <a:lstStyle/>
          <a:p>
            <a:pPr algn="ctr">
              <a:spcBef>
                <a:spcPts val="762"/>
              </a:spcBef>
            </a:pPr>
            <a:r>
              <a:rPr lang="fr-FR" sz="1404" b="1" spc="73">
                <a:solidFill>
                  <a:srgbClr val="000000"/>
                </a:solidFill>
                <a:latin typeface="Arial"/>
              </a:rPr>
              <a:t>Max</a:t>
            </a:r>
            <a:r>
              <a:rPr lang="fr-FR" sz="1404" b="1" spc="-57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 spc="36">
                <a:solidFill>
                  <a:srgbClr val="000000"/>
                </a:solidFill>
                <a:latin typeface="Arial"/>
              </a:rPr>
              <a:t>Weber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6318" algn="ctr">
              <a:lnSpc>
                <a:spcPct val="112000"/>
              </a:lnSpc>
              <a:spcBef>
                <a:spcPts val="496"/>
              </a:spcBef>
            </a:pPr>
            <a:r>
              <a:rPr lang="fr-FR" sz="1404">
                <a:solidFill>
                  <a:srgbClr val="000000"/>
                </a:solidFill>
                <a:latin typeface="Arial MT"/>
              </a:rPr>
              <a:t>(German</a:t>
            </a:r>
            <a:r>
              <a:rPr lang="fr-FR" sz="1404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8">
                <a:solidFill>
                  <a:srgbClr val="000000"/>
                </a:solidFill>
                <a:latin typeface="Arial MT"/>
              </a:rPr>
              <a:t>founder</a:t>
            </a:r>
            <a:r>
              <a:rPr lang="fr-FR" sz="1404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3">
                <a:solidFill>
                  <a:srgbClr val="000000"/>
                </a:solidFill>
                <a:latin typeface="Arial MT"/>
              </a:rPr>
              <a:t>of </a:t>
            </a:r>
            <a:r>
              <a:rPr lang="fr-FR" sz="1404" spc="20">
                <a:solidFill>
                  <a:srgbClr val="000000"/>
                </a:solidFill>
                <a:latin typeface="Arial MT"/>
              </a:rPr>
              <a:t>sociology)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object 7"/>
          <p:cNvSpPr/>
          <p:nvPr/>
        </p:nvSpPr>
        <p:spPr>
          <a:xfrm>
            <a:off x="4752702" y="893140"/>
            <a:ext cx="4891334" cy="17865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6318">
              <a:lnSpc>
                <a:spcPct val="113000"/>
              </a:lnSpc>
              <a:spcBef>
                <a:spcPts val="48"/>
              </a:spcBef>
            </a:pPr>
            <a:r>
              <a:rPr lang="fr-FR" sz="1730" b="1" spc="26">
                <a:solidFill>
                  <a:srgbClr val="970E53"/>
                </a:solidFill>
                <a:latin typeface="Arial"/>
              </a:rPr>
              <a:t>Axiologic</a:t>
            </a:r>
            <a:r>
              <a:rPr lang="fr-FR" sz="1730" b="1" spc="-53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 b="1" spc="30">
                <a:solidFill>
                  <a:srgbClr val="970E53"/>
                </a:solidFill>
                <a:latin typeface="Arial"/>
              </a:rPr>
              <a:t>neutrality</a:t>
            </a:r>
            <a:r>
              <a:rPr lang="fr-FR" sz="1730" b="1" spc="-50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 spc="141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1730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730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30">
                <a:solidFill>
                  <a:srgbClr val="000000"/>
                </a:solidFill>
                <a:latin typeface="Arial"/>
              </a:rPr>
              <a:t>methodological </a:t>
            </a:r>
            <a:r>
              <a:rPr lang="fr-FR" sz="1730" b="1">
                <a:solidFill>
                  <a:srgbClr val="000000"/>
                </a:solidFill>
                <a:latin typeface="Arial"/>
              </a:rPr>
              <a:t>posture</a:t>
            </a:r>
            <a:r>
              <a:rPr lang="fr-FR" sz="1730" b="1" spc="-3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spc="36">
                <a:solidFill>
                  <a:srgbClr val="000000"/>
                </a:solidFill>
                <a:latin typeface="Arial MT"/>
              </a:rPr>
              <a:t>which</a:t>
            </a:r>
            <a:r>
              <a:rPr lang="fr-FR" sz="173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aims</a:t>
            </a:r>
            <a:r>
              <a:rPr lang="fr-FR" sz="173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at</a:t>
            </a:r>
            <a:r>
              <a:rPr lang="fr-FR" sz="1730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6">
                <a:solidFill>
                  <a:srgbClr val="000000"/>
                </a:solidFill>
                <a:latin typeface="Arial MT"/>
              </a:rPr>
              <a:t>making</a:t>
            </a:r>
            <a:r>
              <a:rPr lang="fr-FR" sz="173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8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73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researcher </a:t>
            </a:r>
            <a:r>
              <a:rPr lang="fr-FR" sz="1730" b="1" spc="46">
                <a:solidFill>
                  <a:srgbClr val="000000"/>
                </a:solidFill>
                <a:latin typeface="Arial"/>
              </a:rPr>
              <a:t>aware</a:t>
            </a:r>
            <a:r>
              <a:rPr lang="fr-FR" sz="1730" b="1" spc="-5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40">
                <a:solidFill>
                  <a:srgbClr val="000000"/>
                </a:solidFill>
                <a:latin typeface="Arial"/>
              </a:rPr>
              <a:t>of</a:t>
            </a:r>
            <a:r>
              <a:rPr lang="fr-FR" sz="1730" b="1" spc="-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17">
                <a:solidFill>
                  <a:srgbClr val="000000"/>
                </a:solidFill>
                <a:latin typeface="Arial"/>
              </a:rPr>
              <a:t>his</a:t>
            </a:r>
            <a:r>
              <a:rPr lang="fr-FR" sz="1730" b="1" spc="-5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68">
                <a:solidFill>
                  <a:srgbClr val="000000"/>
                </a:solidFill>
                <a:latin typeface="Arial"/>
              </a:rPr>
              <a:t>own</a:t>
            </a:r>
            <a:r>
              <a:rPr lang="fr-FR" sz="1730" b="1" spc="-5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>
                <a:solidFill>
                  <a:srgbClr val="000000"/>
                </a:solidFill>
                <a:latin typeface="Arial"/>
              </a:rPr>
              <a:t>values</a:t>
            </a:r>
            <a:r>
              <a:rPr lang="fr-FR" sz="1730" b="1" spc="-5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spc="78">
                <a:solidFill>
                  <a:srgbClr val="000000"/>
                </a:solidFill>
                <a:latin typeface="Arial MT"/>
              </a:rPr>
              <a:t>during</a:t>
            </a:r>
            <a:r>
              <a:rPr lang="fr-FR" sz="1730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his</a:t>
            </a:r>
            <a:r>
              <a:rPr lang="fr-FR" sz="1730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scientific </a:t>
            </a:r>
            <a:r>
              <a:rPr lang="fr-FR" sz="1730" spc="33">
                <a:solidFill>
                  <a:srgbClr val="000000"/>
                </a:solidFill>
                <a:latin typeface="Arial MT"/>
              </a:rPr>
              <a:t>work,</a:t>
            </a:r>
            <a:r>
              <a:rPr lang="fr-FR" sz="1730" spc="-10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6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73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65">
                <a:solidFill>
                  <a:srgbClr val="000000"/>
                </a:solidFill>
                <a:latin typeface="Arial MT"/>
              </a:rPr>
              <a:t>order</a:t>
            </a:r>
            <a:r>
              <a:rPr lang="fr-FR" sz="1730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78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73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0">
                <a:solidFill>
                  <a:srgbClr val="000000"/>
                </a:solidFill>
                <a:latin typeface="Arial MT"/>
              </a:rPr>
              <a:t>reduce</a:t>
            </a:r>
            <a:r>
              <a:rPr lang="fr-FR" sz="1730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56">
                <a:solidFill>
                  <a:srgbClr val="000000"/>
                </a:solidFill>
                <a:latin typeface="Arial MT"/>
              </a:rPr>
              <a:t>as</a:t>
            </a:r>
            <a:r>
              <a:rPr lang="fr-FR" sz="173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0">
                <a:solidFill>
                  <a:srgbClr val="000000"/>
                </a:solidFill>
                <a:latin typeface="Arial MT"/>
              </a:rPr>
              <a:t>much</a:t>
            </a:r>
            <a:r>
              <a:rPr lang="fr-FR" sz="1730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56">
                <a:solidFill>
                  <a:srgbClr val="000000"/>
                </a:solidFill>
                <a:latin typeface="Arial MT"/>
              </a:rPr>
              <a:t>as</a:t>
            </a:r>
            <a:r>
              <a:rPr lang="fr-FR" sz="173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37">
                <a:solidFill>
                  <a:srgbClr val="000000"/>
                </a:solidFill>
                <a:latin typeface="Arial MT"/>
              </a:rPr>
              <a:t>possible</a:t>
            </a:r>
            <a:r>
              <a:rPr lang="fr-FR" sz="1730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37">
                <a:solidFill>
                  <a:srgbClr val="000000"/>
                </a:solidFill>
                <a:latin typeface="Arial"/>
              </a:rPr>
              <a:t>the </a:t>
            </a:r>
            <a:r>
              <a:rPr lang="fr-FR" sz="1730" b="1" spc="-10">
                <a:solidFill>
                  <a:srgbClr val="000000"/>
                </a:solidFill>
                <a:latin typeface="Arial"/>
              </a:rPr>
              <a:t>biases</a:t>
            </a:r>
            <a:r>
              <a:rPr lang="fr-FR" sz="1730" b="1" spc="-6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37">
                <a:solidFill>
                  <a:srgbClr val="000000"/>
                </a:solidFill>
                <a:latin typeface="Arial"/>
              </a:rPr>
              <a:t>that</a:t>
            </a:r>
            <a:r>
              <a:rPr lang="fr-FR" sz="1730" b="1" spc="-5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17">
                <a:solidFill>
                  <a:srgbClr val="000000"/>
                </a:solidFill>
                <a:latin typeface="Arial"/>
              </a:rPr>
              <a:t>his</a:t>
            </a:r>
            <a:r>
              <a:rPr lang="fr-FR" sz="1730" b="1" spc="-5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68">
                <a:solidFill>
                  <a:srgbClr val="000000"/>
                </a:solidFill>
                <a:latin typeface="Arial"/>
              </a:rPr>
              <a:t>own</a:t>
            </a:r>
            <a:r>
              <a:rPr lang="fr-FR" sz="1730" b="1" spc="-5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26">
                <a:solidFill>
                  <a:srgbClr val="000000"/>
                </a:solidFill>
                <a:latin typeface="Arial"/>
              </a:rPr>
              <a:t>value</a:t>
            </a:r>
            <a:r>
              <a:rPr lang="fr-FR" sz="1730" b="1" spc="-6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27">
                <a:solidFill>
                  <a:srgbClr val="000000"/>
                </a:solidFill>
                <a:latin typeface="Arial"/>
              </a:rPr>
              <a:t>judgments</a:t>
            </a:r>
            <a:r>
              <a:rPr lang="fr-FR" sz="1730" b="1" spc="-5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6">
                <a:solidFill>
                  <a:srgbClr val="000000"/>
                </a:solidFill>
                <a:latin typeface="Arial"/>
              </a:rPr>
              <a:t>could </a:t>
            </a:r>
            <a:r>
              <a:rPr lang="fr-FR" sz="1730" b="1" spc="-23">
                <a:solidFill>
                  <a:srgbClr val="000000"/>
                </a:solidFill>
                <a:latin typeface="Arial"/>
              </a:rPr>
              <a:t>cause</a:t>
            </a:r>
            <a:r>
              <a:rPr lang="fr-FR" sz="1730" b="1" spc="-6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spc="46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730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his</a:t>
            </a:r>
            <a:r>
              <a:rPr lang="fr-FR" sz="1730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research</a:t>
            </a:r>
            <a:endParaRPr lang="fr-FR" sz="173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object 8"/>
          <p:cNvSpPr/>
          <p:nvPr/>
        </p:nvSpPr>
        <p:spPr>
          <a:xfrm>
            <a:off x="4774904" y="3177616"/>
            <a:ext cx="5219853" cy="22579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6318">
              <a:lnSpc>
                <a:spcPct val="113000"/>
              </a:lnSpc>
              <a:spcBef>
                <a:spcPts val="48"/>
              </a:spcBef>
            </a:pPr>
            <a:r>
              <a:rPr lang="fr-FR" sz="1730" spc="65">
                <a:solidFill>
                  <a:srgbClr val="000000"/>
                </a:solidFill>
                <a:latin typeface="Arial MT"/>
              </a:rPr>
              <a:t>One</a:t>
            </a:r>
            <a:r>
              <a:rPr lang="fr-FR" sz="1730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50">
                <a:solidFill>
                  <a:srgbClr val="000000"/>
                </a:solidFill>
                <a:latin typeface="Arial MT"/>
              </a:rPr>
              <a:t>should</a:t>
            </a:r>
            <a:r>
              <a:rPr lang="fr-FR" sz="1730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27">
                <a:solidFill>
                  <a:srgbClr val="970E53"/>
                </a:solidFill>
                <a:latin typeface="Arial"/>
              </a:rPr>
              <a:t>“treat</a:t>
            </a:r>
            <a:r>
              <a:rPr lang="fr-FR" sz="1730" b="1" spc="-43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 b="1" spc="-6">
                <a:solidFill>
                  <a:srgbClr val="970E53"/>
                </a:solidFill>
                <a:latin typeface="Arial"/>
              </a:rPr>
              <a:t>social</a:t>
            </a:r>
            <a:r>
              <a:rPr lang="fr-FR" sz="1730" b="1" spc="-46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 b="1" spc="-6">
                <a:solidFill>
                  <a:srgbClr val="970E53"/>
                </a:solidFill>
                <a:latin typeface="Arial"/>
              </a:rPr>
              <a:t>facts</a:t>
            </a:r>
            <a:r>
              <a:rPr lang="fr-FR" sz="1730" b="1" spc="-43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 b="1" spc="-63">
                <a:solidFill>
                  <a:srgbClr val="970E53"/>
                </a:solidFill>
                <a:latin typeface="Arial"/>
              </a:rPr>
              <a:t>as</a:t>
            </a:r>
            <a:r>
              <a:rPr lang="fr-FR" sz="1730" b="1" spc="-43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 b="1">
                <a:solidFill>
                  <a:srgbClr val="970E53"/>
                </a:solidFill>
                <a:latin typeface="Arial"/>
              </a:rPr>
              <a:t>things”</a:t>
            </a:r>
            <a:r>
              <a:rPr lang="fr-FR" sz="1730" b="1" spc="-46">
                <a:solidFill>
                  <a:srgbClr val="970E53"/>
                </a:solidFill>
                <a:latin typeface="Arial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(the</a:t>
            </a:r>
            <a:r>
              <a:rPr lang="fr-FR" sz="1730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65">
                <a:solidFill>
                  <a:srgbClr val="000000"/>
                </a:solidFill>
                <a:latin typeface="Arial MT"/>
              </a:rPr>
              <a:t>word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730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57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1730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30">
                <a:solidFill>
                  <a:srgbClr val="000000"/>
                </a:solidFill>
                <a:latin typeface="Arial MT"/>
              </a:rPr>
              <a:t>Durkheim)</a:t>
            </a:r>
            <a:endParaRPr lang="fr-FR" sz="173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606"/>
              </a:spcBef>
            </a:pPr>
            <a:endParaRPr lang="fr-FR" sz="1730">
              <a:solidFill>
                <a:srgbClr val="000000"/>
              </a:solidFill>
              <a:latin typeface="Arial"/>
            </a:endParaRPr>
          </a:p>
          <a:p>
            <a:pPr marL="6318">
              <a:lnSpc>
                <a:spcPct val="113000"/>
              </a:lnSpc>
            </a:pPr>
            <a:r>
              <a:rPr lang="fr-FR" sz="1730" spc="-13">
                <a:solidFill>
                  <a:srgbClr val="000000"/>
                </a:solidFill>
                <a:latin typeface="Arial MT"/>
              </a:rPr>
              <a:t>This</a:t>
            </a:r>
            <a:r>
              <a:rPr lang="fr-FR" sz="1730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730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85">
                <a:solidFill>
                  <a:srgbClr val="000000"/>
                </a:solidFill>
                <a:latin typeface="Arial MT"/>
              </a:rPr>
              <a:t>be</a:t>
            </a:r>
            <a:r>
              <a:rPr lang="fr-FR" sz="1730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especially</a:t>
            </a:r>
            <a:r>
              <a:rPr lang="fr-FR" sz="1730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6">
                <a:solidFill>
                  <a:srgbClr val="000000"/>
                </a:solidFill>
                <a:latin typeface="Arial MT"/>
              </a:rPr>
              <a:t>difficult</a:t>
            </a:r>
            <a:r>
              <a:rPr lang="fr-FR" sz="1730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0">
                <a:solidFill>
                  <a:srgbClr val="000000"/>
                </a:solidFill>
                <a:latin typeface="Arial MT"/>
              </a:rPr>
              <a:t>when</a:t>
            </a:r>
            <a:r>
              <a:rPr lang="fr-FR" sz="1730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92">
                <a:solidFill>
                  <a:srgbClr val="000000"/>
                </a:solidFill>
                <a:latin typeface="Arial MT"/>
              </a:rPr>
              <a:t>doing</a:t>
            </a:r>
            <a:r>
              <a:rPr lang="fr-FR" sz="1730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u="sng" spc="-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social</a:t>
            </a:r>
            <a:r>
              <a:rPr lang="fr-FR" sz="1730" b="1" spc="-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spc="-10">
                <a:solidFill>
                  <a:srgbClr val="000000"/>
                </a:solidFill>
                <a:latin typeface="Arial MT"/>
              </a:rPr>
              <a:t>sciences,</a:t>
            </a:r>
            <a:r>
              <a:rPr lang="fr-FR" sz="1730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because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we’re</a:t>
            </a:r>
            <a:r>
              <a:rPr lang="fr-FR" sz="1730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8">
                <a:solidFill>
                  <a:srgbClr val="000000"/>
                </a:solidFill>
                <a:latin typeface="Arial MT"/>
              </a:rPr>
              <a:t>talking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60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-6">
                <a:solidFill>
                  <a:srgbClr val="000000"/>
                </a:solidFill>
                <a:latin typeface="Arial"/>
              </a:rPr>
              <a:t>human </a:t>
            </a:r>
            <a:r>
              <a:rPr lang="fr-FR" sz="1730" b="1" spc="43">
                <a:solidFill>
                  <a:srgbClr val="000000"/>
                </a:solidFill>
                <a:latin typeface="Arial"/>
              </a:rPr>
              <a:t>phenomena</a:t>
            </a:r>
            <a:r>
              <a:rPr lang="fr-FR" sz="1730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spc="3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730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26">
                <a:solidFill>
                  <a:srgbClr val="000000"/>
                </a:solidFill>
                <a:latin typeface="Arial MT"/>
              </a:rPr>
              <a:t>instinctively</a:t>
            </a:r>
            <a:r>
              <a:rPr lang="fr-FR" sz="1730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68">
                <a:solidFill>
                  <a:srgbClr val="000000"/>
                </a:solidFill>
                <a:latin typeface="Arial MT"/>
              </a:rPr>
              <a:t>trigger</a:t>
            </a:r>
            <a:r>
              <a:rPr lang="fr-FR" sz="1730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value </a:t>
            </a:r>
            <a:r>
              <a:rPr lang="fr-FR" sz="1730" spc="53">
                <a:solidFill>
                  <a:srgbClr val="000000"/>
                </a:solidFill>
                <a:latin typeface="Arial MT"/>
              </a:rPr>
              <a:t>judgements</a:t>
            </a:r>
            <a:r>
              <a:rPr lang="fr-FR" sz="1730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48">
                <a:solidFill>
                  <a:srgbClr val="000000"/>
                </a:solidFill>
                <a:latin typeface="Arial"/>
              </a:rPr>
              <a:t>(e.g.</a:t>
            </a:r>
            <a:r>
              <a:rPr lang="fr-FR" sz="1730" b="1" spc="-68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33">
                <a:solidFill>
                  <a:srgbClr val="D31876"/>
                </a:solidFill>
                <a:latin typeface="Arial"/>
              </a:rPr>
              <a:t>poverty</a:t>
            </a:r>
            <a:r>
              <a:rPr lang="fr-FR" sz="1730" b="1" spc="33">
                <a:solidFill>
                  <a:srgbClr val="000000"/>
                </a:solidFill>
                <a:latin typeface="Arial"/>
              </a:rPr>
              <a:t>,</a:t>
            </a:r>
            <a:r>
              <a:rPr lang="fr-FR" sz="1730" b="1" spc="-7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>
                <a:solidFill>
                  <a:srgbClr val="D31876"/>
                </a:solidFill>
                <a:latin typeface="Arial"/>
              </a:rPr>
              <a:t>sexuality</a:t>
            </a:r>
            <a:r>
              <a:rPr lang="fr-FR" sz="1730" b="1">
                <a:solidFill>
                  <a:srgbClr val="000000"/>
                </a:solidFill>
                <a:latin typeface="Arial"/>
              </a:rPr>
              <a:t>,</a:t>
            </a:r>
            <a:r>
              <a:rPr lang="fr-FR" sz="1730" b="1" spc="-68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6">
                <a:solidFill>
                  <a:srgbClr val="D31876"/>
                </a:solidFill>
                <a:latin typeface="Arial"/>
              </a:rPr>
              <a:t>politics</a:t>
            </a:r>
            <a:r>
              <a:rPr lang="fr-FR" sz="1730" b="1" spc="-6">
                <a:solidFill>
                  <a:srgbClr val="000000"/>
                </a:solidFill>
                <a:latin typeface="Arial"/>
              </a:rPr>
              <a:t>)</a:t>
            </a:r>
            <a:endParaRPr lang="fr-FR" sz="173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872739" y="169675"/>
            <a:ext cx="7853607" cy="521109"/>
          </a:xfrm>
          <a:prstGeom prst="rect">
            <a:avLst/>
          </a:prstGeom>
          <a:noFill/>
          <a:ln w="0">
            <a:noFill/>
          </a:ln>
        </p:spPr>
        <p:txBody>
          <a:bodyPr lIns="0" tIns="7942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3"/>
              </a:spcBef>
            </a:pPr>
            <a:r>
              <a:rPr lang="fr-FR" sz="3334" b="1" spc="33">
                <a:solidFill>
                  <a:schemeClr val="dk1"/>
                </a:solidFill>
                <a:latin typeface="Arial"/>
              </a:rPr>
              <a:t>Descriptive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-16">
                <a:solidFill>
                  <a:schemeClr val="dk1"/>
                </a:solidFill>
                <a:latin typeface="Arial"/>
              </a:rPr>
              <a:t>claims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384">
                <a:solidFill>
                  <a:schemeClr val="dk1"/>
                </a:solidFill>
                <a:latin typeface="Arial"/>
              </a:rPr>
              <a:t>≠</a:t>
            </a:r>
            <a:r>
              <a:rPr lang="fr-FR" sz="3334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80">
                <a:solidFill>
                  <a:schemeClr val="dk1"/>
                </a:solidFill>
                <a:latin typeface="Arial"/>
              </a:rPr>
              <a:t>Normative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-6">
                <a:solidFill>
                  <a:schemeClr val="dk1"/>
                </a:solidFill>
                <a:latin typeface="Arial"/>
              </a:rPr>
              <a:t>claims</a:t>
            </a:r>
            <a:endParaRPr lang="fr-FR" sz="3334"/>
          </a:p>
        </p:txBody>
      </p:sp>
      <p:sp>
        <p:nvSpPr>
          <p:cNvPr id="129" name="object 3"/>
          <p:cNvSpPr/>
          <p:nvPr/>
        </p:nvSpPr>
        <p:spPr>
          <a:xfrm>
            <a:off x="230862" y="1194404"/>
            <a:ext cx="9509563" cy="403457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930" spc="63">
                <a:solidFill>
                  <a:srgbClr val="212338"/>
                </a:solidFill>
                <a:latin typeface="Arial MT"/>
              </a:rPr>
              <a:t>A</a:t>
            </a:r>
            <a:r>
              <a:rPr lang="fr-FR" sz="1930" spc="-102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b="1" spc="27">
                <a:solidFill>
                  <a:srgbClr val="970E53"/>
                </a:solidFill>
                <a:latin typeface="Arial"/>
              </a:rPr>
              <a:t>descriptive</a:t>
            </a:r>
            <a:r>
              <a:rPr lang="fr-FR" sz="1930" b="1" spc="-70">
                <a:solidFill>
                  <a:srgbClr val="970E53"/>
                </a:solidFill>
                <a:latin typeface="Arial"/>
              </a:rPr>
              <a:t> </a:t>
            </a:r>
            <a:r>
              <a:rPr lang="fr-FR" sz="1930" spc="36">
                <a:solidFill>
                  <a:srgbClr val="212338"/>
                </a:solidFill>
                <a:latin typeface="Arial MT"/>
              </a:rPr>
              <a:t>claim</a:t>
            </a:r>
            <a:r>
              <a:rPr lang="fr-FR" sz="193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>
                <a:solidFill>
                  <a:srgbClr val="212338"/>
                </a:solidFill>
                <a:latin typeface="Arial MT"/>
              </a:rPr>
              <a:t>is</a:t>
            </a:r>
            <a:r>
              <a:rPr lang="fr-FR" sz="193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>
                <a:solidFill>
                  <a:srgbClr val="212338"/>
                </a:solidFill>
                <a:latin typeface="Arial MT"/>
              </a:rPr>
              <a:t>a</a:t>
            </a:r>
            <a:r>
              <a:rPr lang="fr-FR" sz="1930" spc="-7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spc="36">
                <a:solidFill>
                  <a:srgbClr val="212338"/>
                </a:solidFill>
                <a:latin typeface="Arial MT"/>
              </a:rPr>
              <a:t>claim</a:t>
            </a:r>
            <a:r>
              <a:rPr lang="fr-FR" sz="193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spc="33">
                <a:solidFill>
                  <a:srgbClr val="212338"/>
                </a:solidFill>
                <a:latin typeface="Arial MT"/>
              </a:rPr>
              <a:t>that</a:t>
            </a:r>
            <a:r>
              <a:rPr lang="fr-FR" sz="1930" spc="-7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spc="-27">
                <a:solidFill>
                  <a:srgbClr val="212338"/>
                </a:solidFill>
                <a:latin typeface="Arial MT"/>
              </a:rPr>
              <a:t>asserts</a:t>
            </a:r>
            <a:r>
              <a:rPr lang="fr-FR" sz="193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spc="33">
                <a:solidFill>
                  <a:srgbClr val="212338"/>
                </a:solidFill>
                <a:latin typeface="Arial MT"/>
              </a:rPr>
              <a:t>that</a:t>
            </a:r>
            <a:r>
              <a:rPr lang="fr-FR" sz="193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spc="57">
                <a:solidFill>
                  <a:srgbClr val="212338"/>
                </a:solidFill>
                <a:latin typeface="Arial MT"/>
              </a:rPr>
              <a:t>“X”</a:t>
            </a:r>
            <a:r>
              <a:rPr lang="fr-FR" sz="1930" spc="-7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930" b="1">
                <a:solidFill>
                  <a:srgbClr val="970E53"/>
                </a:solidFill>
                <a:latin typeface="Arial"/>
              </a:rPr>
              <a:t>IS</a:t>
            </a:r>
            <a:r>
              <a:rPr lang="fr-FR" sz="1930" b="1" spc="-68">
                <a:solidFill>
                  <a:srgbClr val="970E53"/>
                </a:solidFill>
                <a:latin typeface="Arial"/>
              </a:rPr>
              <a:t> </a:t>
            </a:r>
            <a:r>
              <a:rPr lang="fr-FR" sz="1930" b="1" spc="57">
                <a:solidFill>
                  <a:srgbClr val="212338"/>
                </a:solidFill>
                <a:latin typeface="Arial"/>
              </a:rPr>
              <a:t>the</a:t>
            </a:r>
            <a:r>
              <a:rPr lang="fr-FR" sz="1930" b="1" spc="-68">
                <a:solidFill>
                  <a:srgbClr val="212338"/>
                </a:solidFill>
                <a:latin typeface="Arial"/>
              </a:rPr>
              <a:t> </a:t>
            </a:r>
            <a:r>
              <a:rPr lang="fr-FR" sz="1930" b="1" spc="-6">
                <a:solidFill>
                  <a:srgbClr val="212338"/>
                </a:solidFill>
                <a:latin typeface="Arial"/>
              </a:rPr>
              <a:t>case</a:t>
            </a:r>
            <a:r>
              <a:rPr lang="fr-FR" sz="1930" spc="-6">
                <a:solidFill>
                  <a:srgbClr val="212338"/>
                </a:solidFill>
                <a:latin typeface="Arial MT"/>
              </a:rPr>
              <a:t>.</a:t>
            </a:r>
            <a:endParaRPr lang="fr-FR" sz="1930">
              <a:solidFill>
                <a:srgbClr val="000000"/>
              </a:solidFill>
              <a:latin typeface="Arial"/>
            </a:endParaRPr>
          </a:p>
          <a:p>
            <a:pPr marL="659381">
              <a:spcBef>
                <a:spcPts val="1490"/>
              </a:spcBef>
            </a:pPr>
            <a:r>
              <a:rPr lang="fr-FR" sz="1780" spc="-85">
                <a:solidFill>
                  <a:srgbClr val="212338"/>
                </a:solidFill>
                <a:latin typeface="Segoe UI Emoji"/>
              </a:rPr>
              <a:t>➡</a:t>
            </a:r>
            <a:r>
              <a:rPr lang="fr-FR" sz="1780" b="1" spc="-85">
                <a:solidFill>
                  <a:srgbClr val="000000"/>
                </a:solidFill>
                <a:latin typeface="Arial"/>
              </a:rPr>
              <a:t>Example</a:t>
            </a:r>
            <a:r>
              <a:rPr lang="fr-FR" sz="1780" spc="-85">
                <a:solidFill>
                  <a:srgbClr val="212338"/>
                </a:solidFill>
                <a:latin typeface="Arial MT"/>
              </a:rPr>
              <a:t>:</a:t>
            </a:r>
            <a:r>
              <a:rPr lang="fr-FR" sz="178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The</a:t>
            </a:r>
            <a:r>
              <a:rPr lang="fr-FR" sz="1780" spc="-2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56">
                <a:solidFill>
                  <a:srgbClr val="212338"/>
                </a:solidFill>
                <a:latin typeface="Arial MT"/>
              </a:rPr>
              <a:t>distribution</a:t>
            </a:r>
            <a:r>
              <a:rPr lang="fr-FR" sz="1780" spc="-2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57">
                <a:solidFill>
                  <a:srgbClr val="212338"/>
                </a:solidFill>
                <a:latin typeface="Arial MT"/>
              </a:rPr>
              <a:t>of</a:t>
            </a:r>
            <a:r>
              <a:rPr lang="fr-FR" sz="1780" spc="27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wealth</a:t>
            </a:r>
            <a:r>
              <a:rPr lang="fr-FR" sz="1780" spc="-2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40">
                <a:solidFill>
                  <a:srgbClr val="212338"/>
                </a:solidFill>
                <a:latin typeface="Arial MT"/>
              </a:rPr>
              <a:t>in</a:t>
            </a:r>
            <a:r>
              <a:rPr lang="fr-FR" sz="1780" spc="-2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society</a:t>
            </a:r>
            <a:r>
              <a:rPr lang="fr-FR" sz="1780" spc="-17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212338"/>
                </a:solidFill>
                <a:latin typeface="Arial MT"/>
              </a:rPr>
              <a:t>is</a:t>
            </a:r>
            <a:r>
              <a:rPr lang="fr-FR" sz="1780" spc="-4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-26">
                <a:solidFill>
                  <a:srgbClr val="212338"/>
                </a:solidFill>
                <a:latin typeface="Arial MT"/>
              </a:rPr>
              <a:t>X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78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742"/>
              </a:spcBef>
            </a:pP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175450"/>
            <a:r>
              <a:rPr lang="fr-FR" sz="1780" spc="57">
                <a:solidFill>
                  <a:srgbClr val="212338"/>
                </a:solidFill>
                <a:latin typeface="Arial MT"/>
              </a:rPr>
              <a:t>A</a:t>
            </a:r>
            <a:r>
              <a:rPr lang="fr-FR" sz="1780" spc="-6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b="1" spc="26">
                <a:solidFill>
                  <a:srgbClr val="970E53"/>
                </a:solidFill>
                <a:latin typeface="Arial"/>
              </a:rPr>
              <a:t>normative</a:t>
            </a:r>
            <a:r>
              <a:rPr lang="fr-FR" sz="1780" b="1" spc="-36">
                <a:solidFill>
                  <a:srgbClr val="970E53"/>
                </a:solidFill>
                <a:latin typeface="Arial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is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a</a:t>
            </a:r>
            <a:r>
              <a:rPr lang="fr-FR" sz="1780" spc="-3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claim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(or</a:t>
            </a:r>
            <a:r>
              <a:rPr lang="fr-FR" sz="1780" spc="-3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37">
                <a:solidFill>
                  <a:srgbClr val="212338"/>
                </a:solidFill>
                <a:latin typeface="Arial MT"/>
              </a:rPr>
              <a:t>“</a:t>
            </a:r>
            <a:r>
              <a:rPr lang="fr-FR" sz="1780" spc="37">
                <a:solidFill>
                  <a:srgbClr val="970E53"/>
                </a:solidFill>
                <a:latin typeface="Arial MT"/>
              </a:rPr>
              <a:t>prescriptive</a:t>
            </a:r>
            <a:r>
              <a:rPr lang="fr-FR" sz="1780" spc="37">
                <a:solidFill>
                  <a:srgbClr val="212338"/>
                </a:solidFill>
                <a:latin typeface="Arial MT"/>
              </a:rPr>
              <a:t>”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claim)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-27">
                <a:solidFill>
                  <a:srgbClr val="212338"/>
                </a:solidFill>
                <a:latin typeface="Arial MT"/>
              </a:rPr>
              <a:t>asserts</a:t>
            </a:r>
            <a:r>
              <a:rPr lang="fr-FR" sz="1780" spc="-3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that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46">
                <a:solidFill>
                  <a:srgbClr val="212338"/>
                </a:solidFill>
                <a:latin typeface="Arial MT"/>
              </a:rPr>
              <a:t>“X”</a:t>
            </a:r>
            <a:r>
              <a:rPr lang="fr-FR" sz="1780" spc="-3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b="1" spc="26">
                <a:solidFill>
                  <a:srgbClr val="970E53"/>
                </a:solidFill>
                <a:latin typeface="Arial"/>
              </a:rPr>
              <a:t>OUGHT</a:t>
            </a:r>
            <a:r>
              <a:rPr lang="fr-FR" sz="1780" b="1" spc="-80">
                <a:solidFill>
                  <a:srgbClr val="970E53"/>
                </a:solidFill>
                <a:latin typeface="Arial"/>
              </a:rPr>
              <a:t> </a:t>
            </a:r>
            <a:r>
              <a:rPr lang="fr-FR" sz="1780" b="1" spc="50">
                <a:solidFill>
                  <a:srgbClr val="212338"/>
                </a:solidFill>
                <a:latin typeface="Arial"/>
              </a:rPr>
              <a:t>to</a:t>
            </a:r>
            <a:r>
              <a:rPr lang="fr-FR" sz="1780" b="1" spc="-33">
                <a:solidFill>
                  <a:srgbClr val="212338"/>
                </a:solidFill>
                <a:latin typeface="Arial"/>
              </a:rPr>
              <a:t> </a:t>
            </a:r>
            <a:r>
              <a:rPr lang="fr-FR" sz="1780" b="1" spc="70">
                <a:solidFill>
                  <a:srgbClr val="212338"/>
                </a:solidFill>
                <a:latin typeface="Arial"/>
              </a:rPr>
              <a:t>be</a:t>
            </a:r>
            <a:r>
              <a:rPr lang="fr-FR" sz="1780" b="1" spc="-36">
                <a:solidFill>
                  <a:srgbClr val="212338"/>
                </a:solidFill>
                <a:latin typeface="Arial"/>
              </a:rPr>
              <a:t> </a:t>
            </a:r>
            <a:r>
              <a:rPr lang="fr-FR" sz="1780" b="1" spc="43">
                <a:solidFill>
                  <a:srgbClr val="212338"/>
                </a:solidFill>
                <a:latin typeface="Arial"/>
              </a:rPr>
              <a:t>the</a:t>
            </a:r>
            <a:r>
              <a:rPr lang="fr-FR" sz="1780" b="1" spc="-33">
                <a:solidFill>
                  <a:srgbClr val="212338"/>
                </a:solidFill>
                <a:latin typeface="Arial"/>
              </a:rPr>
              <a:t> </a:t>
            </a:r>
            <a:r>
              <a:rPr lang="fr-FR" sz="1780" b="1" spc="-6">
                <a:solidFill>
                  <a:srgbClr val="212338"/>
                </a:solidFill>
                <a:latin typeface="Arial"/>
              </a:rPr>
              <a:t>case</a:t>
            </a:r>
            <a:r>
              <a:rPr lang="fr-FR" sz="1780" spc="-6">
                <a:solidFill>
                  <a:srgbClr val="212338"/>
                </a:solidFill>
                <a:latin typeface="Arial MT"/>
              </a:rPr>
              <a:t>.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41"/>
              </a:spcBef>
            </a:pP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753604" indent="-94584">
              <a:lnSpc>
                <a:spcPct val="113000"/>
              </a:lnSpc>
              <a:tabLst>
                <a:tab pos="0" algn="l"/>
              </a:tabLst>
            </a:pPr>
            <a:r>
              <a:rPr lang="fr-FR" sz="1780" spc="-85">
                <a:solidFill>
                  <a:srgbClr val="212338"/>
                </a:solidFill>
                <a:latin typeface="Segoe UI Emoji"/>
              </a:rPr>
              <a:t>➡</a:t>
            </a:r>
            <a:r>
              <a:rPr lang="fr-FR" sz="1780" b="1" spc="-85">
                <a:solidFill>
                  <a:srgbClr val="000000"/>
                </a:solidFill>
                <a:latin typeface="Arial"/>
              </a:rPr>
              <a:t>Example</a:t>
            </a:r>
            <a:r>
              <a:rPr lang="fr-FR" sz="1780" spc="-85">
                <a:solidFill>
                  <a:srgbClr val="212338"/>
                </a:solidFill>
                <a:latin typeface="Arial MT"/>
              </a:rPr>
              <a:t>:</a:t>
            </a:r>
            <a:r>
              <a:rPr lang="fr-FR" sz="1780" spc="-80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The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56">
                <a:solidFill>
                  <a:srgbClr val="212338"/>
                </a:solidFill>
                <a:latin typeface="Arial MT"/>
              </a:rPr>
              <a:t>distribution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57">
                <a:solidFill>
                  <a:srgbClr val="212338"/>
                </a:solidFill>
                <a:latin typeface="Arial MT"/>
              </a:rPr>
              <a:t>of</a:t>
            </a:r>
            <a:r>
              <a:rPr lang="fr-FR" sz="1780" spc="1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wealth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40">
                <a:solidFill>
                  <a:srgbClr val="212338"/>
                </a:solidFill>
                <a:latin typeface="Arial MT"/>
              </a:rPr>
              <a:t>in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society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>
                <a:solidFill>
                  <a:srgbClr val="212338"/>
                </a:solidFill>
                <a:latin typeface="Arial MT"/>
              </a:rPr>
              <a:t>is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b="1">
                <a:solidFill>
                  <a:srgbClr val="212338"/>
                </a:solidFill>
                <a:latin typeface="Arial"/>
              </a:rPr>
              <a:t>unjust</a:t>
            </a:r>
            <a:r>
              <a:rPr lang="fr-FR" sz="1780" b="1" spc="-33">
                <a:solidFill>
                  <a:srgbClr val="212338"/>
                </a:solidFill>
                <a:latin typeface="Arial"/>
              </a:rPr>
              <a:t> </a:t>
            </a:r>
            <a:r>
              <a:rPr lang="fr-FR" sz="1780" spc="37">
                <a:solidFill>
                  <a:srgbClr val="212338"/>
                </a:solidFill>
                <a:latin typeface="Arial MT"/>
              </a:rPr>
              <a:t>and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43">
                <a:solidFill>
                  <a:srgbClr val="212338"/>
                </a:solidFill>
                <a:latin typeface="Arial MT"/>
              </a:rPr>
              <a:t>should</a:t>
            </a:r>
            <a:r>
              <a:rPr lang="fr-FR" sz="178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80" spc="65">
                <a:solidFill>
                  <a:srgbClr val="212338"/>
                </a:solidFill>
                <a:latin typeface="Arial MT"/>
              </a:rPr>
              <a:t>be </a:t>
            </a:r>
            <a:r>
              <a:rPr lang="fr-FR" sz="1780" spc="43">
                <a:solidFill>
                  <a:srgbClr val="212338"/>
                </a:solidFill>
                <a:latin typeface="Arial MT"/>
              </a:rPr>
              <a:t>changed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384"/>
              </a:spcBef>
              <a:tabLst>
                <a:tab pos="0" algn="l"/>
              </a:tabLst>
            </a:pP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197471">
              <a:lnSpc>
                <a:spcPct val="113000"/>
              </a:lnSpc>
              <a:tabLst>
                <a:tab pos="0" algn="l"/>
              </a:tabLst>
            </a:pPr>
            <a:r>
              <a:rPr lang="fr-FR" sz="1730">
                <a:solidFill>
                  <a:srgbClr val="212338"/>
                </a:solidFill>
                <a:latin typeface="Arial MT"/>
              </a:rPr>
              <a:t>Social</a:t>
            </a:r>
            <a:r>
              <a:rPr lang="fr-FR" sz="1730" spc="-3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>
                <a:solidFill>
                  <a:srgbClr val="212338"/>
                </a:solidFill>
                <a:latin typeface="Arial MT"/>
              </a:rPr>
              <a:t>science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-692">
                <a:solidFill>
                  <a:srgbClr val="212338"/>
                </a:solidFill>
                <a:latin typeface="Arial MT"/>
              </a:rPr>
              <a:t>—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>
                <a:solidFill>
                  <a:srgbClr val="212338"/>
                </a:solidFill>
                <a:latin typeface="Arial MT"/>
              </a:rPr>
              <a:t>just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-56">
                <a:solidFill>
                  <a:srgbClr val="212338"/>
                </a:solidFill>
                <a:latin typeface="Arial MT"/>
              </a:rPr>
              <a:t>as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>
                <a:solidFill>
                  <a:srgbClr val="212338"/>
                </a:solidFill>
                <a:latin typeface="Arial MT"/>
              </a:rPr>
              <a:t>sciences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57">
                <a:solidFill>
                  <a:srgbClr val="212338"/>
                </a:solidFill>
                <a:latin typeface="Arial MT"/>
              </a:rPr>
              <a:t>more</a:t>
            </a:r>
            <a:r>
              <a:rPr lang="fr-FR" sz="1730" spc="-3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56">
                <a:solidFill>
                  <a:srgbClr val="212338"/>
                </a:solidFill>
                <a:latin typeface="Arial MT"/>
              </a:rPr>
              <a:t>broadly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-692">
                <a:solidFill>
                  <a:srgbClr val="212338"/>
                </a:solidFill>
                <a:latin typeface="Arial MT"/>
              </a:rPr>
              <a:t>—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37">
                <a:solidFill>
                  <a:srgbClr val="212338"/>
                </a:solidFill>
                <a:latin typeface="Arial MT"/>
              </a:rPr>
              <a:t>only</a:t>
            </a:r>
            <a:r>
              <a:rPr lang="fr-FR" sz="1730" spc="-33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b="1">
                <a:solidFill>
                  <a:srgbClr val="212338"/>
                </a:solidFill>
                <a:latin typeface="Arial"/>
              </a:rPr>
              <a:t>aims</a:t>
            </a:r>
            <a:r>
              <a:rPr lang="fr-FR" sz="1730" b="1" spc="-33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36">
                <a:solidFill>
                  <a:srgbClr val="212338"/>
                </a:solidFill>
                <a:latin typeface="Arial"/>
              </a:rPr>
              <a:t>at</a:t>
            </a:r>
            <a:r>
              <a:rPr lang="fr-FR" sz="1730" b="1" spc="-33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>
                <a:solidFill>
                  <a:srgbClr val="212338"/>
                </a:solidFill>
                <a:latin typeface="Arial"/>
              </a:rPr>
              <a:t>producing</a:t>
            </a:r>
            <a:r>
              <a:rPr lang="fr-FR" sz="1730" b="1" spc="-36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40">
                <a:solidFill>
                  <a:srgbClr val="212338"/>
                </a:solidFill>
                <a:latin typeface="Arial"/>
              </a:rPr>
              <a:t>true</a:t>
            </a:r>
            <a:r>
              <a:rPr lang="fr-FR" sz="1730" b="1" spc="-33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-6">
                <a:solidFill>
                  <a:srgbClr val="212338"/>
                </a:solidFill>
                <a:latin typeface="Arial"/>
              </a:rPr>
              <a:t>descriptions </a:t>
            </a:r>
            <a:r>
              <a:rPr lang="fr-FR" sz="1730" b="1" spc="40">
                <a:solidFill>
                  <a:srgbClr val="212338"/>
                </a:solidFill>
                <a:latin typeface="Arial"/>
              </a:rPr>
              <a:t>of</a:t>
            </a:r>
            <a:r>
              <a:rPr lang="fr-FR" sz="1730" b="1" spc="-6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53">
                <a:solidFill>
                  <a:srgbClr val="212338"/>
                </a:solidFill>
                <a:latin typeface="Arial"/>
              </a:rPr>
              <a:t>what</a:t>
            </a:r>
            <a:r>
              <a:rPr lang="fr-FR" sz="1730" b="1" spc="-48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-46">
                <a:solidFill>
                  <a:srgbClr val="212338"/>
                </a:solidFill>
                <a:latin typeface="Arial"/>
              </a:rPr>
              <a:t>is </a:t>
            </a:r>
            <a:r>
              <a:rPr lang="fr-FR" sz="1730" b="1" spc="-692">
                <a:solidFill>
                  <a:srgbClr val="212338"/>
                </a:solidFill>
                <a:latin typeface="Arial"/>
              </a:rPr>
              <a:t>—</a:t>
            </a:r>
            <a:r>
              <a:rPr lang="fr-FR" sz="1730" b="1" spc="-48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36">
                <a:solidFill>
                  <a:srgbClr val="212338"/>
                </a:solidFill>
                <a:latin typeface="Arial"/>
              </a:rPr>
              <a:t>not</a:t>
            </a:r>
            <a:r>
              <a:rPr lang="fr-FR" sz="1730" b="1" spc="-48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26">
                <a:solidFill>
                  <a:srgbClr val="212338"/>
                </a:solidFill>
                <a:latin typeface="Arial"/>
              </a:rPr>
              <a:t>moral</a:t>
            </a:r>
            <a:r>
              <a:rPr lang="fr-FR" sz="1730" b="1" spc="-46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27">
                <a:solidFill>
                  <a:srgbClr val="212338"/>
                </a:solidFill>
                <a:latin typeface="Arial"/>
              </a:rPr>
              <a:t>judgements</a:t>
            </a:r>
            <a:r>
              <a:rPr lang="fr-FR" sz="1730" b="1" spc="-48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spc="60">
                <a:solidFill>
                  <a:srgbClr val="212338"/>
                </a:solidFill>
                <a:latin typeface="Arial MT"/>
              </a:rPr>
              <a:t>about</a:t>
            </a:r>
            <a:r>
              <a:rPr lang="fr-FR" sz="1730" spc="-48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spc="27">
                <a:solidFill>
                  <a:srgbClr val="212338"/>
                </a:solidFill>
                <a:latin typeface="Arial MT"/>
              </a:rPr>
              <a:t>what</a:t>
            </a:r>
            <a:r>
              <a:rPr lang="fr-FR" sz="1730" spc="-46">
                <a:solidFill>
                  <a:srgbClr val="212338"/>
                </a:solidFill>
                <a:latin typeface="Arial MT"/>
              </a:rPr>
              <a:t> </a:t>
            </a:r>
            <a:r>
              <a:rPr lang="fr-FR" sz="1730" b="1">
                <a:solidFill>
                  <a:srgbClr val="212338"/>
                </a:solidFill>
                <a:latin typeface="Arial"/>
              </a:rPr>
              <a:t>should</a:t>
            </a:r>
            <a:r>
              <a:rPr lang="fr-FR" sz="1730" b="1" spc="-48">
                <a:solidFill>
                  <a:srgbClr val="212338"/>
                </a:solidFill>
                <a:latin typeface="Arial"/>
              </a:rPr>
              <a:t> </a:t>
            </a:r>
            <a:r>
              <a:rPr lang="fr-FR" sz="1730" b="1" spc="57">
                <a:solidFill>
                  <a:srgbClr val="212338"/>
                </a:solidFill>
                <a:latin typeface="Arial"/>
              </a:rPr>
              <a:t>be</a:t>
            </a:r>
            <a:endParaRPr lang="fr-FR" sz="173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710"/>
              </a:spcBef>
              <a:tabLst>
                <a:tab pos="0" algn="l"/>
              </a:tabLst>
            </a:pPr>
            <a:endParaRPr lang="fr-FR" sz="1730">
              <a:solidFill>
                <a:srgbClr val="000000"/>
              </a:solidFill>
              <a:latin typeface="Arial"/>
            </a:endParaRPr>
          </a:p>
          <a:p>
            <a:pPr algn="r">
              <a:tabLst>
                <a:tab pos="0" algn="l"/>
              </a:tabLst>
            </a:pPr>
            <a:r>
              <a:rPr lang="fr-FR" sz="1404">
                <a:solidFill>
                  <a:srgbClr val="000000"/>
                </a:solidFill>
                <a:latin typeface="Arial MT"/>
              </a:rPr>
              <a:t>(Weber,</a:t>
            </a:r>
            <a:r>
              <a:rPr lang="fr-FR" sz="1404" spc="-6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1919)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670751"/>
          </a:xfrm>
          <a:prstGeom prst="rect">
            <a:avLst/>
          </a:prstGeom>
          <a:noFill/>
          <a:ln w="0">
            <a:noFill/>
          </a:ln>
        </p:spPr>
        <p:txBody>
          <a:bodyPr lIns="0" tIns="156137" rIns="0" bIns="0" anchor="t">
            <a:spAutoFit/>
          </a:bodyPr>
          <a:lstStyle/>
          <a:p>
            <a:pPr marL="865336">
              <a:lnSpc>
                <a:spcPct val="100000"/>
              </a:lnSpc>
              <a:spcBef>
                <a:spcPts val="63"/>
              </a:spcBef>
            </a:pPr>
            <a:r>
              <a:rPr lang="fr-FR" sz="3334" b="1" spc="33">
                <a:solidFill>
                  <a:schemeClr val="dk1"/>
                </a:solidFill>
                <a:latin typeface="Arial"/>
              </a:rPr>
              <a:t>Descriptive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-16">
                <a:solidFill>
                  <a:schemeClr val="dk1"/>
                </a:solidFill>
                <a:latin typeface="Arial"/>
              </a:rPr>
              <a:t>claims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384">
                <a:solidFill>
                  <a:schemeClr val="dk1"/>
                </a:solidFill>
                <a:latin typeface="Arial"/>
              </a:rPr>
              <a:t>≠</a:t>
            </a:r>
            <a:r>
              <a:rPr lang="fr-FR" sz="3334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80">
                <a:solidFill>
                  <a:schemeClr val="dk1"/>
                </a:solidFill>
                <a:latin typeface="Arial"/>
              </a:rPr>
              <a:t>Normative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-6">
                <a:solidFill>
                  <a:schemeClr val="dk1"/>
                </a:solidFill>
                <a:latin typeface="Arial"/>
              </a:rPr>
              <a:t>claims</a:t>
            </a:r>
            <a:endParaRPr lang="fr-FR" sz="3334"/>
          </a:p>
        </p:txBody>
      </p:sp>
      <p:pic>
        <p:nvPicPr>
          <p:cNvPr id="131" name="object 3"/>
          <p:cNvPicPr/>
          <p:nvPr/>
        </p:nvPicPr>
        <p:blipFill>
          <a:blip r:embed="rId2"/>
          <a:stretch/>
        </p:blipFill>
        <p:spPr>
          <a:xfrm>
            <a:off x="249455" y="1348014"/>
            <a:ext cx="2692779" cy="297400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object 4"/>
          <p:cNvSpPr/>
          <p:nvPr/>
        </p:nvSpPr>
        <p:spPr>
          <a:xfrm>
            <a:off x="612631" y="4372562"/>
            <a:ext cx="2455595" cy="116625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96751" rIns="0" bIns="0" anchor="t">
            <a:spAutoFit/>
          </a:bodyPr>
          <a:lstStyle/>
          <a:p>
            <a:pPr algn="ctr">
              <a:spcBef>
                <a:spcPts val="762"/>
              </a:spcBef>
            </a:pPr>
            <a:r>
              <a:rPr lang="fr-FR" sz="1404" b="1" spc="37">
                <a:solidFill>
                  <a:srgbClr val="000000"/>
                </a:solidFill>
                <a:latin typeface="Arial"/>
              </a:rPr>
              <a:t>David</a:t>
            </a:r>
            <a:r>
              <a:rPr lang="fr-FR" sz="1404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404" b="1" spc="27">
                <a:solidFill>
                  <a:srgbClr val="000000"/>
                </a:solidFill>
                <a:latin typeface="Arial"/>
              </a:rPr>
              <a:t>Hume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253428" algn="ctr">
              <a:lnSpc>
                <a:spcPct val="112000"/>
              </a:lnSpc>
              <a:spcBef>
                <a:spcPts val="496"/>
              </a:spcBef>
            </a:pPr>
            <a:r>
              <a:rPr lang="fr-FR" sz="1404">
                <a:solidFill>
                  <a:srgbClr val="000000"/>
                </a:solidFill>
                <a:latin typeface="Arial MT"/>
              </a:rPr>
              <a:t>(Scottish</a:t>
            </a:r>
            <a:r>
              <a:rPr lang="fr-FR" sz="1404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23">
                <a:solidFill>
                  <a:srgbClr val="000000"/>
                </a:solidFill>
                <a:latin typeface="Arial MT"/>
              </a:rPr>
              <a:t>philosopher, </a:t>
            </a:r>
            <a:r>
              <a:rPr lang="fr-FR" sz="1404" spc="33">
                <a:solidFill>
                  <a:srgbClr val="000000"/>
                </a:solidFill>
                <a:latin typeface="Arial MT"/>
              </a:rPr>
              <a:t>18th</a:t>
            </a:r>
            <a:r>
              <a:rPr lang="fr-FR" sz="1404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century)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6318">
              <a:spcBef>
                <a:spcPts val="880"/>
              </a:spcBef>
            </a:pPr>
            <a:r>
              <a:rPr lang="fr-FR" sz="1228" i="1" u="sng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A</a:t>
            </a:r>
            <a:r>
              <a:rPr lang="fr-FR" sz="1228" i="1" u="sng" spc="-88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 </a:t>
            </a:r>
            <a:r>
              <a:rPr lang="fr-FR" sz="1228" i="1" u="sng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Treatise</a:t>
            </a:r>
            <a:r>
              <a:rPr lang="fr-FR" sz="1228" i="1" u="sng" spc="-6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 </a:t>
            </a:r>
            <a:r>
              <a:rPr lang="fr-FR" sz="1228" i="1" u="sng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of Human</a:t>
            </a:r>
            <a:r>
              <a:rPr lang="fr-FR" sz="1228" i="1" u="sng" spc="-3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 </a:t>
            </a:r>
            <a:r>
              <a:rPr lang="fr-FR" sz="1228" i="1" u="sng">
                <a:solidFill>
                  <a:srgbClr val="0645AD"/>
                </a:solidFill>
                <a:uFill>
                  <a:solidFill>
                    <a:srgbClr val="0645AD"/>
                  </a:solidFill>
                </a:uFill>
                <a:latin typeface="Arial"/>
              </a:rPr>
              <a:t>Nature</a:t>
            </a:r>
            <a:r>
              <a:rPr lang="fr-FR" sz="1228" i="1">
                <a:solidFill>
                  <a:srgbClr val="0645AD"/>
                </a:solidFill>
                <a:latin typeface="Arial"/>
              </a:rPr>
              <a:t> </a:t>
            </a:r>
            <a:r>
              <a:rPr lang="fr-FR" sz="1228" spc="-6">
                <a:solidFill>
                  <a:srgbClr val="202122"/>
                </a:solidFill>
                <a:latin typeface="Arial MT"/>
              </a:rPr>
              <a:t>(1739)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3" name="object 5"/>
          <p:cNvPicPr/>
          <p:nvPr/>
        </p:nvPicPr>
        <p:blipFill>
          <a:blip r:embed="rId3"/>
          <a:stretch/>
        </p:blipFill>
        <p:spPr>
          <a:xfrm>
            <a:off x="8061184" y="1049277"/>
            <a:ext cx="1446750" cy="195162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object 6"/>
          <p:cNvSpPr/>
          <p:nvPr/>
        </p:nvSpPr>
        <p:spPr>
          <a:xfrm>
            <a:off x="3115699" y="1305776"/>
            <a:ext cx="6391874" cy="34219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lnSpc>
                <a:spcPct val="114000"/>
              </a:lnSpc>
              <a:spcBef>
                <a:spcPts val="50"/>
              </a:spcBef>
            </a:pPr>
            <a:r>
              <a:rPr lang="fr-FR" sz="1780" b="1">
                <a:solidFill>
                  <a:srgbClr val="D31876"/>
                </a:solidFill>
                <a:latin typeface="Arial"/>
              </a:rPr>
              <a:t>“Hume’s</a:t>
            </a:r>
            <a:r>
              <a:rPr lang="fr-FR" sz="1780" b="1" spc="6">
                <a:solidFill>
                  <a:srgbClr val="D31876"/>
                </a:solidFill>
                <a:latin typeface="Arial"/>
              </a:rPr>
              <a:t> </a:t>
            </a:r>
            <a:r>
              <a:rPr lang="fr-FR" sz="1780" b="1">
                <a:solidFill>
                  <a:srgbClr val="D31876"/>
                </a:solidFill>
                <a:latin typeface="Arial"/>
              </a:rPr>
              <a:t>Guillotine”</a:t>
            </a:r>
            <a:r>
              <a:rPr lang="fr-FR" sz="1780" b="1" spc="6">
                <a:solidFill>
                  <a:srgbClr val="D31876"/>
                </a:solidFill>
                <a:latin typeface="Arial"/>
              </a:rPr>
              <a:t> </a:t>
            </a:r>
            <a:r>
              <a:rPr lang="fr-FR" sz="1780" spc="132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1780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4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780" spc="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37">
                <a:solidFill>
                  <a:srgbClr val="000000"/>
                </a:solidFill>
                <a:latin typeface="Arial MT"/>
              </a:rPr>
              <a:t>idea</a:t>
            </a:r>
            <a:r>
              <a:rPr lang="fr-FR" sz="1780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780" spc="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36">
                <a:solidFill>
                  <a:srgbClr val="000000"/>
                </a:solidFill>
                <a:latin typeface="Arial MT"/>
              </a:rPr>
              <a:t>one </a:t>
            </a:r>
            <a:r>
              <a:rPr lang="fr-FR" sz="1780" spc="26">
                <a:solidFill>
                  <a:srgbClr val="000000"/>
                </a:solidFill>
                <a:latin typeface="Arial MT"/>
              </a:rPr>
              <a:t>cannot</a:t>
            </a:r>
            <a:r>
              <a:rPr lang="fr-FR" sz="1780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36">
                <a:solidFill>
                  <a:srgbClr val="000000"/>
                </a:solidFill>
                <a:latin typeface="Arial MT"/>
              </a:rPr>
              <a:t>logically</a:t>
            </a:r>
            <a:r>
              <a:rPr lang="fr-FR" sz="1780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40">
                <a:solidFill>
                  <a:srgbClr val="000000"/>
                </a:solidFill>
                <a:latin typeface="Arial MT"/>
              </a:rPr>
              <a:t>derive</a:t>
            </a:r>
            <a:r>
              <a:rPr lang="fr-FR" sz="1780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780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b="1" spc="26">
                <a:solidFill>
                  <a:srgbClr val="000000"/>
                </a:solidFill>
                <a:latin typeface="Arial"/>
              </a:rPr>
              <a:t>normative</a:t>
            </a:r>
            <a:r>
              <a:rPr lang="fr-FR" sz="1780" b="1" spc="-5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-6">
                <a:solidFill>
                  <a:srgbClr val="000000"/>
                </a:solidFill>
                <a:latin typeface="Arial"/>
              </a:rPr>
              <a:t>claim </a:t>
            </a:r>
            <a:r>
              <a:rPr lang="fr-FR" sz="1780" spc="50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b="1">
                <a:solidFill>
                  <a:srgbClr val="000000"/>
                </a:solidFill>
                <a:latin typeface="Arial"/>
              </a:rPr>
              <a:t>descriptive</a:t>
            </a:r>
            <a:r>
              <a:rPr lang="fr-FR" sz="1780" b="1" spc="-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-6">
                <a:solidFill>
                  <a:srgbClr val="000000"/>
                </a:solidFill>
                <a:latin typeface="Arial"/>
              </a:rPr>
              <a:t>claim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6318">
              <a:spcBef>
                <a:spcPts val="1545"/>
              </a:spcBef>
            </a:pPr>
            <a:r>
              <a:rPr lang="fr-FR" sz="178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780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fact</a:t>
            </a:r>
            <a:r>
              <a:rPr lang="fr-FR" sz="1780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780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46">
                <a:solidFill>
                  <a:srgbClr val="000000"/>
                </a:solidFill>
                <a:latin typeface="Arial MT"/>
              </a:rPr>
              <a:t>something</a:t>
            </a:r>
            <a:r>
              <a:rPr lang="fr-FR" sz="1780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b="1" spc="-60">
                <a:solidFill>
                  <a:srgbClr val="000000"/>
                </a:solidFill>
                <a:latin typeface="Arial"/>
              </a:rPr>
              <a:t>is</a:t>
            </a:r>
            <a:r>
              <a:rPr lang="fr-FR" sz="1780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43">
                <a:solidFill>
                  <a:srgbClr val="000000"/>
                </a:solidFill>
                <a:latin typeface="Arial"/>
              </a:rPr>
              <a:t>the</a:t>
            </a:r>
            <a:r>
              <a:rPr lang="fr-FR" sz="1780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-10">
                <a:solidFill>
                  <a:srgbClr val="000000"/>
                </a:solidFill>
                <a:latin typeface="Arial"/>
              </a:rPr>
              <a:t>case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6318">
              <a:spcBef>
                <a:spcPts val="303"/>
              </a:spcBef>
            </a:pPr>
            <a:r>
              <a:rPr lang="fr-FR" sz="1780" spc="33">
                <a:solidFill>
                  <a:srgbClr val="000000"/>
                </a:solidFill>
                <a:latin typeface="Arial MT"/>
              </a:rPr>
              <a:t>doesn’t</a:t>
            </a:r>
            <a:r>
              <a:rPr lang="fr-FR" sz="1780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57">
                <a:solidFill>
                  <a:srgbClr val="000000"/>
                </a:solidFill>
                <a:latin typeface="Arial MT"/>
              </a:rPr>
              <a:t>imply</a:t>
            </a:r>
            <a:r>
              <a:rPr lang="fr-FR" sz="178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78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57">
                <a:solidFill>
                  <a:srgbClr val="000000"/>
                </a:solidFill>
                <a:latin typeface="Arial MT"/>
              </a:rPr>
              <a:t>it</a:t>
            </a:r>
            <a:r>
              <a:rPr lang="fr-FR" sz="1780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b="1">
                <a:solidFill>
                  <a:srgbClr val="000000"/>
                </a:solidFill>
                <a:latin typeface="Arial"/>
              </a:rPr>
              <a:t>should</a:t>
            </a:r>
            <a:r>
              <a:rPr lang="fr-FR" sz="1780" b="1" spc="-30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57">
                <a:solidFill>
                  <a:srgbClr val="000000"/>
                </a:solidFill>
                <a:latin typeface="Arial"/>
              </a:rPr>
              <a:t>be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406856">
              <a:lnSpc>
                <a:spcPct val="114000"/>
              </a:lnSpc>
              <a:spcBef>
                <a:spcPts val="1916"/>
              </a:spcBef>
            </a:pPr>
            <a:r>
              <a:rPr lang="fr-FR" sz="1479" i="1">
                <a:solidFill>
                  <a:srgbClr val="000000"/>
                </a:solidFill>
                <a:latin typeface="Arial"/>
              </a:rPr>
              <a:t>Example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479" spc="-6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479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fact</a:t>
            </a:r>
            <a:r>
              <a:rPr lang="fr-FR" sz="1479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6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479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4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479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53">
                <a:solidFill>
                  <a:srgbClr val="000000"/>
                </a:solidFill>
                <a:latin typeface="Arial MT"/>
              </a:rPr>
              <a:t>distribution</a:t>
            </a:r>
            <a:r>
              <a:rPr lang="fr-FR" sz="1479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5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479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7">
                <a:solidFill>
                  <a:srgbClr val="000000"/>
                </a:solidFill>
                <a:latin typeface="Arial MT"/>
              </a:rPr>
              <a:t>wealth</a:t>
            </a:r>
            <a:r>
              <a:rPr lang="fr-FR" sz="1479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479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X</a:t>
            </a:r>
            <a:r>
              <a:rPr lang="fr-FR" sz="1479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40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479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society</a:t>
            </a:r>
            <a:r>
              <a:rPr lang="fr-FR" sz="1479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3">
                <a:solidFill>
                  <a:srgbClr val="000000"/>
                </a:solidFill>
                <a:latin typeface="Arial MT"/>
              </a:rPr>
              <a:t>doesn’t </a:t>
            </a:r>
            <a:r>
              <a:rPr lang="fr-FR" sz="1479" spc="40">
                <a:solidFill>
                  <a:srgbClr val="000000"/>
                </a:solidFill>
                <a:latin typeface="Arial MT"/>
              </a:rPr>
              <a:t>tell</a:t>
            </a:r>
            <a:r>
              <a:rPr lang="fr-FR" sz="1479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us</a:t>
            </a:r>
            <a:r>
              <a:rPr lang="fr-FR" sz="1479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36">
                <a:solidFill>
                  <a:srgbClr val="000000"/>
                </a:solidFill>
                <a:latin typeface="Arial MT"/>
              </a:rPr>
              <a:t>whether</a:t>
            </a:r>
            <a:r>
              <a:rPr lang="fr-FR" sz="1479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it’s</a:t>
            </a:r>
            <a:r>
              <a:rPr lang="fr-FR" sz="1479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just</a:t>
            </a:r>
            <a:r>
              <a:rPr lang="fr-FR" sz="1479" b="1" spc="-30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spc="57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479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morally</a:t>
            </a:r>
            <a:r>
              <a:rPr lang="fr-FR" sz="1479" b="1" spc="-30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 spc="33">
                <a:solidFill>
                  <a:srgbClr val="000000"/>
                </a:solidFill>
                <a:latin typeface="Arial"/>
              </a:rPr>
              <a:t>right</a:t>
            </a:r>
            <a:r>
              <a:rPr lang="fr-FR" sz="1479" b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spc="68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479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have</a:t>
            </a:r>
            <a:r>
              <a:rPr lang="fr-FR" sz="1479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such</a:t>
            </a:r>
            <a:r>
              <a:rPr lang="fr-FR" sz="1479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479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3">
                <a:solidFill>
                  <a:srgbClr val="000000"/>
                </a:solidFill>
                <a:latin typeface="Arial MT"/>
              </a:rPr>
              <a:t>wealth </a:t>
            </a:r>
            <a:r>
              <a:rPr lang="fr-FR" sz="1479" spc="48">
                <a:solidFill>
                  <a:srgbClr val="000000"/>
                </a:solidFill>
                <a:latin typeface="Arial MT"/>
              </a:rPr>
              <a:t>distribution</a:t>
            </a:r>
            <a:endParaRPr lang="fr-FR" sz="1479">
              <a:solidFill>
                <a:srgbClr val="000000"/>
              </a:solidFill>
              <a:latin typeface="Arial"/>
            </a:endParaRPr>
          </a:p>
          <a:p>
            <a:pPr marL="406856">
              <a:lnSpc>
                <a:spcPct val="114000"/>
              </a:lnSpc>
              <a:spcBef>
                <a:spcPts val="844"/>
              </a:spcBef>
            </a:pPr>
            <a:r>
              <a:rPr lang="fr-FR" sz="1479" i="1">
                <a:solidFill>
                  <a:srgbClr val="000000"/>
                </a:solidFill>
                <a:latin typeface="Arial"/>
              </a:rPr>
              <a:t>Example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scientists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-40">
                <a:solidFill>
                  <a:srgbClr val="000000"/>
                </a:solidFill>
                <a:latin typeface="Arial MT"/>
              </a:rPr>
              <a:t>say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36">
                <a:solidFill>
                  <a:srgbClr val="000000"/>
                </a:solidFill>
                <a:latin typeface="Arial MT"/>
              </a:rPr>
              <a:t>“given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479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7">
                <a:solidFill>
                  <a:srgbClr val="000000"/>
                </a:solidFill>
                <a:latin typeface="Arial MT"/>
              </a:rPr>
              <a:t>we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43">
                <a:solidFill>
                  <a:srgbClr val="000000"/>
                </a:solidFill>
                <a:latin typeface="Arial MT"/>
              </a:rPr>
              <a:t>know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50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479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7">
                <a:solidFill>
                  <a:srgbClr val="000000"/>
                </a:solidFill>
                <a:latin typeface="Arial MT"/>
              </a:rPr>
              <a:t>how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society</a:t>
            </a:r>
            <a:r>
              <a:rPr lang="fr-FR" sz="1479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works,</a:t>
            </a:r>
            <a:r>
              <a:rPr lang="fr-FR" sz="1479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b="1" spc="37">
                <a:solidFill>
                  <a:srgbClr val="000000"/>
                </a:solidFill>
                <a:latin typeface="Arial"/>
              </a:rPr>
              <a:t>implementing</a:t>
            </a:r>
            <a:r>
              <a:rPr lang="fr-FR" sz="1479" b="1" spc="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policy</a:t>
            </a:r>
            <a:r>
              <a:rPr lang="fr-FR" sz="1479" b="1" spc="-17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 spc="57">
                <a:solidFill>
                  <a:srgbClr val="000000"/>
                </a:solidFill>
                <a:latin typeface="Arial"/>
              </a:rPr>
              <a:t>X</a:t>
            </a:r>
            <a:r>
              <a:rPr lang="fr-FR" sz="1479" b="1" spc="-16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 spc="53">
                <a:solidFill>
                  <a:srgbClr val="000000"/>
                </a:solidFill>
                <a:latin typeface="Arial"/>
              </a:rPr>
              <a:t>will</a:t>
            </a:r>
            <a:r>
              <a:rPr lang="fr-FR" sz="1479" b="1" spc="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 spc="-27">
                <a:solidFill>
                  <a:srgbClr val="000000"/>
                </a:solidFill>
                <a:latin typeface="Arial"/>
              </a:rPr>
              <a:t>cause</a:t>
            </a:r>
            <a:r>
              <a:rPr lang="fr-FR" sz="1479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 spc="30">
                <a:solidFill>
                  <a:srgbClr val="000000"/>
                </a:solidFill>
                <a:latin typeface="Arial"/>
              </a:rPr>
              <a:t>Y</a:t>
            </a:r>
            <a:r>
              <a:rPr lang="fr-FR" sz="1479" spc="30">
                <a:solidFill>
                  <a:srgbClr val="000000"/>
                </a:solidFill>
                <a:latin typeface="Arial MT"/>
              </a:rPr>
              <a:t>”</a:t>
            </a:r>
            <a:endParaRPr lang="fr-FR" sz="1479">
              <a:solidFill>
                <a:srgbClr val="000000"/>
              </a:solidFill>
              <a:latin typeface="Arial"/>
            </a:endParaRPr>
          </a:p>
          <a:p>
            <a:pPr marL="406856">
              <a:spcBef>
                <a:spcPts val="1096"/>
              </a:spcBef>
            </a:pPr>
            <a:r>
              <a:rPr lang="fr-FR" sz="1479">
                <a:solidFill>
                  <a:srgbClr val="000000"/>
                </a:solidFill>
                <a:latin typeface="Arial MT"/>
              </a:rPr>
              <a:t>But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this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33">
                <a:solidFill>
                  <a:srgbClr val="000000"/>
                </a:solidFill>
                <a:latin typeface="Arial MT"/>
              </a:rPr>
              <a:t>doesn’t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40">
                <a:solidFill>
                  <a:srgbClr val="000000"/>
                </a:solidFill>
                <a:latin typeface="Arial MT"/>
              </a:rPr>
              <a:t>tell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>
                <a:solidFill>
                  <a:srgbClr val="000000"/>
                </a:solidFill>
                <a:latin typeface="Arial MT"/>
              </a:rPr>
              <a:t>us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36">
                <a:solidFill>
                  <a:srgbClr val="000000"/>
                </a:solidFill>
                <a:latin typeface="Arial MT"/>
              </a:rPr>
              <a:t>whether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spc="27">
                <a:solidFill>
                  <a:srgbClr val="000000"/>
                </a:solidFill>
                <a:latin typeface="Arial MT"/>
              </a:rPr>
              <a:t>we</a:t>
            </a:r>
            <a:r>
              <a:rPr lang="fr-FR" sz="1479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should</a:t>
            </a:r>
            <a:r>
              <a:rPr lang="fr-FR" sz="1479" b="1" spc="-6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desire</a:t>
            </a:r>
            <a:r>
              <a:rPr lang="fr-FR" sz="1479" b="1" spc="-6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or</a:t>
            </a:r>
            <a:r>
              <a:rPr lang="fr-FR" sz="1479" b="1" spc="-6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>
                <a:solidFill>
                  <a:srgbClr val="000000"/>
                </a:solidFill>
                <a:latin typeface="Arial"/>
              </a:rPr>
              <a:t>value</a:t>
            </a:r>
            <a:r>
              <a:rPr lang="fr-FR" sz="1479" b="1" spc="-4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79" b="1" spc="-26">
                <a:solidFill>
                  <a:srgbClr val="000000"/>
                </a:solidFill>
                <a:latin typeface="Arial"/>
              </a:rPr>
              <a:t>Y</a:t>
            </a:r>
            <a:endParaRPr lang="fr-FR" sz="1479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670751"/>
          </a:xfrm>
          <a:prstGeom prst="rect">
            <a:avLst/>
          </a:prstGeom>
          <a:noFill/>
          <a:ln w="0">
            <a:noFill/>
          </a:ln>
        </p:spPr>
        <p:txBody>
          <a:bodyPr lIns="0" tIns="156137" rIns="0" bIns="0" anchor="t">
            <a:spAutoFit/>
          </a:bodyPr>
          <a:lstStyle/>
          <a:p>
            <a:pPr marL="865336">
              <a:lnSpc>
                <a:spcPct val="100000"/>
              </a:lnSpc>
              <a:spcBef>
                <a:spcPts val="63"/>
              </a:spcBef>
            </a:pPr>
            <a:r>
              <a:rPr lang="fr-FR" sz="3334" b="1" spc="33">
                <a:solidFill>
                  <a:schemeClr val="dk1"/>
                </a:solidFill>
                <a:latin typeface="Arial"/>
              </a:rPr>
              <a:t>Descriptive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-16">
                <a:solidFill>
                  <a:schemeClr val="dk1"/>
                </a:solidFill>
                <a:latin typeface="Arial"/>
              </a:rPr>
              <a:t>claims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384">
                <a:solidFill>
                  <a:schemeClr val="dk1"/>
                </a:solidFill>
                <a:latin typeface="Arial"/>
              </a:rPr>
              <a:t>≠</a:t>
            </a:r>
            <a:r>
              <a:rPr lang="fr-FR" sz="3334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80">
                <a:solidFill>
                  <a:schemeClr val="dk1"/>
                </a:solidFill>
                <a:latin typeface="Arial"/>
              </a:rPr>
              <a:t>Normative</a:t>
            </a:r>
            <a:r>
              <a:rPr lang="fr-FR" sz="3334" b="1" spc="-118">
                <a:solidFill>
                  <a:schemeClr val="dk1"/>
                </a:solidFill>
                <a:latin typeface="Arial"/>
              </a:rPr>
              <a:t> </a:t>
            </a:r>
            <a:r>
              <a:rPr lang="fr-FR" sz="3334" b="1" spc="-6">
                <a:solidFill>
                  <a:schemeClr val="dk1"/>
                </a:solidFill>
                <a:latin typeface="Arial"/>
              </a:rPr>
              <a:t>claims</a:t>
            </a:r>
            <a:endParaRPr lang="fr-FR" sz="3334"/>
          </a:p>
        </p:txBody>
      </p:sp>
      <p:pic>
        <p:nvPicPr>
          <p:cNvPr id="136" name="object 3"/>
          <p:cNvPicPr/>
          <p:nvPr/>
        </p:nvPicPr>
        <p:blipFill>
          <a:blip r:embed="rId2"/>
          <a:stretch/>
        </p:blipFill>
        <p:spPr>
          <a:xfrm>
            <a:off x="2078155" y="1953790"/>
            <a:ext cx="4567326" cy="2569132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object 4"/>
          <p:cNvSpPr/>
          <p:nvPr/>
        </p:nvSpPr>
        <p:spPr>
          <a:xfrm>
            <a:off x="175989" y="2685017"/>
            <a:ext cx="1745487" cy="60481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lnSpc>
                <a:spcPct val="114000"/>
              </a:lnSpc>
              <a:spcBef>
                <a:spcPts val="50"/>
              </a:spcBef>
            </a:pPr>
            <a:r>
              <a:rPr lang="fr-FR" sz="1780" spc="-80">
                <a:solidFill>
                  <a:srgbClr val="000000"/>
                </a:solidFill>
                <a:latin typeface="Arial MT"/>
              </a:rPr>
              <a:t>Take</a:t>
            </a:r>
            <a:r>
              <a:rPr lang="fr-FR" sz="1780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4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780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20">
                <a:solidFill>
                  <a:srgbClr val="000000"/>
                </a:solidFill>
                <a:latin typeface="Arial MT"/>
              </a:rPr>
              <a:t>analogy </a:t>
            </a:r>
            <a:r>
              <a:rPr lang="fr-FR" sz="1780" spc="46">
                <a:solidFill>
                  <a:srgbClr val="000000"/>
                </a:solidFill>
                <a:latin typeface="Arial MT"/>
              </a:rPr>
              <a:t>with</a:t>
            </a:r>
            <a:r>
              <a:rPr lang="fr-FR" sz="1780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physics…</a:t>
            </a:r>
            <a:endParaRPr lang="fr-FR" sz="178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object 5"/>
          <p:cNvSpPr/>
          <p:nvPr/>
        </p:nvSpPr>
        <p:spPr>
          <a:xfrm>
            <a:off x="7213531" y="1988267"/>
            <a:ext cx="2061010" cy="21661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>
              <a:lnSpc>
                <a:spcPct val="114000"/>
              </a:lnSpc>
              <a:spcBef>
                <a:spcPts val="50"/>
              </a:spcBef>
            </a:pPr>
            <a:r>
              <a:rPr lang="fr-FR" sz="178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780" spc="-9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laws</a:t>
            </a:r>
            <a:r>
              <a:rPr lang="fr-FR" sz="1780" spc="-8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57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78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23">
                <a:solidFill>
                  <a:srgbClr val="000000"/>
                </a:solidFill>
                <a:latin typeface="Arial MT"/>
              </a:rPr>
              <a:t>rocket </a:t>
            </a:r>
            <a:r>
              <a:rPr lang="fr-FR" sz="1780" spc="40">
                <a:solidFill>
                  <a:srgbClr val="000000"/>
                </a:solidFill>
                <a:latin typeface="Arial MT"/>
              </a:rPr>
              <a:t>propulsions</a:t>
            </a:r>
            <a:r>
              <a:rPr lang="fr-FR" sz="1780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27">
                <a:solidFill>
                  <a:srgbClr val="000000"/>
                </a:solidFill>
                <a:latin typeface="Arial MT"/>
              </a:rPr>
              <a:t>doesn’t </a:t>
            </a:r>
            <a:r>
              <a:rPr lang="fr-FR" sz="1780" spc="46">
                <a:solidFill>
                  <a:srgbClr val="000000"/>
                </a:solidFill>
                <a:latin typeface="Arial MT"/>
              </a:rPr>
              <a:t>tell</a:t>
            </a:r>
            <a:r>
              <a:rPr lang="fr-FR" sz="178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78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36">
                <a:solidFill>
                  <a:srgbClr val="000000"/>
                </a:solidFill>
                <a:latin typeface="Arial MT"/>
              </a:rPr>
              <a:t>whether</a:t>
            </a:r>
            <a:r>
              <a:rPr lang="fr-FR" sz="178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57">
                <a:solidFill>
                  <a:srgbClr val="000000"/>
                </a:solidFill>
                <a:latin typeface="Arial MT"/>
              </a:rPr>
              <a:t>it</a:t>
            </a:r>
            <a:r>
              <a:rPr lang="fr-FR" sz="1780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13">
                <a:solidFill>
                  <a:srgbClr val="000000"/>
                </a:solidFill>
                <a:latin typeface="Arial MT"/>
              </a:rPr>
              <a:t>is </a:t>
            </a:r>
            <a:r>
              <a:rPr lang="fr-FR" sz="1780" b="1" spc="43">
                <a:solidFill>
                  <a:srgbClr val="000000"/>
                </a:solidFill>
                <a:latin typeface="Arial"/>
              </a:rPr>
              <a:t>legitimate</a:t>
            </a:r>
            <a:r>
              <a:rPr lang="fr-FR" sz="1780" b="1" spc="-3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that </a:t>
            </a:r>
            <a:r>
              <a:rPr lang="fr-FR" sz="1780" spc="36">
                <a:solidFill>
                  <a:srgbClr val="000000"/>
                </a:solidFill>
                <a:latin typeface="Arial MT"/>
              </a:rPr>
              <a:t>governments</a:t>
            </a:r>
            <a:r>
              <a:rPr lang="fr-FR" sz="1780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invest </a:t>
            </a:r>
            <a:r>
              <a:rPr lang="fr-FR" sz="1780" b="1">
                <a:solidFill>
                  <a:srgbClr val="000000"/>
                </a:solidFill>
                <a:latin typeface="Arial"/>
              </a:rPr>
              <a:t>public</a:t>
            </a:r>
            <a:r>
              <a:rPr lang="fr-FR" sz="1780" b="1" spc="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33">
                <a:solidFill>
                  <a:srgbClr val="000000"/>
                </a:solidFill>
                <a:latin typeface="Arial"/>
              </a:rPr>
              <a:t>money</a:t>
            </a:r>
            <a:r>
              <a:rPr lang="fr-FR" sz="1780" b="1" spc="7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-13">
                <a:solidFill>
                  <a:srgbClr val="000000"/>
                </a:solidFill>
                <a:latin typeface="Arial"/>
              </a:rPr>
              <a:t>in </a:t>
            </a:r>
            <a:r>
              <a:rPr lang="fr-FR" sz="1780" b="1">
                <a:solidFill>
                  <a:srgbClr val="000000"/>
                </a:solidFill>
                <a:latin typeface="Arial"/>
              </a:rPr>
              <a:t>spatial</a:t>
            </a:r>
            <a:r>
              <a:rPr lang="fr-FR" sz="1780" b="1" spc="-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80" b="1" spc="23">
                <a:solidFill>
                  <a:srgbClr val="000000"/>
                </a:solidFill>
                <a:latin typeface="Arial"/>
              </a:rPr>
              <a:t>exploration</a:t>
            </a:r>
            <a:endParaRPr lang="fr-FR" sz="178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874867"/>
          </a:xfrm>
          <a:prstGeom prst="rect">
            <a:avLst/>
          </a:prstGeom>
          <a:noFill/>
          <a:ln w="0">
            <a:noFill/>
          </a:ln>
        </p:spPr>
        <p:txBody>
          <a:bodyPr lIns="0" tIns="201624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56"/>
              </a:spcBef>
            </a:pPr>
            <a:r>
              <a:rPr lang="fr-FR" sz="4362" b="1" spc="26">
                <a:solidFill>
                  <a:schemeClr val="dk1"/>
                </a:solidFill>
                <a:latin typeface="Arial"/>
              </a:rPr>
              <a:t>Methods</a:t>
            </a:r>
            <a:r>
              <a:rPr lang="fr-FR" sz="4362" b="1" spc="-291">
                <a:solidFill>
                  <a:schemeClr val="dk1"/>
                </a:solidFill>
                <a:latin typeface="Arial"/>
              </a:rPr>
              <a:t> </a:t>
            </a:r>
            <a:r>
              <a:rPr lang="fr-FR" sz="4362" b="1" spc="-6">
                <a:solidFill>
                  <a:schemeClr val="dk1"/>
                </a:solidFill>
                <a:latin typeface="Arial"/>
              </a:rPr>
              <a:t>in</a:t>
            </a:r>
            <a:r>
              <a:rPr lang="fr-FR" sz="4362" b="1" spc="-291">
                <a:solidFill>
                  <a:schemeClr val="dk1"/>
                </a:solidFill>
                <a:latin typeface="Arial"/>
              </a:rPr>
              <a:t> </a:t>
            </a:r>
            <a:r>
              <a:rPr lang="fr-FR" sz="4362" b="1" spc="-135">
                <a:solidFill>
                  <a:schemeClr val="dk1"/>
                </a:solidFill>
                <a:latin typeface="Arial"/>
              </a:rPr>
              <a:t>social</a:t>
            </a:r>
            <a:r>
              <a:rPr lang="fr-FR" sz="4362" b="1" spc="-288">
                <a:solidFill>
                  <a:schemeClr val="dk1"/>
                </a:solidFill>
                <a:latin typeface="Arial"/>
              </a:rPr>
              <a:t> </a:t>
            </a:r>
            <a:r>
              <a:rPr lang="fr-FR" sz="4362" b="1" spc="-163">
                <a:solidFill>
                  <a:schemeClr val="dk1"/>
                </a:solidFill>
                <a:latin typeface="Arial"/>
              </a:rPr>
              <a:t>science</a:t>
            </a:r>
            <a:endParaRPr lang="fr-FR" sz="4362"/>
          </a:p>
        </p:txBody>
      </p:sp>
      <p:sp>
        <p:nvSpPr>
          <p:cNvPr id="148" name="object 3"/>
          <p:cNvSpPr/>
          <p:nvPr/>
        </p:nvSpPr>
        <p:spPr>
          <a:xfrm>
            <a:off x="14437" y="1542058"/>
            <a:ext cx="8817686" cy="384477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4079" rIns="0" bIns="0" anchor="t">
            <a:spAutoFit/>
          </a:bodyPr>
          <a:lstStyle/>
          <a:p>
            <a:pPr marL="294583" indent="-288084">
              <a:spcBef>
                <a:spcPts val="50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94583" algn="l"/>
              </a:tabLst>
            </a:pPr>
            <a:r>
              <a:rPr lang="fr-FR" sz="2256">
                <a:solidFill>
                  <a:srgbClr val="000000"/>
                </a:solidFill>
                <a:latin typeface="Arial MT"/>
              </a:rPr>
              <a:t>There</a:t>
            </a:r>
            <a:r>
              <a:rPr lang="fr-FR" sz="2256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2256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63">
                <a:solidFill>
                  <a:srgbClr val="000000"/>
                </a:solidFill>
                <a:latin typeface="Arial MT"/>
              </a:rPr>
              <a:t>3</a:t>
            </a:r>
            <a:r>
              <a:rPr lang="fr-FR" sz="2256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48">
                <a:solidFill>
                  <a:srgbClr val="000000"/>
                </a:solidFill>
                <a:latin typeface="Arial MT"/>
              </a:rPr>
              <a:t>main</a:t>
            </a:r>
            <a:r>
              <a:rPr lang="fr-FR" sz="2256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73">
                <a:solidFill>
                  <a:srgbClr val="000000"/>
                </a:solidFill>
                <a:latin typeface="Arial MT"/>
              </a:rPr>
              <a:t>methods</a:t>
            </a:r>
            <a:r>
              <a:rPr lang="fr-FR" sz="2256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60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2256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2256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-6">
                <a:solidFill>
                  <a:srgbClr val="000000"/>
                </a:solidFill>
                <a:latin typeface="Arial MT"/>
              </a:rPr>
              <a:t>sciences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1302517" lvl="1" indent="-235558">
              <a:lnSpc>
                <a:spcPct val="113000"/>
              </a:lnSpc>
              <a:spcBef>
                <a:spcPts val="581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1303419" algn="l"/>
              </a:tabLst>
            </a:pPr>
            <a:r>
              <a:rPr lang="fr-FR" sz="1855" b="1" spc="46">
                <a:solidFill>
                  <a:srgbClr val="000000"/>
                </a:solidFill>
                <a:latin typeface="Arial"/>
              </a:rPr>
              <a:t>Quantitative</a:t>
            </a:r>
            <a:r>
              <a:rPr lang="fr-FR" sz="1855" b="1" spc="-56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spc="48">
                <a:solidFill>
                  <a:srgbClr val="000000"/>
                </a:solidFill>
                <a:latin typeface="Arial MT"/>
              </a:rPr>
              <a:t>methods: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3">
                <a:solidFill>
                  <a:srgbClr val="000000"/>
                </a:solidFill>
                <a:latin typeface="Arial MT"/>
              </a:rPr>
              <a:t>count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measure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stuff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(ex: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study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70">
                <a:solidFill>
                  <a:srgbClr val="000000"/>
                </a:solidFill>
                <a:latin typeface="Arial MT"/>
              </a:rPr>
              <a:t>to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show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school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performance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related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parental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income)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945"/>
              </a:spcBef>
              <a:tabLst>
                <a:tab pos="1303419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1302517" lvl="1" indent="-235558">
              <a:lnSpc>
                <a:spcPct val="113000"/>
              </a:lnSpc>
              <a:buClr>
                <a:srgbClr val="000000"/>
              </a:buClr>
              <a:buSzPct val="123000"/>
              <a:buFont typeface="Arial MT"/>
              <a:buChar char="•"/>
              <a:tabLst>
                <a:tab pos="1303419" algn="l"/>
              </a:tabLst>
            </a:pPr>
            <a:r>
              <a:rPr lang="fr-FR" sz="1855" b="1" spc="43">
                <a:solidFill>
                  <a:srgbClr val="000000"/>
                </a:solidFill>
                <a:latin typeface="Arial"/>
              </a:rPr>
              <a:t>Qualitative</a:t>
            </a:r>
            <a:r>
              <a:rPr lang="fr-FR" sz="1855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spc="48">
                <a:solidFill>
                  <a:srgbClr val="000000"/>
                </a:solidFill>
                <a:latin typeface="Arial MT"/>
              </a:rPr>
              <a:t>methods: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observe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3">
                <a:solidFill>
                  <a:srgbClr val="000000"/>
                </a:solidFill>
                <a:latin typeface="Arial MT"/>
              </a:rPr>
              <a:t>phenomenon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3">
                <a:solidFill>
                  <a:srgbClr val="000000"/>
                </a:solidFill>
                <a:latin typeface="Arial MT"/>
              </a:rPr>
              <a:t>without 	</a:t>
            </a:r>
            <a:r>
              <a:rPr lang="fr-FR" sz="1855" spc="60">
                <a:solidFill>
                  <a:srgbClr val="000000"/>
                </a:solidFill>
                <a:latin typeface="Arial MT"/>
              </a:rPr>
              <a:t>counting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73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measuring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(ex: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8">
                <a:solidFill>
                  <a:srgbClr val="000000"/>
                </a:solidFill>
                <a:latin typeface="Arial MT"/>
              </a:rPr>
              <a:t>ethnography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0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 schools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3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3">
                <a:solidFill>
                  <a:srgbClr val="000000"/>
                </a:solidFill>
                <a:latin typeface="Arial MT"/>
              </a:rPr>
              <a:t>low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3">
                <a:solidFill>
                  <a:srgbClr val="000000"/>
                </a:solidFill>
                <a:latin typeface="Arial MT"/>
              </a:rPr>
              <a:t>income 	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areas)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925"/>
              </a:spcBef>
              <a:tabLst>
                <a:tab pos="1303419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1302517" lvl="1" indent="-235558">
              <a:lnSpc>
                <a:spcPct val="113000"/>
              </a:lnSpc>
              <a:buClr>
                <a:srgbClr val="000000"/>
              </a:buClr>
              <a:buSzPct val="123000"/>
              <a:buFont typeface="Arial MT"/>
              <a:buChar char="•"/>
              <a:tabLst>
                <a:tab pos="1303419" algn="l"/>
              </a:tabLst>
            </a:pPr>
            <a:r>
              <a:rPr lang="fr-FR" sz="1855" b="1" spc="65">
                <a:solidFill>
                  <a:srgbClr val="000000"/>
                </a:solidFill>
                <a:latin typeface="Arial"/>
              </a:rPr>
              <a:t>Modelling</a:t>
            </a:r>
            <a:r>
              <a:rPr lang="fr-FR" sz="1855" b="1" spc="-50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spc="48">
                <a:solidFill>
                  <a:srgbClr val="000000"/>
                </a:solidFill>
                <a:latin typeface="Arial MT"/>
              </a:rPr>
              <a:t>methods: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use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mathematical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tools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0">
                <a:solidFill>
                  <a:srgbClr val="000000"/>
                </a:solidFill>
                <a:latin typeface="Arial MT"/>
              </a:rPr>
              <a:t>model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behavior 	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predictions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(ex: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mathematical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0">
                <a:solidFill>
                  <a:srgbClr val="000000"/>
                </a:solidFill>
                <a:latin typeface="Arial MT"/>
              </a:rPr>
              <a:t>model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0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6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people</a:t>
            </a:r>
            <a:r>
              <a:rPr lang="fr-FR" sz="185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make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decisions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invest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3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their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education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859859"/>
          </a:xfrm>
          <a:prstGeom prst="rect">
            <a:avLst/>
          </a:prstGeom>
          <a:noFill/>
          <a:ln w="0">
            <a:noFill/>
          </a:ln>
        </p:spPr>
        <p:txBody>
          <a:bodyPr lIns="0" tIns="83574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50" name="object 3"/>
          <p:cNvSpPr/>
          <p:nvPr/>
        </p:nvSpPr>
        <p:spPr>
          <a:xfrm>
            <a:off x="14798" y="2430865"/>
            <a:ext cx="3918590" cy="96956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278879" indent="-272200">
              <a:spcBef>
                <a:spcPts val="63"/>
              </a:spcBef>
              <a:buClr>
                <a:srgbClr val="000000"/>
              </a:buClr>
              <a:buFont typeface="OpenSymbol"/>
              <a:buAutoNum type="alphaUcPeriod"/>
              <a:tabLst>
                <a:tab pos="278879" algn="l"/>
              </a:tabLst>
            </a:pPr>
            <a:r>
              <a:rPr lang="fr-FR" sz="1805" spc="40">
                <a:solidFill>
                  <a:srgbClr val="000000"/>
                </a:solidFill>
                <a:latin typeface="Arial MT"/>
              </a:rPr>
              <a:t>Descriptive/Correlational</a:t>
            </a:r>
            <a:r>
              <a:rPr lang="fr-FR" sz="180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3">
                <a:solidFill>
                  <a:srgbClr val="000000"/>
                </a:solidFill>
                <a:latin typeface="Arial MT"/>
              </a:rPr>
              <a:t>methods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952"/>
              </a:spcBef>
              <a:tabLst>
                <a:tab pos="278879" algn="l"/>
              </a:tabLst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263897" indent="-257579">
              <a:buClr>
                <a:srgbClr val="000000"/>
              </a:buClr>
              <a:buFont typeface="Arial MT"/>
              <a:buAutoNum type="alphaUcPeriod"/>
              <a:tabLst>
                <a:tab pos="263897" algn="l"/>
              </a:tabLst>
            </a:pPr>
            <a:r>
              <a:rPr lang="fr-FR" sz="1805" spc="-10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05" spc="-11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6">
                <a:solidFill>
                  <a:srgbClr val="000000"/>
                </a:solidFill>
                <a:latin typeface="Arial MT"/>
              </a:rPr>
              <a:t>inference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4076" y="96390"/>
            <a:ext cx="6570214" cy="784217"/>
          </a:xfrm>
          <a:prstGeom prst="rect">
            <a:avLst/>
          </a:prstGeom>
          <a:noFill/>
          <a:ln w="0">
            <a:noFill/>
          </a:ln>
        </p:spPr>
        <p:txBody>
          <a:bodyPr lIns="0" tIns="8664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52" name="object 3"/>
          <p:cNvSpPr/>
          <p:nvPr/>
        </p:nvSpPr>
        <p:spPr>
          <a:xfrm>
            <a:off x="14798" y="2881406"/>
            <a:ext cx="5389528" cy="2925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040" rIns="0" bIns="0" anchor="t">
            <a:spAutoFit/>
          </a:bodyPr>
          <a:lstStyle/>
          <a:p>
            <a:pPr marL="242056" indent="-235558">
              <a:spcBef>
                <a:spcPts val="56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242056" algn="l"/>
              </a:tabLst>
            </a:pPr>
            <a:r>
              <a:rPr lang="fr-FR" sz="1855" b="1" spc="-26">
                <a:solidFill>
                  <a:srgbClr val="000000"/>
                </a:solidFill>
                <a:latin typeface="Arial"/>
              </a:rPr>
              <a:t>Surveys</a:t>
            </a:r>
            <a:r>
              <a:rPr lang="fr-FR" sz="1855" b="1" spc="-48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spc="105">
                <a:solidFill>
                  <a:srgbClr val="000000"/>
                </a:solidFill>
                <a:latin typeface="Arial"/>
              </a:rPr>
              <a:t>&amp;</a:t>
            </a:r>
            <a:r>
              <a:rPr lang="fr-FR" sz="1855" b="1" spc="-46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>
                <a:solidFill>
                  <a:srgbClr val="000000"/>
                </a:solidFill>
                <a:latin typeface="Arial"/>
              </a:rPr>
              <a:t>questionnaires</a:t>
            </a:r>
            <a:r>
              <a:rPr lang="fr-FR" sz="1855" b="1" spc="-46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(ex: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3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France,</a:t>
            </a:r>
            <a:r>
              <a:rPr lang="fr-FR" sz="1855" spc="-10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Insee)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object 4"/>
          <p:cNvSpPr/>
          <p:nvPr/>
        </p:nvSpPr>
        <p:spPr>
          <a:xfrm>
            <a:off x="15340" y="1139350"/>
            <a:ext cx="7609924" cy="96956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A.</a:t>
            </a:r>
            <a:r>
              <a:rPr lang="fr-FR" sz="1805" spc="-7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Descriptive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3">
                <a:solidFill>
                  <a:srgbClr val="000000"/>
                </a:solidFill>
                <a:latin typeface="Arial MT"/>
              </a:rPr>
              <a:t>methods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952"/>
              </a:spcBef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1564248"/>
            <a:r>
              <a:rPr lang="fr-FR" sz="1805" spc="56">
                <a:solidFill>
                  <a:srgbClr val="000000"/>
                </a:solidFill>
                <a:latin typeface="Arial MT"/>
              </a:rPr>
              <a:t>Definition: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Methods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3">
                <a:solidFill>
                  <a:srgbClr val="000000"/>
                </a:solidFill>
                <a:latin typeface="Arial MT"/>
              </a:rPr>
              <a:t>simply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i="1" spc="33">
                <a:solidFill>
                  <a:srgbClr val="000000"/>
                </a:solidFill>
                <a:latin typeface="Arial"/>
              </a:rPr>
              <a:t>describe</a:t>
            </a:r>
            <a:r>
              <a:rPr lang="fr-FR" sz="1805" i="1" spc="-4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spc="65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5">
                <a:solidFill>
                  <a:srgbClr val="000000"/>
                </a:solidFill>
                <a:latin typeface="Arial MT"/>
              </a:rPr>
              <a:t>world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is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object 5"/>
          <p:cNvSpPr/>
          <p:nvPr/>
        </p:nvSpPr>
        <p:spPr>
          <a:xfrm>
            <a:off x="14798" y="4338266"/>
            <a:ext cx="5200720" cy="94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41695" indent="-235558">
              <a:lnSpc>
                <a:spcPct val="113000"/>
              </a:lnSpc>
              <a:spcBef>
                <a:spcPts val="4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42597" algn="l"/>
              </a:tabLst>
            </a:pPr>
            <a:r>
              <a:rPr lang="fr-FR" sz="1855" b="1">
                <a:solidFill>
                  <a:srgbClr val="000000"/>
                </a:solidFill>
                <a:latin typeface="Arial"/>
              </a:rPr>
              <a:t>Exploiting existing data that was not collcted for research purposes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(ex: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administrative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data,</a:t>
            </a:r>
            <a:r>
              <a:rPr lang="fr-FR" sz="1855" spc="-6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8">
                <a:solidFill>
                  <a:srgbClr val="000000"/>
                </a:solidFill>
                <a:latin typeface="Arial MT"/>
              </a:rPr>
              <a:t>online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data...)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" name="object 6"/>
          <p:cNvPicPr/>
          <p:nvPr/>
        </p:nvPicPr>
        <p:blipFill>
          <a:blip r:embed="rId2"/>
          <a:stretch/>
        </p:blipFill>
        <p:spPr>
          <a:xfrm>
            <a:off x="6956672" y="2314800"/>
            <a:ext cx="3060648" cy="1601624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6" name="object 7"/>
          <p:cNvPicPr/>
          <p:nvPr/>
        </p:nvPicPr>
        <p:blipFill>
          <a:blip r:embed="rId3"/>
          <a:stretch/>
        </p:blipFill>
        <p:spPr>
          <a:xfrm>
            <a:off x="6583748" y="3962995"/>
            <a:ext cx="2855955" cy="1664981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object 3"/>
          <p:cNvSpPr/>
          <p:nvPr/>
        </p:nvSpPr>
        <p:spPr>
          <a:xfrm>
            <a:off x="1079" y="112455"/>
            <a:ext cx="3743861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Example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 descriptive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survey</a:t>
            </a:r>
            <a:r>
              <a:rPr lang="fr-FR" sz="180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data: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8" name="object 4"/>
          <p:cNvPicPr/>
          <p:nvPr/>
        </p:nvPicPr>
        <p:blipFill>
          <a:blip r:embed="rId2"/>
          <a:stretch/>
        </p:blipFill>
        <p:spPr>
          <a:xfrm>
            <a:off x="6339343" y="542780"/>
            <a:ext cx="3217147" cy="4758301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object 5"/>
          <p:cNvSpPr/>
          <p:nvPr/>
        </p:nvSpPr>
        <p:spPr>
          <a:xfrm>
            <a:off x="226170" y="4960286"/>
            <a:ext cx="5226893" cy="60900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693" rIns="0" bIns="0" anchor="t">
            <a:spAutoFit/>
          </a:bodyPr>
          <a:lstStyle/>
          <a:p>
            <a:pPr marL="696023" indent="-689886">
              <a:lnSpc>
                <a:spcPct val="102000"/>
              </a:lnSpc>
              <a:spcBef>
                <a:spcPts val="37"/>
              </a:spcBef>
              <a:tabLst>
                <a:tab pos="0" algn="l"/>
              </a:tabLst>
            </a:pPr>
            <a:r>
              <a:rPr lang="fr-FR" sz="978" u="sng">
                <a:solidFill>
                  <a:srgbClr val="5E5E5E"/>
                </a:solidFill>
                <a:latin typeface="Arial MT"/>
                <a:hlinkClick r:id="rId3"/>
              </a:rPr>
              <a:t>https://www.pewresearch.org/social-trends/2021/10/05/rising-share-of-u-s-adults-are-</a:t>
            </a:r>
            <a:r>
              <a:rPr lang="fr-FR" sz="978" u="sng" spc="-6">
                <a:solidFill>
                  <a:srgbClr val="5E5E5E"/>
                </a:solidFill>
                <a:latin typeface="Arial MT"/>
                <a:hlinkClick r:id="rId3"/>
              </a:rPr>
              <a:t>living- </a:t>
            </a:r>
            <a:r>
              <a:rPr lang="fr-FR" sz="978" u="sng">
                <a:solidFill>
                  <a:srgbClr val="5E5E5E"/>
                </a:solidFill>
                <a:latin typeface="Arial MT"/>
                <a:hlinkClick r:id="rId3"/>
              </a:rPr>
              <a:t>without-a-</a:t>
            </a:r>
            <a:r>
              <a:rPr lang="fr-FR" sz="978" u="sng" spc="23">
                <a:solidFill>
                  <a:srgbClr val="5E5E5E"/>
                </a:solidFill>
                <a:latin typeface="Arial MT"/>
                <a:hlinkClick r:id="rId3"/>
              </a:rPr>
              <a:t>spouse-</a:t>
            </a:r>
            <a:r>
              <a:rPr lang="fr-FR" sz="978" u="sng">
                <a:solidFill>
                  <a:srgbClr val="5E5E5E"/>
                </a:solidFill>
                <a:latin typeface="Arial MT"/>
                <a:hlinkClick r:id="rId3"/>
              </a:rPr>
              <a:t>or-partner/pst_10-05-21_unpartnered_adults-0-</a:t>
            </a:r>
            <a:r>
              <a:rPr lang="fr-FR" sz="978" u="sng" spc="-13">
                <a:solidFill>
                  <a:srgbClr val="5E5E5E"/>
                </a:solidFill>
                <a:latin typeface="Arial MT"/>
                <a:hlinkClick r:id="rId3"/>
              </a:rPr>
              <a:t>0/</a:t>
            </a:r>
            <a:endParaRPr lang="fr-FR" sz="978">
              <a:solidFill>
                <a:srgbClr val="000000"/>
              </a:solidFill>
              <a:latin typeface="Arial"/>
            </a:endParaRPr>
          </a:p>
          <a:p>
            <a:pPr marL="696023" indent="-689886">
              <a:lnSpc>
                <a:spcPct val="102000"/>
              </a:lnSpc>
              <a:spcBef>
                <a:spcPts val="37"/>
              </a:spcBef>
              <a:tabLst>
                <a:tab pos="0" algn="l"/>
              </a:tabLst>
            </a:pPr>
            <a:r>
              <a:rPr lang="en-US" sz="978">
                <a:solidFill>
                  <a:srgbClr val="000000"/>
                </a:solidFill>
                <a:latin typeface="Arial MT"/>
              </a:rPr>
              <a:t>https://www.pewresearch.org/politics/2024/08/26/the-political-values-of-harris-and-trump-supporters/</a:t>
            </a:r>
            <a:endParaRPr lang="fr-FR" sz="978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" name="Image 6"/>
          <p:cNvPicPr/>
          <p:nvPr/>
        </p:nvPicPr>
        <p:blipFill>
          <a:blip r:embed="rId4"/>
          <a:stretch/>
        </p:blipFill>
        <p:spPr>
          <a:xfrm>
            <a:off x="1124545" y="935018"/>
            <a:ext cx="3916424" cy="3800359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Image 4"/>
          <p:cNvPicPr/>
          <p:nvPr/>
        </p:nvPicPr>
        <p:blipFill>
          <a:blip r:embed="rId2"/>
          <a:stretch/>
        </p:blipFill>
        <p:spPr>
          <a:xfrm>
            <a:off x="-385022" y="1536281"/>
            <a:ext cx="10606313" cy="3935197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object 3"/>
          <p:cNvSpPr/>
          <p:nvPr/>
        </p:nvSpPr>
        <p:spPr>
          <a:xfrm>
            <a:off x="1079" y="112455"/>
            <a:ext cx="7407939" cy="37844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2407">
                <a:solidFill>
                  <a:srgbClr val="000000"/>
                </a:solidFill>
                <a:latin typeface="Arial MT"/>
              </a:rPr>
              <a:t>« Anything » can become data:</a:t>
            </a:r>
            <a:endParaRPr lang="fr-FR" sz="2407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object 3"/>
          <p:cNvSpPr/>
          <p:nvPr/>
        </p:nvSpPr>
        <p:spPr>
          <a:xfrm>
            <a:off x="1214075" y="733935"/>
            <a:ext cx="7407939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 algn="ctr">
              <a:spcBef>
                <a:spcPts val="63"/>
              </a:spcBef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Ex: Gallicagram (https://shiny.ens-paris-saclay.fr/app/gallicagram)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14076" y="96390"/>
            <a:ext cx="6570214" cy="784217"/>
          </a:xfrm>
          <a:prstGeom prst="rect">
            <a:avLst/>
          </a:prstGeom>
          <a:noFill/>
          <a:ln w="0">
            <a:noFill/>
          </a:ln>
        </p:spPr>
        <p:txBody>
          <a:bodyPr lIns="0" tIns="8664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65" name="object 3"/>
          <p:cNvSpPr/>
          <p:nvPr/>
        </p:nvSpPr>
        <p:spPr>
          <a:xfrm>
            <a:off x="15339" y="1139350"/>
            <a:ext cx="3540251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spc="36">
                <a:solidFill>
                  <a:srgbClr val="000000"/>
                </a:solidFill>
                <a:latin typeface="Arial MT"/>
              </a:rPr>
              <a:t>Interesting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survey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3">
                <a:solidFill>
                  <a:srgbClr val="000000"/>
                </a:solidFill>
                <a:latin typeface="Arial MT"/>
              </a:rPr>
              <a:t>data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6">
                <a:solidFill>
                  <a:srgbClr val="000000"/>
                </a:solidFill>
                <a:latin typeface="Arial MT"/>
              </a:rPr>
              <a:t>resources: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6" name="object 4"/>
          <p:cNvPicPr/>
          <p:nvPr/>
        </p:nvPicPr>
        <p:blipFill>
          <a:blip r:embed="rId2"/>
          <a:stretch/>
        </p:blipFill>
        <p:spPr>
          <a:xfrm>
            <a:off x="286278" y="1858483"/>
            <a:ext cx="2572382" cy="1112996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7" name="object 5"/>
          <p:cNvPicPr/>
          <p:nvPr/>
        </p:nvPicPr>
        <p:blipFill>
          <a:blip r:embed="rId3"/>
          <a:stretch/>
        </p:blipFill>
        <p:spPr>
          <a:xfrm>
            <a:off x="3307757" y="1799277"/>
            <a:ext cx="3719854" cy="1171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object 6"/>
          <p:cNvPicPr/>
          <p:nvPr/>
        </p:nvPicPr>
        <p:blipFill>
          <a:blip r:embed="rId4"/>
          <a:stretch/>
        </p:blipFill>
        <p:spPr>
          <a:xfrm>
            <a:off x="7934830" y="1930685"/>
            <a:ext cx="1832310" cy="77725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object 7"/>
          <p:cNvSpPr/>
          <p:nvPr/>
        </p:nvSpPr>
        <p:spPr>
          <a:xfrm>
            <a:off x="274725" y="3350360"/>
            <a:ext cx="2590613" cy="5381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43500" indent="-237543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354" b="1" spc="30">
                <a:solidFill>
                  <a:srgbClr val="000000"/>
                </a:solidFill>
                <a:latin typeface="Arial"/>
              </a:rPr>
              <a:t>International</a:t>
            </a:r>
            <a:r>
              <a:rPr lang="fr-FR" sz="1354" b="1" spc="-40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>
                <a:solidFill>
                  <a:srgbClr val="000000"/>
                </a:solidFill>
                <a:latin typeface="Arial"/>
              </a:rPr>
              <a:t>survey</a:t>
            </a:r>
            <a:r>
              <a:rPr lang="fr-FR" sz="1354" b="1" spc="-36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 spc="-6">
                <a:solidFill>
                  <a:srgbClr val="000000"/>
                </a:solidFill>
                <a:latin typeface="Arial"/>
              </a:rPr>
              <a:t>databases </a:t>
            </a:r>
            <a:r>
              <a:rPr lang="fr-FR" sz="1354" b="1" spc="33">
                <a:solidFill>
                  <a:srgbClr val="000000"/>
                </a:solidFill>
                <a:latin typeface="Arial"/>
              </a:rPr>
              <a:t>(World</a:t>
            </a:r>
            <a:r>
              <a:rPr lang="fr-FR" sz="1354" b="1" spc="-27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>
                <a:solidFill>
                  <a:srgbClr val="000000"/>
                </a:solidFill>
                <a:latin typeface="Arial"/>
              </a:rPr>
              <a:t>Value </a:t>
            </a:r>
            <a:r>
              <a:rPr lang="fr-FR" sz="1354" b="1" spc="-6">
                <a:solidFill>
                  <a:srgbClr val="000000"/>
                </a:solidFill>
                <a:latin typeface="Arial"/>
              </a:rPr>
              <a:t>Survey,</a:t>
            </a:r>
            <a:r>
              <a:rPr lang="fr-FR" sz="1354" b="1" spc="-46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 spc="-10">
                <a:solidFill>
                  <a:srgbClr val="000000"/>
                </a:solidFill>
                <a:latin typeface="Arial"/>
              </a:rPr>
              <a:t>etc)</a:t>
            </a:r>
            <a:endParaRPr lang="fr-FR" sz="1354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object 8"/>
          <p:cNvSpPr/>
          <p:nvPr/>
        </p:nvSpPr>
        <p:spPr>
          <a:xfrm>
            <a:off x="3854507" y="3560648"/>
            <a:ext cx="2623645" cy="2160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354" b="1" spc="30">
                <a:solidFill>
                  <a:srgbClr val="000000"/>
                </a:solidFill>
                <a:latin typeface="Arial"/>
              </a:rPr>
              <a:t>Government</a:t>
            </a:r>
            <a:r>
              <a:rPr lang="fr-FR" sz="1354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 spc="-16">
                <a:solidFill>
                  <a:srgbClr val="000000"/>
                </a:solidFill>
                <a:latin typeface="Arial"/>
              </a:rPr>
              <a:t>statistics</a:t>
            </a:r>
            <a:r>
              <a:rPr lang="fr-FR" sz="1354" b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 spc="-6">
                <a:solidFill>
                  <a:srgbClr val="000000"/>
                </a:solidFill>
                <a:latin typeface="Arial"/>
              </a:rPr>
              <a:t>agencies</a:t>
            </a:r>
            <a:endParaRPr lang="fr-FR" sz="1354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object 9"/>
          <p:cNvSpPr/>
          <p:nvPr/>
        </p:nvSpPr>
        <p:spPr>
          <a:xfrm>
            <a:off x="7836816" y="3560648"/>
            <a:ext cx="1757039" cy="2160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354" b="1">
                <a:solidFill>
                  <a:srgbClr val="000000"/>
                </a:solidFill>
                <a:latin typeface="Arial"/>
              </a:rPr>
              <a:t>Private</a:t>
            </a:r>
            <a:r>
              <a:rPr lang="fr-FR" sz="1354" b="1" spc="-3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 spc="36">
                <a:solidFill>
                  <a:srgbClr val="000000"/>
                </a:solidFill>
                <a:latin typeface="Arial"/>
              </a:rPr>
              <a:t>poll</a:t>
            </a:r>
            <a:r>
              <a:rPr lang="fr-FR" sz="1354" b="1">
                <a:solidFill>
                  <a:srgbClr val="000000"/>
                </a:solidFill>
                <a:latin typeface="Arial"/>
              </a:rPr>
              <a:t> </a:t>
            </a:r>
            <a:r>
              <a:rPr lang="fr-FR" sz="1354" b="1" spc="-6">
                <a:solidFill>
                  <a:srgbClr val="000000"/>
                </a:solidFill>
                <a:latin typeface="Arial"/>
              </a:rPr>
              <a:t>agencies</a:t>
            </a:r>
            <a:endParaRPr lang="fr-FR" sz="1354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14076" y="21661"/>
            <a:ext cx="8532126" cy="859676"/>
          </a:xfrm>
          <a:prstGeom prst="rect">
            <a:avLst/>
          </a:prstGeom>
          <a:noFill/>
          <a:ln w="0">
            <a:noFill/>
          </a:ln>
        </p:spPr>
        <p:txBody>
          <a:bodyPr lIns="0" tIns="83393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73" name="object 3"/>
          <p:cNvSpPr/>
          <p:nvPr/>
        </p:nvSpPr>
        <p:spPr>
          <a:xfrm>
            <a:off x="15339" y="2208302"/>
            <a:ext cx="8995303" cy="7151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6318">
              <a:lnSpc>
                <a:spcPct val="135000"/>
              </a:lnSpc>
              <a:spcBef>
                <a:spcPts val="48"/>
              </a:spcBef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most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common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type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0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descriptive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80">
                <a:solidFill>
                  <a:srgbClr val="000000"/>
                </a:solidFill>
                <a:latin typeface="Arial MT"/>
              </a:rPr>
              <a:t>method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6">
                <a:solidFill>
                  <a:srgbClr val="000000"/>
                </a:solidFill>
                <a:latin typeface="Arial MT"/>
              </a:rPr>
              <a:t>observe</a:t>
            </a:r>
            <a:r>
              <a:rPr lang="fr-FR" sz="180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>
                <a:solidFill>
                  <a:srgbClr val="000000"/>
                </a:solidFill>
                <a:latin typeface="Arial"/>
              </a:rPr>
              <a:t>correlations</a:t>
            </a:r>
            <a:r>
              <a:rPr lang="fr-FR" sz="1805" b="1" spc="-48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spc="48">
                <a:solidFill>
                  <a:srgbClr val="000000"/>
                </a:solidFill>
                <a:latin typeface="Arial MT"/>
              </a:rPr>
              <a:t>(=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linear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relationship</a:t>
            </a:r>
            <a:r>
              <a:rPr lang="fr-FR" sz="180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between</a:t>
            </a:r>
            <a:r>
              <a:rPr lang="fr-FR" sz="180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3">
                <a:solidFill>
                  <a:srgbClr val="000000"/>
                </a:solidFill>
                <a:latin typeface="Arial MT"/>
              </a:rPr>
              <a:t>two</a:t>
            </a:r>
            <a:r>
              <a:rPr lang="fr-FR" sz="180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6">
                <a:solidFill>
                  <a:srgbClr val="000000"/>
                </a:solidFill>
                <a:latin typeface="Arial MT"/>
              </a:rPr>
              <a:t>variables)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Image 5"/>
          <p:cNvPicPr/>
          <p:nvPr/>
        </p:nvPicPr>
        <p:blipFill>
          <a:blip r:embed="rId2"/>
          <a:stretch/>
        </p:blipFill>
        <p:spPr>
          <a:xfrm>
            <a:off x="111549" y="11913"/>
            <a:ext cx="7340791" cy="5069673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ZoneTexte 7"/>
          <p:cNvSpPr/>
          <p:nvPr/>
        </p:nvSpPr>
        <p:spPr>
          <a:xfrm>
            <a:off x="4772918" y="5395124"/>
            <a:ext cx="5043139" cy="1845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126" tIns="22563" rIns="45126" bIns="22563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903">
                <a:solidFill>
                  <a:srgbClr val="000000"/>
                </a:solidFill>
                <a:latin typeface="Arial"/>
              </a:rPr>
              <a:t>https://ourworldindata.org/grapher/average-years-of-schooling-vs-gdp-per-capita?time=2020</a:t>
            </a:r>
            <a:endParaRPr lang="fr-FR" sz="903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Picture 2" descr="Correlation - Correlation Coefficient, Types, Formulas &amp; Example"/>
          <p:cNvPicPr/>
          <p:nvPr/>
        </p:nvPicPr>
        <p:blipFill>
          <a:blip r:embed="rId2"/>
          <a:stretch/>
        </p:blipFill>
        <p:spPr>
          <a:xfrm>
            <a:off x="2291873" y="772021"/>
            <a:ext cx="5496929" cy="4360828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object 3"/>
          <p:cNvSpPr/>
          <p:nvPr/>
        </p:nvSpPr>
        <p:spPr>
          <a:xfrm>
            <a:off x="148733" y="1765523"/>
            <a:ext cx="9783028" cy="18967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6679">
              <a:lnSpc>
                <a:spcPct val="135000"/>
              </a:lnSpc>
              <a:spcBef>
                <a:spcPts val="48"/>
              </a:spcBef>
            </a:pPr>
            <a:r>
              <a:rPr lang="fr-FR" sz="1805" b="1">
                <a:solidFill>
                  <a:srgbClr val="000000"/>
                </a:solidFill>
                <a:latin typeface="Arial"/>
              </a:rPr>
              <a:t>Problem</a:t>
            </a:r>
            <a:r>
              <a:rPr lang="fr-FR" sz="1805" b="1" spc="-30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b="1" spc="105">
                <a:solidFill>
                  <a:srgbClr val="000000"/>
                </a:solidFill>
                <a:latin typeface="Arial"/>
              </a:rPr>
              <a:t>1</a:t>
            </a:r>
            <a:r>
              <a:rPr lang="fr-FR" sz="1805" spc="105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0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6">
                <a:solidFill>
                  <a:srgbClr val="000000"/>
                </a:solidFill>
                <a:latin typeface="Arial MT"/>
              </a:rPr>
              <a:t>direction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0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6">
                <a:solidFill>
                  <a:srgbClr val="000000"/>
                </a:solidFill>
                <a:latin typeface="Arial MT"/>
              </a:rPr>
              <a:t>causality?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6">
                <a:solidFill>
                  <a:srgbClr val="000000"/>
                </a:solidFill>
                <a:latin typeface="Arial MT"/>
              </a:rPr>
              <a:t>(does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education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create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economic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6">
                <a:solidFill>
                  <a:srgbClr val="000000"/>
                </a:solidFill>
                <a:latin typeface="Arial MT"/>
              </a:rPr>
              <a:t>prosperity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or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4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opposite?)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233"/>
              </a:spcBef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6318">
              <a:lnSpc>
                <a:spcPct val="135000"/>
              </a:lnSpc>
            </a:pPr>
            <a:r>
              <a:rPr lang="fr-FR" sz="1805" b="1">
                <a:solidFill>
                  <a:srgbClr val="000000"/>
                </a:solidFill>
                <a:latin typeface="Arial"/>
              </a:rPr>
              <a:t>Problem</a:t>
            </a:r>
            <a:r>
              <a:rPr lang="fr-FR" sz="1805" b="1" spc="-26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b="1" spc="105">
                <a:solidFill>
                  <a:srgbClr val="000000"/>
                </a:solidFill>
                <a:latin typeface="Arial"/>
              </a:rPr>
              <a:t>2</a:t>
            </a:r>
            <a:r>
              <a:rPr lang="fr-FR" sz="1805" spc="105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0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0">
                <a:solidFill>
                  <a:srgbClr val="000000"/>
                </a:solidFill>
                <a:latin typeface="Arial MT"/>
              </a:rPr>
              <a:t>if</a:t>
            </a:r>
            <a:r>
              <a:rPr lang="fr-FR" sz="180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0">
                <a:solidFill>
                  <a:srgbClr val="000000"/>
                </a:solidFill>
                <a:latin typeface="Arial MT"/>
              </a:rPr>
              <a:t>there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80">
                <a:solidFill>
                  <a:srgbClr val="000000"/>
                </a:solidFill>
                <a:latin typeface="Arial MT"/>
              </a:rPr>
              <a:t>hidden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variables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at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play?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(maybe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it's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6">
                <a:solidFill>
                  <a:srgbClr val="000000"/>
                </a:solidFill>
                <a:latin typeface="Arial MT"/>
              </a:rPr>
              <a:t>something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else,</a:t>
            </a:r>
            <a:r>
              <a:rPr lang="fr-FR" sz="1805" spc="-8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like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6">
                <a:solidFill>
                  <a:srgbClr val="000000"/>
                </a:solidFill>
                <a:latin typeface="Arial MT"/>
              </a:rPr>
              <a:t>better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health,</a:t>
            </a:r>
            <a:r>
              <a:rPr lang="fr-FR" sz="1805" spc="-9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0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5">
                <a:solidFill>
                  <a:srgbClr val="000000"/>
                </a:solidFill>
                <a:latin typeface="Arial MT"/>
              </a:rPr>
              <a:t>both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increases</a:t>
            </a:r>
            <a:r>
              <a:rPr lang="fr-FR" sz="180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education</a:t>
            </a:r>
            <a:r>
              <a:rPr lang="fr-FR" sz="180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0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economic</a:t>
            </a:r>
            <a:r>
              <a:rPr lang="fr-FR" sz="1805" spc="-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prosperity!)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object 4"/>
          <p:cNvSpPr/>
          <p:nvPr/>
        </p:nvSpPr>
        <p:spPr>
          <a:xfrm>
            <a:off x="3244580" y="4210648"/>
            <a:ext cx="3899818" cy="3623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401" rIns="0" bIns="0" anchor="t">
            <a:spAutoFit/>
          </a:bodyPr>
          <a:lstStyle/>
          <a:p>
            <a:pPr marL="6318">
              <a:spcBef>
                <a:spcPts val="57"/>
              </a:spcBef>
            </a:pPr>
            <a:r>
              <a:rPr lang="fr-FR" sz="2306" b="1">
                <a:solidFill>
                  <a:srgbClr val="000000"/>
                </a:solidFill>
                <a:latin typeface="Arial"/>
              </a:rPr>
              <a:t>Correlation </a:t>
            </a:r>
            <a:r>
              <a:rPr lang="fr-FR" sz="2306" b="1" spc="-57">
                <a:solidFill>
                  <a:srgbClr val="000000"/>
                </a:solidFill>
                <a:latin typeface="Arial"/>
              </a:rPr>
              <a:t>is</a:t>
            </a:r>
            <a:r>
              <a:rPr lang="fr-FR" sz="2306" b="1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48">
                <a:solidFill>
                  <a:srgbClr val="000000"/>
                </a:solidFill>
                <a:latin typeface="Arial"/>
              </a:rPr>
              <a:t>not</a:t>
            </a:r>
            <a:r>
              <a:rPr lang="fr-FR" sz="2306" b="1" spc="3">
                <a:solidFill>
                  <a:srgbClr val="000000"/>
                </a:solidFill>
                <a:latin typeface="Arial"/>
              </a:rPr>
              <a:t> </a:t>
            </a:r>
            <a:r>
              <a:rPr lang="fr-FR" sz="2306" b="1" spc="-6">
                <a:solidFill>
                  <a:srgbClr val="000000"/>
                </a:solidFill>
                <a:latin typeface="Arial"/>
              </a:rPr>
              <a:t>causation</a:t>
            </a:r>
            <a:endParaRPr lang="fr-FR" sz="2306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Image 4"/>
          <p:cNvPicPr/>
          <p:nvPr/>
        </p:nvPicPr>
        <p:blipFill>
          <a:blip r:embed="rId2"/>
          <a:stretch/>
        </p:blipFill>
        <p:spPr>
          <a:xfrm>
            <a:off x="1296025" y="619314"/>
            <a:ext cx="7149455" cy="1184295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0" name="Image 6"/>
          <p:cNvPicPr/>
          <p:nvPr/>
        </p:nvPicPr>
        <p:blipFill>
          <a:blip r:embed="rId3"/>
          <a:stretch/>
        </p:blipFill>
        <p:spPr>
          <a:xfrm>
            <a:off x="1634833" y="1803609"/>
            <a:ext cx="6423643" cy="1762274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331356"/>
          </a:xfrm>
          <a:prstGeom prst="rect">
            <a:avLst/>
          </a:prstGeom>
          <a:noFill/>
          <a:ln w="0">
            <a:noFill/>
          </a:ln>
        </p:spPr>
        <p:txBody>
          <a:bodyPr lIns="0" tIns="53069" rIns="0" bIns="0" anchor="t">
            <a:spAutoFit/>
          </a:bodyPr>
          <a:lstStyle/>
          <a:p>
            <a:pPr marL="2360270">
              <a:lnSpc>
                <a:spcPct val="100000"/>
              </a:lnSpc>
              <a:spcBef>
                <a:spcPts val="63"/>
              </a:spcBef>
            </a:pPr>
            <a:r>
              <a:rPr lang="fr-FR" sz="1805" spc="30">
                <a:solidFill>
                  <a:schemeClr val="dk1"/>
                </a:solidFill>
                <a:latin typeface="Arial MT"/>
              </a:rPr>
              <a:t>Problem:</a:t>
            </a:r>
            <a:r>
              <a:rPr lang="fr-FR" sz="1805" spc="-4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1805" spc="37">
                <a:solidFill>
                  <a:schemeClr val="dk1"/>
                </a:solidFill>
                <a:latin typeface="Arial MT"/>
              </a:rPr>
              <a:t>descriptive</a:t>
            </a:r>
            <a:r>
              <a:rPr lang="fr-FR" sz="1805" spc="-3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1805" spc="33">
                <a:solidFill>
                  <a:schemeClr val="dk1"/>
                </a:solidFill>
                <a:latin typeface="Arial MT"/>
              </a:rPr>
              <a:t>data</a:t>
            </a:r>
            <a:r>
              <a:rPr lang="fr-FR" sz="1805" spc="-3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1805" spc="-65">
                <a:solidFill>
                  <a:schemeClr val="dk1"/>
                </a:solidFill>
                <a:latin typeface="Arial MT"/>
              </a:rPr>
              <a:t>says</a:t>
            </a:r>
            <a:r>
              <a:rPr lang="fr-FR" sz="1805" spc="-4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1805" spc="50">
                <a:solidFill>
                  <a:schemeClr val="dk1"/>
                </a:solidFill>
                <a:latin typeface="Arial MT"/>
              </a:rPr>
              <a:t>little</a:t>
            </a:r>
            <a:r>
              <a:rPr lang="fr-FR" sz="1805" spc="-3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1805" spc="70">
                <a:solidFill>
                  <a:schemeClr val="dk1"/>
                </a:solidFill>
                <a:latin typeface="Arial MT"/>
              </a:rPr>
              <a:t>about</a:t>
            </a:r>
            <a:r>
              <a:rPr lang="fr-FR" sz="1805" spc="-37">
                <a:solidFill>
                  <a:schemeClr val="dk1"/>
                </a:solidFill>
                <a:latin typeface="Arial MT"/>
              </a:rPr>
              <a:t> </a:t>
            </a:r>
            <a:r>
              <a:rPr lang="fr-FR" sz="1805" i="1" spc="-6">
                <a:solidFill>
                  <a:schemeClr val="dk1"/>
                </a:solidFill>
                <a:latin typeface="Arial"/>
              </a:rPr>
              <a:t>causality</a:t>
            </a:r>
            <a:endParaRPr lang="fr-FR" sz="1805"/>
          </a:p>
        </p:txBody>
      </p:sp>
      <p:pic>
        <p:nvPicPr>
          <p:cNvPr id="182" name="object 3"/>
          <p:cNvPicPr/>
          <p:nvPr/>
        </p:nvPicPr>
        <p:blipFill>
          <a:blip r:embed="rId2"/>
          <a:stretch/>
        </p:blipFill>
        <p:spPr>
          <a:xfrm>
            <a:off x="961187" y="572202"/>
            <a:ext cx="8152884" cy="384295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object 4"/>
          <p:cNvSpPr/>
          <p:nvPr/>
        </p:nvSpPr>
        <p:spPr>
          <a:xfrm>
            <a:off x="54509" y="4500901"/>
            <a:ext cx="8070393" cy="10861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4315129" indent="-2407743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We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0">
                <a:solidFill>
                  <a:srgbClr val="000000"/>
                </a:solidFill>
                <a:latin typeface="Arial MT"/>
              </a:rPr>
              <a:t>need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0">
                <a:solidFill>
                  <a:srgbClr val="000000"/>
                </a:solidFill>
                <a:latin typeface="Arial MT"/>
              </a:rPr>
              <a:t>more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6">
                <a:solidFill>
                  <a:srgbClr val="000000"/>
                </a:solidFill>
                <a:latin typeface="Arial MT"/>
              </a:rPr>
              <a:t>than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just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3">
                <a:solidFill>
                  <a:srgbClr val="000000"/>
                </a:solidFill>
                <a:latin typeface="Arial MT"/>
              </a:rPr>
              <a:t>crude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numbers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establish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6">
                <a:solidFill>
                  <a:srgbClr val="000000"/>
                </a:solidFill>
                <a:latin typeface="Arial MT"/>
              </a:rPr>
              <a:t>causal </a:t>
            </a:r>
            <a:r>
              <a:rPr lang="fr-FR" sz="1805" spc="26">
                <a:solidFill>
                  <a:srgbClr val="000000"/>
                </a:solidFill>
                <a:latin typeface="Arial MT"/>
              </a:rPr>
              <a:t>relationships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6318">
              <a:spcBef>
                <a:spcPts val="1379"/>
              </a:spcBef>
              <a:tabLst>
                <a:tab pos="0" algn="l"/>
              </a:tabLst>
            </a:pPr>
            <a:r>
              <a:rPr lang="fr-FR" sz="978" u="sng">
                <a:solidFill>
                  <a:srgbClr val="5E5E5E"/>
                </a:solidFill>
                <a:latin typeface="Arial MT"/>
                <a:hlinkClick r:id="rId3"/>
              </a:rPr>
              <a:t>https://www.tylervigen.com/spurious-</a:t>
            </a:r>
            <a:r>
              <a:rPr lang="fr-FR" sz="978" u="sng" spc="-6">
                <a:solidFill>
                  <a:srgbClr val="5E5E5E"/>
                </a:solidFill>
                <a:latin typeface="Arial MT"/>
                <a:hlinkClick r:id="rId3"/>
              </a:rPr>
              <a:t>correlations</a:t>
            </a:r>
            <a:endParaRPr lang="fr-FR" sz="978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14076" y="96390"/>
            <a:ext cx="6570214" cy="784217"/>
          </a:xfrm>
          <a:prstGeom prst="rect">
            <a:avLst/>
          </a:prstGeom>
          <a:noFill/>
          <a:ln w="0">
            <a:noFill/>
          </a:ln>
        </p:spPr>
        <p:txBody>
          <a:bodyPr lIns="0" tIns="8664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85" name="object 3"/>
          <p:cNvSpPr/>
          <p:nvPr/>
        </p:nvSpPr>
        <p:spPr>
          <a:xfrm>
            <a:off x="15339" y="1139350"/>
            <a:ext cx="4819673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spc="-43">
                <a:solidFill>
                  <a:srgbClr val="000000"/>
                </a:solidFill>
                <a:latin typeface="Arial MT"/>
              </a:rPr>
              <a:t>B.</a:t>
            </a:r>
            <a:r>
              <a:rPr lang="fr-FR" sz="1805" spc="-10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0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6">
                <a:solidFill>
                  <a:srgbClr val="000000"/>
                </a:solidFill>
                <a:latin typeface="Arial MT"/>
              </a:rPr>
              <a:t>inference: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8">
                <a:solidFill>
                  <a:srgbClr val="000000"/>
                </a:solidFill>
                <a:latin typeface="Arial MT"/>
              </a:rPr>
              <a:t>experimental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5">
                <a:solidFill>
                  <a:srgbClr val="000000"/>
                </a:solidFill>
                <a:latin typeface="Arial MT"/>
              </a:rPr>
              <a:t>method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object 4"/>
          <p:cNvSpPr/>
          <p:nvPr/>
        </p:nvSpPr>
        <p:spPr>
          <a:xfrm>
            <a:off x="1387902" y="2164620"/>
            <a:ext cx="7305051" cy="7151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866419" indent="-860282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805" spc="56">
                <a:solidFill>
                  <a:srgbClr val="000000"/>
                </a:solidFill>
                <a:latin typeface="Arial MT"/>
              </a:rPr>
              <a:t>Definition: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Methods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 spc="65">
                <a:solidFill>
                  <a:srgbClr val="000000"/>
                </a:solidFill>
                <a:latin typeface="Arial"/>
              </a:rPr>
              <a:t>do</a:t>
            </a:r>
            <a:r>
              <a:rPr lang="fr-FR" sz="1805" b="1" spc="-4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b="1" spc="36">
                <a:solidFill>
                  <a:srgbClr val="000000"/>
                </a:solidFill>
                <a:latin typeface="Arial"/>
              </a:rPr>
              <a:t>not</a:t>
            </a:r>
            <a:r>
              <a:rPr lang="fr-FR" sz="1805" b="1" spc="-4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spc="33">
                <a:solidFill>
                  <a:srgbClr val="000000"/>
                </a:solidFill>
                <a:latin typeface="Arial MT"/>
              </a:rPr>
              <a:t>simply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i="1" spc="33">
                <a:solidFill>
                  <a:srgbClr val="000000"/>
                </a:solidFill>
                <a:latin typeface="Arial"/>
              </a:rPr>
              <a:t>describe</a:t>
            </a:r>
            <a:r>
              <a:rPr lang="fr-FR" sz="1805" i="1" spc="-4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spc="65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5">
                <a:solidFill>
                  <a:srgbClr val="000000"/>
                </a:solidFill>
                <a:latin typeface="Arial MT"/>
              </a:rPr>
              <a:t>world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is,</a:t>
            </a:r>
            <a:r>
              <a:rPr lang="fr-FR" sz="1805" spc="-9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8">
                <a:solidFill>
                  <a:srgbClr val="000000"/>
                </a:solidFill>
                <a:latin typeface="Arial MT"/>
              </a:rPr>
              <a:t>but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seek</a:t>
            </a:r>
            <a:r>
              <a:rPr lang="fr-FR" sz="180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0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i="1" spc="27">
                <a:solidFill>
                  <a:srgbClr val="000000"/>
                </a:solidFill>
                <a:latin typeface="Arial"/>
              </a:rPr>
              <a:t>explain</a:t>
            </a:r>
            <a:r>
              <a:rPr lang="fr-FR" sz="1805" i="1" spc="-5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spc="33">
                <a:solidFill>
                  <a:srgbClr val="000000"/>
                </a:solidFill>
                <a:latin typeface="Arial MT"/>
              </a:rPr>
              <a:t>it,</a:t>
            </a:r>
            <a:r>
              <a:rPr lang="fr-FR" sz="1805" spc="-10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5">
                <a:solidFill>
                  <a:srgbClr val="000000"/>
                </a:solidFill>
                <a:latin typeface="Arial MT"/>
              </a:rPr>
              <a:t>by</a:t>
            </a:r>
            <a:r>
              <a:rPr lang="fr-FR" sz="180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establishing</a:t>
            </a:r>
            <a:r>
              <a:rPr lang="fr-FR" sz="180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0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6">
                <a:solidFill>
                  <a:srgbClr val="000000"/>
                </a:solidFill>
                <a:latin typeface="Arial MT"/>
              </a:rPr>
              <a:t>relationships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object 5"/>
          <p:cNvSpPr/>
          <p:nvPr/>
        </p:nvSpPr>
        <p:spPr>
          <a:xfrm>
            <a:off x="1498913" y="3757399"/>
            <a:ext cx="7082668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111">
                <a:solidFill>
                  <a:srgbClr val="000000"/>
                </a:solidFill>
                <a:latin typeface="Arial MT"/>
              </a:rPr>
              <a:t>gold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standard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inference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 spc="53">
                <a:solidFill>
                  <a:srgbClr val="000000"/>
                </a:solidFill>
                <a:latin typeface="Arial"/>
              </a:rPr>
              <a:t>experimental</a:t>
            </a:r>
            <a:r>
              <a:rPr lang="fr-FR" sz="1805" b="1" spc="-57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b="1" spc="60">
                <a:solidFill>
                  <a:srgbClr val="000000"/>
                </a:solidFill>
                <a:latin typeface="Arial"/>
              </a:rPr>
              <a:t>method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14076" y="21661"/>
            <a:ext cx="8532126" cy="859676"/>
          </a:xfrm>
          <a:prstGeom prst="rect">
            <a:avLst/>
          </a:prstGeom>
          <a:noFill/>
          <a:ln w="0">
            <a:noFill/>
          </a:ln>
        </p:spPr>
        <p:txBody>
          <a:bodyPr lIns="0" tIns="83393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89" name="object 3"/>
          <p:cNvSpPr/>
          <p:nvPr/>
        </p:nvSpPr>
        <p:spPr>
          <a:xfrm>
            <a:off x="15339" y="1139350"/>
            <a:ext cx="4819673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spc="-43">
                <a:solidFill>
                  <a:srgbClr val="000000"/>
                </a:solidFill>
                <a:latin typeface="Arial MT"/>
              </a:rPr>
              <a:t>B.</a:t>
            </a:r>
            <a:r>
              <a:rPr lang="fr-FR" sz="1805" spc="-10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0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6">
                <a:solidFill>
                  <a:srgbClr val="000000"/>
                </a:solidFill>
                <a:latin typeface="Arial MT"/>
              </a:rPr>
              <a:t>inference: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8">
                <a:solidFill>
                  <a:srgbClr val="000000"/>
                </a:solidFill>
                <a:latin typeface="Arial MT"/>
              </a:rPr>
              <a:t>experimental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5">
                <a:solidFill>
                  <a:srgbClr val="000000"/>
                </a:solidFill>
                <a:latin typeface="Arial MT"/>
              </a:rPr>
              <a:t>method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0" name="Picture 2" descr="Types of Quantitative Research Designs – An Introduction to Quantitative Research  Design for Students in Health Sciences"/>
          <p:cNvPicPr/>
          <p:nvPr/>
        </p:nvPicPr>
        <p:blipFill>
          <a:blip r:embed="rId2"/>
          <a:stretch/>
        </p:blipFill>
        <p:spPr>
          <a:xfrm>
            <a:off x="1748010" y="1688988"/>
            <a:ext cx="6800719" cy="3673825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859859"/>
          </a:xfrm>
          <a:prstGeom prst="rect">
            <a:avLst/>
          </a:prstGeom>
          <a:noFill/>
          <a:ln w="0">
            <a:noFill/>
          </a:ln>
        </p:spPr>
        <p:txBody>
          <a:bodyPr lIns="0" tIns="83574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68"/>
              </a:spcBef>
            </a:pPr>
            <a:r>
              <a:rPr lang="fr-FR" sz="5039" b="1">
                <a:solidFill>
                  <a:schemeClr val="dk1"/>
                </a:solidFill>
                <a:latin typeface="Arial"/>
              </a:rPr>
              <a:t>Quantitative</a:t>
            </a:r>
            <a:r>
              <a:rPr lang="fr-FR" sz="5039" b="1" spc="-48">
                <a:solidFill>
                  <a:schemeClr val="dk1"/>
                </a:solidFill>
                <a:latin typeface="Arial"/>
              </a:rPr>
              <a:t> </a:t>
            </a:r>
            <a:r>
              <a:rPr lang="fr-FR" sz="5039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039"/>
          </a:p>
        </p:txBody>
      </p:sp>
      <p:sp>
        <p:nvSpPr>
          <p:cNvPr id="192" name="object 3"/>
          <p:cNvSpPr/>
          <p:nvPr/>
        </p:nvSpPr>
        <p:spPr>
          <a:xfrm>
            <a:off x="14798" y="1530686"/>
            <a:ext cx="9191512" cy="26353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33031" indent="-225811">
              <a:spcBef>
                <a:spcPts val="4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3031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Pros: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569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40246" algn="l"/>
              </a:tabLst>
            </a:pPr>
            <a:r>
              <a:rPr lang="fr-FR" sz="1855" spc="-10">
                <a:solidFill>
                  <a:srgbClr val="000000"/>
                </a:solidFill>
                <a:latin typeface="Arial MT"/>
              </a:rPr>
              <a:t>Systematic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>
                <a:solidFill>
                  <a:srgbClr val="000000"/>
                </a:solidFill>
                <a:latin typeface="Arial MT"/>
              </a:rPr>
              <a:t>evidence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(not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just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based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70">
                <a:solidFill>
                  <a:srgbClr val="000000"/>
                </a:solidFill>
                <a:latin typeface="Arial MT"/>
              </a:rPr>
              <a:t>on</a:t>
            </a:r>
            <a:r>
              <a:rPr lang="fr-FR" sz="185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anecdotes)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1825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40246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855" spc="-8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allow</a:t>
            </a:r>
            <a:r>
              <a:rPr lang="fr-FR" sz="1855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55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inference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293"/>
              </a:spcBef>
              <a:tabLst>
                <a:tab pos="840246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Cons: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611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840246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Some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things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difficult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measure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(emotions,</a:t>
            </a:r>
            <a:r>
              <a:rPr lang="fr-FR" sz="1855" spc="-9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shameful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73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illegal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behavior...)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1825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840246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Data</a:t>
            </a:r>
            <a:r>
              <a:rPr lang="fr-FR" sz="185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8">
                <a:solidFill>
                  <a:srgbClr val="000000"/>
                </a:solidFill>
                <a:latin typeface="Arial MT"/>
              </a:rPr>
              <a:t>not</a:t>
            </a:r>
            <a:r>
              <a:rPr lang="fr-FR" sz="185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always</a:t>
            </a:r>
            <a:r>
              <a:rPr lang="fr-FR" sz="185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available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13534" y="21481"/>
            <a:ext cx="9263714" cy="837113"/>
          </a:xfrm>
          <a:prstGeom prst="rect">
            <a:avLst/>
          </a:prstGeom>
          <a:noFill/>
          <a:ln w="0">
            <a:noFill/>
          </a:ln>
        </p:spPr>
        <p:txBody>
          <a:bodyPr lIns="0" tIns="7581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60"/>
              </a:spcBef>
            </a:pPr>
            <a:r>
              <a:rPr lang="fr-FR" sz="5390" b="1" spc="36">
                <a:solidFill>
                  <a:schemeClr val="dk1"/>
                </a:solidFill>
                <a:latin typeface="Arial"/>
              </a:rPr>
              <a:t>Qualitative</a:t>
            </a:r>
            <a:r>
              <a:rPr lang="fr-FR" sz="5390" b="1" spc="-341">
                <a:solidFill>
                  <a:schemeClr val="dk1"/>
                </a:solidFill>
                <a:latin typeface="Arial"/>
              </a:rPr>
              <a:t> </a:t>
            </a:r>
            <a:r>
              <a:rPr lang="fr-FR" sz="5390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390"/>
          </a:p>
        </p:txBody>
      </p:sp>
      <p:sp>
        <p:nvSpPr>
          <p:cNvPr id="194" name="object 3"/>
          <p:cNvSpPr/>
          <p:nvPr/>
        </p:nvSpPr>
        <p:spPr>
          <a:xfrm>
            <a:off x="15339" y="1265343"/>
            <a:ext cx="4266244" cy="84388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spc="57">
                <a:solidFill>
                  <a:srgbClr val="000000"/>
                </a:solidFill>
                <a:latin typeface="Arial MT"/>
              </a:rPr>
              <a:t>Methods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3">
                <a:solidFill>
                  <a:srgbClr val="000000"/>
                </a:solidFill>
                <a:latin typeface="Arial MT"/>
              </a:rPr>
              <a:t>collect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6">
                <a:solidFill>
                  <a:srgbClr val="000000"/>
                </a:solidFill>
                <a:latin typeface="Arial MT"/>
              </a:rPr>
              <a:t>non-</a:t>
            </a:r>
            <a:r>
              <a:rPr lang="fr-FR" sz="1805" spc="43">
                <a:solidFill>
                  <a:srgbClr val="000000"/>
                </a:solidFill>
                <a:latin typeface="Arial MT"/>
              </a:rPr>
              <a:t>numerical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3">
                <a:solidFill>
                  <a:srgbClr val="000000"/>
                </a:solidFill>
                <a:latin typeface="Arial MT"/>
              </a:rPr>
              <a:t>data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50"/>
              </a:spcBef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729778" indent="-209565">
              <a:spcBef>
                <a:spcPts val="3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29778" algn="l"/>
              </a:tabLst>
            </a:pPr>
            <a:r>
              <a:rPr lang="fr-FR" sz="1655" spc="-6">
                <a:solidFill>
                  <a:srgbClr val="000000"/>
                </a:solidFill>
                <a:latin typeface="Arial MT"/>
              </a:rPr>
              <a:t>Interviews:</a:t>
            </a:r>
            <a:endParaRPr lang="fr-FR" sz="165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" name="object 4"/>
          <p:cNvPicPr/>
          <p:nvPr/>
        </p:nvPicPr>
        <p:blipFill>
          <a:blip r:embed="rId2"/>
          <a:stretch/>
        </p:blipFill>
        <p:spPr>
          <a:xfrm>
            <a:off x="5255589" y="1561913"/>
            <a:ext cx="2540974" cy="1905595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object 5"/>
          <p:cNvSpPr/>
          <p:nvPr/>
        </p:nvSpPr>
        <p:spPr>
          <a:xfrm>
            <a:off x="529238" y="3620757"/>
            <a:ext cx="4454511" cy="26088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15883" indent="-209565">
              <a:spcBef>
                <a:spcPts val="4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15883" algn="l"/>
              </a:tabLst>
            </a:pPr>
            <a:r>
              <a:rPr lang="fr-FR" sz="1655" spc="27">
                <a:solidFill>
                  <a:srgbClr val="000000"/>
                </a:solidFill>
                <a:latin typeface="Arial MT"/>
              </a:rPr>
              <a:t>Observation</a:t>
            </a:r>
            <a:r>
              <a:rPr lang="fr-FR" sz="16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27">
                <a:solidFill>
                  <a:srgbClr val="000000"/>
                </a:solidFill>
                <a:latin typeface="Arial MT"/>
              </a:rPr>
              <a:t>(participant</a:t>
            </a:r>
            <a:r>
              <a:rPr lang="fr-FR" sz="16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65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6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655" spc="33">
                <a:solidFill>
                  <a:srgbClr val="000000"/>
                </a:solidFill>
                <a:latin typeface="Arial MT"/>
              </a:rPr>
              <a:t>non-</a:t>
            </a:r>
            <a:r>
              <a:rPr lang="fr-FR" sz="1655" spc="23">
                <a:solidFill>
                  <a:srgbClr val="000000"/>
                </a:solidFill>
                <a:latin typeface="Arial MT"/>
              </a:rPr>
              <a:t>participant):</a:t>
            </a:r>
            <a:endParaRPr lang="fr-FR" sz="165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7" name="object 6"/>
          <p:cNvPicPr/>
          <p:nvPr/>
        </p:nvPicPr>
        <p:blipFill>
          <a:blip r:embed="rId3"/>
          <a:stretch/>
        </p:blipFill>
        <p:spPr>
          <a:xfrm>
            <a:off x="8047105" y="2551623"/>
            <a:ext cx="2033212" cy="3116064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13534" y="21481"/>
            <a:ext cx="9263714" cy="837113"/>
          </a:xfrm>
          <a:prstGeom prst="rect">
            <a:avLst/>
          </a:prstGeom>
          <a:noFill/>
          <a:ln w="0">
            <a:noFill/>
          </a:ln>
        </p:spPr>
        <p:txBody>
          <a:bodyPr lIns="0" tIns="7581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60"/>
              </a:spcBef>
            </a:pPr>
            <a:r>
              <a:rPr lang="fr-FR" sz="5390" b="1" spc="36">
                <a:solidFill>
                  <a:schemeClr val="dk1"/>
                </a:solidFill>
                <a:latin typeface="Arial"/>
              </a:rPr>
              <a:t>Qualitative</a:t>
            </a:r>
            <a:r>
              <a:rPr lang="fr-FR" sz="5390" b="1" spc="-341">
                <a:solidFill>
                  <a:schemeClr val="dk1"/>
                </a:solidFill>
                <a:latin typeface="Arial"/>
              </a:rPr>
              <a:t> </a:t>
            </a:r>
            <a:r>
              <a:rPr lang="fr-FR" sz="5390" b="1" spc="-6">
                <a:solidFill>
                  <a:schemeClr val="dk1"/>
                </a:solidFill>
                <a:latin typeface="Arial"/>
              </a:rPr>
              <a:t>methods</a:t>
            </a:r>
            <a:endParaRPr lang="fr-FR" sz="5390"/>
          </a:p>
        </p:txBody>
      </p:sp>
      <p:sp>
        <p:nvSpPr>
          <p:cNvPr id="199" name="object 3"/>
          <p:cNvSpPr/>
          <p:nvPr/>
        </p:nvSpPr>
        <p:spPr>
          <a:xfrm>
            <a:off x="14798" y="1530686"/>
            <a:ext cx="8323281" cy="26353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33031" indent="-225811">
              <a:spcBef>
                <a:spcPts val="4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3031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Pros: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569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40246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Fine-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grained,</a:t>
            </a:r>
            <a:r>
              <a:rPr lang="fr-FR" sz="1855" spc="-9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"thick"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descriptions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(while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quant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data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be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91">
                <a:solidFill>
                  <a:srgbClr val="000000"/>
                </a:solidFill>
                <a:latin typeface="Arial MT"/>
              </a:rPr>
              <a:t>bit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"dry")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1825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40246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3">
                <a:solidFill>
                  <a:srgbClr val="000000"/>
                </a:solidFill>
                <a:latin typeface="Arial MT"/>
              </a:rPr>
              <a:t>give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insights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8">
                <a:solidFill>
                  <a:srgbClr val="000000"/>
                </a:solidFill>
                <a:latin typeface="Arial MT"/>
              </a:rPr>
              <a:t>not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8">
                <a:solidFill>
                  <a:srgbClr val="000000"/>
                </a:solidFill>
                <a:latin typeface="Arial MT"/>
              </a:rPr>
              <a:t>captured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7">
                <a:solidFill>
                  <a:srgbClr val="000000"/>
                </a:solidFill>
                <a:latin typeface="Arial MT"/>
              </a:rPr>
              <a:t>by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>
                <a:solidFill>
                  <a:srgbClr val="000000"/>
                </a:solidFill>
                <a:latin typeface="Arial MT"/>
              </a:rPr>
              <a:t>quantitative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data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293"/>
              </a:spcBef>
              <a:tabLst>
                <a:tab pos="840246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Cons: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611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840246" algn="l"/>
              </a:tabLst>
            </a:pPr>
            <a:r>
              <a:rPr lang="fr-FR" sz="1855" spc="37">
                <a:solidFill>
                  <a:srgbClr val="000000"/>
                </a:solidFill>
                <a:latin typeface="Arial MT"/>
              </a:rPr>
              <a:t>Difficult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generalize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findings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1825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840246" algn="l"/>
              </a:tabLst>
            </a:pPr>
            <a:r>
              <a:rPr lang="fr-FR" sz="1855" spc="37">
                <a:solidFill>
                  <a:srgbClr val="000000"/>
                </a:solidFill>
                <a:latin typeface="Arial MT"/>
              </a:rPr>
              <a:t>Difficult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establish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relationships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859007"/>
          </a:xfrm>
          <a:prstGeom prst="rect">
            <a:avLst/>
          </a:prstGeom>
          <a:noFill/>
          <a:ln w="0">
            <a:noFill/>
          </a:ln>
        </p:spPr>
        <p:txBody>
          <a:bodyPr lIns="0" tIns="71300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50"/>
              </a:spcBef>
            </a:pPr>
            <a:r>
              <a:rPr lang="fr-FR" sz="5114" b="1">
                <a:solidFill>
                  <a:schemeClr val="dk1"/>
                </a:solidFill>
                <a:latin typeface="Arial"/>
              </a:rPr>
              <a:t>Mathematical</a:t>
            </a:r>
            <a:r>
              <a:rPr lang="fr-FR" sz="5114" b="1" spc="-325">
                <a:solidFill>
                  <a:schemeClr val="dk1"/>
                </a:solidFill>
                <a:latin typeface="Arial"/>
              </a:rPr>
              <a:t> </a:t>
            </a:r>
            <a:r>
              <a:rPr lang="fr-FR" sz="5114" b="1" spc="-6">
                <a:solidFill>
                  <a:schemeClr val="dk1"/>
                </a:solidFill>
                <a:latin typeface="Arial"/>
              </a:rPr>
              <a:t>Models</a:t>
            </a:r>
            <a:endParaRPr lang="fr-FR" sz="5114"/>
          </a:p>
        </p:txBody>
      </p:sp>
      <p:sp>
        <p:nvSpPr>
          <p:cNvPr id="201" name="object 3"/>
          <p:cNvSpPr/>
          <p:nvPr/>
        </p:nvSpPr>
        <p:spPr>
          <a:xfrm>
            <a:off x="14798" y="1331949"/>
            <a:ext cx="8477614" cy="23242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1579591">
              <a:spcBef>
                <a:spcPts val="63"/>
              </a:spcBef>
            </a:pPr>
            <a:r>
              <a:rPr lang="fr-FR" sz="1805" spc="56">
                <a:solidFill>
                  <a:srgbClr val="000000"/>
                </a:solidFill>
                <a:latin typeface="Arial MT"/>
              </a:rPr>
              <a:t>Definition: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80">
                <a:solidFill>
                  <a:srgbClr val="000000"/>
                </a:solidFill>
                <a:latin typeface="Arial MT"/>
              </a:rPr>
              <a:t>A description of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processes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6">
                <a:solidFill>
                  <a:srgbClr val="000000"/>
                </a:solidFill>
                <a:latin typeface="Arial MT"/>
              </a:rPr>
              <a:t>with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mathematics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878"/>
              </a:spcBef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237182" indent="-230865">
              <a:buClr>
                <a:srgbClr val="000000"/>
              </a:buClr>
              <a:buSzPct val="124000"/>
              <a:buFont typeface="Symbol" charset="2"/>
              <a:buChar char=""/>
              <a:tabLst>
                <a:tab pos="237182" algn="l"/>
              </a:tabLst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1.</a:t>
            </a:r>
            <a:r>
              <a:rPr lang="fr-FR" sz="1805" spc="-9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Propose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0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set</a:t>
            </a:r>
            <a:r>
              <a:rPr lang="fr-FR" sz="180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8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05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6">
                <a:solidFill>
                  <a:srgbClr val="000000"/>
                </a:solidFill>
                <a:latin typeface="Arial MT"/>
              </a:rPr>
              <a:t>variables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469"/>
              </a:spcBef>
              <a:tabLst>
                <a:tab pos="237182" algn="l"/>
              </a:tabLst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237182" indent="-230865">
              <a:spcBef>
                <a:spcPts val="3"/>
              </a:spcBef>
              <a:buClr>
                <a:srgbClr val="000000"/>
              </a:buClr>
              <a:buSzPct val="124000"/>
              <a:buFont typeface="Arial MT"/>
              <a:buChar char="•"/>
              <a:tabLst>
                <a:tab pos="237182" algn="l"/>
              </a:tabLst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2.</a:t>
            </a:r>
            <a:r>
              <a:rPr lang="fr-FR" sz="180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hypotheses</a:t>
            </a:r>
            <a:r>
              <a:rPr lang="fr-FR" sz="180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0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5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these</a:t>
            </a:r>
            <a:r>
              <a:rPr lang="fr-FR" sz="180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variables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mathematically</a:t>
            </a:r>
            <a:r>
              <a:rPr lang="fr-FR" sz="180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6">
                <a:solidFill>
                  <a:srgbClr val="000000"/>
                </a:solidFill>
                <a:latin typeface="Arial MT"/>
              </a:rPr>
              <a:t>related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469"/>
              </a:spcBef>
              <a:tabLst>
                <a:tab pos="237182" algn="l"/>
              </a:tabLst>
            </a:pP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237182" indent="-230865">
              <a:spcBef>
                <a:spcPts val="3"/>
              </a:spcBef>
              <a:buClr>
                <a:srgbClr val="000000"/>
              </a:buClr>
              <a:buSzPct val="124000"/>
              <a:buFont typeface="Arial MT"/>
              <a:buChar char="•"/>
              <a:tabLst>
                <a:tab pos="237182" algn="l"/>
              </a:tabLst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3.</a:t>
            </a:r>
            <a:r>
              <a:rPr lang="fr-FR" sz="1805" spc="-7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i="1" spc="43">
                <a:solidFill>
                  <a:srgbClr val="000000"/>
                </a:solidFill>
                <a:latin typeface="Arial"/>
              </a:rPr>
              <a:t>predictions</a:t>
            </a:r>
            <a:r>
              <a:rPr lang="fr-FR" sz="1805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based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80">
                <a:solidFill>
                  <a:srgbClr val="000000"/>
                </a:solidFill>
                <a:latin typeface="Arial MT"/>
              </a:rPr>
              <a:t>on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these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3">
                <a:solidFill>
                  <a:srgbClr val="000000"/>
                </a:solidFill>
                <a:latin typeface="Arial MT"/>
              </a:rPr>
              <a:t>hypotheses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859007"/>
          </a:xfrm>
          <a:prstGeom prst="rect">
            <a:avLst/>
          </a:prstGeom>
          <a:noFill/>
          <a:ln w="0">
            <a:noFill/>
          </a:ln>
        </p:spPr>
        <p:txBody>
          <a:bodyPr lIns="0" tIns="71300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50"/>
              </a:spcBef>
            </a:pPr>
            <a:r>
              <a:rPr lang="fr-FR" sz="5114" b="1">
                <a:solidFill>
                  <a:schemeClr val="dk1"/>
                </a:solidFill>
                <a:latin typeface="Arial"/>
              </a:rPr>
              <a:t>Mathematical</a:t>
            </a:r>
            <a:r>
              <a:rPr lang="fr-FR" sz="5114" b="1" spc="-325">
                <a:solidFill>
                  <a:schemeClr val="dk1"/>
                </a:solidFill>
                <a:latin typeface="Arial"/>
              </a:rPr>
              <a:t> </a:t>
            </a:r>
            <a:r>
              <a:rPr lang="fr-FR" sz="5114" b="1" spc="-6">
                <a:solidFill>
                  <a:schemeClr val="dk1"/>
                </a:solidFill>
                <a:latin typeface="Arial"/>
              </a:rPr>
              <a:t>Models</a:t>
            </a:r>
            <a:endParaRPr lang="fr-FR" sz="5114"/>
          </a:p>
        </p:txBody>
      </p:sp>
      <p:sp>
        <p:nvSpPr>
          <p:cNvPr id="203" name="object 3"/>
          <p:cNvSpPr/>
          <p:nvPr/>
        </p:nvSpPr>
        <p:spPr>
          <a:xfrm>
            <a:off x="1409743" y="1355956"/>
            <a:ext cx="7261369" cy="7151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652506" indent="-2646369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805" spc="-27">
                <a:solidFill>
                  <a:srgbClr val="000000"/>
                </a:solidFill>
                <a:latin typeface="Arial MT"/>
              </a:rPr>
              <a:t>Ex: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3">
                <a:solidFill>
                  <a:srgbClr val="000000"/>
                </a:solidFill>
                <a:latin typeface="Arial MT"/>
              </a:rPr>
              <a:t>imagine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8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27">
                <a:solidFill>
                  <a:srgbClr val="000000"/>
                </a:solidFill>
                <a:latin typeface="Arial MT"/>
              </a:rPr>
              <a:t>want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build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theory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70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65">
                <a:solidFill>
                  <a:srgbClr val="000000"/>
                </a:solidFill>
                <a:latin typeface="Arial MT"/>
              </a:rPr>
              <a:t>how</a:t>
            </a:r>
            <a:r>
              <a:rPr lang="fr-FR" sz="180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group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-17">
                <a:solidFill>
                  <a:srgbClr val="000000"/>
                </a:solidFill>
                <a:latin typeface="Arial MT"/>
              </a:rPr>
              <a:t>size</a:t>
            </a:r>
            <a:r>
              <a:rPr lang="fr-FR" sz="1805" spc="-5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0">
                <a:solidFill>
                  <a:srgbClr val="000000"/>
                </a:solidFill>
                <a:latin typeface="Arial MT"/>
              </a:rPr>
              <a:t>impacts </a:t>
            </a:r>
            <a:r>
              <a:rPr lang="fr-FR" sz="1805" spc="91">
                <a:solidFill>
                  <a:srgbClr val="000000"/>
                </a:solidFill>
                <a:latin typeface="Arial MT"/>
              </a:rPr>
              <a:t>group</a:t>
            </a:r>
            <a:r>
              <a:rPr lang="fr-FR" sz="1805" spc="-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0">
                <a:solidFill>
                  <a:srgbClr val="000000"/>
                </a:solidFill>
                <a:latin typeface="Arial MT"/>
              </a:rPr>
              <a:t>productivity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4" name="object 4"/>
          <p:cNvPicPr/>
          <p:nvPr/>
        </p:nvPicPr>
        <p:blipFill>
          <a:blip r:embed="rId2"/>
          <a:stretch/>
        </p:blipFill>
        <p:spPr>
          <a:xfrm>
            <a:off x="659021" y="2726172"/>
            <a:ext cx="8536097" cy="1830505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" name="object 5"/>
          <p:cNvSpPr/>
          <p:nvPr/>
        </p:nvSpPr>
        <p:spPr>
          <a:xfrm>
            <a:off x="6506311" y="4767146"/>
            <a:ext cx="2213356" cy="5714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373463" indent="-367506">
              <a:lnSpc>
                <a:spcPct val="136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429" b="1" spc="73">
                <a:solidFill>
                  <a:srgbClr val="000000"/>
                </a:solidFill>
                <a:latin typeface="Arial"/>
              </a:rPr>
              <a:t>*In</a:t>
            </a:r>
            <a:r>
              <a:rPr lang="fr-FR" sz="1429" b="1" spc="-36">
                <a:solidFill>
                  <a:srgbClr val="000000"/>
                </a:solidFill>
                <a:latin typeface="Arial"/>
              </a:rPr>
              <a:t> </a:t>
            </a:r>
            <a:r>
              <a:rPr lang="fr-FR" sz="1429" b="1">
                <a:solidFill>
                  <a:srgbClr val="000000"/>
                </a:solidFill>
                <a:latin typeface="Arial"/>
              </a:rPr>
              <a:t>this</a:t>
            </a:r>
            <a:r>
              <a:rPr lang="fr-FR" sz="1429" b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29" b="1" spc="27">
                <a:solidFill>
                  <a:srgbClr val="000000"/>
                </a:solidFill>
                <a:latin typeface="Arial"/>
              </a:rPr>
              <a:t>context,</a:t>
            </a:r>
            <a:r>
              <a:rPr lang="fr-FR" sz="1429" b="1" spc="-75">
                <a:solidFill>
                  <a:srgbClr val="000000"/>
                </a:solidFill>
                <a:latin typeface="Arial"/>
              </a:rPr>
              <a:t> </a:t>
            </a:r>
            <a:r>
              <a:rPr lang="fr-FR" sz="1429" b="1" spc="36">
                <a:solidFill>
                  <a:srgbClr val="000000"/>
                </a:solidFill>
                <a:latin typeface="Arial"/>
              </a:rPr>
              <a:t>forage</a:t>
            </a:r>
            <a:r>
              <a:rPr lang="fr-FR" sz="1429" b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29" b="1" spc="98">
                <a:solidFill>
                  <a:srgbClr val="000000"/>
                </a:solidFill>
                <a:latin typeface="Arial"/>
              </a:rPr>
              <a:t>= </a:t>
            </a:r>
            <a:r>
              <a:rPr lang="fr-FR" sz="1429" b="1" spc="56">
                <a:solidFill>
                  <a:srgbClr val="000000"/>
                </a:solidFill>
                <a:latin typeface="Arial"/>
              </a:rPr>
              <a:t>"work</a:t>
            </a:r>
            <a:r>
              <a:rPr lang="fr-FR" sz="1429" b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429" b="1" spc="43">
                <a:solidFill>
                  <a:srgbClr val="000000"/>
                </a:solidFill>
                <a:latin typeface="Arial"/>
              </a:rPr>
              <a:t>together"</a:t>
            </a:r>
            <a:endParaRPr lang="fr-FR" sz="1429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14076" y="21661"/>
            <a:ext cx="8532126" cy="858824"/>
          </a:xfrm>
          <a:prstGeom prst="rect">
            <a:avLst/>
          </a:prstGeom>
          <a:noFill/>
          <a:ln w="0">
            <a:noFill/>
          </a:ln>
        </p:spPr>
        <p:txBody>
          <a:bodyPr lIns="0" tIns="71119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50"/>
              </a:spcBef>
            </a:pPr>
            <a:r>
              <a:rPr lang="fr-FR" sz="5114" b="1">
                <a:solidFill>
                  <a:schemeClr val="dk1"/>
                </a:solidFill>
                <a:latin typeface="Arial"/>
              </a:rPr>
              <a:t>Mathematical</a:t>
            </a:r>
            <a:r>
              <a:rPr lang="fr-FR" sz="5114" b="1" spc="-325">
                <a:solidFill>
                  <a:schemeClr val="dk1"/>
                </a:solidFill>
                <a:latin typeface="Arial"/>
              </a:rPr>
              <a:t> </a:t>
            </a:r>
            <a:r>
              <a:rPr lang="fr-FR" sz="5114" b="1" spc="-6">
                <a:solidFill>
                  <a:schemeClr val="dk1"/>
                </a:solidFill>
                <a:latin typeface="Arial"/>
              </a:rPr>
              <a:t>Models</a:t>
            </a:r>
            <a:endParaRPr lang="fr-FR" sz="5114"/>
          </a:p>
        </p:txBody>
      </p:sp>
      <p:sp>
        <p:nvSpPr>
          <p:cNvPr id="207" name="object 3"/>
          <p:cNvSpPr/>
          <p:nvPr/>
        </p:nvSpPr>
        <p:spPr>
          <a:xfrm>
            <a:off x="3212089" y="1069314"/>
            <a:ext cx="3656316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most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famous</a:t>
            </a:r>
            <a:r>
              <a:rPr lang="fr-FR" sz="180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57">
                <a:solidFill>
                  <a:srgbClr val="000000"/>
                </a:solidFill>
                <a:latin typeface="Arial MT"/>
              </a:rPr>
              <a:t>economic</a:t>
            </a:r>
            <a:r>
              <a:rPr lang="fr-FR" sz="180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82">
                <a:solidFill>
                  <a:srgbClr val="000000"/>
                </a:solidFill>
                <a:latin typeface="Arial MT"/>
              </a:rPr>
              <a:t>model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8" name="object 4"/>
          <p:cNvPicPr/>
          <p:nvPr/>
        </p:nvPicPr>
        <p:blipFill>
          <a:blip r:embed="rId2"/>
          <a:stretch/>
        </p:blipFill>
        <p:spPr>
          <a:xfrm>
            <a:off x="3041872" y="1760288"/>
            <a:ext cx="3935738" cy="3729601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859007"/>
          </a:xfrm>
          <a:prstGeom prst="rect">
            <a:avLst/>
          </a:prstGeom>
          <a:noFill/>
          <a:ln w="0">
            <a:noFill/>
          </a:ln>
        </p:spPr>
        <p:txBody>
          <a:bodyPr lIns="0" tIns="71300" rIns="0" bIns="0" anchor="t">
            <a:spAutoFit/>
          </a:bodyPr>
          <a:lstStyle/>
          <a:p>
            <a:pPr marL="6679">
              <a:lnSpc>
                <a:spcPct val="100000"/>
              </a:lnSpc>
              <a:spcBef>
                <a:spcPts val="50"/>
              </a:spcBef>
            </a:pPr>
            <a:r>
              <a:rPr lang="fr-FR" sz="5114" b="1">
                <a:solidFill>
                  <a:schemeClr val="dk1"/>
                </a:solidFill>
                <a:latin typeface="Arial"/>
              </a:rPr>
              <a:t>Mathematical</a:t>
            </a:r>
            <a:r>
              <a:rPr lang="fr-FR" sz="5114" b="1" spc="-325">
                <a:solidFill>
                  <a:schemeClr val="dk1"/>
                </a:solidFill>
                <a:latin typeface="Arial"/>
              </a:rPr>
              <a:t> </a:t>
            </a:r>
            <a:r>
              <a:rPr lang="fr-FR" sz="5114" b="1" spc="-6">
                <a:solidFill>
                  <a:schemeClr val="dk1"/>
                </a:solidFill>
                <a:latin typeface="Arial"/>
              </a:rPr>
              <a:t>Models</a:t>
            </a:r>
            <a:endParaRPr lang="fr-FR" sz="5114"/>
          </a:p>
        </p:txBody>
      </p:sp>
      <p:sp>
        <p:nvSpPr>
          <p:cNvPr id="210" name="object 3"/>
          <p:cNvSpPr/>
          <p:nvPr/>
        </p:nvSpPr>
        <p:spPr>
          <a:xfrm>
            <a:off x="14798" y="1530685"/>
            <a:ext cx="9523461" cy="32677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33031" indent="-225811">
              <a:spcBef>
                <a:spcPts val="4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3031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Pros: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569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40246" algn="l"/>
              </a:tabLst>
            </a:pPr>
            <a:r>
              <a:rPr lang="fr-FR" sz="1855" spc="-20">
                <a:solidFill>
                  <a:srgbClr val="000000"/>
                </a:solidFill>
                <a:latin typeface="Arial MT"/>
              </a:rPr>
              <a:t>Forces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be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clear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3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>
                <a:solidFill>
                  <a:srgbClr val="000000"/>
                </a:solidFill>
                <a:latin typeface="Arial MT"/>
              </a:rPr>
              <a:t>your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assumptions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mechanisms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839885" lvl="1" indent="-235558">
              <a:lnSpc>
                <a:spcPct val="113000"/>
              </a:lnSpc>
              <a:spcBef>
                <a:spcPts val="1549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40788" algn="l"/>
              </a:tabLst>
            </a:pPr>
            <a:r>
              <a:rPr lang="fr-FR" sz="1855" spc="36">
                <a:solidFill>
                  <a:srgbClr val="000000"/>
                </a:solidFill>
                <a:latin typeface="Arial MT"/>
              </a:rPr>
              <a:t>Allows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clear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000000"/>
                </a:solidFill>
                <a:latin typeface="Arial"/>
              </a:rPr>
              <a:t>predictions</a:t>
            </a:r>
            <a:r>
              <a:rPr lang="fr-FR" sz="1855" b="1" spc="-6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(you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95">
                <a:solidFill>
                  <a:srgbClr val="000000"/>
                </a:solidFill>
                <a:latin typeface="Arial MT"/>
              </a:rPr>
              <a:t>don't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just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observe,</a:t>
            </a:r>
            <a:r>
              <a:rPr lang="fr-FR" sz="1855" spc="-6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3">
                <a:solidFill>
                  <a:srgbClr val="000000"/>
                </a:solidFill>
                <a:latin typeface="Arial MT"/>
              </a:rPr>
              <a:t>know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will 	</a:t>
            </a:r>
            <a:r>
              <a:rPr lang="fr-FR" sz="1855" spc="60">
                <a:solidFill>
                  <a:srgbClr val="000000"/>
                </a:solidFill>
                <a:latin typeface="Arial MT"/>
              </a:rPr>
              <a:t>happen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if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5">
                <a:solidFill>
                  <a:srgbClr val="000000"/>
                </a:solidFill>
                <a:latin typeface="Arial MT"/>
              </a:rPr>
              <a:t>group</a:t>
            </a:r>
            <a:r>
              <a:rPr lang="fr-FR" sz="185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size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increases</a:t>
            </a:r>
            <a:r>
              <a:rPr lang="fr-FR" sz="185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73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85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if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there's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shock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3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demand)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tabLst>
                <a:tab pos="840788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453"/>
              </a:spcBef>
              <a:tabLst>
                <a:tab pos="840788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Cons: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611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840246" algn="l"/>
              </a:tabLst>
            </a:pPr>
            <a:r>
              <a:rPr lang="fr-FR" sz="1855" spc="50">
                <a:solidFill>
                  <a:srgbClr val="000000"/>
                </a:solidFill>
                <a:latin typeface="Arial MT"/>
              </a:rPr>
              <a:t>Often</a:t>
            </a:r>
            <a:r>
              <a:rPr lang="fr-FR" sz="1855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requires</a:t>
            </a:r>
            <a:r>
              <a:rPr lang="fr-FR" sz="1855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(over-)simplify</a:t>
            </a:r>
            <a:r>
              <a:rPr lang="fr-FR" sz="1855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reality</a:t>
            </a:r>
            <a:r>
              <a:rPr lang="fr-FR" sz="1855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(is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60">
                <a:solidFill>
                  <a:srgbClr val="000000"/>
                </a:solidFill>
                <a:latin typeface="Arial MT"/>
              </a:rPr>
              <a:t>it</a:t>
            </a:r>
            <a:r>
              <a:rPr lang="fr-FR" sz="1855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problem?)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840246" lvl="1" indent="-235558">
              <a:spcBef>
                <a:spcPts val="1825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840246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If</a:t>
            </a:r>
            <a:r>
              <a:rPr lang="fr-FR" sz="1855" spc="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assumptions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bad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0">
                <a:solidFill>
                  <a:srgbClr val="000000"/>
                </a:solidFill>
                <a:latin typeface="Arial MT"/>
              </a:rPr>
              <a:t>model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bad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7">
                <a:solidFill>
                  <a:srgbClr val="000000"/>
                </a:solidFill>
                <a:latin typeface="Arial MT"/>
              </a:rPr>
              <a:t>(not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really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78">
                <a:solidFill>
                  <a:srgbClr val="000000"/>
                </a:solidFill>
                <a:latin typeface="Arial MT"/>
              </a:rPr>
              <a:t>problem</a:t>
            </a:r>
            <a:r>
              <a:rPr lang="fr-FR" sz="1855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either)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1422920" y="-40433"/>
            <a:ext cx="7234654" cy="721714"/>
          </a:xfrm>
          <a:prstGeom prst="rect">
            <a:avLst/>
          </a:prstGeom>
          <a:noFill/>
          <a:ln w="0">
            <a:noFill/>
          </a:ln>
        </p:spPr>
        <p:txBody>
          <a:bodyPr lIns="0" tIns="6137" rIns="0" bIns="0" anchor="t">
            <a:spAutoFit/>
          </a:bodyPr>
          <a:lstStyle/>
          <a:p>
            <a:pPr marL="1886447" indent="-1880491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805" b="1" spc="-6">
                <a:solidFill>
                  <a:schemeClr val="dk1"/>
                </a:solidFill>
                <a:latin typeface="Arial"/>
              </a:rPr>
              <a:t>These</a:t>
            </a:r>
            <a:r>
              <a:rPr lang="fr-FR" sz="1805" b="1" spc="-17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30">
                <a:solidFill>
                  <a:schemeClr val="dk1"/>
                </a:solidFill>
                <a:latin typeface="Arial"/>
              </a:rPr>
              <a:t>methods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26">
                <a:solidFill>
                  <a:schemeClr val="dk1"/>
                </a:solidFill>
                <a:latin typeface="Arial"/>
              </a:rPr>
              <a:t>are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>
                <a:solidFill>
                  <a:schemeClr val="dk1"/>
                </a:solidFill>
                <a:latin typeface="Arial"/>
              </a:rPr>
              <a:t>used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>
                <a:solidFill>
                  <a:schemeClr val="dk1"/>
                </a:solidFill>
                <a:latin typeface="Arial"/>
              </a:rPr>
              <a:t>in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33">
                <a:solidFill>
                  <a:schemeClr val="dk1"/>
                </a:solidFill>
                <a:latin typeface="Arial"/>
              </a:rPr>
              <a:t>all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>
                <a:solidFill>
                  <a:schemeClr val="dk1"/>
                </a:solidFill>
                <a:latin typeface="Arial"/>
              </a:rPr>
              <a:t>disciplines,</a:t>
            </a:r>
            <a:r>
              <a:rPr lang="fr-FR" sz="1805" b="1" spc="-75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56">
                <a:solidFill>
                  <a:schemeClr val="dk1"/>
                </a:solidFill>
                <a:latin typeface="Arial"/>
              </a:rPr>
              <a:t>but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>
                <a:solidFill>
                  <a:schemeClr val="dk1"/>
                </a:solidFill>
                <a:latin typeface="Arial"/>
              </a:rPr>
              <a:t>each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>
                <a:solidFill>
                  <a:schemeClr val="dk1"/>
                </a:solidFill>
                <a:latin typeface="Arial"/>
              </a:rPr>
              <a:t>discipline</a:t>
            </a:r>
            <a:r>
              <a:rPr lang="fr-FR" sz="1805" b="1" spc="-1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-13">
                <a:solidFill>
                  <a:schemeClr val="dk1"/>
                </a:solidFill>
                <a:latin typeface="Arial"/>
              </a:rPr>
              <a:t>has </a:t>
            </a:r>
            <a:r>
              <a:rPr lang="fr-FR" sz="1805" b="1" spc="46">
                <a:solidFill>
                  <a:schemeClr val="dk1"/>
                </a:solidFill>
                <a:latin typeface="Arial"/>
              </a:rPr>
              <a:t>more</a:t>
            </a:r>
            <a:r>
              <a:rPr lang="fr-FR" sz="1805" b="1" spc="-4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48">
                <a:solidFill>
                  <a:schemeClr val="dk1"/>
                </a:solidFill>
                <a:latin typeface="Arial"/>
              </a:rPr>
              <a:t>predominant</a:t>
            </a:r>
            <a:r>
              <a:rPr lang="fr-FR" sz="1805" b="1" spc="-46">
                <a:solidFill>
                  <a:schemeClr val="dk1"/>
                </a:solidFill>
                <a:latin typeface="Arial"/>
              </a:rPr>
              <a:t> </a:t>
            </a:r>
            <a:r>
              <a:rPr lang="fr-FR" sz="1805" b="1" spc="-6">
                <a:solidFill>
                  <a:schemeClr val="dk1"/>
                </a:solidFill>
                <a:latin typeface="Arial"/>
              </a:rPr>
              <a:t>approaches</a:t>
            </a:r>
            <a:endParaRPr lang="fr-FR" sz="1805"/>
          </a:p>
        </p:txBody>
      </p:sp>
      <p:sp>
        <p:nvSpPr>
          <p:cNvPr id="212" name="object 3"/>
          <p:cNvSpPr/>
          <p:nvPr/>
        </p:nvSpPr>
        <p:spPr>
          <a:xfrm>
            <a:off x="14798" y="1118230"/>
            <a:ext cx="7467686" cy="41246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0433" rIns="0" bIns="0" anchor="t">
            <a:spAutoFit/>
          </a:bodyPr>
          <a:lstStyle/>
          <a:p>
            <a:pPr marL="233031" indent="-225811">
              <a:spcBef>
                <a:spcPts val="31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3031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Sociology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783207" lvl="1" indent="-178699">
              <a:spcBef>
                <a:spcPts val="587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83207" algn="l"/>
              </a:tabLst>
            </a:pPr>
            <a:r>
              <a:rPr lang="fr-FR" sz="1404" spc="27">
                <a:solidFill>
                  <a:srgbClr val="000000"/>
                </a:solidFill>
                <a:latin typeface="Arial MT"/>
              </a:rPr>
              <a:t>Mix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404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0">
                <a:solidFill>
                  <a:srgbClr val="000000"/>
                </a:solidFill>
                <a:latin typeface="Arial MT"/>
              </a:rPr>
              <a:t>descriptive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statistics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26">
                <a:solidFill>
                  <a:srgbClr val="000000"/>
                </a:solidFill>
                <a:latin typeface="Arial MT"/>
              </a:rPr>
              <a:t>qualitative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6">
                <a:solidFill>
                  <a:srgbClr val="000000"/>
                </a:solidFill>
                <a:latin typeface="Arial MT"/>
              </a:rPr>
              <a:t>work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112">
                <a:solidFill>
                  <a:srgbClr val="000000"/>
                </a:solidFill>
                <a:latin typeface="Arial MT"/>
              </a:rPr>
              <a:t>+</a:t>
            </a:r>
            <a:r>
              <a:rPr lang="fr-FR" sz="1404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some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404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inference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005"/>
              </a:spcBef>
              <a:tabLst>
                <a:tab pos="783207" algn="l"/>
              </a:tabLst>
            </a:pP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>
                <a:solidFill>
                  <a:srgbClr val="000000"/>
                </a:solidFill>
                <a:latin typeface="Arial MT"/>
              </a:rPr>
              <a:t>Political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Science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783207" lvl="1" indent="-178699">
              <a:spcBef>
                <a:spcPts val="630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783207" algn="l"/>
              </a:tabLst>
            </a:pPr>
            <a:r>
              <a:rPr lang="fr-FR" sz="1404" spc="27">
                <a:solidFill>
                  <a:srgbClr val="000000"/>
                </a:solidFill>
                <a:latin typeface="Arial MT"/>
              </a:rPr>
              <a:t>Mix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404" spc="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404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inference</a:t>
            </a:r>
            <a:r>
              <a:rPr lang="fr-FR" sz="1404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26">
                <a:solidFill>
                  <a:srgbClr val="000000"/>
                </a:solidFill>
                <a:latin typeface="Arial MT"/>
              </a:rPr>
              <a:t>qualitative</a:t>
            </a:r>
            <a:r>
              <a:rPr lang="fr-FR" sz="1404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6">
                <a:solidFill>
                  <a:srgbClr val="000000"/>
                </a:solidFill>
                <a:latin typeface="Arial MT"/>
              </a:rPr>
              <a:t>work</a:t>
            </a:r>
            <a:r>
              <a:rPr lang="fr-FR" sz="1404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112">
                <a:solidFill>
                  <a:srgbClr val="000000"/>
                </a:solidFill>
                <a:latin typeface="Arial MT"/>
              </a:rPr>
              <a:t>+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 some</a:t>
            </a:r>
            <a:r>
              <a:rPr lang="fr-FR" sz="1404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mathematical</a:t>
            </a:r>
            <a:r>
              <a:rPr lang="fr-FR" sz="1404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50">
                <a:solidFill>
                  <a:srgbClr val="000000"/>
                </a:solidFill>
                <a:latin typeface="Arial MT"/>
              </a:rPr>
              <a:t>modeling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005"/>
              </a:spcBef>
              <a:tabLst>
                <a:tab pos="783207" algn="l"/>
              </a:tabLst>
            </a:pP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Economics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783207" lvl="1" indent="-178699">
              <a:spcBef>
                <a:spcPts val="630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783207" algn="l"/>
              </a:tabLst>
            </a:pPr>
            <a:r>
              <a:rPr lang="fr-FR" sz="1404" spc="27">
                <a:solidFill>
                  <a:srgbClr val="000000"/>
                </a:solidFill>
                <a:latin typeface="Arial MT"/>
              </a:rPr>
              <a:t>Mix</a:t>
            </a:r>
            <a:r>
              <a:rPr lang="fr-FR" sz="1404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404" spc="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-6">
                <a:solidFill>
                  <a:srgbClr val="000000"/>
                </a:solidFill>
                <a:latin typeface="Arial MT"/>
              </a:rPr>
              <a:t>causal</a:t>
            </a:r>
            <a:r>
              <a:rPr lang="fr-FR" sz="1404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inference</a:t>
            </a:r>
            <a:r>
              <a:rPr lang="fr-FR" sz="1404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404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mathematical</a:t>
            </a:r>
            <a:r>
              <a:rPr lang="fr-FR" sz="1404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6">
                <a:solidFill>
                  <a:srgbClr val="000000"/>
                </a:solidFill>
                <a:latin typeface="Arial MT"/>
              </a:rPr>
              <a:t>modeling,</a:t>
            </a:r>
            <a:r>
              <a:rPr lang="fr-FR" sz="1404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65">
                <a:solidFill>
                  <a:srgbClr val="000000"/>
                </a:solidFill>
                <a:latin typeface="Arial MT"/>
              </a:rPr>
              <a:t>but</a:t>
            </a:r>
            <a:r>
              <a:rPr lang="fr-FR" sz="1404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increasingly</a:t>
            </a:r>
            <a:r>
              <a:rPr lang="fr-FR" sz="1404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26">
                <a:solidFill>
                  <a:srgbClr val="000000"/>
                </a:solidFill>
                <a:latin typeface="Arial MT"/>
              </a:rPr>
              <a:t>experimental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005"/>
              </a:spcBef>
              <a:tabLst>
                <a:tab pos="783207" algn="l"/>
              </a:tabLst>
            </a:pP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 spc="30">
                <a:solidFill>
                  <a:srgbClr val="000000"/>
                </a:solidFill>
                <a:latin typeface="Arial MT"/>
              </a:rPr>
              <a:t>Anthropology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783207" lvl="1" indent="-178699">
              <a:spcBef>
                <a:spcPts val="630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783207" algn="l"/>
              </a:tabLst>
            </a:pPr>
            <a:r>
              <a:rPr lang="fr-FR" sz="1404">
                <a:solidFill>
                  <a:srgbClr val="000000"/>
                </a:solidFill>
                <a:latin typeface="Arial MT"/>
              </a:rPr>
              <a:t>Known</a:t>
            </a:r>
            <a:r>
              <a:rPr lang="fr-FR" sz="1404" spc="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3">
                <a:solidFill>
                  <a:srgbClr val="000000"/>
                </a:solidFill>
                <a:latin typeface="Arial MT"/>
              </a:rPr>
              <a:t>for</a:t>
            </a:r>
            <a:r>
              <a:rPr lang="fr-FR" sz="1404" spc="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0">
                <a:solidFill>
                  <a:srgbClr val="000000"/>
                </a:solidFill>
                <a:latin typeface="Arial MT"/>
              </a:rPr>
              <a:t>participant</a:t>
            </a:r>
            <a:r>
              <a:rPr lang="fr-FR" sz="1404" spc="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observation</a:t>
            </a:r>
            <a:r>
              <a:rPr lang="fr-FR" sz="1404" spc="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(ethnographies),</a:t>
            </a:r>
            <a:r>
              <a:rPr lang="fr-FR" sz="1404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65">
                <a:solidFill>
                  <a:srgbClr val="000000"/>
                </a:solidFill>
                <a:latin typeface="Arial MT"/>
              </a:rPr>
              <a:t>but</a:t>
            </a:r>
            <a:r>
              <a:rPr lang="fr-FR" sz="1404" spc="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>
                <a:solidFill>
                  <a:srgbClr val="000000"/>
                </a:solidFill>
                <a:latin typeface="Arial MT"/>
              </a:rPr>
              <a:t>increasingly</a:t>
            </a:r>
            <a:r>
              <a:rPr lang="fr-FR" sz="1404" spc="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20">
                <a:solidFill>
                  <a:srgbClr val="000000"/>
                </a:solidFill>
                <a:latin typeface="Arial MT"/>
              </a:rPr>
              <a:t>quantitative</a:t>
            </a:r>
            <a:endParaRPr lang="fr-FR" sz="1404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3"/>
              </a:spcBef>
              <a:tabLst>
                <a:tab pos="783207" algn="l"/>
              </a:tabLst>
            </a:pPr>
            <a:endParaRPr lang="fr-FR" sz="1404">
              <a:solidFill>
                <a:srgbClr val="000000"/>
              </a:solidFill>
              <a:latin typeface="Arial"/>
            </a:endParaRPr>
          </a:p>
          <a:p>
            <a:pPr marL="232128" indent="-225811"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32128" algn="l"/>
              </a:tabLst>
            </a:pPr>
            <a:r>
              <a:rPr lang="fr-FR" sz="1780" spc="-6">
                <a:solidFill>
                  <a:srgbClr val="000000"/>
                </a:solidFill>
                <a:latin typeface="Arial MT"/>
              </a:rPr>
              <a:t>Psychology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783207" lvl="1" indent="-178699">
              <a:spcBef>
                <a:spcPts val="630"/>
              </a:spcBef>
              <a:buClr>
                <a:srgbClr val="000000"/>
              </a:buClr>
              <a:buSzPct val="123000"/>
              <a:buFont typeface="Arial MT"/>
              <a:buChar char="•"/>
              <a:tabLst>
                <a:tab pos="783207" algn="l"/>
              </a:tabLst>
            </a:pPr>
            <a:r>
              <a:rPr lang="fr-FR" sz="1404">
                <a:solidFill>
                  <a:srgbClr val="000000"/>
                </a:solidFill>
                <a:latin typeface="Arial MT"/>
              </a:rPr>
              <a:t>Known</a:t>
            </a:r>
            <a:r>
              <a:rPr lang="fr-FR" sz="1404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43">
                <a:solidFill>
                  <a:srgbClr val="000000"/>
                </a:solidFill>
                <a:latin typeface="Arial MT"/>
              </a:rPr>
              <a:t>for</a:t>
            </a:r>
            <a:r>
              <a:rPr lang="fr-FR" sz="1404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0">
                <a:solidFill>
                  <a:srgbClr val="000000"/>
                </a:solidFill>
                <a:latin typeface="Arial MT"/>
              </a:rPr>
              <a:t>experimental</a:t>
            </a:r>
            <a:r>
              <a:rPr lang="fr-FR" sz="1404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04" spc="33">
                <a:solidFill>
                  <a:srgbClr val="000000"/>
                </a:solidFill>
                <a:latin typeface="Arial MT"/>
              </a:rPr>
              <a:t>methods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223823" y="156859"/>
            <a:ext cx="9622559" cy="633663"/>
          </a:xfrm>
          <a:prstGeom prst="rect">
            <a:avLst/>
          </a:prstGeom>
          <a:noFill/>
          <a:ln w="0">
            <a:noFill/>
          </a:ln>
        </p:spPr>
        <p:txBody>
          <a:bodyPr lIns="0" tIns="8664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68"/>
              </a:spcBef>
            </a:pPr>
            <a:r>
              <a:rPr lang="fr-FR" sz="4061" b="1" spc="-50">
                <a:solidFill>
                  <a:schemeClr val="dk1"/>
                </a:solidFill>
                <a:latin typeface="Arial"/>
              </a:rPr>
              <a:t>Theoretical</a:t>
            </a:r>
            <a:r>
              <a:rPr lang="fr-FR" sz="4061" b="1" spc="-249">
                <a:solidFill>
                  <a:schemeClr val="dk1"/>
                </a:solidFill>
                <a:latin typeface="Arial"/>
              </a:rPr>
              <a:t> </a:t>
            </a:r>
            <a:r>
              <a:rPr lang="fr-FR" sz="4061" b="1" spc="-20">
                <a:solidFill>
                  <a:schemeClr val="dk1"/>
                </a:solidFill>
                <a:latin typeface="Arial"/>
              </a:rPr>
              <a:t>paradigms</a:t>
            </a:r>
            <a:r>
              <a:rPr lang="fr-FR" sz="4061" b="1" spc="-249">
                <a:solidFill>
                  <a:schemeClr val="dk1"/>
                </a:solidFill>
                <a:latin typeface="Arial"/>
              </a:rPr>
              <a:t> </a:t>
            </a:r>
            <a:r>
              <a:rPr lang="fr-FR" sz="4061" b="1">
                <a:solidFill>
                  <a:schemeClr val="dk1"/>
                </a:solidFill>
                <a:latin typeface="Arial"/>
              </a:rPr>
              <a:t>in</a:t>
            </a:r>
            <a:r>
              <a:rPr lang="fr-FR" sz="4061" b="1" spc="-249">
                <a:solidFill>
                  <a:schemeClr val="dk1"/>
                </a:solidFill>
                <a:latin typeface="Arial"/>
              </a:rPr>
              <a:t> </a:t>
            </a:r>
            <a:r>
              <a:rPr lang="fr-FR" sz="4061" b="1" spc="-118">
                <a:solidFill>
                  <a:schemeClr val="dk1"/>
                </a:solidFill>
                <a:latin typeface="Arial"/>
              </a:rPr>
              <a:t>social</a:t>
            </a:r>
            <a:r>
              <a:rPr lang="fr-FR" sz="4061" b="1" spc="-249">
                <a:solidFill>
                  <a:schemeClr val="dk1"/>
                </a:solidFill>
                <a:latin typeface="Arial"/>
              </a:rPr>
              <a:t> </a:t>
            </a:r>
            <a:r>
              <a:rPr lang="fr-FR" sz="4061" b="1" spc="-167">
                <a:solidFill>
                  <a:schemeClr val="dk1"/>
                </a:solidFill>
                <a:latin typeface="Arial"/>
              </a:rPr>
              <a:t>sciences</a:t>
            </a:r>
            <a:endParaRPr lang="fr-FR" sz="4061"/>
          </a:p>
        </p:txBody>
      </p:sp>
      <p:sp>
        <p:nvSpPr>
          <p:cNvPr id="217" name="object 3"/>
          <p:cNvSpPr/>
          <p:nvPr/>
        </p:nvSpPr>
        <p:spPr>
          <a:xfrm>
            <a:off x="306133" y="1219494"/>
            <a:ext cx="9391332" cy="38717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7473" rIns="0" bIns="0" anchor="t">
            <a:spAutoFit/>
          </a:bodyPr>
          <a:lstStyle/>
          <a:p>
            <a:pPr marL="6318">
              <a:lnSpc>
                <a:spcPts val="2612"/>
              </a:lnSpc>
              <a:spcBef>
                <a:spcPts val="374"/>
              </a:spcBef>
            </a:pPr>
            <a:r>
              <a:rPr lang="fr-FR" sz="2407" spc="8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2407" spc="-18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b="1" spc="-20">
                <a:solidFill>
                  <a:srgbClr val="00AB8E"/>
                </a:solidFill>
                <a:latin typeface="Arial"/>
              </a:rPr>
              <a:t>theoretical</a:t>
            </a:r>
            <a:r>
              <a:rPr lang="fr-FR" sz="2407" b="1" spc="-143">
                <a:solidFill>
                  <a:srgbClr val="00AB8E"/>
                </a:solidFill>
                <a:latin typeface="Arial"/>
              </a:rPr>
              <a:t> </a:t>
            </a:r>
            <a:r>
              <a:rPr lang="fr-FR" sz="2407" b="1">
                <a:solidFill>
                  <a:srgbClr val="00AB8E"/>
                </a:solidFill>
                <a:latin typeface="Arial"/>
              </a:rPr>
              <a:t>paradigm</a:t>
            </a:r>
            <a:r>
              <a:rPr lang="fr-FR" sz="2407" b="1" spc="-141">
                <a:solidFill>
                  <a:srgbClr val="00AB8E"/>
                </a:solidFill>
                <a:latin typeface="Arial"/>
              </a:rPr>
              <a:t> </a:t>
            </a:r>
            <a:r>
              <a:rPr lang="fr-FR" sz="2407" spc="196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57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36">
                <a:solidFill>
                  <a:srgbClr val="000000"/>
                </a:solidFill>
                <a:latin typeface="Arial MT"/>
              </a:rPr>
              <a:t>set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5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407" spc="-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b="1" spc="-46">
                <a:solidFill>
                  <a:srgbClr val="000000"/>
                </a:solidFill>
                <a:latin typeface="Arial"/>
              </a:rPr>
              <a:t>core</a:t>
            </a:r>
            <a:r>
              <a:rPr lang="fr-FR" sz="2407" b="1" spc="-143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 spc="-48">
                <a:solidFill>
                  <a:srgbClr val="000000"/>
                </a:solidFill>
                <a:latin typeface="Arial"/>
              </a:rPr>
              <a:t>hypotheses</a:t>
            </a:r>
            <a:r>
              <a:rPr lang="fr-FR" sz="2407" b="1" spc="-143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spc="43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b="1" spc="33">
                <a:solidFill>
                  <a:srgbClr val="000000"/>
                </a:solidFill>
                <a:latin typeface="Arial"/>
              </a:rPr>
              <a:t>how </a:t>
            </a:r>
            <a:r>
              <a:rPr lang="fr-FR" sz="2407" b="1" spc="-27">
                <a:solidFill>
                  <a:srgbClr val="000000"/>
                </a:solidFill>
                <a:latin typeface="Arial"/>
              </a:rPr>
              <a:t>human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 spc="-10">
                <a:solidFill>
                  <a:srgbClr val="000000"/>
                </a:solidFill>
                <a:latin typeface="Arial"/>
              </a:rPr>
              <a:t>behaviour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>
                <a:solidFill>
                  <a:srgbClr val="000000"/>
                </a:solidFill>
                <a:latin typeface="Arial"/>
              </a:rPr>
              <a:t>and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 spc="-57">
                <a:solidFill>
                  <a:srgbClr val="000000"/>
                </a:solidFill>
                <a:latin typeface="Arial"/>
              </a:rPr>
              <a:t>society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b="1" spc="60">
                <a:solidFill>
                  <a:srgbClr val="000000"/>
                </a:solidFill>
                <a:latin typeface="Arial"/>
              </a:rPr>
              <a:t>work</a:t>
            </a:r>
            <a:r>
              <a:rPr lang="fr-FR" sz="2407" b="1" spc="-145">
                <a:solidFill>
                  <a:srgbClr val="000000"/>
                </a:solidFill>
                <a:latin typeface="Arial"/>
              </a:rPr>
              <a:t> </a:t>
            </a:r>
            <a:r>
              <a:rPr lang="fr-FR" sz="2407" spc="40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2407" spc="-14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general,</a:t>
            </a:r>
            <a:r>
              <a:rPr lang="fr-FR" sz="2407" spc="-2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68">
                <a:solidFill>
                  <a:srgbClr val="000000"/>
                </a:solidFill>
                <a:latin typeface="Arial MT"/>
              </a:rPr>
              <a:t>on</a:t>
            </a:r>
            <a:r>
              <a:rPr lang="fr-FR" sz="2407" spc="-14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407" spc="-14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56">
                <a:solidFill>
                  <a:srgbClr val="000000"/>
                </a:solidFill>
                <a:latin typeface="Arial MT"/>
              </a:rPr>
              <a:t>basis</a:t>
            </a:r>
            <a:r>
              <a:rPr lang="fr-FR" sz="2407" spc="-14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5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407" spc="-8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which </a:t>
            </a:r>
            <a:r>
              <a:rPr lang="fr-FR" sz="2407">
                <a:solidFill>
                  <a:srgbClr val="000000"/>
                </a:solidFill>
                <a:latin typeface="Arial MT"/>
              </a:rPr>
              <a:t>we</a:t>
            </a:r>
            <a:r>
              <a:rPr lang="fr-FR" sz="2407" spc="-13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36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>
                <a:solidFill>
                  <a:srgbClr val="000000"/>
                </a:solidFill>
                <a:latin typeface="Arial MT"/>
              </a:rPr>
              <a:t>generate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23">
                <a:solidFill>
                  <a:srgbClr val="000000"/>
                </a:solidFill>
                <a:latin typeface="Arial MT"/>
              </a:rPr>
              <a:t>hypotheses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85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explain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10">
                <a:solidFill>
                  <a:srgbClr val="000000"/>
                </a:solidFill>
                <a:latin typeface="Arial MT"/>
              </a:rPr>
              <a:t>some</a:t>
            </a:r>
            <a:r>
              <a:rPr lang="fr-FR" sz="2407" spc="-13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particular</a:t>
            </a:r>
            <a:r>
              <a:rPr lang="fr-FR" sz="2407" spc="-13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407" spc="-6">
                <a:solidFill>
                  <a:srgbClr val="000000"/>
                </a:solidFill>
                <a:latin typeface="Arial MT"/>
              </a:rPr>
              <a:t>phenomena</a:t>
            </a:r>
            <a:endParaRPr lang="fr-FR" sz="2407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23"/>
              </a:spcBef>
            </a:pPr>
            <a:endParaRPr lang="fr-FR" sz="2407">
              <a:solidFill>
                <a:srgbClr val="000000"/>
              </a:solidFill>
              <a:latin typeface="Arial"/>
            </a:endParaRPr>
          </a:p>
          <a:p>
            <a:pPr marL="19133">
              <a:spcBef>
                <a:spcPts val="3"/>
              </a:spcBef>
            </a:pPr>
            <a:r>
              <a:rPr lang="fr-FR" sz="2532" spc="-53">
                <a:solidFill>
                  <a:srgbClr val="000000"/>
                </a:solidFill>
                <a:latin typeface="Arial MT"/>
              </a:rPr>
              <a:t>There</a:t>
            </a:r>
            <a:r>
              <a:rPr lang="fr-FR" sz="2532" spc="-1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532" spc="-70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2532" spc="-1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532" b="1" spc="-13">
                <a:solidFill>
                  <a:srgbClr val="000000"/>
                </a:solidFill>
                <a:latin typeface="Arial"/>
              </a:rPr>
              <a:t>no</a:t>
            </a:r>
            <a:r>
              <a:rPr lang="fr-FR" sz="2532" b="1" spc="-153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>
                <a:solidFill>
                  <a:srgbClr val="000000"/>
                </a:solidFill>
                <a:latin typeface="Arial"/>
              </a:rPr>
              <a:t>unified</a:t>
            </a:r>
            <a:r>
              <a:rPr lang="fr-FR" sz="2532" b="1" spc="-153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>
                <a:solidFill>
                  <a:srgbClr val="000000"/>
                </a:solidFill>
                <a:latin typeface="Arial"/>
              </a:rPr>
              <a:t>paradigm</a:t>
            </a:r>
            <a:r>
              <a:rPr lang="fr-FR" sz="2532" b="1" spc="-150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 spc="-6">
                <a:solidFill>
                  <a:srgbClr val="000000"/>
                </a:solidFill>
                <a:latin typeface="Arial"/>
              </a:rPr>
              <a:t>in</a:t>
            </a:r>
            <a:r>
              <a:rPr lang="fr-FR" sz="2532" b="1" spc="-153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 spc="-82">
                <a:solidFill>
                  <a:srgbClr val="000000"/>
                </a:solidFill>
                <a:latin typeface="Arial"/>
              </a:rPr>
              <a:t>social</a:t>
            </a:r>
            <a:r>
              <a:rPr lang="fr-FR" sz="2532" b="1" spc="-153">
                <a:solidFill>
                  <a:srgbClr val="000000"/>
                </a:solidFill>
                <a:latin typeface="Arial"/>
              </a:rPr>
              <a:t> </a:t>
            </a:r>
            <a:r>
              <a:rPr lang="fr-FR" sz="2532" b="1" spc="-6">
                <a:solidFill>
                  <a:srgbClr val="000000"/>
                </a:solidFill>
                <a:latin typeface="Arial"/>
              </a:rPr>
              <a:t>science</a:t>
            </a:r>
            <a:r>
              <a:rPr lang="fr-FR" sz="2532" spc="-6">
                <a:solidFill>
                  <a:srgbClr val="000000"/>
                </a:solidFill>
                <a:latin typeface="Arial MT"/>
              </a:rPr>
              <a:t>.</a:t>
            </a:r>
            <a:endParaRPr lang="fr-FR" sz="2532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324"/>
              </a:spcBef>
            </a:pPr>
            <a:endParaRPr lang="fr-FR" sz="2532">
              <a:solidFill>
                <a:srgbClr val="000000"/>
              </a:solidFill>
              <a:latin typeface="Arial"/>
            </a:endParaRPr>
          </a:p>
          <a:p>
            <a:pPr marL="83393">
              <a:lnSpc>
                <a:spcPts val="2512"/>
              </a:lnSpc>
            </a:pPr>
            <a:r>
              <a:rPr lang="fr-FR" sz="2281" b="1" spc="65">
                <a:solidFill>
                  <a:srgbClr val="000000"/>
                </a:solidFill>
                <a:latin typeface="Arial"/>
              </a:rPr>
              <a:t>It</a:t>
            </a:r>
            <a:r>
              <a:rPr lang="fr-FR" sz="2281" b="1" spc="-131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101">
                <a:solidFill>
                  <a:srgbClr val="000000"/>
                </a:solidFill>
                <a:latin typeface="Arial"/>
              </a:rPr>
              <a:t>is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10">
                <a:solidFill>
                  <a:srgbClr val="000000"/>
                </a:solidFill>
                <a:latin typeface="Arial"/>
              </a:rPr>
              <a:t>common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50">
                <a:solidFill>
                  <a:srgbClr val="000000"/>
                </a:solidFill>
                <a:latin typeface="Arial"/>
              </a:rPr>
              <a:t>to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36">
                <a:solidFill>
                  <a:srgbClr val="000000"/>
                </a:solidFill>
                <a:latin typeface="Arial"/>
              </a:rPr>
              <a:t>distinguish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85">
                <a:solidFill>
                  <a:srgbClr val="000000"/>
                </a:solidFill>
                <a:latin typeface="Arial"/>
              </a:rPr>
              <a:t>two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>
                <a:solidFill>
                  <a:srgbClr val="000000"/>
                </a:solidFill>
                <a:latin typeface="Arial"/>
              </a:rPr>
              <a:t>broad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17">
                <a:solidFill>
                  <a:srgbClr val="000000"/>
                </a:solidFill>
                <a:latin typeface="Arial"/>
              </a:rPr>
              <a:t>‘families’</a:t>
            </a:r>
            <a:r>
              <a:rPr lang="fr-FR" sz="2281" b="1" spc="-128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 b="1" spc="-13">
                <a:solidFill>
                  <a:srgbClr val="000000"/>
                </a:solidFill>
                <a:latin typeface="Arial"/>
              </a:rPr>
              <a:t>of </a:t>
            </a:r>
            <a:r>
              <a:rPr lang="fr-FR" sz="2281" b="1" spc="-16">
                <a:solidFill>
                  <a:srgbClr val="000000"/>
                </a:solidFill>
                <a:latin typeface="Arial"/>
              </a:rPr>
              <a:t>paradigms</a:t>
            </a:r>
            <a:r>
              <a:rPr lang="fr-FR" sz="2281" b="1" spc="-75">
                <a:solidFill>
                  <a:srgbClr val="000000"/>
                </a:solidFill>
                <a:latin typeface="Arial"/>
              </a:rPr>
              <a:t> </a:t>
            </a:r>
            <a:r>
              <a:rPr lang="fr-FR" sz="2281">
                <a:solidFill>
                  <a:srgbClr val="000000"/>
                </a:solidFill>
                <a:latin typeface="Arial MT"/>
              </a:rPr>
              <a:t>(although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 spc="3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>
                <a:solidFill>
                  <a:srgbClr val="000000"/>
                </a:solidFill>
                <a:latin typeface="Arial MT"/>
              </a:rPr>
              <a:t>distinction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 spc="-57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>
                <a:solidFill>
                  <a:srgbClr val="000000"/>
                </a:solidFill>
                <a:latin typeface="Arial MT"/>
              </a:rPr>
              <a:t>somewhat</a:t>
            </a:r>
            <a:r>
              <a:rPr lang="fr-FR" sz="2281" spc="-7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81" spc="-6">
                <a:solidFill>
                  <a:srgbClr val="000000"/>
                </a:solidFill>
                <a:latin typeface="Arial MT"/>
              </a:rPr>
              <a:t>artificial!)</a:t>
            </a:r>
            <a:endParaRPr lang="fr-FR" sz="2281">
              <a:solidFill>
                <a:srgbClr val="000000"/>
              </a:solidFill>
              <a:latin typeface="Arial"/>
            </a:endParaRPr>
          </a:p>
          <a:p>
            <a:pPr marL="921653" indent="-221298">
              <a:spcBef>
                <a:spcPts val="1832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921653" algn="l"/>
              </a:tabLst>
            </a:pPr>
            <a:r>
              <a:rPr lang="fr-FR" sz="1730" spc="53">
                <a:solidFill>
                  <a:srgbClr val="000000"/>
                </a:solidFill>
                <a:latin typeface="Arial MT"/>
              </a:rPr>
              <a:t>“Individualistic”</a:t>
            </a:r>
            <a:r>
              <a:rPr lang="fr-FR" sz="1730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37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730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60">
                <a:solidFill>
                  <a:srgbClr val="000000"/>
                </a:solidFill>
                <a:latin typeface="Arial MT"/>
              </a:rPr>
              <a:t>“agentic</a:t>
            </a:r>
            <a:r>
              <a:rPr lang="fr-FR" sz="1730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20">
                <a:solidFill>
                  <a:srgbClr val="000000"/>
                </a:solidFill>
                <a:latin typeface="Arial MT"/>
              </a:rPr>
              <a:t>approaches”</a:t>
            </a:r>
            <a:endParaRPr lang="fr-FR" sz="1730">
              <a:solidFill>
                <a:srgbClr val="000000"/>
              </a:solidFill>
              <a:latin typeface="Arial"/>
            </a:endParaRPr>
          </a:p>
          <a:p>
            <a:pPr marL="974902" lvl="1" indent="-221298">
              <a:spcBef>
                <a:spcPts val="1815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974902" algn="l"/>
              </a:tabLst>
            </a:pPr>
            <a:r>
              <a:rPr lang="fr-FR" sz="1730" spc="80">
                <a:solidFill>
                  <a:srgbClr val="000000"/>
                </a:solidFill>
                <a:latin typeface="Arial MT"/>
              </a:rPr>
              <a:t>“Holistic”</a:t>
            </a:r>
            <a:r>
              <a:rPr lang="fr-FR" sz="1730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37">
                <a:solidFill>
                  <a:srgbClr val="000000"/>
                </a:solidFill>
                <a:latin typeface="Arial MT"/>
              </a:rPr>
              <a:t>or</a:t>
            </a:r>
            <a:r>
              <a:rPr lang="fr-FR" sz="1730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57">
                <a:solidFill>
                  <a:srgbClr val="000000"/>
                </a:solidFill>
                <a:latin typeface="Arial MT"/>
              </a:rPr>
              <a:t>“culturalist”</a:t>
            </a:r>
            <a:r>
              <a:rPr lang="fr-FR" sz="1730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approaches</a:t>
            </a:r>
            <a:endParaRPr lang="fr-FR" sz="173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138805" y="134476"/>
            <a:ext cx="9359021" cy="846490"/>
          </a:xfrm>
          <a:prstGeom prst="rect">
            <a:avLst/>
          </a:prstGeom>
          <a:noFill/>
          <a:ln w="0">
            <a:noFill/>
          </a:ln>
        </p:spPr>
        <p:txBody>
          <a:bodyPr lIns="0" tIns="50903" rIns="0" bIns="0" anchor="t">
            <a:spAutoFit/>
          </a:bodyPr>
          <a:lstStyle/>
          <a:p>
            <a:pPr marL="6318">
              <a:lnSpc>
                <a:spcPts val="3144"/>
              </a:lnSpc>
              <a:spcBef>
                <a:spcPts val="401"/>
              </a:spcBef>
            </a:pPr>
            <a:r>
              <a:rPr lang="fr-FR" sz="2858" b="1" spc="82">
                <a:solidFill>
                  <a:schemeClr val="dk1"/>
                </a:solidFill>
                <a:latin typeface="Arial"/>
              </a:rPr>
              <a:t>It</a:t>
            </a:r>
            <a:r>
              <a:rPr lang="fr-FR" sz="2858" b="1" spc="-173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125">
                <a:solidFill>
                  <a:schemeClr val="dk1"/>
                </a:solidFill>
                <a:latin typeface="Arial"/>
              </a:rPr>
              <a:t>is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10">
                <a:solidFill>
                  <a:schemeClr val="dk1"/>
                </a:solidFill>
                <a:latin typeface="Arial"/>
              </a:rPr>
              <a:t>common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50">
                <a:solidFill>
                  <a:schemeClr val="dk1"/>
                </a:solidFill>
                <a:latin typeface="Arial"/>
              </a:rPr>
              <a:t>to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56">
                <a:solidFill>
                  <a:schemeClr val="dk1"/>
                </a:solidFill>
                <a:latin typeface="Arial"/>
              </a:rPr>
              <a:t>distinguish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108">
                <a:solidFill>
                  <a:schemeClr val="dk1"/>
                </a:solidFill>
                <a:latin typeface="Arial"/>
              </a:rPr>
              <a:t>two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>
                <a:solidFill>
                  <a:schemeClr val="dk1"/>
                </a:solidFill>
                <a:latin typeface="Arial"/>
              </a:rPr>
              <a:t>broad</a:t>
            </a:r>
            <a:r>
              <a:rPr lang="fr-FR" sz="2858" b="1" spc="-173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17">
                <a:solidFill>
                  <a:schemeClr val="dk1"/>
                </a:solidFill>
                <a:latin typeface="Arial"/>
              </a:rPr>
              <a:t>‘families’</a:t>
            </a:r>
            <a:r>
              <a:rPr lang="fr-FR" sz="2858" b="1" spc="-17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 b="1" spc="-13">
                <a:solidFill>
                  <a:schemeClr val="dk1"/>
                </a:solidFill>
                <a:latin typeface="Arial"/>
              </a:rPr>
              <a:t>of </a:t>
            </a:r>
            <a:r>
              <a:rPr lang="fr-FR" sz="2858" b="1" spc="-17">
                <a:solidFill>
                  <a:schemeClr val="dk1"/>
                </a:solidFill>
                <a:latin typeface="Arial"/>
              </a:rPr>
              <a:t>paradigms</a:t>
            </a:r>
            <a:r>
              <a:rPr lang="fr-FR" sz="2858" b="1" spc="-160">
                <a:solidFill>
                  <a:schemeClr val="dk1"/>
                </a:solidFill>
                <a:latin typeface="Arial"/>
              </a:rPr>
              <a:t> </a:t>
            </a:r>
            <a:r>
              <a:rPr lang="fr-FR" sz="2858">
                <a:solidFill>
                  <a:schemeClr val="dk1"/>
                </a:solidFill>
                <a:latin typeface="Arial MT"/>
              </a:rPr>
              <a:t>(although</a:t>
            </a:r>
            <a:r>
              <a:rPr lang="fr-FR" sz="2858" spc="-1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40">
                <a:solidFill>
                  <a:schemeClr val="dk1"/>
                </a:solidFill>
                <a:latin typeface="Arial MT"/>
              </a:rPr>
              <a:t>the</a:t>
            </a:r>
            <a:r>
              <a:rPr lang="fr-FR" sz="2858" spc="-1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27">
                <a:solidFill>
                  <a:schemeClr val="dk1"/>
                </a:solidFill>
                <a:latin typeface="Arial MT"/>
              </a:rPr>
              <a:t>distinction</a:t>
            </a:r>
            <a:r>
              <a:rPr lang="fr-FR" sz="2858" spc="-1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-70">
                <a:solidFill>
                  <a:schemeClr val="dk1"/>
                </a:solidFill>
                <a:latin typeface="Arial MT"/>
              </a:rPr>
              <a:t>is</a:t>
            </a:r>
            <a:r>
              <a:rPr lang="fr-FR" sz="2858" spc="-158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-13">
                <a:solidFill>
                  <a:schemeClr val="dk1"/>
                </a:solidFill>
                <a:latin typeface="Arial MT"/>
              </a:rPr>
              <a:t>somewhat</a:t>
            </a:r>
            <a:r>
              <a:rPr lang="fr-FR" sz="2858" spc="-160">
                <a:solidFill>
                  <a:schemeClr val="dk1"/>
                </a:solidFill>
                <a:latin typeface="Arial MT"/>
              </a:rPr>
              <a:t> </a:t>
            </a:r>
            <a:r>
              <a:rPr lang="fr-FR" sz="2858" spc="-6">
                <a:solidFill>
                  <a:schemeClr val="dk1"/>
                </a:solidFill>
                <a:latin typeface="Arial MT"/>
              </a:rPr>
              <a:t>artificial!)</a:t>
            </a:r>
            <a:endParaRPr lang="fr-FR" sz="2858"/>
          </a:p>
        </p:txBody>
      </p:sp>
      <p:grpSp>
        <p:nvGrpSpPr>
          <p:cNvPr id="219" name="object 3"/>
          <p:cNvGrpSpPr/>
          <p:nvPr/>
        </p:nvGrpSpPr>
        <p:grpSpPr>
          <a:xfrm>
            <a:off x="177" y="1159566"/>
            <a:ext cx="10080140" cy="4510467"/>
            <a:chOff x="0" y="2312640"/>
            <a:chExt cx="20103840" cy="8995680"/>
          </a:xfrm>
        </p:grpSpPr>
        <p:sp>
          <p:nvSpPr>
            <p:cNvPr id="220" name="object 4"/>
            <p:cNvSpPr/>
            <p:nvPr/>
          </p:nvSpPr>
          <p:spPr>
            <a:xfrm>
              <a:off x="0" y="2312640"/>
              <a:ext cx="20103840" cy="8995680"/>
            </a:xfrm>
            <a:custGeom>
              <a:avLst/>
              <a:gdLst>
                <a:gd name="textAreaLeft" fmla="*/ 0 w 20103840"/>
                <a:gd name="textAreaRight" fmla="*/ 20104200 w 20103840"/>
                <a:gd name="textAreaTop" fmla="*/ 0 h 8995680"/>
                <a:gd name="textAreaBottom" fmla="*/ 8996040 h 8995680"/>
              </a:gdLst>
              <a:ahLst/>
              <a:cxnLst/>
              <a:rect l="textAreaLeft" t="textAreaTop" r="textAreaRight" b="textAreaBottom"/>
              <a:pathLst>
                <a:path w="20104100" h="8996045">
                  <a:moveTo>
                    <a:pt x="20104100" y="1773364"/>
                  </a:moveTo>
                  <a:lnTo>
                    <a:pt x="10082746" y="1716024"/>
                  </a:lnTo>
                  <a:lnTo>
                    <a:pt x="10082746" y="78651"/>
                  </a:lnTo>
                  <a:lnTo>
                    <a:pt x="20104088" y="136004"/>
                  </a:lnTo>
                  <a:lnTo>
                    <a:pt x="20104088" y="115062"/>
                  </a:lnTo>
                  <a:lnTo>
                    <a:pt x="0" y="0"/>
                  </a:lnTo>
                  <a:lnTo>
                    <a:pt x="0" y="20942"/>
                  </a:lnTo>
                  <a:lnTo>
                    <a:pt x="10061804" y="78536"/>
                  </a:lnTo>
                  <a:lnTo>
                    <a:pt x="10061804" y="1715897"/>
                  </a:lnTo>
                  <a:lnTo>
                    <a:pt x="0" y="1658315"/>
                  </a:lnTo>
                  <a:lnTo>
                    <a:pt x="0" y="1679257"/>
                  </a:lnTo>
                  <a:lnTo>
                    <a:pt x="10061804" y="1736839"/>
                  </a:lnTo>
                  <a:lnTo>
                    <a:pt x="10061804" y="8995778"/>
                  </a:lnTo>
                  <a:lnTo>
                    <a:pt x="10082746" y="8995778"/>
                  </a:lnTo>
                  <a:lnTo>
                    <a:pt x="10082746" y="1736966"/>
                  </a:lnTo>
                  <a:lnTo>
                    <a:pt x="20104100" y="1794306"/>
                  </a:lnTo>
                  <a:lnTo>
                    <a:pt x="20104100" y="1773364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FFFFFF"/>
                </a:solidFill>
                <a:latin typeface="Arial"/>
              </a:endParaRPr>
            </a:p>
          </p:txBody>
        </p:sp>
        <p:pic>
          <p:nvPicPr>
            <p:cNvPr id="221" name="object 5"/>
            <p:cNvPicPr/>
            <p:nvPr/>
          </p:nvPicPr>
          <p:blipFill>
            <a:blip r:embed="rId2"/>
            <a:stretch/>
          </p:blipFill>
          <p:spPr>
            <a:xfrm>
              <a:off x="0" y="4005360"/>
              <a:ext cx="2098800" cy="3542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22" name="object 6"/>
          <p:cNvSpPr/>
          <p:nvPr/>
        </p:nvSpPr>
        <p:spPr>
          <a:xfrm>
            <a:off x="1458118" y="1445126"/>
            <a:ext cx="1766967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b="1" spc="20">
                <a:solidFill>
                  <a:srgbClr val="000000"/>
                </a:solidFill>
                <a:latin typeface="Arial"/>
              </a:rPr>
              <a:t>“Individualism”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object 7"/>
          <p:cNvSpPr/>
          <p:nvPr/>
        </p:nvSpPr>
        <p:spPr>
          <a:xfrm>
            <a:off x="7244759" y="1445126"/>
            <a:ext cx="1029241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b="1" spc="-6">
                <a:solidFill>
                  <a:srgbClr val="000000"/>
                </a:solidFill>
                <a:latin typeface="Arial"/>
              </a:rPr>
              <a:t>“Holism”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object 8"/>
          <p:cNvSpPr/>
          <p:nvPr/>
        </p:nvSpPr>
        <p:spPr>
          <a:xfrm>
            <a:off x="98011" y="3754872"/>
            <a:ext cx="562094" cy="5503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 indent="104512">
              <a:lnSpc>
                <a:spcPct val="133000"/>
              </a:lnSpc>
              <a:spcBef>
                <a:spcPts val="50"/>
              </a:spcBef>
              <a:tabLst>
                <a:tab pos="0" algn="l"/>
              </a:tabLst>
            </a:pPr>
            <a:r>
              <a:rPr lang="fr-FR" sz="1404" spc="-13">
                <a:solidFill>
                  <a:srgbClr val="000000"/>
                </a:solidFill>
                <a:latin typeface="Arial MT"/>
              </a:rPr>
              <a:t>Max </a:t>
            </a:r>
            <a:r>
              <a:rPr lang="fr-FR" sz="1404" spc="27">
                <a:solidFill>
                  <a:srgbClr val="000000"/>
                </a:solidFill>
                <a:latin typeface="Arial MT"/>
              </a:rPr>
              <a:t>Weber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5" name="object 9"/>
          <p:cNvPicPr/>
          <p:nvPr/>
        </p:nvPicPr>
        <p:blipFill>
          <a:blip r:embed="rId3"/>
          <a:stretch/>
        </p:blipFill>
        <p:spPr>
          <a:xfrm>
            <a:off x="8821292" y="2053609"/>
            <a:ext cx="1259025" cy="1604873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object 10"/>
          <p:cNvSpPr/>
          <p:nvPr/>
        </p:nvSpPr>
        <p:spPr>
          <a:xfrm>
            <a:off x="9069487" y="3616605"/>
            <a:ext cx="815162" cy="5503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318" rIns="0" bIns="0" anchor="t">
            <a:spAutoFit/>
          </a:bodyPr>
          <a:lstStyle/>
          <a:p>
            <a:pPr marL="6318" indent="173464">
              <a:lnSpc>
                <a:spcPct val="133000"/>
              </a:lnSpc>
              <a:spcBef>
                <a:spcPts val="50"/>
              </a:spcBef>
              <a:tabLst>
                <a:tab pos="0" algn="l"/>
              </a:tabLst>
            </a:pPr>
            <a:r>
              <a:rPr lang="fr-FR" sz="1404" spc="-6">
                <a:solidFill>
                  <a:srgbClr val="000000"/>
                </a:solidFill>
                <a:latin typeface="Arial MT"/>
              </a:rPr>
              <a:t>Emile </a:t>
            </a:r>
            <a:r>
              <a:rPr lang="fr-FR" sz="1404" spc="26">
                <a:solidFill>
                  <a:srgbClr val="000000"/>
                </a:solidFill>
                <a:latin typeface="Arial MT"/>
              </a:rPr>
              <a:t>Durkheim</a:t>
            </a:r>
            <a:endParaRPr lang="fr-FR" sz="1404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7" name="object 11"/>
          <p:cNvGrpSpPr/>
          <p:nvPr/>
        </p:nvGrpSpPr>
        <p:grpSpPr>
          <a:xfrm>
            <a:off x="1213353" y="2285017"/>
            <a:ext cx="2994945" cy="3307399"/>
            <a:chOff x="2419560" y="4557240"/>
            <a:chExt cx="5973120" cy="6596280"/>
          </a:xfrm>
        </p:grpSpPr>
        <p:sp>
          <p:nvSpPr>
            <p:cNvPr id="228" name="object 12"/>
            <p:cNvSpPr/>
            <p:nvPr/>
          </p:nvSpPr>
          <p:spPr>
            <a:xfrm>
              <a:off x="2419560" y="8994960"/>
              <a:ext cx="864000" cy="2158560"/>
            </a:xfrm>
            <a:custGeom>
              <a:avLst/>
              <a:gdLst>
                <a:gd name="textAreaLeft" fmla="*/ 0 w 864000"/>
                <a:gd name="textAreaRight" fmla="*/ 864360 w 864000"/>
                <a:gd name="textAreaTop" fmla="*/ 0 h 2158560"/>
                <a:gd name="textAreaBottom" fmla="*/ 2158920 h 2158560"/>
              </a:gdLst>
              <a:ahLst/>
              <a:cxnLst/>
              <a:rect l="textAreaLeft" t="textAreaTop" r="textAreaRight" b="textAreaBottom"/>
              <a:pathLst>
                <a:path w="864235" h="2159000">
                  <a:moveTo>
                    <a:pt x="411182" y="1981200"/>
                  </a:moveTo>
                  <a:lnTo>
                    <a:pt x="317484" y="1981200"/>
                  </a:lnTo>
                  <a:lnTo>
                    <a:pt x="321276" y="1993900"/>
                  </a:lnTo>
                  <a:lnTo>
                    <a:pt x="323136" y="2006600"/>
                  </a:lnTo>
                  <a:lnTo>
                    <a:pt x="325238" y="2019300"/>
                  </a:lnTo>
                  <a:lnTo>
                    <a:pt x="323580" y="2032000"/>
                  </a:lnTo>
                  <a:lnTo>
                    <a:pt x="314164" y="2044700"/>
                  </a:lnTo>
                  <a:lnTo>
                    <a:pt x="303477" y="2070100"/>
                  </a:lnTo>
                  <a:lnTo>
                    <a:pt x="291222" y="2082800"/>
                  </a:lnTo>
                  <a:lnTo>
                    <a:pt x="281506" y="2095500"/>
                  </a:lnTo>
                  <a:lnTo>
                    <a:pt x="278439" y="2120900"/>
                  </a:lnTo>
                  <a:lnTo>
                    <a:pt x="279333" y="2133600"/>
                  </a:lnTo>
                  <a:lnTo>
                    <a:pt x="281503" y="2133600"/>
                  </a:lnTo>
                  <a:lnTo>
                    <a:pt x="285401" y="2146300"/>
                  </a:lnTo>
                  <a:lnTo>
                    <a:pt x="291476" y="2146300"/>
                  </a:lnTo>
                  <a:lnTo>
                    <a:pt x="306681" y="2159000"/>
                  </a:lnTo>
                  <a:lnTo>
                    <a:pt x="360049" y="2159000"/>
                  </a:lnTo>
                  <a:lnTo>
                    <a:pt x="391711" y="2146300"/>
                  </a:lnTo>
                  <a:lnTo>
                    <a:pt x="402176" y="2133600"/>
                  </a:lnTo>
                  <a:lnTo>
                    <a:pt x="404393" y="2120900"/>
                  </a:lnTo>
                  <a:lnTo>
                    <a:pt x="403359" y="2095500"/>
                  </a:lnTo>
                  <a:lnTo>
                    <a:pt x="404071" y="2082800"/>
                  </a:lnTo>
                  <a:lnTo>
                    <a:pt x="408697" y="2070100"/>
                  </a:lnTo>
                  <a:lnTo>
                    <a:pt x="412656" y="2057400"/>
                  </a:lnTo>
                  <a:lnTo>
                    <a:pt x="414481" y="2044700"/>
                  </a:lnTo>
                  <a:lnTo>
                    <a:pt x="412706" y="2019300"/>
                  </a:lnTo>
                  <a:lnTo>
                    <a:pt x="411469" y="2019300"/>
                  </a:lnTo>
                  <a:lnTo>
                    <a:pt x="409642" y="2006600"/>
                  </a:lnTo>
                  <a:lnTo>
                    <a:pt x="407611" y="1993900"/>
                  </a:lnTo>
                  <a:lnTo>
                    <a:pt x="405765" y="1993900"/>
                  </a:lnTo>
                  <a:lnTo>
                    <a:pt x="411182" y="1981200"/>
                  </a:lnTo>
                  <a:close/>
                </a:path>
                <a:path w="864235" h="2159000">
                  <a:moveTo>
                    <a:pt x="857300" y="2146300"/>
                  </a:moveTo>
                  <a:lnTo>
                    <a:pt x="763697" y="2146300"/>
                  </a:lnTo>
                  <a:lnTo>
                    <a:pt x="799666" y="2159000"/>
                  </a:lnTo>
                  <a:lnTo>
                    <a:pt x="842429" y="2159000"/>
                  </a:lnTo>
                  <a:lnTo>
                    <a:pt x="857300" y="2146300"/>
                  </a:lnTo>
                  <a:close/>
                </a:path>
                <a:path w="864235" h="2159000">
                  <a:moveTo>
                    <a:pt x="738978" y="1981200"/>
                  </a:moveTo>
                  <a:lnTo>
                    <a:pt x="653304" y="1981200"/>
                  </a:lnTo>
                  <a:lnTo>
                    <a:pt x="654433" y="2006600"/>
                  </a:lnTo>
                  <a:lnTo>
                    <a:pt x="653829" y="2019300"/>
                  </a:lnTo>
                  <a:lnTo>
                    <a:pt x="650380" y="2044700"/>
                  </a:lnTo>
                  <a:lnTo>
                    <a:pt x="642975" y="2057400"/>
                  </a:lnTo>
                  <a:lnTo>
                    <a:pt x="639445" y="2082800"/>
                  </a:lnTo>
                  <a:lnTo>
                    <a:pt x="642772" y="2095500"/>
                  </a:lnTo>
                  <a:lnTo>
                    <a:pt x="648233" y="2108200"/>
                  </a:lnTo>
                  <a:lnTo>
                    <a:pt x="651103" y="2120900"/>
                  </a:lnTo>
                  <a:lnTo>
                    <a:pt x="670540" y="2120900"/>
                  </a:lnTo>
                  <a:lnTo>
                    <a:pt x="681808" y="2133600"/>
                  </a:lnTo>
                  <a:lnTo>
                    <a:pt x="726448" y="2133600"/>
                  </a:lnTo>
                  <a:lnTo>
                    <a:pt x="728616" y="2146300"/>
                  </a:lnTo>
                  <a:lnTo>
                    <a:pt x="863848" y="2146300"/>
                  </a:lnTo>
                  <a:lnTo>
                    <a:pt x="862268" y="2133600"/>
                  </a:lnTo>
                  <a:lnTo>
                    <a:pt x="852757" y="2120900"/>
                  </a:lnTo>
                  <a:lnTo>
                    <a:pt x="832380" y="2095500"/>
                  </a:lnTo>
                  <a:lnTo>
                    <a:pt x="812460" y="2082800"/>
                  </a:lnTo>
                  <a:lnTo>
                    <a:pt x="795080" y="2070100"/>
                  </a:lnTo>
                  <a:lnTo>
                    <a:pt x="782322" y="2057400"/>
                  </a:lnTo>
                  <a:lnTo>
                    <a:pt x="766178" y="2032000"/>
                  </a:lnTo>
                  <a:lnTo>
                    <a:pt x="753539" y="2019300"/>
                  </a:lnTo>
                  <a:lnTo>
                    <a:pt x="744455" y="1993900"/>
                  </a:lnTo>
                  <a:lnTo>
                    <a:pt x="738978" y="1981200"/>
                  </a:lnTo>
                  <a:close/>
                </a:path>
                <a:path w="864235" h="2159000">
                  <a:moveTo>
                    <a:pt x="614267" y="1015058"/>
                  </a:moveTo>
                  <a:lnTo>
                    <a:pt x="614045" y="1016000"/>
                  </a:lnTo>
                  <a:lnTo>
                    <a:pt x="183114" y="1016000"/>
                  </a:lnTo>
                  <a:lnTo>
                    <a:pt x="179243" y="1066800"/>
                  </a:lnTo>
                  <a:lnTo>
                    <a:pt x="179333" y="1092200"/>
                  </a:lnTo>
                  <a:lnTo>
                    <a:pt x="179423" y="1117600"/>
                  </a:lnTo>
                  <a:lnTo>
                    <a:pt x="183057" y="1168400"/>
                  </a:lnTo>
                  <a:lnTo>
                    <a:pt x="189548" y="1219200"/>
                  </a:lnTo>
                  <a:lnTo>
                    <a:pt x="195419" y="1257300"/>
                  </a:lnTo>
                  <a:lnTo>
                    <a:pt x="206478" y="1308100"/>
                  </a:lnTo>
                  <a:lnTo>
                    <a:pt x="220556" y="1358900"/>
                  </a:lnTo>
                  <a:lnTo>
                    <a:pt x="235487" y="1422400"/>
                  </a:lnTo>
                  <a:lnTo>
                    <a:pt x="249101" y="1485900"/>
                  </a:lnTo>
                  <a:lnTo>
                    <a:pt x="259231" y="1536700"/>
                  </a:lnTo>
                  <a:lnTo>
                    <a:pt x="263708" y="1562100"/>
                  </a:lnTo>
                  <a:lnTo>
                    <a:pt x="266910" y="1638300"/>
                  </a:lnTo>
                  <a:lnTo>
                    <a:pt x="271432" y="1701800"/>
                  </a:lnTo>
                  <a:lnTo>
                    <a:pt x="276959" y="1752600"/>
                  </a:lnTo>
                  <a:lnTo>
                    <a:pt x="283180" y="1816100"/>
                  </a:lnTo>
                  <a:lnTo>
                    <a:pt x="289782" y="1866900"/>
                  </a:lnTo>
                  <a:lnTo>
                    <a:pt x="296452" y="1905000"/>
                  </a:lnTo>
                  <a:lnTo>
                    <a:pt x="302878" y="1943100"/>
                  </a:lnTo>
                  <a:lnTo>
                    <a:pt x="308747" y="1981200"/>
                  </a:lnTo>
                  <a:lnTo>
                    <a:pt x="415416" y="1981200"/>
                  </a:lnTo>
                  <a:lnTo>
                    <a:pt x="415793" y="1955800"/>
                  </a:lnTo>
                  <a:lnTo>
                    <a:pt x="415749" y="1892300"/>
                  </a:lnTo>
                  <a:lnTo>
                    <a:pt x="414908" y="1841500"/>
                  </a:lnTo>
                  <a:lnTo>
                    <a:pt x="414021" y="1816100"/>
                  </a:lnTo>
                  <a:lnTo>
                    <a:pt x="413451" y="1778000"/>
                  </a:lnTo>
                  <a:lnTo>
                    <a:pt x="412678" y="1752600"/>
                  </a:lnTo>
                  <a:lnTo>
                    <a:pt x="411182" y="1714500"/>
                  </a:lnTo>
                  <a:lnTo>
                    <a:pt x="408956" y="1676400"/>
                  </a:lnTo>
                  <a:lnTo>
                    <a:pt x="406374" y="1663700"/>
                  </a:lnTo>
                  <a:lnTo>
                    <a:pt x="403487" y="1638300"/>
                  </a:lnTo>
                  <a:lnTo>
                    <a:pt x="400346" y="1600200"/>
                  </a:lnTo>
                  <a:lnTo>
                    <a:pt x="399170" y="1587500"/>
                  </a:lnTo>
                  <a:lnTo>
                    <a:pt x="398331" y="1574800"/>
                  </a:lnTo>
                  <a:lnTo>
                    <a:pt x="398267" y="1562100"/>
                  </a:lnTo>
                  <a:lnTo>
                    <a:pt x="398203" y="1549400"/>
                  </a:lnTo>
                  <a:lnTo>
                    <a:pt x="399161" y="1536700"/>
                  </a:lnTo>
                  <a:lnTo>
                    <a:pt x="404071" y="1447800"/>
                  </a:lnTo>
                  <a:lnTo>
                    <a:pt x="404936" y="1397000"/>
                  </a:lnTo>
                  <a:lnTo>
                    <a:pt x="406257" y="1346200"/>
                  </a:lnTo>
                  <a:lnTo>
                    <a:pt x="408077" y="1295400"/>
                  </a:lnTo>
                  <a:lnTo>
                    <a:pt x="410438" y="1257300"/>
                  </a:lnTo>
                  <a:lnTo>
                    <a:pt x="413383" y="1193800"/>
                  </a:lnTo>
                  <a:lnTo>
                    <a:pt x="414467" y="1193800"/>
                  </a:lnTo>
                  <a:lnTo>
                    <a:pt x="419242" y="1181100"/>
                  </a:lnTo>
                  <a:lnTo>
                    <a:pt x="649707" y="1181100"/>
                  </a:lnTo>
                  <a:lnTo>
                    <a:pt x="642975" y="1130300"/>
                  </a:lnTo>
                  <a:lnTo>
                    <a:pt x="636633" y="1092200"/>
                  </a:lnTo>
                  <a:lnTo>
                    <a:pt x="628736" y="1066800"/>
                  </a:lnTo>
                  <a:lnTo>
                    <a:pt x="620127" y="1041400"/>
                  </a:lnTo>
                  <a:lnTo>
                    <a:pt x="614267" y="1015058"/>
                  </a:lnTo>
                  <a:close/>
                </a:path>
                <a:path w="864235" h="2159000">
                  <a:moveTo>
                    <a:pt x="649707" y="1181100"/>
                  </a:moveTo>
                  <a:lnTo>
                    <a:pt x="419242" y="1181100"/>
                  </a:lnTo>
                  <a:lnTo>
                    <a:pt x="423034" y="1193800"/>
                  </a:lnTo>
                  <a:lnTo>
                    <a:pt x="442836" y="1231900"/>
                  </a:lnTo>
                  <a:lnTo>
                    <a:pt x="459133" y="1282700"/>
                  </a:lnTo>
                  <a:lnTo>
                    <a:pt x="474312" y="1320800"/>
                  </a:lnTo>
                  <a:lnTo>
                    <a:pt x="490761" y="1358900"/>
                  </a:lnTo>
                  <a:lnTo>
                    <a:pt x="509071" y="1409700"/>
                  </a:lnTo>
                  <a:lnTo>
                    <a:pt x="531109" y="1473200"/>
                  </a:lnTo>
                  <a:lnTo>
                    <a:pt x="550200" y="1536700"/>
                  </a:lnTo>
                  <a:lnTo>
                    <a:pt x="559672" y="1574800"/>
                  </a:lnTo>
                  <a:lnTo>
                    <a:pt x="569255" y="1638300"/>
                  </a:lnTo>
                  <a:lnTo>
                    <a:pt x="574548" y="1676400"/>
                  </a:lnTo>
                  <a:lnTo>
                    <a:pt x="579651" y="1714500"/>
                  </a:lnTo>
                  <a:lnTo>
                    <a:pt x="589801" y="1778000"/>
                  </a:lnTo>
                  <a:lnTo>
                    <a:pt x="603862" y="1841500"/>
                  </a:lnTo>
                  <a:lnTo>
                    <a:pt x="618706" y="1892300"/>
                  </a:lnTo>
                  <a:lnTo>
                    <a:pt x="631206" y="1943100"/>
                  </a:lnTo>
                  <a:lnTo>
                    <a:pt x="638235" y="1968500"/>
                  </a:lnTo>
                  <a:lnTo>
                    <a:pt x="639318" y="1981200"/>
                  </a:lnTo>
                  <a:lnTo>
                    <a:pt x="749306" y="1981200"/>
                  </a:lnTo>
                  <a:lnTo>
                    <a:pt x="747172" y="1943100"/>
                  </a:lnTo>
                  <a:lnTo>
                    <a:pt x="742194" y="1892300"/>
                  </a:lnTo>
                  <a:lnTo>
                    <a:pt x="735997" y="1841500"/>
                  </a:lnTo>
                  <a:lnTo>
                    <a:pt x="731629" y="1790700"/>
                  </a:lnTo>
                  <a:lnTo>
                    <a:pt x="728480" y="1739900"/>
                  </a:lnTo>
                  <a:lnTo>
                    <a:pt x="725940" y="1701800"/>
                  </a:lnTo>
                  <a:lnTo>
                    <a:pt x="719766" y="1651000"/>
                  </a:lnTo>
                  <a:lnTo>
                    <a:pt x="711142" y="1612900"/>
                  </a:lnTo>
                  <a:lnTo>
                    <a:pt x="702721" y="1574800"/>
                  </a:lnTo>
                  <a:lnTo>
                    <a:pt x="697157" y="1549400"/>
                  </a:lnTo>
                  <a:lnTo>
                    <a:pt x="686591" y="1498600"/>
                  </a:lnTo>
                  <a:lnTo>
                    <a:pt x="678464" y="1460500"/>
                  </a:lnTo>
                  <a:lnTo>
                    <a:pt x="671556" y="1409700"/>
                  </a:lnTo>
                  <a:lnTo>
                    <a:pt x="664648" y="1346200"/>
                  </a:lnTo>
                  <a:lnTo>
                    <a:pt x="662328" y="1320800"/>
                  </a:lnTo>
                  <a:lnTo>
                    <a:pt x="657875" y="1257300"/>
                  </a:lnTo>
                  <a:lnTo>
                    <a:pt x="651390" y="1193800"/>
                  </a:lnTo>
                  <a:lnTo>
                    <a:pt x="649707" y="1181100"/>
                  </a:lnTo>
                  <a:close/>
                </a:path>
                <a:path w="864235" h="2159000">
                  <a:moveTo>
                    <a:pt x="453342" y="0"/>
                  </a:moveTo>
                  <a:lnTo>
                    <a:pt x="414194" y="0"/>
                  </a:lnTo>
                  <a:lnTo>
                    <a:pt x="389687" y="12700"/>
                  </a:lnTo>
                  <a:lnTo>
                    <a:pt x="363737" y="25400"/>
                  </a:lnTo>
                  <a:lnTo>
                    <a:pt x="338546" y="50800"/>
                  </a:lnTo>
                  <a:lnTo>
                    <a:pt x="326882" y="76200"/>
                  </a:lnTo>
                  <a:lnTo>
                    <a:pt x="318736" y="101600"/>
                  </a:lnTo>
                  <a:lnTo>
                    <a:pt x="308050" y="127000"/>
                  </a:lnTo>
                  <a:lnTo>
                    <a:pt x="288767" y="177800"/>
                  </a:lnTo>
                  <a:lnTo>
                    <a:pt x="274500" y="228600"/>
                  </a:lnTo>
                  <a:lnTo>
                    <a:pt x="277127" y="254000"/>
                  </a:lnTo>
                  <a:lnTo>
                    <a:pt x="284823" y="279400"/>
                  </a:lnTo>
                  <a:lnTo>
                    <a:pt x="285760" y="304800"/>
                  </a:lnTo>
                  <a:lnTo>
                    <a:pt x="268111" y="342900"/>
                  </a:lnTo>
                  <a:lnTo>
                    <a:pt x="258350" y="355600"/>
                  </a:lnTo>
                  <a:lnTo>
                    <a:pt x="257478" y="368300"/>
                  </a:lnTo>
                  <a:lnTo>
                    <a:pt x="260568" y="381000"/>
                  </a:lnTo>
                  <a:lnTo>
                    <a:pt x="262693" y="393700"/>
                  </a:lnTo>
                  <a:lnTo>
                    <a:pt x="228921" y="393700"/>
                  </a:lnTo>
                  <a:lnTo>
                    <a:pt x="191828" y="419100"/>
                  </a:lnTo>
                  <a:lnTo>
                    <a:pt x="174310" y="444500"/>
                  </a:lnTo>
                  <a:lnTo>
                    <a:pt x="155196" y="469900"/>
                  </a:lnTo>
                  <a:lnTo>
                    <a:pt x="130449" y="508000"/>
                  </a:lnTo>
                  <a:lnTo>
                    <a:pt x="101826" y="558800"/>
                  </a:lnTo>
                  <a:lnTo>
                    <a:pt x="71080" y="609600"/>
                  </a:lnTo>
                  <a:lnTo>
                    <a:pt x="39967" y="647700"/>
                  </a:lnTo>
                  <a:lnTo>
                    <a:pt x="10243" y="698500"/>
                  </a:lnTo>
                  <a:lnTo>
                    <a:pt x="6417" y="698500"/>
                  </a:lnTo>
                  <a:lnTo>
                    <a:pt x="5333" y="711200"/>
                  </a:lnTo>
                  <a:lnTo>
                    <a:pt x="1520" y="711200"/>
                  </a:lnTo>
                  <a:lnTo>
                    <a:pt x="0" y="723900"/>
                  </a:lnTo>
                  <a:lnTo>
                    <a:pt x="1019" y="736600"/>
                  </a:lnTo>
                  <a:lnTo>
                    <a:pt x="4825" y="749300"/>
                  </a:lnTo>
                  <a:lnTo>
                    <a:pt x="12230" y="762000"/>
                  </a:lnTo>
                  <a:lnTo>
                    <a:pt x="18607" y="787400"/>
                  </a:lnTo>
                  <a:lnTo>
                    <a:pt x="25797" y="800100"/>
                  </a:lnTo>
                  <a:lnTo>
                    <a:pt x="35641" y="838200"/>
                  </a:lnTo>
                  <a:lnTo>
                    <a:pt x="50345" y="863600"/>
                  </a:lnTo>
                  <a:lnTo>
                    <a:pt x="69893" y="889000"/>
                  </a:lnTo>
                  <a:lnTo>
                    <a:pt x="91575" y="927100"/>
                  </a:lnTo>
                  <a:lnTo>
                    <a:pt x="112679" y="952500"/>
                  </a:lnTo>
                  <a:lnTo>
                    <a:pt x="116605" y="965200"/>
                  </a:lnTo>
                  <a:lnTo>
                    <a:pt x="120163" y="977900"/>
                  </a:lnTo>
                  <a:lnTo>
                    <a:pt x="125651" y="990600"/>
                  </a:lnTo>
                  <a:lnTo>
                    <a:pt x="135368" y="1003300"/>
                  </a:lnTo>
                  <a:lnTo>
                    <a:pt x="143054" y="1016000"/>
                  </a:lnTo>
                  <a:lnTo>
                    <a:pt x="614045" y="1016000"/>
                  </a:lnTo>
                  <a:lnTo>
                    <a:pt x="611652" y="1003300"/>
                  </a:lnTo>
                  <a:lnTo>
                    <a:pt x="628922" y="1003300"/>
                  </a:lnTo>
                  <a:lnTo>
                    <a:pt x="645879" y="990600"/>
                  </a:lnTo>
                  <a:lnTo>
                    <a:pt x="658925" y="990600"/>
                  </a:lnTo>
                  <a:lnTo>
                    <a:pt x="669837" y="977900"/>
                  </a:lnTo>
                  <a:lnTo>
                    <a:pt x="680394" y="965200"/>
                  </a:lnTo>
                  <a:lnTo>
                    <a:pt x="708854" y="927100"/>
                  </a:lnTo>
                  <a:lnTo>
                    <a:pt x="718213" y="914400"/>
                  </a:lnTo>
                  <a:lnTo>
                    <a:pt x="166860" y="914400"/>
                  </a:lnTo>
                  <a:lnTo>
                    <a:pt x="147720" y="876300"/>
                  </a:lnTo>
                  <a:lnTo>
                    <a:pt x="132066" y="825500"/>
                  </a:lnTo>
                  <a:lnTo>
                    <a:pt x="117935" y="774700"/>
                  </a:lnTo>
                  <a:lnTo>
                    <a:pt x="103367" y="736600"/>
                  </a:lnTo>
                  <a:lnTo>
                    <a:pt x="103022" y="723900"/>
                  </a:lnTo>
                  <a:lnTo>
                    <a:pt x="114778" y="698500"/>
                  </a:lnTo>
                  <a:lnTo>
                    <a:pt x="133443" y="685800"/>
                  </a:lnTo>
                  <a:lnTo>
                    <a:pt x="153823" y="660400"/>
                  </a:lnTo>
                  <a:lnTo>
                    <a:pt x="167090" y="647700"/>
                  </a:lnTo>
                  <a:lnTo>
                    <a:pt x="178356" y="635000"/>
                  </a:lnTo>
                  <a:lnTo>
                    <a:pt x="189928" y="622300"/>
                  </a:lnTo>
                  <a:lnTo>
                    <a:pt x="204109" y="609600"/>
                  </a:lnTo>
                  <a:lnTo>
                    <a:pt x="205735" y="596900"/>
                  </a:lnTo>
                  <a:lnTo>
                    <a:pt x="606131" y="596900"/>
                  </a:lnTo>
                  <a:lnTo>
                    <a:pt x="615791" y="571500"/>
                  </a:lnTo>
                  <a:lnTo>
                    <a:pt x="791973" y="571500"/>
                  </a:lnTo>
                  <a:lnTo>
                    <a:pt x="772445" y="546100"/>
                  </a:lnTo>
                  <a:lnTo>
                    <a:pt x="754351" y="533400"/>
                  </a:lnTo>
                  <a:lnTo>
                    <a:pt x="733819" y="508000"/>
                  </a:lnTo>
                  <a:lnTo>
                    <a:pt x="698030" y="457200"/>
                  </a:lnTo>
                  <a:lnTo>
                    <a:pt x="682494" y="431800"/>
                  </a:lnTo>
                  <a:lnTo>
                    <a:pt x="662690" y="406400"/>
                  </a:lnTo>
                  <a:lnTo>
                    <a:pt x="640944" y="393700"/>
                  </a:lnTo>
                  <a:lnTo>
                    <a:pt x="617557" y="381000"/>
                  </a:lnTo>
                  <a:lnTo>
                    <a:pt x="564413" y="381000"/>
                  </a:lnTo>
                  <a:lnTo>
                    <a:pt x="564732" y="368300"/>
                  </a:lnTo>
                  <a:lnTo>
                    <a:pt x="559622" y="355600"/>
                  </a:lnTo>
                  <a:lnTo>
                    <a:pt x="553394" y="342900"/>
                  </a:lnTo>
                  <a:lnTo>
                    <a:pt x="550360" y="317500"/>
                  </a:lnTo>
                  <a:lnTo>
                    <a:pt x="555967" y="292100"/>
                  </a:lnTo>
                  <a:lnTo>
                    <a:pt x="567358" y="279400"/>
                  </a:lnTo>
                  <a:lnTo>
                    <a:pt x="576385" y="254000"/>
                  </a:lnTo>
                  <a:lnTo>
                    <a:pt x="574902" y="215900"/>
                  </a:lnTo>
                  <a:lnTo>
                    <a:pt x="554762" y="139700"/>
                  </a:lnTo>
                  <a:lnTo>
                    <a:pt x="549353" y="114300"/>
                  </a:lnTo>
                  <a:lnTo>
                    <a:pt x="540014" y="88900"/>
                  </a:lnTo>
                  <a:lnTo>
                    <a:pt x="524885" y="63500"/>
                  </a:lnTo>
                  <a:lnTo>
                    <a:pt x="502105" y="38100"/>
                  </a:lnTo>
                  <a:lnTo>
                    <a:pt x="497229" y="38100"/>
                  </a:lnTo>
                  <a:lnTo>
                    <a:pt x="486934" y="25400"/>
                  </a:lnTo>
                  <a:lnTo>
                    <a:pt x="477647" y="25400"/>
                  </a:lnTo>
                  <a:lnTo>
                    <a:pt x="470883" y="12700"/>
                  </a:lnTo>
                  <a:lnTo>
                    <a:pt x="462798" y="12700"/>
                  </a:lnTo>
                  <a:lnTo>
                    <a:pt x="453342" y="0"/>
                  </a:lnTo>
                  <a:close/>
                </a:path>
                <a:path w="864235" h="2159000">
                  <a:moveTo>
                    <a:pt x="611652" y="1003300"/>
                  </a:moveTo>
                  <a:lnTo>
                    <a:pt x="614045" y="1016000"/>
                  </a:lnTo>
                  <a:lnTo>
                    <a:pt x="614267" y="1015058"/>
                  </a:lnTo>
                  <a:lnTo>
                    <a:pt x="611652" y="1003300"/>
                  </a:lnTo>
                  <a:close/>
                </a:path>
                <a:path w="864235" h="2159000">
                  <a:moveTo>
                    <a:pt x="617036" y="1003300"/>
                  </a:moveTo>
                  <a:lnTo>
                    <a:pt x="611652" y="1003300"/>
                  </a:lnTo>
                  <a:lnTo>
                    <a:pt x="614267" y="1015058"/>
                  </a:lnTo>
                  <a:lnTo>
                    <a:pt x="617036" y="1003300"/>
                  </a:lnTo>
                  <a:close/>
                </a:path>
                <a:path w="864235" h="2159000">
                  <a:moveTo>
                    <a:pt x="791973" y="571500"/>
                  </a:moveTo>
                  <a:lnTo>
                    <a:pt x="638269" y="571500"/>
                  </a:lnTo>
                  <a:lnTo>
                    <a:pt x="645176" y="584200"/>
                  </a:lnTo>
                  <a:lnTo>
                    <a:pt x="676169" y="609600"/>
                  </a:lnTo>
                  <a:lnTo>
                    <a:pt x="714241" y="647700"/>
                  </a:lnTo>
                  <a:lnTo>
                    <a:pt x="746522" y="685800"/>
                  </a:lnTo>
                  <a:lnTo>
                    <a:pt x="760142" y="711200"/>
                  </a:lnTo>
                  <a:lnTo>
                    <a:pt x="757679" y="723900"/>
                  </a:lnTo>
                  <a:lnTo>
                    <a:pt x="750186" y="736600"/>
                  </a:lnTo>
                  <a:lnTo>
                    <a:pt x="737513" y="762000"/>
                  </a:lnTo>
                  <a:lnTo>
                    <a:pt x="719506" y="787400"/>
                  </a:lnTo>
                  <a:lnTo>
                    <a:pt x="705580" y="812800"/>
                  </a:lnTo>
                  <a:lnTo>
                    <a:pt x="690993" y="838200"/>
                  </a:lnTo>
                  <a:lnTo>
                    <a:pt x="675086" y="863600"/>
                  </a:lnTo>
                  <a:lnTo>
                    <a:pt x="657198" y="889000"/>
                  </a:lnTo>
                  <a:lnTo>
                    <a:pt x="654461" y="889000"/>
                  </a:lnTo>
                  <a:lnTo>
                    <a:pt x="649172" y="901700"/>
                  </a:lnTo>
                  <a:lnTo>
                    <a:pt x="200317" y="901700"/>
                  </a:lnTo>
                  <a:lnTo>
                    <a:pt x="184350" y="914400"/>
                  </a:lnTo>
                  <a:lnTo>
                    <a:pt x="718213" y="914400"/>
                  </a:lnTo>
                  <a:lnTo>
                    <a:pt x="746290" y="876300"/>
                  </a:lnTo>
                  <a:lnTo>
                    <a:pt x="785159" y="825500"/>
                  </a:lnTo>
                  <a:lnTo>
                    <a:pt x="817914" y="787400"/>
                  </a:lnTo>
                  <a:lnTo>
                    <a:pt x="837011" y="749300"/>
                  </a:lnTo>
                  <a:lnTo>
                    <a:pt x="843028" y="736600"/>
                  </a:lnTo>
                  <a:lnTo>
                    <a:pt x="849439" y="723900"/>
                  </a:lnTo>
                  <a:lnTo>
                    <a:pt x="854631" y="711200"/>
                  </a:lnTo>
                  <a:lnTo>
                    <a:pt x="856991" y="685800"/>
                  </a:lnTo>
                  <a:lnTo>
                    <a:pt x="854089" y="673100"/>
                  </a:lnTo>
                  <a:lnTo>
                    <a:pt x="846730" y="660400"/>
                  </a:lnTo>
                  <a:lnTo>
                    <a:pt x="838151" y="647700"/>
                  </a:lnTo>
                  <a:lnTo>
                    <a:pt x="831593" y="635000"/>
                  </a:lnTo>
                  <a:lnTo>
                    <a:pt x="823574" y="622300"/>
                  </a:lnTo>
                  <a:lnTo>
                    <a:pt x="813002" y="609600"/>
                  </a:lnTo>
                  <a:lnTo>
                    <a:pt x="801821" y="584200"/>
                  </a:lnTo>
                  <a:lnTo>
                    <a:pt x="791973" y="571500"/>
                  </a:lnTo>
                  <a:close/>
                </a:path>
                <a:path w="864235" h="2159000">
                  <a:moveTo>
                    <a:pt x="606131" y="596900"/>
                  </a:moveTo>
                  <a:lnTo>
                    <a:pt x="229845" y="596900"/>
                  </a:lnTo>
                  <a:lnTo>
                    <a:pt x="231200" y="609600"/>
                  </a:lnTo>
                  <a:lnTo>
                    <a:pt x="232384" y="622300"/>
                  </a:lnTo>
                  <a:lnTo>
                    <a:pt x="234095" y="622300"/>
                  </a:lnTo>
                  <a:lnTo>
                    <a:pt x="236010" y="635000"/>
                  </a:lnTo>
                  <a:lnTo>
                    <a:pt x="237803" y="647700"/>
                  </a:lnTo>
                  <a:lnTo>
                    <a:pt x="243824" y="673100"/>
                  </a:lnTo>
                  <a:lnTo>
                    <a:pt x="250282" y="698500"/>
                  </a:lnTo>
                  <a:lnTo>
                    <a:pt x="255623" y="711200"/>
                  </a:lnTo>
                  <a:lnTo>
                    <a:pt x="258291" y="723900"/>
                  </a:lnTo>
                  <a:lnTo>
                    <a:pt x="256618" y="800100"/>
                  </a:lnTo>
                  <a:lnTo>
                    <a:pt x="246438" y="838200"/>
                  </a:lnTo>
                  <a:lnTo>
                    <a:pt x="232195" y="863600"/>
                  </a:lnTo>
                  <a:lnTo>
                    <a:pt x="218332" y="901700"/>
                  </a:lnTo>
                  <a:lnTo>
                    <a:pt x="614232" y="901700"/>
                  </a:lnTo>
                  <a:lnTo>
                    <a:pt x="603017" y="889000"/>
                  </a:lnTo>
                  <a:lnTo>
                    <a:pt x="573217" y="889000"/>
                  </a:lnTo>
                  <a:lnTo>
                    <a:pt x="570948" y="876300"/>
                  </a:lnTo>
                  <a:lnTo>
                    <a:pt x="566038" y="863600"/>
                  </a:lnTo>
                  <a:lnTo>
                    <a:pt x="561331" y="838200"/>
                  </a:lnTo>
                  <a:lnTo>
                    <a:pt x="559672" y="812800"/>
                  </a:lnTo>
                  <a:lnTo>
                    <a:pt x="563229" y="749300"/>
                  </a:lnTo>
                  <a:lnTo>
                    <a:pt x="570322" y="698500"/>
                  </a:lnTo>
                  <a:lnTo>
                    <a:pt x="579244" y="673100"/>
                  </a:lnTo>
                  <a:lnTo>
                    <a:pt x="588287" y="647700"/>
                  </a:lnTo>
                  <a:lnTo>
                    <a:pt x="597201" y="609600"/>
                  </a:lnTo>
                  <a:lnTo>
                    <a:pt x="606131" y="5969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FFFFFF"/>
                </a:solidFill>
                <a:latin typeface="Arial"/>
              </a:endParaRPr>
            </a:p>
          </p:txBody>
        </p:sp>
        <p:pic>
          <p:nvPicPr>
            <p:cNvPr id="229" name="object 13"/>
            <p:cNvPicPr/>
            <p:nvPr/>
          </p:nvPicPr>
          <p:blipFill>
            <a:blip r:embed="rId4"/>
            <a:stretch/>
          </p:blipFill>
          <p:spPr>
            <a:xfrm>
              <a:off x="5477040" y="4557240"/>
              <a:ext cx="2915640" cy="33487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30" name="object 14"/>
          <p:cNvSpPr/>
          <p:nvPr/>
        </p:nvSpPr>
        <p:spPr>
          <a:xfrm>
            <a:off x="2377252" y="2036461"/>
            <a:ext cx="2361732" cy="2669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303" rIns="0" bIns="0" anchor="t">
            <a:spAutoFit/>
          </a:bodyPr>
          <a:lstStyle/>
          <a:p>
            <a:pPr marL="6318">
              <a:spcBef>
                <a:spcPts val="65"/>
              </a:spcBef>
            </a:pPr>
            <a:r>
              <a:rPr lang="fr-FR" sz="1680" b="1">
                <a:solidFill>
                  <a:srgbClr val="0076BA"/>
                </a:solidFill>
                <a:latin typeface="Arial"/>
              </a:rPr>
              <a:t>Collective</a:t>
            </a:r>
            <a:r>
              <a:rPr lang="fr-FR" sz="1680" b="1" spc="160">
                <a:solidFill>
                  <a:srgbClr val="0076BA"/>
                </a:solidFill>
                <a:latin typeface="Arial"/>
              </a:rPr>
              <a:t> </a:t>
            </a:r>
            <a:r>
              <a:rPr lang="fr-FR" sz="1680" b="1" spc="36">
                <a:solidFill>
                  <a:srgbClr val="0076BA"/>
                </a:solidFill>
                <a:latin typeface="Arial"/>
              </a:rPr>
              <a:t>phenomena</a:t>
            </a:r>
            <a:endParaRPr lang="fr-FR" sz="168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object 15"/>
          <p:cNvSpPr/>
          <p:nvPr/>
        </p:nvSpPr>
        <p:spPr>
          <a:xfrm>
            <a:off x="2062992" y="2490072"/>
            <a:ext cx="740794" cy="18416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679" rIns="0" bIns="0" anchor="t">
            <a:spAutoFit/>
          </a:bodyPr>
          <a:lstStyle/>
          <a:p>
            <a:pPr marL="6318">
              <a:spcBef>
                <a:spcPts val="53"/>
              </a:spcBef>
            </a:pPr>
            <a:r>
              <a:rPr lang="fr-FR" sz="1153" spc="-6">
                <a:solidFill>
                  <a:srgbClr val="0076BA"/>
                </a:solidFill>
                <a:latin typeface="Arial MT"/>
              </a:rPr>
              <a:t>Institutions</a:t>
            </a:r>
            <a:endParaRPr lang="fr-FR" sz="1153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object 16"/>
          <p:cNvSpPr/>
          <p:nvPr/>
        </p:nvSpPr>
        <p:spPr>
          <a:xfrm>
            <a:off x="4169669" y="2491515"/>
            <a:ext cx="479603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13">
                <a:solidFill>
                  <a:srgbClr val="0076BA"/>
                </a:solidFill>
                <a:latin typeface="Arial MT"/>
              </a:rPr>
              <a:t>Values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object 17"/>
          <p:cNvSpPr/>
          <p:nvPr/>
        </p:nvSpPr>
        <p:spPr>
          <a:xfrm>
            <a:off x="4379417" y="3166605"/>
            <a:ext cx="494946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30">
                <a:solidFill>
                  <a:srgbClr val="0076BA"/>
                </a:solidFill>
                <a:latin typeface="Arial MT"/>
              </a:rPr>
              <a:t>Norms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object 18"/>
          <p:cNvSpPr/>
          <p:nvPr/>
        </p:nvSpPr>
        <p:spPr>
          <a:xfrm>
            <a:off x="2097288" y="3166605"/>
            <a:ext cx="488628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6">
                <a:solidFill>
                  <a:srgbClr val="0076BA"/>
                </a:solidFill>
                <a:latin typeface="Arial MT"/>
              </a:rPr>
              <a:t>Beliefs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object 19"/>
          <p:cNvSpPr/>
          <p:nvPr/>
        </p:nvSpPr>
        <p:spPr>
          <a:xfrm>
            <a:off x="358299" y="4860828"/>
            <a:ext cx="782491" cy="4884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50361" indent="-44223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228" b="1" spc="23">
                <a:solidFill>
                  <a:srgbClr val="970E53"/>
                </a:solidFill>
                <a:latin typeface="Arial"/>
              </a:rPr>
              <a:t>Individual </a:t>
            </a:r>
            <a:r>
              <a:rPr lang="fr-FR" sz="1228" b="1" spc="20">
                <a:solidFill>
                  <a:srgbClr val="970E53"/>
                </a:solidFill>
                <a:latin typeface="Arial"/>
              </a:rPr>
              <a:t>behavior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object 20"/>
          <p:cNvSpPr/>
          <p:nvPr/>
        </p:nvSpPr>
        <p:spPr>
          <a:xfrm>
            <a:off x="1672739" y="3773103"/>
            <a:ext cx="1135920" cy="990252"/>
          </a:xfrm>
          <a:custGeom>
            <a:avLst/>
            <a:gdLst>
              <a:gd name="textAreaLeft" fmla="*/ 0 w 2265480"/>
              <a:gd name="textAreaRight" fmla="*/ 2265840 w 2265480"/>
              <a:gd name="textAreaTop" fmla="*/ 0 h 1974960"/>
              <a:gd name="textAreaBottom" fmla="*/ 1975320 h 1974960"/>
            </a:gdLst>
            <a:ahLst/>
            <a:cxnLst/>
            <a:rect l="textAreaLeft" t="textAreaTop" r="textAreaRight" b="textAreaBottom"/>
            <a:pathLst>
              <a:path w="2265679" h="1975484">
                <a:moveTo>
                  <a:pt x="2265272" y="0"/>
                </a:moveTo>
                <a:lnTo>
                  <a:pt x="1348732" y="10215"/>
                </a:lnTo>
                <a:lnTo>
                  <a:pt x="1573890" y="275164"/>
                </a:lnTo>
                <a:lnTo>
                  <a:pt x="0" y="1612677"/>
                </a:lnTo>
                <a:lnTo>
                  <a:pt x="308292" y="1975452"/>
                </a:lnTo>
                <a:lnTo>
                  <a:pt x="1882181" y="637939"/>
                </a:lnTo>
                <a:lnTo>
                  <a:pt x="2107338" y="902887"/>
                </a:lnTo>
                <a:lnTo>
                  <a:pt x="2265272" y="0"/>
                </a:lnTo>
                <a:close/>
              </a:path>
            </a:pathLst>
          </a:custGeom>
          <a:solidFill>
            <a:srgbClr val="B517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object 21"/>
          <p:cNvSpPr/>
          <p:nvPr/>
        </p:nvSpPr>
        <p:spPr>
          <a:xfrm rot="19260000">
            <a:off x="1608299" y="3894625"/>
            <a:ext cx="667328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ts val="1156"/>
              </a:lnSpc>
            </a:pPr>
            <a:r>
              <a:rPr lang="fr-FR" sz="1228" b="1" spc="-6">
                <a:solidFill>
                  <a:srgbClr val="EE220C"/>
                </a:solidFill>
                <a:latin typeface="Arial"/>
              </a:rPr>
              <a:t>Explains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object 22"/>
          <p:cNvSpPr/>
          <p:nvPr/>
        </p:nvSpPr>
        <p:spPr>
          <a:xfrm>
            <a:off x="5980680" y="2544765"/>
            <a:ext cx="740794" cy="18416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679" rIns="0" bIns="0" anchor="t">
            <a:spAutoFit/>
          </a:bodyPr>
          <a:lstStyle/>
          <a:p>
            <a:pPr marL="6318">
              <a:spcBef>
                <a:spcPts val="53"/>
              </a:spcBef>
            </a:pPr>
            <a:r>
              <a:rPr lang="fr-FR" sz="1153" spc="-6">
                <a:solidFill>
                  <a:srgbClr val="0076BA"/>
                </a:solidFill>
                <a:latin typeface="Arial MT"/>
              </a:rPr>
              <a:t>Institutions</a:t>
            </a:r>
            <a:endParaRPr lang="fr-FR" sz="1153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object 23"/>
          <p:cNvSpPr/>
          <p:nvPr/>
        </p:nvSpPr>
        <p:spPr>
          <a:xfrm>
            <a:off x="8087357" y="2546208"/>
            <a:ext cx="479603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13">
                <a:solidFill>
                  <a:srgbClr val="0076BA"/>
                </a:solidFill>
                <a:latin typeface="Arial MT"/>
              </a:rPr>
              <a:t>Values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0" name="object 24"/>
          <p:cNvPicPr/>
          <p:nvPr/>
        </p:nvPicPr>
        <p:blipFill>
          <a:blip r:embed="rId5"/>
          <a:stretch/>
        </p:blipFill>
        <p:spPr>
          <a:xfrm>
            <a:off x="6664253" y="2339710"/>
            <a:ext cx="1461913" cy="1679061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object 25"/>
          <p:cNvSpPr/>
          <p:nvPr/>
        </p:nvSpPr>
        <p:spPr>
          <a:xfrm>
            <a:off x="6295120" y="2091335"/>
            <a:ext cx="2361732" cy="2669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303" rIns="0" bIns="0" anchor="t">
            <a:spAutoFit/>
          </a:bodyPr>
          <a:lstStyle/>
          <a:p>
            <a:pPr marL="6318">
              <a:spcBef>
                <a:spcPts val="65"/>
              </a:spcBef>
            </a:pPr>
            <a:r>
              <a:rPr lang="fr-FR" sz="1680" b="1">
                <a:solidFill>
                  <a:srgbClr val="0076BA"/>
                </a:solidFill>
                <a:latin typeface="Arial"/>
              </a:rPr>
              <a:t>Collective</a:t>
            </a:r>
            <a:r>
              <a:rPr lang="fr-FR" sz="1680" b="1" spc="160">
                <a:solidFill>
                  <a:srgbClr val="0076BA"/>
                </a:solidFill>
                <a:latin typeface="Arial"/>
              </a:rPr>
              <a:t> </a:t>
            </a:r>
            <a:r>
              <a:rPr lang="fr-FR" sz="1680" b="1" spc="36">
                <a:solidFill>
                  <a:srgbClr val="0076BA"/>
                </a:solidFill>
                <a:latin typeface="Arial"/>
              </a:rPr>
              <a:t>phenomena</a:t>
            </a:r>
            <a:endParaRPr lang="fr-FR" sz="168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object 26"/>
          <p:cNvSpPr/>
          <p:nvPr/>
        </p:nvSpPr>
        <p:spPr>
          <a:xfrm>
            <a:off x="8297104" y="3221479"/>
            <a:ext cx="494946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30">
                <a:solidFill>
                  <a:srgbClr val="0076BA"/>
                </a:solidFill>
                <a:latin typeface="Arial MT"/>
              </a:rPr>
              <a:t>Norms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object 27"/>
          <p:cNvSpPr/>
          <p:nvPr/>
        </p:nvSpPr>
        <p:spPr>
          <a:xfrm>
            <a:off x="6014976" y="3221479"/>
            <a:ext cx="488628" cy="196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81" rIns="0" bIns="0" anchor="t">
            <a:spAutoFit/>
          </a:bodyPr>
          <a:lstStyle/>
          <a:p>
            <a:pPr marL="6318">
              <a:spcBef>
                <a:spcPts val="60"/>
              </a:spcBef>
            </a:pPr>
            <a:r>
              <a:rPr lang="fr-FR" sz="1228" spc="-6">
                <a:solidFill>
                  <a:srgbClr val="0076BA"/>
                </a:solidFill>
                <a:latin typeface="Arial MT"/>
              </a:rPr>
              <a:t>Beliefs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object 28"/>
          <p:cNvSpPr/>
          <p:nvPr/>
        </p:nvSpPr>
        <p:spPr>
          <a:xfrm>
            <a:off x="5716420" y="3792959"/>
            <a:ext cx="1085559" cy="950541"/>
          </a:xfrm>
          <a:custGeom>
            <a:avLst/>
            <a:gdLst>
              <a:gd name="textAreaLeft" fmla="*/ 0 w 2165040"/>
              <a:gd name="textAreaRight" fmla="*/ 2165400 w 2165040"/>
              <a:gd name="textAreaTop" fmla="*/ 0 h 1895760"/>
              <a:gd name="textAreaBottom" fmla="*/ 1896120 h 1895760"/>
            </a:gdLst>
            <a:ahLst/>
            <a:cxnLst/>
            <a:rect l="textAreaLeft" t="textAreaTop" r="textAreaRight" b="textAreaBottom"/>
            <a:pathLst>
              <a:path w="2165350" h="1896109">
                <a:moveTo>
                  <a:pt x="1822373" y="0"/>
                </a:moveTo>
                <a:lnTo>
                  <a:pt x="472781" y="1146898"/>
                </a:lnTo>
                <a:lnTo>
                  <a:pt x="230328" y="861589"/>
                </a:lnTo>
                <a:lnTo>
                  <a:pt x="0" y="1896030"/>
                </a:lnTo>
                <a:lnTo>
                  <a:pt x="1058051" y="1835596"/>
                </a:lnTo>
                <a:lnTo>
                  <a:pt x="815587" y="1550287"/>
                </a:lnTo>
                <a:lnTo>
                  <a:pt x="2165180" y="403390"/>
                </a:lnTo>
                <a:lnTo>
                  <a:pt x="1822373" y="0"/>
                </a:lnTo>
                <a:close/>
              </a:path>
            </a:pathLst>
          </a:custGeom>
          <a:solidFill>
            <a:srgbClr val="B517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object 29"/>
          <p:cNvSpPr/>
          <p:nvPr/>
        </p:nvSpPr>
        <p:spPr>
          <a:xfrm rot="19260000">
            <a:off x="5691871" y="3847152"/>
            <a:ext cx="595487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ts val="1156"/>
              </a:lnSpc>
            </a:pPr>
            <a:r>
              <a:rPr lang="fr-FR" sz="1228" b="1" spc="-6">
                <a:solidFill>
                  <a:srgbClr val="EE220C"/>
                </a:solidFill>
                <a:latin typeface="Arial"/>
              </a:rPr>
              <a:t>Explain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object 30"/>
          <p:cNvSpPr/>
          <p:nvPr/>
        </p:nvSpPr>
        <p:spPr>
          <a:xfrm>
            <a:off x="5212990" y="4485016"/>
            <a:ext cx="420036" cy="1082310"/>
          </a:xfrm>
          <a:custGeom>
            <a:avLst/>
            <a:gdLst>
              <a:gd name="textAreaLeft" fmla="*/ 0 w 837720"/>
              <a:gd name="textAreaRight" fmla="*/ 838080 w 837720"/>
              <a:gd name="textAreaTop" fmla="*/ 0 h 2158560"/>
              <a:gd name="textAreaBottom" fmla="*/ 2158920 h 2158560"/>
            </a:gdLst>
            <a:ahLst/>
            <a:cxnLst/>
            <a:rect l="textAreaLeft" t="textAreaTop" r="textAreaRight" b="textAreaBottom"/>
            <a:pathLst>
              <a:path w="838200" h="2159000">
                <a:moveTo>
                  <a:pt x="161091" y="2133600"/>
                </a:moveTo>
                <a:lnTo>
                  <a:pt x="1015" y="2133600"/>
                </a:lnTo>
                <a:lnTo>
                  <a:pt x="1557" y="2146300"/>
                </a:lnTo>
                <a:lnTo>
                  <a:pt x="15227" y="2146300"/>
                </a:lnTo>
                <a:lnTo>
                  <a:pt x="34213" y="2159000"/>
                </a:lnTo>
                <a:lnTo>
                  <a:pt x="93869" y="2159000"/>
                </a:lnTo>
                <a:lnTo>
                  <a:pt x="125035" y="2146300"/>
                </a:lnTo>
                <a:lnTo>
                  <a:pt x="161091" y="2133600"/>
                </a:lnTo>
                <a:close/>
              </a:path>
              <a:path w="838200" h="2159000">
                <a:moveTo>
                  <a:pt x="618357" y="1257300"/>
                </a:moveTo>
                <a:lnTo>
                  <a:pt x="415896" y="1257300"/>
                </a:lnTo>
                <a:lnTo>
                  <a:pt x="421390" y="1295400"/>
                </a:lnTo>
                <a:lnTo>
                  <a:pt x="427410" y="1346200"/>
                </a:lnTo>
                <a:lnTo>
                  <a:pt x="433863" y="1397000"/>
                </a:lnTo>
                <a:lnTo>
                  <a:pt x="440659" y="1435100"/>
                </a:lnTo>
                <a:lnTo>
                  <a:pt x="447706" y="1485900"/>
                </a:lnTo>
                <a:lnTo>
                  <a:pt x="450575" y="1511300"/>
                </a:lnTo>
                <a:lnTo>
                  <a:pt x="454325" y="1536700"/>
                </a:lnTo>
                <a:lnTo>
                  <a:pt x="457771" y="1574800"/>
                </a:lnTo>
                <a:lnTo>
                  <a:pt x="459727" y="1612900"/>
                </a:lnTo>
                <a:lnTo>
                  <a:pt x="460420" y="1651000"/>
                </a:lnTo>
                <a:lnTo>
                  <a:pt x="460539" y="1727200"/>
                </a:lnTo>
                <a:lnTo>
                  <a:pt x="459932" y="1790700"/>
                </a:lnTo>
                <a:lnTo>
                  <a:pt x="459368" y="1854200"/>
                </a:lnTo>
                <a:lnTo>
                  <a:pt x="459389" y="1917700"/>
                </a:lnTo>
                <a:lnTo>
                  <a:pt x="460534" y="1968500"/>
                </a:lnTo>
                <a:lnTo>
                  <a:pt x="463342" y="2006600"/>
                </a:lnTo>
                <a:lnTo>
                  <a:pt x="468355" y="2032000"/>
                </a:lnTo>
                <a:lnTo>
                  <a:pt x="467519" y="2044700"/>
                </a:lnTo>
                <a:lnTo>
                  <a:pt x="464461" y="2057400"/>
                </a:lnTo>
                <a:lnTo>
                  <a:pt x="458358" y="2095500"/>
                </a:lnTo>
                <a:lnTo>
                  <a:pt x="448387" y="2120900"/>
                </a:lnTo>
                <a:lnTo>
                  <a:pt x="453147" y="2146300"/>
                </a:lnTo>
                <a:lnTo>
                  <a:pt x="488149" y="2159000"/>
                </a:lnTo>
                <a:lnTo>
                  <a:pt x="568519" y="2159000"/>
                </a:lnTo>
                <a:lnTo>
                  <a:pt x="588224" y="2133600"/>
                </a:lnTo>
                <a:lnTo>
                  <a:pt x="592106" y="2108200"/>
                </a:lnTo>
                <a:lnTo>
                  <a:pt x="588679" y="2082800"/>
                </a:lnTo>
                <a:lnTo>
                  <a:pt x="586456" y="2070100"/>
                </a:lnTo>
                <a:lnTo>
                  <a:pt x="589985" y="2057400"/>
                </a:lnTo>
                <a:lnTo>
                  <a:pt x="594376" y="2044700"/>
                </a:lnTo>
                <a:lnTo>
                  <a:pt x="598867" y="2032000"/>
                </a:lnTo>
                <a:lnTo>
                  <a:pt x="602696" y="2006600"/>
                </a:lnTo>
                <a:lnTo>
                  <a:pt x="606713" y="1955800"/>
                </a:lnTo>
                <a:lnTo>
                  <a:pt x="608493" y="1905000"/>
                </a:lnTo>
                <a:lnTo>
                  <a:pt x="608612" y="1866900"/>
                </a:lnTo>
                <a:lnTo>
                  <a:pt x="608652" y="1854200"/>
                </a:lnTo>
                <a:lnTo>
                  <a:pt x="607807" y="1803400"/>
                </a:lnTo>
                <a:lnTo>
                  <a:pt x="606574" y="1752600"/>
                </a:lnTo>
                <a:lnTo>
                  <a:pt x="605569" y="1689100"/>
                </a:lnTo>
                <a:lnTo>
                  <a:pt x="605462" y="1663700"/>
                </a:lnTo>
                <a:lnTo>
                  <a:pt x="605408" y="1651000"/>
                </a:lnTo>
                <a:lnTo>
                  <a:pt x="607911" y="1612900"/>
                </a:lnTo>
                <a:lnTo>
                  <a:pt x="612886" y="1562100"/>
                </a:lnTo>
                <a:lnTo>
                  <a:pt x="617761" y="1511300"/>
                </a:lnTo>
                <a:lnTo>
                  <a:pt x="619963" y="1435100"/>
                </a:lnTo>
                <a:lnTo>
                  <a:pt x="619937" y="1384300"/>
                </a:lnTo>
                <a:lnTo>
                  <a:pt x="619788" y="1346200"/>
                </a:lnTo>
                <a:lnTo>
                  <a:pt x="619738" y="1333500"/>
                </a:lnTo>
                <a:lnTo>
                  <a:pt x="619181" y="1295400"/>
                </a:lnTo>
                <a:lnTo>
                  <a:pt x="618357" y="1257300"/>
                </a:lnTo>
                <a:close/>
              </a:path>
              <a:path w="838200" h="2159000">
                <a:moveTo>
                  <a:pt x="521987" y="342900"/>
                </a:moveTo>
                <a:lnTo>
                  <a:pt x="305407" y="342900"/>
                </a:lnTo>
                <a:lnTo>
                  <a:pt x="269398" y="355600"/>
                </a:lnTo>
                <a:lnTo>
                  <a:pt x="226072" y="368300"/>
                </a:lnTo>
                <a:lnTo>
                  <a:pt x="185993" y="381000"/>
                </a:lnTo>
                <a:lnTo>
                  <a:pt x="159726" y="393700"/>
                </a:lnTo>
                <a:lnTo>
                  <a:pt x="138080" y="431800"/>
                </a:lnTo>
                <a:lnTo>
                  <a:pt x="106922" y="482600"/>
                </a:lnTo>
                <a:lnTo>
                  <a:pt x="72249" y="546100"/>
                </a:lnTo>
                <a:lnTo>
                  <a:pt x="40056" y="609600"/>
                </a:lnTo>
                <a:lnTo>
                  <a:pt x="16343" y="660400"/>
                </a:lnTo>
                <a:lnTo>
                  <a:pt x="6780" y="711200"/>
                </a:lnTo>
                <a:lnTo>
                  <a:pt x="6706" y="723900"/>
                </a:lnTo>
                <a:lnTo>
                  <a:pt x="6632" y="736600"/>
                </a:lnTo>
                <a:lnTo>
                  <a:pt x="7905" y="749300"/>
                </a:lnTo>
                <a:lnTo>
                  <a:pt x="11843" y="762000"/>
                </a:lnTo>
                <a:lnTo>
                  <a:pt x="28650" y="800100"/>
                </a:lnTo>
                <a:lnTo>
                  <a:pt x="46642" y="850900"/>
                </a:lnTo>
                <a:lnTo>
                  <a:pt x="65902" y="901700"/>
                </a:lnTo>
                <a:lnTo>
                  <a:pt x="86517" y="952500"/>
                </a:lnTo>
                <a:lnTo>
                  <a:pt x="108569" y="990600"/>
                </a:lnTo>
                <a:lnTo>
                  <a:pt x="132145" y="1028700"/>
                </a:lnTo>
                <a:lnTo>
                  <a:pt x="138103" y="1028700"/>
                </a:lnTo>
                <a:lnTo>
                  <a:pt x="146090" y="1041400"/>
                </a:lnTo>
                <a:lnTo>
                  <a:pt x="167338" y="1041400"/>
                </a:lnTo>
                <a:lnTo>
                  <a:pt x="181039" y="1054100"/>
                </a:lnTo>
                <a:lnTo>
                  <a:pt x="195295" y="1054100"/>
                </a:lnTo>
                <a:lnTo>
                  <a:pt x="206402" y="1066800"/>
                </a:lnTo>
                <a:lnTo>
                  <a:pt x="210656" y="1079500"/>
                </a:lnTo>
                <a:lnTo>
                  <a:pt x="208388" y="1117600"/>
                </a:lnTo>
                <a:lnTo>
                  <a:pt x="202710" y="1206500"/>
                </a:lnTo>
                <a:lnTo>
                  <a:pt x="199490" y="1270000"/>
                </a:lnTo>
                <a:lnTo>
                  <a:pt x="196143" y="1320800"/>
                </a:lnTo>
                <a:lnTo>
                  <a:pt x="192764" y="1384300"/>
                </a:lnTo>
                <a:lnTo>
                  <a:pt x="189448" y="1435100"/>
                </a:lnTo>
                <a:lnTo>
                  <a:pt x="186290" y="1473200"/>
                </a:lnTo>
                <a:lnTo>
                  <a:pt x="182424" y="1524000"/>
                </a:lnTo>
                <a:lnTo>
                  <a:pt x="178912" y="1574800"/>
                </a:lnTo>
                <a:lnTo>
                  <a:pt x="175705" y="1612900"/>
                </a:lnTo>
                <a:lnTo>
                  <a:pt x="172751" y="1663700"/>
                </a:lnTo>
                <a:lnTo>
                  <a:pt x="169241" y="1701800"/>
                </a:lnTo>
                <a:lnTo>
                  <a:pt x="165704" y="1765300"/>
                </a:lnTo>
                <a:lnTo>
                  <a:pt x="160944" y="1816100"/>
                </a:lnTo>
                <a:lnTo>
                  <a:pt x="153765" y="1866900"/>
                </a:lnTo>
                <a:lnTo>
                  <a:pt x="142972" y="1930400"/>
                </a:lnTo>
                <a:lnTo>
                  <a:pt x="134804" y="1968500"/>
                </a:lnTo>
                <a:lnTo>
                  <a:pt x="127140" y="2006600"/>
                </a:lnTo>
                <a:lnTo>
                  <a:pt x="123332" y="2032000"/>
                </a:lnTo>
                <a:lnTo>
                  <a:pt x="126732" y="2032000"/>
                </a:lnTo>
                <a:lnTo>
                  <a:pt x="107112" y="2070100"/>
                </a:lnTo>
                <a:lnTo>
                  <a:pt x="77427" y="2082800"/>
                </a:lnTo>
                <a:lnTo>
                  <a:pt x="44900" y="2095500"/>
                </a:lnTo>
                <a:lnTo>
                  <a:pt x="16751" y="2108200"/>
                </a:lnTo>
                <a:lnTo>
                  <a:pt x="9413" y="2108200"/>
                </a:lnTo>
                <a:lnTo>
                  <a:pt x="3908" y="2120900"/>
                </a:lnTo>
                <a:lnTo>
                  <a:pt x="637" y="2120900"/>
                </a:lnTo>
                <a:lnTo>
                  <a:pt x="0" y="2133600"/>
                </a:lnTo>
                <a:lnTo>
                  <a:pt x="273429" y="2133600"/>
                </a:lnTo>
                <a:lnTo>
                  <a:pt x="281436" y="2120900"/>
                </a:lnTo>
                <a:lnTo>
                  <a:pt x="285446" y="2108200"/>
                </a:lnTo>
                <a:lnTo>
                  <a:pt x="285899" y="2082800"/>
                </a:lnTo>
                <a:lnTo>
                  <a:pt x="283240" y="2057400"/>
                </a:lnTo>
                <a:lnTo>
                  <a:pt x="280539" y="2057400"/>
                </a:lnTo>
                <a:lnTo>
                  <a:pt x="294168" y="2032000"/>
                </a:lnTo>
                <a:lnTo>
                  <a:pt x="300889" y="1993900"/>
                </a:lnTo>
                <a:lnTo>
                  <a:pt x="307476" y="1955800"/>
                </a:lnTo>
                <a:lnTo>
                  <a:pt x="313873" y="1905000"/>
                </a:lnTo>
                <a:lnTo>
                  <a:pt x="320026" y="1854200"/>
                </a:lnTo>
                <a:lnTo>
                  <a:pt x="325881" y="1790700"/>
                </a:lnTo>
                <a:lnTo>
                  <a:pt x="331383" y="1727200"/>
                </a:lnTo>
                <a:lnTo>
                  <a:pt x="336479" y="1663700"/>
                </a:lnTo>
                <a:lnTo>
                  <a:pt x="341113" y="1600200"/>
                </a:lnTo>
                <a:lnTo>
                  <a:pt x="345989" y="1562100"/>
                </a:lnTo>
                <a:lnTo>
                  <a:pt x="354269" y="1511300"/>
                </a:lnTo>
                <a:lnTo>
                  <a:pt x="364778" y="1447800"/>
                </a:lnTo>
                <a:lnTo>
                  <a:pt x="376339" y="1397000"/>
                </a:lnTo>
                <a:lnTo>
                  <a:pt x="387778" y="1346200"/>
                </a:lnTo>
                <a:lnTo>
                  <a:pt x="397917" y="1295400"/>
                </a:lnTo>
                <a:lnTo>
                  <a:pt x="405582" y="1257300"/>
                </a:lnTo>
                <a:lnTo>
                  <a:pt x="618357" y="1257300"/>
                </a:lnTo>
                <a:lnTo>
                  <a:pt x="618083" y="1244600"/>
                </a:lnTo>
                <a:lnTo>
                  <a:pt x="616258" y="1193800"/>
                </a:lnTo>
                <a:lnTo>
                  <a:pt x="613523" y="1155700"/>
                </a:lnTo>
                <a:lnTo>
                  <a:pt x="613789" y="1117600"/>
                </a:lnTo>
                <a:lnTo>
                  <a:pt x="617250" y="1092200"/>
                </a:lnTo>
                <a:lnTo>
                  <a:pt x="618172" y="1054100"/>
                </a:lnTo>
                <a:lnTo>
                  <a:pt x="610822" y="1016000"/>
                </a:lnTo>
                <a:lnTo>
                  <a:pt x="671838" y="1016000"/>
                </a:lnTo>
                <a:lnTo>
                  <a:pt x="687364" y="1003300"/>
                </a:lnTo>
                <a:lnTo>
                  <a:pt x="701175" y="990600"/>
                </a:lnTo>
                <a:lnTo>
                  <a:pt x="727646" y="952500"/>
                </a:lnTo>
                <a:lnTo>
                  <a:pt x="176982" y="952500"/>
                </a:lnTo>
                <a:lnTo>
                  <a:pt x="162074" y="914400"/>
                </a:lnTo>
                <a:lnTo>
                  <a:pt x="143734" y="850900"/>
                </a:lnTo>
                <a:lnTo>
                  <a:pt x="127424" y="787400"/>
                </a:lnTo>
                <a:lnTo>
                  <a:pt x="118606" y="749300"/>
                </a:lnTo>
                <a:lnTo>
                  <a:pt x="120136" y="736600"/>
                </a:lnTo>
                <a:lnTo>
                  <a:pt x="121470" y="723900"/>
                </a:lnTo>
                <a:lnTo>
                  <a:pt x="123517" y="698500"/>
                </a:lnTo>
                <a:lnTo>
                  <a:pt x="127747" y="698500"/>
                </a:lnTo>
                <a:lnTo>
                  <a:pt x="138845" y="673100"/>
                </a:lnTo>
                <a:lnTo>
                  <a:pt x="154819" y="660400"/>
                </a:lnTo>
                <a:lnTo>
                  <a:pt x="172824" y="635000"/>
                </a:lnTo>
                <a:lnTo>
                  <a:pt x="190018" y="609600"/>
                </a:lnTo>
                <a:lnTo>
                  <a:pt x="798810" y="609600"/>
                </a:lnTo>
                <a:lnTo>
                  <a:pt x="773755" y="558800"/>
                </a:lnTo>
                <a:lnTo>
                  <a:pt x="743678" y="508000"/>
                </a:lnTo>
                <a:lnTo>
                  <a:pt x="713555" y="469900"/>
                </a:lnTo>
                <a:lnTo>
                  <a:pt x="688367" y="431800"/>
                </a:lnTo>
                <a:lnTo>
                  <a:pt x="673092" y="406400"/>
                </a:lnTo>
                <a:lnTo>
                  <a:pt x="647959" y="381000"/>
                </a:lnTo>
                <a:lnTo>
                  <a:pt x="604851" y="368300"/>
                </a:lnTo>
                <a:lnTo>
                  <a:pt x="558086" y="355600"/>
                </a:lnTo>
                <a:lnTo>
                  <a:pt x="521987" y="342900"/>
                </a:lnTo>
                <a:close/>
              </a:path>
              <a:path w="838200" h="2159000">
                <a:moveTo>
                  <a:pt x="798810" y="609600"/>
                </a:moveTo>
                <a:lnTo>
                  <a:pt x="631261" y="609600"/>
                </a:lnTo>
                <a:lnTo>
                  <a:pt x="636748" y="622300"/>
                </a:lnTo>
                <a:lnTo>
                  <a:pt x="638905" y="622300"/>
                </a:lnTo>
                <a:lnTo>
                  <a:pt x="665521" y="647700"/>
                </a:lnTo>
                <a:lnTo>
                  <a:pt x="687403" y="673100"/>
                </a:lnTo>
                <a:lnTo>
                  <a:pt x="702889" y="685800"/>
                </a:lnTo>
                <a:lnTo>
                  <a:pt x="710316" y="698500"/>
                </a:lnTo>
                <a:lnTo>
                  <a:pt x="712221" y="723900"/>
                </a:lnTo>
                <a:lnTo>
                  <a:pt x="713779" y="736600"/>
                </a:lnTo>
                <a:lnTo>
                  <a:pt x="714831" y="749300"/>
                </a:lnTo>
                <a:lnTo>
                  <a:pt x="715216" y="749300"/>
                </a:lnTo>
                <a:lnTo>
                  <a:pt x="709652" y="774700"/>
                </a:lnTo>
                <a:lnTo>
                  <a:pt x="696233" y="838200"/>
                </a:lnTo>
                <a:lnTo>
                  <a:pt x="679868" y="889000"/>
                </a:lnTo>
                <a:lnTo>
                  <a:pt x="665469" y="927100"/>
                </a:lnTo>
                <a:lnTo>
                  <a:pt x="219624" y="927100"/>
                </a:lnTo>
                <a:lnTo>
                  <a:pt x="210701" y="939800"/>
                </a:lnTo>
                <a:lnTo>
                  <a:pt x="194249" y="939800"/>
                </a:lnTo>
                <a:lnTo>
                  <a:pt x="186357" y="952500"/>
                </a:lnTo>
                <a:lnTo>
                  <a:pt x="727646" y="952500"/>
                </a:lnTo>
                <a:lnTo>
                  <a:pt x="753553" y="901700"/>
                </a:lnTo>
                <a:lnTo>
                  <a:pt x="777417" y="850900"/>
                </a:lnTo>
                <a:lnTo>
                  <a:pt x="797763" y="800100"/>
                </a:lnTo>
                <a:lnTo>
                  <a:pt x="813112" y="762000"/>
                </a:lnTo>
                <a:lnTo>
                  <a:pt x="821988" y="736600"/>
                </a:lnTo>
                <a:lnTo>
                  <a:pt x="833236" y="723900"/>
                </a:lnTo>
                <a:lnTo>
                  <a:pt x="837721" y="711200"/>
                </a:lnTo>
                <a:lnTo>
                  <a:pt x="836621" y="685800"/>
                </a:lnTo>
                <a:lnTo>
                  <a:pt x="831119" y="660400"/>
                </a:lnTo>
                <a:lnTo>
                  <a:pt x="828417" y="647700"/>
                </a:lnTo>
                <a:lnTo>
                  <a:pt x="813863" y="647700"/>
                </a:lnTo>
                <a:lnTo>
                  <a:pt x="798810" y="609600"/>
                </a:lnTo>
                <a:close/>
              </a:path>
              <a:path w="838200" h="2159000">
                <a:moveTo>
                  <a:pt x="615900" y="609600"/>
                </a:moveTo>
                <a:lnTo>
                  <a:pt x="206227" y="609600"/>
                </a:lnTo>
                <a:lnTo>
                  <a:pt x="207441" y="622300"/>
                </a:lnTo>
                <a:lnTo>
                  <a:pt x="210620" y="635000"/>
                </a:lnTo>
                <a:lnTo>
                  <a:pt x="212621" y="660400"/>
                </a:lnTo>
                <a:lnTo>
                  <a:pt x="214316" y="698500"/>
                </a:lnTo>
                <a:lnTo>
                  <a:pt x="216582" y="723900"/>
                </a:lnTo>
                <a:lnTo>
                  <a:pt x="221587" y="762000"/>
                </a:lnTo>
                <a:lnTo>
                  <a:pt x="226594" y="812800"/>
                </a:lnTo>
                <a:lnTo>
                  <a:pt x="229977" y="850900"/>
                </a:lnTo>
                <a:lnTo>
                  <a:pt x="230044" y="863600"/>
                </a:lnTo>
                <a:lnTo>
                  <a:pt x="230111" y="876300"/>
                </a:lnTo>
                <a:lnTo>
                  <a:pt x="229732" y="901700"/>
                </a:lnTo>
                <a:lnTo>
                  <a:pt x="229911" y="901700"/>
                </a:lnTo>
                <a:lnTo>
                  <a:pt x="230111" y="914400"/>
                </a:lnTo>
                <a:lnTo>
                  <a:pt x="227024" y="927100"/>
                </a:lnTo>
                <a:lnTo>
                  <a:pt x="653330" y="927100"/>
                </a:lnTo>
                <a:lnTo>
                  <a:pt x="634494" y="914400"/>
                </a:lnTo>
                <a:lnTo>
                  <a:pt x="613423" y="914400"/>
                </a:lnTo>
                <a:lnTo>
                  <a:pt x="594581" y="901700"/>
                </a:lnTo>
                <a:lnTo>
                  <a:pt x="595119" y="863600"/>
                </a:lnTo>
                <a:lnTo>
                  <a:pt x="597283" y="800100"/>
                </a:lnTo>
                <a:lnTo>
                  <a:pt x="600820" y="749300"/>
                </a:lnTo>
                <a:lnTo>
                  <a:pt x="606119" y="698500"/>
                </a:lnTo>
                <a:lnTo>
                  <a:pt x="611314" y="660400"/>
                </a:lnTo>
                <a:lnTo>
                  <a:pt x="614539" y="622300"/>
                </a:lnTo>
                <a:lnTo>
                  <a:pt x="615900" y="609600"/>
                </a:lnTo>
                <a:close/>
              </a:path>
              <a:path w="838200" h="2159000">
                <a:moveTo>
                  <a:pt x="505746" y="317500"/>
                </a:moveTo>
                <a:lnTo>
                  <a:pt x="316711" y="317500"/>
                </a:lnTo>
                <a:lnTo>
                  <a:pt x="314363" y="330200"/>
                </a:lnTo>
                <a:lnTo>
                  <a:pt x="310797" y="342900"/>
                </a:lnTo>
                <a:lnTo>
                  <a:pt x="516573" y="342900"/>
                </a:lnTo>
                <a:lnTo>
                  <a:pt x="510615" y="330200"/>
                </a:lnTo>
                <a:lnTo>
                  <a:pt x="506825" y="330200"/>
                </a:lnTo>
                <a:lnTo>
                  <a:pt x="505746" y="317500"/>
                </a:lnTo>
                <a:close/>
              </a:path>
              <a:path w="838200" h="2159000">
                <a:moveTo>
                  <a:pt x="491212" y="304800"/>
                </a:moveTo>
                <a:lnTo>
                  <a:pt x="326024" y="304800"/>
                </a:lnTo>
                <a:lnTo>
                  <a:pt x="318443" y="317500"/>
                </a:lnTo>
                <a:lnTo>
                  <a:pt x="498400" y="317500"/>
                </a:lnTo>
                <a:lnTo>
                  <a:pt x="491212" y="304800"/>
                </a:lnTo>
                <a:close/>
              </a:path>
              <a:path w="838200" h="2159000">
                <a:moveTo>
                  <a:pt x="511872" y="215900"/>
                </a:moveTo>
                <a:lnTo>
                  <a:pt x="309435" y="215900"/>
                </a:lnTo>
                <a:lnTo>
                  <a:pt x="318946" y="228600"/>
                </a:lnTo>
                <a:lnTo>
                  <a:pt x="323551" y="241300"/>
                </a:lnTo>
                <a:lnTo>
                  <a:pt x="329456" y="254000"/>
                </a:lnTo>
                <a:lnTo>
                  <a:pt x="334548" y="279400"/>
                </a:lnTo>
                <a:lnTo>
                  <a:pt x="336715" y="304800"/>
                </a:lnTo>
                <a:lnTo>
                  <a:pt x="483580" y="304800"/>
                </a:lnTo>
                <a:lnTo>
                  <a:pt x="482528" y="292100"/>
                </a:lnTo>
                <a:lnTo>
                  <a:pt x="482161" y="279400"/>
                </a:lnTo>
                <a:lnTo>
                  <a:pt x="483011" y="279400"/>
                </a:lnTo>
                <a:lnTo>
                  <a:pt x="485611" y="266700"/>
                </a:lnTo>
                <a:lnTo>
                  <a:pt x="490280" y="254000"/>
                </a:lnTo>
                <a:lnTo>
                  <a:pt x="494497" y="254000"/>
                </a:lnTo>
                <a:lnTo>
                  <a:pt x="498205" y="241300"/>
                </a:lnTo>
                <a:lnTo>
                  <a:pt x="501349" y="228600"/>
                </a:lnTo>
                <a:lnTo>
                  <a:pt x="506782" y="228600"/>
                </a:lnTo>
                <a:lnTo>
                  <a:pt x="511872" y="215900"/>
                </a:lnTo>
                <a:close/>
              </a:path>
              <a:path w="838200" h="2159000">
                <a:moveTo>
                  <a:pt x="526856" y="152400"/>
                </a:moveTo>
                <a:lnTo>
                  <a:pt x="299453" y="152400"/>
                </a:lnTo>
                <a:lnTo>
                  <a:pt x="297186" y="165100"/>
                </a:lnTo>
                <a:lnTo>
                  <a:pt x="299994" y="190500"/>
                </a:lnTo>
                <a:lnTo>
                  <a:pt x="302802" y="203200"/>
                </a:lnTo>
                <a:lnTo>
                  <a:pt x="305001" y="215900"/>
                </a:lnTo>
                <a:lnTo>
                  <a:pt x="516860" y="215900"/>
                </a:lnTo>
                <a:lnTo>
                  <a:pt x="521987" y="203200"/>
                </a:lnTo>
                <a:lnTo>
                  <a:pt x="525112" y="190500"/>
                </a:lnTo>
                <a:lnTo>
                  <a:pt x="527964" y="165100"/>
                </a:lnTo>
                <a:lnTo>
                  <a:pt x="526856" y="152400"/>
                </a:lnTo>
                <a:close/>
              </a:path>
              <a:path w="838200" h="2159000">
                <a:moveTo>
                  <a:pt x="473800" y="12700"/>
                </a:moveTo>
                <a:lnTo>
                  <a:pt x="365079" y="12700"/>
                </a:lnTo>
                <a:lnTo>
                  <a:pt x="347994" y="25400"/>
                </a:lnTo>
                <a:lnTo>
                  <a:pt x="331301" y="38100"/>
                </a:lnTo>
                <a:lnTo>
                  <a:pt x="309436" y="76200"/>
                </a:lnTo>
                <a:lnTo>
                  <a:pt x="302514" y="101600"/>
                </a:lnTo>
                <a:lnTo>
                  <a:pt x="303513" y="139700"/>
                </a:lnTo>
                <a:lnTo>
                  <a:pt x="305407" y="152400"/>
                </a:lnTo>
                <a:lnTo>
                  <a:pt x="518102" y="152400"/>
                </a:lnTo>
                <a:lnTo>
                  <a:pt x="521439" y="127000"/>
                </a:lnTo>
                <a:lnTo>
                  <a:pt x="521570" y="101600"/>
                </a:lnTo>
                <a:lnTo>
                  <a:pt x="521635" y="88900"/>
                </a:lnTo>
                <a:lnTo>
                  <a:pt x="512490" y="50800"/>
                </a:lnTo>
                <a:lnTo>
                  <a:pt x="487810" y="25400"/>
                </a:lnTo>
                <a:lnTo>
                  <a:pt x="474271" y="25400"/>
                </a:lnTo>
                <a:lnTo>
                  <a:pt x="473800" y="12700"/>
                </a:lnTo>
                <a:close/>
              </a:path>
              <a:path w="838200" h="2159000">
                <a:moveTo>
                  <a:pt x="434417" y="0"/>
                </a:moveTo>
                <a:lnTo>
                  <a:pt x="399823" y="0"/>
                </a:lnTo>
                <a:lnTo>
                  <a:pt x="382406" y="12700"/>
                </a:lnTo>
                <a:lnTo>
                  <a:pt x="451343" y="12700"/>
                </a:lnTo>
                <a:lnTo>
                  <a:pt x="43441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object 31"/>
          <p:cNvSpPr/>
          <p:nvPr/>
        </p:nvSpPr>
        <p:spPr>
          <a:xfrm>
            <a:off x="5803965" y="4860828"/>
            <a:ext cx="782491" cy="4884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50361" indent="-44223">
              <a:lnSpc>
                <a:spcPct val="135000"/>
              </a:lnSpc>
              <a:spcBef>
                <a:spcPts val="48"/>
              </a:spcBef>
              <a:tabLst>
                <a:tab pos="0" algn="l"/>
              </a:tabLst>
            </a:pPr>
            <a:r>
              <a:rPr lang="fr-FR" sz="1228" b="1" spc="23">
                <a:solidFill>
                  <a:srgbClr val="970E53"/>
                </a:solidFill>
                <a:latin typeface="Arial"/>
              </a:rPr>
              <a:t>Individual </a:t>
            </a:r>
            <a:r>
              <a:rPr lang="fr-FR" sz="1228" b="1" spc="20">
                <a:solidFill>
                  <a:srgbClr val="970E53"/>
                </a:solidFill>
                <a:latin typeface="Arial"/>
              </a:rPr>
              <a:t>behavior</a:t>
            </a:r>
            <a:endParaRPr lang="fr-FR" sz="1228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236458" y="118592"/>
            <a:ext cx="6162994" cy="899790"/>
          </a:xfrm>
          <a:prstGeom prst="rect">
            <a:avLst/>
          </a:prstGeom>
          <a:noFill/>
          <a:ln w="0">
            <a:noFill/>
          </a:ln>
        </p:spPr>
        <p:txBody>
          <a:bodyPr lIns="0" tIns="52888" rIns="0" bIns="0" anchor="t">
            <a:spAutoFit/>
          </a:bodyPr>
          <a:lstStyle/>
          <a:p>
            <a:pPr marL="6318">
              <a:lnSpc>
                <a:spcPts val="3339"/>
              </a:lnSpc>
              <a:spcBef>
                <a:spcPts val="417"/>
              </a:spcBef>
            </a:pPr>
            <a:r>
              <a:rPr lang="fr-FR" sz="3033" b="1">
                <a:solidFill>
                  <a:schemeClr val="dk1"/>
                </a:solidFill>
                <a:latin typeface="Arial"/>
              </a:rPr>
              <a:t>A</a:t>
            </a:r>
            <a:r>
              <a:rPr lang="fr-FR" sz="3033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88">
                <a:solidFill>
                  <a:schemeClr val="dk1"/>
                </a:solidFill>
                <a:latin typeface="Arial"/>
              </a:rPr>
              <a:t>typical </a:t>
            </a:r>
            <a:r>
              <a:rPr lang="fr-FR" sz="3033" b="1" spc="-115">
                <a:solidFill>
                  <a:schemeClr val="dk1"/>
                </a:solidFill>
                <a:latin typeface="Arial"/>
              </a:rPr>
              <a:t>individualist</a:t>
            </a:r>
            <a:r>
              <a:rPr lang="fr-FR" sz="3033" b="1" spc="-88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>
                <a:solidFill>
                  <a:schemeClr val="dk1"/>
                </a:solidFill>
                <a:latin typeface="Arial"/>
              </a:rPr>
              <a:t>or</a:t>
            </a:r>
            <a:r>
              <a:rPr lang="fr-FR" sz="3033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65">
                <a:solidFill>
                  <a:schemeClr val="dk1"/>
                </a:solidFill>
                <a:latin typeface="Arial"/>
              </a:rPr>
              <a:t>(“agentic”) </a:t>
            </a:r>
            <a:r>
              <a:rPr lang="fr-FR" sz="3033" b="1" spc="-70">
                <a:solidFill>
                  <a:schemeClr val="dk1"/>
                </a:solidFill>
                <a:latin typeface="Arial"/>
              </a:rPr>
              <a:t>paradigm:</a:t>
            </a:r>
            <a:r>
              <a:rPr lang="fr-FR" sz="3033" b="1" spc="-102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112">
                <a:solidFill>
                  <a:schemeClr val="dk1"/>
                </a:solidFill>
                <a:latin typeface="Arial"/>
              </a:rPr>
              <a:t>Rational</a:t>
            </a:r>
            <a:r>
              <a:rPr lang="fr-FR" sz="3033" b="1" spc="-82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138">
                <a:solidFill>
                  <a:schemeClr val="dk1"/>
                </a:solidFill>
                <a:latin typeface="Arial"/>
              </a:rPr>
              <a:t>Choice</a:t>
            </a:r>
            <a:r>
              <a:rPr lang="fr-FR" sz="3033" b="1" spc="-75">
                <a:solidFill>
                  <a:schemeClr val="dk1"/>
                </a:solidFill>
                <a:latin typeface="Arial"/>
              </a:rPr>
              <a:t> </a:t>
            </a:r>
            <a:r>
              <a:rPr lang="fr-FR" sz="3033" b="1" spc="-6">
                <a:solidFill>
                  <a:schemeClr val="dk1"/>
                </a:solidFill>
                <a:latin typeface="Arial"/>
              </a:rPr>
              <a:t>Theory</a:t>
            </a:r>
            <a:endParaRPr lang="fr-FR" sz="3033"/>
          </a:p>
        </p:txBody>
      </p:sp>
      <p:sp>
        <p:nvSpPr>
          <p:cNvPr id="249" name="object 3"/>
          <p:cNvSpPr/>
          <p:nvPr/>
        </p:nvSpPr>
        <p:spPr>
          <a:xfrm>
            <a:off x="277252" y="1284115"/>
            <a:ext cx="9374906" cy="38481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137" rIns="0" bIns="0" anchor="t">
            <a:spAutoFit/>
          </a:bodyPr>
          <a:lstStyle/>
          <a:p>
            <a:pPr marL="241695" indent="-235558">
              <a:lnSpc>
                <a:spcPct val="113000"/>
              </a:lnSpc>
              <a:spcBef>
                <a:spcPts val="48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42597" algn="l"/>
              </a:tabLst>
            </a:pPr>
            <a:r>
              <a:rPr lang="fr-FR" sz="1855" spc="36">
                <a:solidFill>
                  <a:srgbClr val="000000"/>
                </a:solidFill>
                <a:latin typeface="Arial MT"/>
              </a:rPr>
              <a:t>One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most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000000"/>
                </a:solidFill>
                <a:latin typeface="Arial"/>
              </a:rPr>
              <a:t>popular</a:t>
            </a:r>
            <a:r>
              <a:rPr lang="fr-FR" sz="1855" b="1" spc="20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105">
                <a:solidFill>
                  <a:srgbClr val="000000"/>
                </a:solidFill>
                <a:latin typeface="Arial"/>
              </a:rPr>
              <a:t>successful</a:t>
            </a:r>
            <a:r>
              <a:rPr lang="fr-FR" sz="1855" b="1" spc="2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paradigm: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predominant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in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economics,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influential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political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science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part</a:t>
            </a:r>
            <a:r>
              <a:rPr lang="fr-FR" sz="1855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55" spc="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sociology.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241695" indent="-235558">
              <a:lnSpc>
                <a:spcPct val="113000"/>
              </a:lnSpc>
              <a:spcBef>
                <a:spcPts val="951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42597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Main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idea:</a:t>
            </a:r>
            <a:r>
              <a:rPr lang="fr-FR" sz="1855" spc="-4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i="1" spc="-46">
                <a:solidFill>
                  <a:srgbClr val="000000"/>
                </a:solidFill>
                <a:latin typeface="Arial"/>
              </a:rPr>
              <a:t>individuals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make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rational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68">
                <a:solidFill>
                  <a:srgbClr val="000000"/>
                </a:solidFill>
                <a:latin typeface="Arial"/>
              </a:rPr>
              <a:t>decisions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by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23">
                <a:solidFill>
                  <a:srgbClr val="000000"/>
                </a:solidFill>
                <a:latin typeface="Arial"/>
              </a:rPr>
              <a:t>analyzing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the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85">
                <a:solidFill>
                  <a:srgbClr val="EE220C"/>
                </a:solidFill>
                <a:latin typeface="Arial"/>
              </a:rPr>
              <a:t>costs</a:t>
            </a:r>
            <a:r>
              <a:rPr lang="fr-FR" sz="1855" b="1" i="1" spc="-13">
                <a:solidFill>
                  <a:srgbClr val="EE220C"/>
                </a:solidFill>
                <a:latin typeface="Arial"/>
              </a:rPr>
              <a:t> 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and 	</a:t>
            </a:r>
            <a:r>
              <a:rPr lang="fr-FR" sz="1855" b="1" i="1">
                <a:solidFill>
                  <a:srgbClr val="EE220C"/>
                </a:solidFill>
                <a:latin typeface="Arial"/>
              </a:rPr>
              <a:t>benefits</a:t>
            </a:r>
            <a:r>
              <a:rPr lang="fr-FR" sz="1855" b="1" i="1" spc="-36">
                <a:solidFill>
                  <a:srgbClr val="EE220C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of</a:t>
            </a:r>
            <a:r>
              <a:rPr lang="fr-FR" sz="1855" b="1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>
                <a:solidFill>
                  <a:srgbClr val="000000"/>
                </a:solidFill>
                <a:latin typeface="Arial"/>
              </a:rPr>
              <a:t>every</a:t>
            </a:r>
            <a:r>
              <a:rPr lang="fr-FR" sz="1855" b="1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13">
                <a:solidFill>
                  <a:srgbClr val="000000"/>
                </a:solidFill>
                <a:latin typeface="Arial"/>
              </a:rPr>
              <a:t>available</a:t>
            </a:r>
            <a:r>
              <a:rPr lang="fr-FR" sz="1855" b="1" i="1" spc="-36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i="1" spc="-6">
                <a:solidFill>
                  <a:srgbClr val="000000"/>
                </a:solidFill>
                <a:latin typeface="Arial"/>
              </a:rPr>
              <a:t>option.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242056" indent="-235558">
              <a:spcBef>
                <a:spcPts val="145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42056" algn="l"/>
              </a:tabLst>
            </a:pPr>
            <a:r>
              <a:rPr lang="fr-FR" sz="1855" spc="-88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make rational decisions,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individuals/agents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use: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82304" lvl="1" indent="-235558">
              <a:lnSpc>
                <a:spcPct val="113000"/>
              </a:lnSpc>
              <a:spcBef>
                <a:spcPts val="140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83207" algn="l"/>
              </a:tabLst>
            </a:pPr>
            <a:r>
              <a:rPr lang="fr-FR" sz="1855" spc="33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0076BA"/>
                </a:solidFill>
                <a:latin typeface="Arial"/>
              </a:rPr>
              <a:t>information</a:t>
            </a:r>
            <a:r>
              <a:rPr lang="fr-FR" sz="1855" b="1" spc="23">
                <a:solidFill>
                  <a:srgbClr val="0076BA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have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—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different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options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have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their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respective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85">
                <a:solidFill>
                  <a:srgbClr val="000000"/>
                </a:solidFill>
                <a:latin typeface="Arial"/>
              </a:rPr>
              <a:t>costs</a:t>
            </a:r>
            <a:r>
              <a:rPr lang="fr-FR" sz="1855" b="1" spc="1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6">
                <a:solidFill>
                  <a:srgbClr val="000000"/>
                </a:solidFill>
                <a:latin typeface="Arial"/>
              </a:rPr>
              <a:t>benefits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48189" indent="-235558">
              <a:lnSpc>
                <a:spcPct val="113000"/>
              </a:lnSpc>
              <a:spcBef>
                <a:spcPts val="141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49092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their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17">
                <a:solidFill>
                  <a:srgbClr val="0076BA"/>
                </a:solidFill>
                <a:latin typeface="Arial"/>
              </a:rPr>
              <a:t>preferences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relative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20">
                <a:solidFill>
                  <a:srgbClr val="0076BA"/>
                </a:solidFill>
                <a:latin typeface="Arial"/>
              </a:rPr>
              <a:t>value</a:t>
            </a:r>
            <a:r>
              <a:rPr lang="fr-FR" sz="1855" b="1" spc="-3">
                <a:solidFill>
                  <a:srgbClr val="0076BA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ascribe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3">
                <a:solidFill>
                  <a:srgbClr val="000000"/>
                </a:solidFill>
                <a:latin typeface="Arial MT"/>
              </a:rPr>
              <a:t>different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objects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(e.g.,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prefer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apples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27">
                <a:solidFill>
                  <a:srgbClr val="000000"/>
                </a:solidFill>
                <a:latin typeface="Arial MT"/>
              </a:rPr>
              <a:t>pears).</a:t>
            </a:r>
            <a:r>
              <a:rPr lang="fr-FR" sz="1855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Most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preferred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options</a:t>
            </a:r>
            <a:r>
              <a:rPr lang="fr-FR" sz="1855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0">
                <a:solidFill>
                  <a:srgbClr val="000000"/>
                </a:solidFill>
                <a:latin typeface="Arial MT"/>
              </a:rPr>
              <a:t>bring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more</a:t>
            </a:r>
            <a:r>
              <a:rPr lang="fr-FR" sz="1855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EE220C"/>
                </a:solidFill>
                <a:latin typeface="Arial"/>
              </a:rPr>
              <a:t>utility</a:t>
            </a:r>
            <a:r>
              <a:rPr lang="fr-FR" sz="1855" b="1" spc="10">
                <a:solidFill>
                  <a:srgbClr val="EE220C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(=</a:t>
            </a:r>
            <a:r>
              <a:rPr lang="fr-FR" sz="1855" spc="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satisfaction,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well-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being…)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236459" y="115162"/>
            <a:ext cx="7288805" cy="855074"/>
          </a:xfrm>
          <a:prstGeom prst="rect">
            <a:avLst/>
          </a:prstGeom>
          <a:noFill/>
          <a:ln w="0">
            <a:noFill/>
          </a:ln>
        </p:spPr>
        <p:txBody>
          <a:bodyPr lIns="0" tIns="6318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50"/>
              </a:spcBef>
            </a:pPr>
            <a:r>
              <a:rPr lang="fr-FR" sz="5515" b="1" spc="-205">
                <a:solidFill>
                  <a:schemeClr val="dk1"/>
                </a:solidFill>
                <a:latin typeface="Arial"/>
              </a:rPr>
              <a:t>Rational</a:t>
            </a:r>
            <a:r>
              <a:rPr lang="fr-FR" sz="5515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5515" b="1" spc="-246">
                <a:solidFill>
                  <a:schemeClr val="dk1"/>
                </a:solidFill>
                <a:latin typeface="Arial"/>
              </a:rPr>
              <a:t>Choice</a:t>
            </a:r>
            <a:r>
              <a:rPr lang="fr-FR" sz="5515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5515" b="1" spc="-208">
                <a:solidFill>
                  <a:schemeClr val="dk1"/>
                </a:solidFill>
                <a:latin typeface="Arial"/>
              </a:rPr>
              <a:t>Theory</a:t>
            </a:r>
            <a:endParaRPr lang="fr-FR" sz="5515"/>
          </a:p>
        </p:txBody>
      </p:sp>
      <p:sp>
        <p:nvSpPr>
          <p:cNvPr id="251" name="object 3"/>
          <p:cNvSpPr/>
          <p:nvPr/>
        </p:nvSpPr>
        <p:spPr>
          <a:xfrm>
            <a:off x="319311" y="1155595"/>
            <a:ext cx="9183750" cy="443422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55054" rIns="0" bIns="0" anchor="t">
            <a:spAutoFit/>
          </a:bodyPr>
          <a:lstStyle/>
          <a:p>
            <a:pPr marL="6318">
              <a:spcBef>
                <a:spcPts val="434"/>
              </a:spcBef>
            </a:pPr>
            <a:r>
              <a:rPr lang="fr-FR" sz="1855" spc="-6">
                <a:solidFill>
                  <a:srgbClr val="000000"/>
                </a:solidFill>
                <a:latin typeface="Arial MT"/>
              </a:rPr>
              <a:t>Assumptions: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04327" indent="-231226">
              <a:lnSpc>
                <a:spcPct val="114000"/>
              </a:lnSpc>
              <a:spcBef>
                <a:spcPts val="584"/>
              </a:spcBef>
              <a:buClr>
                <a:srgbClr val="000000"/>
              </a:buClr>
              <a:buSzPct val="124000"/>
              <a:buFont typeface="Symbol" charset="2"/>
              <a:buChar char=""/>
              <a:tabLst>
                <a:tab pos="704868" algn="l"/>
              </a:tabLst>
            </a:pPr>
            <a:r>
              <a:rPr lang="fr-FR" sz="1805">
                <a:solidFill>
                  <a:srgbClr val="000000"/>
                </a:solidFill>
                <a:latin typeface="Arial MT"/>
              </a:rPr>
              <a:t>Individuals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 spc="-16">
                <a:solidFill>
                  <a:srgbClr val="0076BA"/>
                </a:solidFill>
                <a:latin typeface="Arial"/>
              </a:rPr>
              <a:t>instrumentally</a:t>
            </a:r>
            <a:r>
              <a:rPr lang="fr-FR" sz="1805" b="1" spc="17">
                <a:solidFill>
                  <a:srgbClr val="0076BA"/>
                </a:solidFill>
                <a:latin typeface="Arial"/>
              </a:rPr>
              <a:t> </a:t>
            </a:r>
            <a:r>
              <a:rPr lang="fr-FR" sz="1805" b="1">
                <a:solidFill>
                  <a:srgbClr val="0076BA"/>
                </a:solidFill>
                <a:latin typeface="Arial"/>
              </a:rPr>
              <a:t>rational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05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act</a:t>
            </a:r>
            <a:r>
              <a:rPr lang="fr-FR" sz="1805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way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37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05" spc="-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 spc="-16">
                <a:solidFill>
                  <a:srgbClr val="0076BA"/>
                </a:solidFill>
                <a:latin typeface="Arial"/>
              </a:rPr>
              <a:t>maximizes 	</a:t>
            </a:r>
            <a:r>
              <a:rPr lang="fr-FR" sz="1805" b="1">
                <a:solidFill>
                  <a:srgbClr val="0076BA"/>
                </a:solidFill>
                <a:latin typeface="Arial"/>
              </a:rPr>
              <a:t>their</a:t>
            </a:r>
            <a:r>
              <a:rPr lang="fr-FR" sz="1805" b="1" spc="33">
                <a:solidFill>
                  <a:srgbClr val="0076BA"/>
                </a:solidFill>
                <a:latin typeface="Arial"/>
              </a:rPr>
              <a:t> </a:t>
            </a:r>
            <a:r>
              <a:rPr lang="fr-FR" sz="1805" b="1" spc="-30">
                <a:solidFill>
                  <a:srgbClr val="0076BA"/>
                </a:solidFill>
                <a:latin typeface="Arial"/>
              </a:rPr>
              <a:t>satisfaction</a:t>
            </a:r>
            <a:r>
              <a:rPr lang="fr-FR" sz="1805" b="1">
                <a:solidFill>
                  <a:srgbClr val="0076BA"/>
                </a:solidFill>
                <a:latin typeface="Arial"/>
              </a:rPr>
              <a:t> </a:t>
            </a:r>
            <a:r>
              <a:rPr lang="fr-FR" sz="1805" spc="26">
                <a:solidFill>
                  <a:srgbClr val="000000"/>
                </a:solidFill>
                <a:latin typeface="Arial MT"/>
              </a:rPr>
              <a:t>given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spc="4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05" b="1">
                <a:solidFill>
                  <a:srgbClr val="000000"/>
                </a:solidFill>
                <a:latin typeface="Arial"/>
              </a:rPr>
              <a:t>information</a:t>
            </a:r>
            <a:r>
              <a:rPr lang="fr-FR" sz="1805" b="1" spc="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and </a:t>
            </a:r>
            <a:r>
              <a:rPr lang="fr-FR" sz="1805" b="1" spc="-10">
                <a:solidFill>
                  <a:srgbClr val="000000"/>
                </a:solidFill>
                <a:latin typeface="Arial"/>
              </a:rPr>
              <a:t>preferences</a:t>
            </a:r>
            <a:r>
              <a:rPr lang="fr-FR" sz="1805" b="1">
                <a:solidFill>
                  <a:srgbClr val="000000"/>
                </a:solidFill>
                <a:latin typeface="Arial"/>
              </a:rPr>
              <a:t> </a:t>
            </a:r>
            <a:r>
              <a:rPr lang="fr-FR" sz="1805">
                <a:solidFill>
                  <a:srgbClr val="000000"/>
                </a:solidFill>
                <a:latin typeface="Arial MT"/>
              </a:rPr>
              <a:t>they </a:t>
            </a:r>
            <a:r>
              <a:rPr lang="fr-FR" sz="1805" spc="-10">
                <a:solidFill>
                  <a:srgbClr val="000000"/>
                </a:solidFill>
                <a:latin typeface="Arial MT"/>
              </a:rPr>
              <a:t>have</a:t>
            </a:r>
            <a:endParaRPr lang="fr-FR" sz="1805">
              <a:solidFill>
                <a:srgbClr val="000000"/>
              </a:solidFill>
              <a:latin typeface="Arial"/>
            </a:endParaRPr>
          </a:p>
          <a:p>
            <a:pPr marL="748189" lvl="1" indent="-235558">
              <a:lnSpc>
                <a:spcPct val="113000"/>
              </a:lnSpc>
              <a:spcBef>
                <a:spcPts val="1027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49092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Individuals'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60">
                <a:solidFill>
                  <a:srgbClr val="0076BA"/>
                </a:solidFill>
                <a:latin typeface="Arial"/>
              </a:rPr>
              <a:t>selfish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act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way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maximizes</a:t>
            </a:r>
            <a:r>
              <a:rPr lang="fr-FR" sz="1855" spc="-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>
                <a:solidFill>
                  <a:srgbClr val="000000"/>
                </a:solidFill>
                <a:latin typeface="Arial"/>
              </a:rPr>
              <a:t>their</a:t>
            </a:r>
            <a:r>
              <a:rPr lang="fr-FR" sz="1855" b="1" spc="10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spc="-13">
                <a:solidFill>
                  <a:srgbClr val="000000"/>
                </a:solidFill>
                <a:latin typeface="Arial"/>
              </a:rPr>
              <a:t>own 	</a:t>
            </a:r>
            <a:r>
              <a:rPr lang="fr-FR" sz="1855" b="1" spc="-23">
                <a:solidFill>
                  <a:srgbClr val="000000"/>
                </a:solidFill>
                <a:latin typeface="Arial"/>
              </a:rPr>
              <a:t>personal</a:t>
            </a:r>
            <a:r>
              <a:rPr lang="fr-FR" sz="1855" b="1" spc="2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b="1" spc="-37">
                <a:solidFill>
                  <a:srgbClr val="000000"/>
                </a:solidFill>
                <a:latin typeface="Arial"/>
              </a:rPr>
              <a:t>satisfaction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,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given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information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what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have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88"/>
              </a:spcBef>
              <a:tabLst>
                <a:tab pos="749092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6318">
              <a:tabLst>
                <a:tab pos="749092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855" spc="-10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6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11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so</a:t>
            </a:r>
            <a:r>
              <a:rPr lang="fr-FR" sz="1855" spc="-5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successful?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18045" indent="-235558">
              <a:spcBef>
                <a:spcPts val="1536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18045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Allows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us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build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23">
                <a:solidFill>
                  <a:srgbClr val="0076BA"/>
                </a:solidFill>
                <a:latin typeface="Arial"/>
              </a:rPr>
              <a:t>models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: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simplified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descriptions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complex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phenomena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18045" indent="-235558">
              <a:spcBef>
                <a:spcPts val="1494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18045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Models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allow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us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20">
                <a:solidFill>
                  <a:srgbClr val="0076BA"/>
                </a:solidFill>
                <a:latin typeface="Arial"/>
              </a:rPr>
              <a:t>predictions</a:t>
            </a:r>
            <a:r>
              <a:rPr lang="fr-FR" sz="1855" b="1" spc="-17">
                <a:solidFill>
                  <a:srgbClr val="0076BA"/>
                </a:solidFill>
                <a:latin typeface="Arial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(if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X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happens,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73">
                <a:solidFill>
                  <a:srgbClr val="000000"/>
                </a:solidFill>
                <a:latin typeface="Arial MT"/>
              </a:rPr>
              <a:t>Y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 will</a:t>
            </a:r>
            <a:r>
              <a:rPr lang="fr-FR" sz="1855" spc="-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happen)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03605" indent="-221298">
              <a:lnSpc>
                <a:spcPct val="113000"/>
              </a:lnSpc>
              <a:spcBef>
                <a:spcPts val="1379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04507" algn="l"/>
              </a:tabLst>
            </a:pPr>
            <a:r>
              <a:rPr lang="fr-FR" sz="1730" spc="33">
                <a:solidFill>
                  <a:srgbClr val="000000"/>
                </a:solidFill>
                <a:latin typeface="Arial MT"/>
              </a:rPr>
              <a:t>It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23">
                <a:solidFill>
                  <a:srgbClr val="000000"/>
                </a:solidFill>
                <a:latin typeface="Arial MT"/>
              </a:rPr>
              <a:t>has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27">
                <a:solidFill>
                  <a:srgbClr val="000000"/>
                </a:solidFill>
                <a:latin typeface="Arial MT"/>
              </a:rPr>
              <a:t>been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-13">
                <a:solidFill>
                  <a:srgbClr val="0076BA"/>
                </a:solidFill>
                <a:latin typeface="Arial"/>
              </a:rPr>
              <a:t>highly</a:t>
            </a:r>
            <a:r>
              <a:rPr lang="fr-FR" sz="1730" b="1" spc="46">
                <a:solidFill>
                  <a:srgbClr val="0076BA"/>
                </a:solidFill>
                <a:latin typeface="Arial"/>
              </a:rPr>
              <a:t> </a:t>
            </a:r>
            <a:r>
              <a:rPr lang="fr-FR" sz="1730" b="1" spc="-88">
                <a:solidFill>
                  <a:srgbClr val="0076BA"/>
                </a:solidFill>
                <a:latin typeface="Arial"/>
              </a:rPr>
              <a:t>successful</a:t>
            </a:r>
            <a:r>
              <a:rPr lang="fr-FR" sz="1730" b="1" spc="13">
                <a:solidFill>
                  <a:srgbClr val="0076BA"/>
                </a:solidFill>
                <a:latin typeface="Arial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describing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many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behavior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(e.g.,</a:t>
            </a:r>
            <a:r>
              <a:rPr lang="fr-FR" sz="1730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23">
                <a:solidFill>
                  <a:srgbClr val="000000"/>
                </a:solidFill>
                <a:latin typeface="Arial MT"/>
              </a:rPr>
              <a:t>economic 	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behavior,</a:t>
            </a:r>
            <a:r>
              <a:rPr lang="fr-FR" sz="1730" spc="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b="1" spc="26">
                <a:solidFill>
                  <a:srgbClr val="000000"/>
                </a:solidFill>
                <a:latin typeface="Arial"/>
              </a:rPr>
              <a:t>but</a:t>
            </a:r>
            <a:r>
              <a:rPr lang="fr-FR" sz="1730" b="1" spc="3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30">
                <a:solidFill>
                  <a:srgbClr val="000000"/>
                </a:solidFill>
                <a:latin typeface="Arial"/>
              </a:rPr>
              <a:t>also</a:t>
            </a:r>
            <a:r>
              <a:rPr lang="fr-FR" sz="1730" b="1" spc="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>
                <a:solidFill>
                  <a:srgbClr val="000000"/>
                </a:solidFill>
                <a:latin typeface="Arial"/>
              </a:rPr>
              <a:t>more</a:t>
            </a:r>
            <a:r>
              <a:rPr lang="fr-FR" sz="1730" b="1" spc="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10">
                <a:solidFill>
                  <a:srgbClr val="000000"/>
                </a:solidFill>
                <a:latin typeface="Arial"/>
              </a:rPr>
              <a:t>"social"</a:t>
            </a:r>
            <a:r>
              <a:rPr lang="fr-FR" sz="1730" b="1" spc="33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 b="1" spc="-57">
                <a:solidFill>
                  <a:srgbClr val="000000"/>
                </a:solidFill>
                <a:latin typeface="Arial"/>
              </a:rPr>
              <a:t>decisions</a:t>
            </a:r>
            <a:r>
              <a:rPr lang="fr-FR" sz="1730" b="1" spc="6">
                <a:solidFill>
                  <a:srgbClr val="000000"/>
                </a:solidFill>
                <a:latin typeface="Arial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like</a:t>
            </a:r>
            <a:r>
              <a:rPr lang="fr-FR" sz="173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crime,</a:t>
            </a:r>
            <a:r>
              <a:rPr lang="fr-FR" sz="173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education,</a:t>
            </a:r>
            <a:r>
              <a:rPr lang="fr-FR" sz="173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48">
                <a:solidFill>
                  <a:srgbClr val="000000"/>
                </a:solidFill>
                <a:latin typeface="Arial MT"/>
              </a:rPr>
              <a:t>founding</a:t>
            </a:r>
            <a:r>
              <a:rPr lang="fr-FR" sz="173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730" spc="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30" spc="-6">
                <a:solidFill>
                  <a:srgbClr val="000000"/>
                </a:solidFill>
                <a:latin typeface="Arial MT"/>
              </a:rPr>
              <a:t>family...)</a:t>
            </a:r>
            <a:endParaRPr lang="fr-FR" sz="173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236459" y="115162"/>
            <a:ext cx="7288805" cy="855074"/>
          </a:xfrm>
          <a:prstGeom prst="rect">
            <a:avLst/>
          </a:prstGeom>
          <a:noFill/>
          <a:ln w="0">
            <a:noFill/>
          </a:ln>
        </p:spPr>
        <p:txBody>
          <a:bodyPr lIns="0" tIns="6318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50"/>
              </a:spcBef>
            </a:pPr>
            <a:r>
              <a:rPr lang="fr-FR" sz="5515" b="1" spc="-205">
                <a:solidFill>
                  <a:schemeClr val="dk1"/>
                </a:solidFill>
                <a:latin typeface="Arial"/>
              </a:rPr>
              <a:t>Rational</a:t>
            </a:r>
            <a:r>
              <a:rPr lang="fr-FR" sz="5515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5515" b="1" spc="-246">
                <a:solidFill>
                  <a:schemeClr val="dk1"/>
                </a:solidFill>
                <a:latin typeface="Arial"/>
              </a:rPr>
              <a:t>Choice</a:t>
            </a:r>
            <a:r>
              <a:rPr lang="fr-FR" sz="5515" b="1" spc="-115">
                <a:solidFill>
                  <a:schemeClr val="dk1"/>
                </a:solidFill>
                <a:latin typeface="Arial"/>
              </a:rPr>
              <a:t> </a:t>
            </a:r>
            <a:r>
              <a:rPr lang="fr-FR" sz="5515" b="1" spc="-208">
                <a:solidFill>
                  <a:schemeClr val="dk1"/>
                </a:solidFill>
                <a:latin typeface="Arial"/>
              </a:rPr>
              <a:t>Theory</a:t>
            </a:r>
            <a:endParaRPr lang="fr-FR" sz="5515"/>
          </a:p>
        </p:txBody>
      </p:sp>
      <p:sp>
        <p:nvSpPr>
          <p:cNvPr id="253" name="object 3"/>
          <p:cNvSpPr/>
          <p:nvPr/>
        </p:nvSpPr>
        <p:spPr>
          <a:xfrm>
            <a:off x="319310" y="1004512"/>
            <a:ext cx="9619129" cy="43887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090" rIns="0" bIns="0" anchor="t">
            <a:spAutoFit/>
          </a:bodyPr>
          <a:lstStyle/>
          <a:p>
            <a:pPr marL="6318">
              <a:spcBef>
                <a:spcPts val="591"/>
              </a:spcBef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Bad</a:t>
            </a:r>
            <a:r>
              <a:rPr lang="fr-FR" sz="1855" spc="-3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critiques: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436820">
              <a:lnSpc>
                <a:spcPct val="113000"/>
              </a:lnSpc>
              <a:spcBef>
                <a:spcPts val="249"/>
              </a:spcBef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"RCT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obviously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wrong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because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people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not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selfish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(they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help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their</a:t>
            </a:r>
            <a:r>
              <a:rPr lang="fr-FR" sz="1855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friends,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families,</a:t>
            </a:r>
            <a:r>
              <a:rPr lang="fr-FR" sz="1855" spc="-7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volunteer...)"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1103601">
              <a:spcBef>
                <a:spcPts val="640"/>
              </a:spcBef>
            </a:pPr>
            <a:r>
              <a:rPr lang="fr-FR" sz="1454" spc="118">
                <a:solidFill>
                  <a:srgbClr val="000000"/>
                </a:solidFill>
                <a:latin typeface="Arial MT"/>
              </a:rPr>
              <a:t>=&gt;</a:t>
            </a:r>
            <a:r>
              <a:rPr lang="fr-FR" sz="1454" spc="-4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-10">
                <a:solidFill>
                  <a:srgbClr val="000000"/>
                </a:solidFill>
                <a:latin typeface="Arial MT"/>
              </a:rPr>
              <a:t>Some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-101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454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models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explain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454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have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an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interest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26">
                <a:solidFill>
                  <a:srgbClr val="000000"/>
                </a:solidFill>
                <a:latin typeface="Arial MT"/>
              </a:rPr>
              <a:t>helping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others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even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when</a:t>
            </a:r>
            <a:r>
              <a:rPr lang="fr-FR" sz="1454" spc="-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-6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454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454" spc="-6">
                <a:solidFill>
                  <a:srgbClr val="000000"/>
                </a:solidFill>
                <a:latin typeface="Arial MT"/>
              </a:rPr>
              <a:t>selfish</a:t>
            </a:r>
            <a:endParaRPr lang="fr-FR" sz="1454">
              <a:solidFill>
                <a:srgbClr val="000000"/>
              </a:solidFill>
              <a:latin typeface="Arial"/>
            </a:endParaRPr>
          </a:p>
          <a:p>
            <a:pPr marL="1103601">
              <a:spcBef>
                <a:spcPts val="1120"/>
              </a:spcBef>
            </a:pPr>
            <a:r>
              <a:rPr lang="fr-FR" sz="1379" spc="121">
                <a:solidFill>
                  <a:srgbClr val="000000"/>
                </a:solidFill>
                <a:latin typeface="Arial MT"/>
              </a:rPr>
              <a:t>=&gt;</a:t>
            </a:r>
            <a:r>
              <a:rPr lang="fr-FR" sz="1379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13">
                <a:solidFill>
                  <a:srgbClr val="000000"/>
                </a:solidFill>
                <a:latin typeface="Arial MT"/>
              </a:rPr>
              <a:t>Increasingly,</a:t>
            </a:r>
            <a:r>
              <a:rPr lang="fr-FR" sz="1379" spc="1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65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379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models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26">
                <a:solidFill>
                  <a:srgbClr val="000000"/>
                </a:solidFill>
                <a:latin typeface="Arial MT"/>
              </a:rPr>
              <a:t>introduce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altruistic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(=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379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56">
                <a:solidFill>
                  <a:srgbClr val="000000"/>
                </a:solidFill>
                <a:latin typeface="Arial MT"/>
              </a:rPr>
              <a:t>get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satisfaction</a:t>
            </a:r>
            <a:r>
              <a:rPr lang="fr-FR" sz="1379" spc="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26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30">
                <a:solidFill>
                  <a:srgbClr val="000000"/>
                </a:solidFill>
                <a:latin typeface="Arial MT"/>
              </a:rPr>
              <a:t>helping</a:t>
            </a:r>
            <a:r>
              <a:rPr lang="fr-FR" sz="1379" spc="1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6">
                <a:solidFill>
                  <a:srgbClr val="000000"/>
                </a:solidFill>
                <a:latin typeface="Arial MT"/>
              </a:rPr>
              <a:t>others)</a:t>
            </a:r>
            <a:endParaRPr lang="fr-FR" sz="1379">
              <a:solidFill>
                <a:srgbClr val="000000"/>
              </a:solidFill>
              <a:latin typeface="Arial"/>
            </a:endParaRPr>
          </a:p>
          <a:p>
            <a:pPr marL="505050">
              <a:lnSpc>
                <a:spcPct val="113000"/>
              </a:lnSpc>
              <a:spcBef>
                <a:spcPts val="834"/>
              </a:spcBef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"RCT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obviously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wrong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because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6">
                <a:solidFill>
                  <a:srgbClr val="000000"/>
                </a:solidFill>
                <a:latin typeface="Arial MT"/>
              </a:rPr>
              <a:t>humans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animals: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0">
                <a:solidFill>
                  <a:srgbClr val="000000"/>
                </a:solidFill>
                <a:latin typeface="Arial MT"/>
              </a:rPr>
              <a:t>obey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to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social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norms,</a:t>
            </a:r>
            <a:r>
              <a:rPr lang="fr-FR" sz="1855" spc="2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conformism,</a:t>
            </a:r>
            <a:r>
              <a:rPr lang="fr-FR" sz="1855" spc="2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etc...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1103601">
              <a:lnSpc>
                <a:spcPct val="114000"/>
              </a:lnSpc>
              <a:spcBef>
                <a:spcPts val="489"/>
              </a:spcBef>
            </a:pPr>
            <a:r>
              <a:rPr lang="fr-FR" sz="1379" spc="121">
                <a:solidFill>
                  <a:srgbClr val="000000"/>
                </a:solidFill>
                <a:latin typeface="Arial MT"/>
              </a:rPr>
              <a:t>=&gt;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13">
                <a:solidFill>
                  <a:srgbClr val="000000"/>
                </a:solidFill>
                <a:latin typeface="Arial MT"/>
              </a:rPr>
              <a:t>Increasingly,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65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models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26">
                <a:solidFill>
                  <a:srgbClr val="000000"/>
                </a:solidFill>
                <a:latin typeface="Arial MT"/>
              </a:rPr>
              <a:t>introduce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norms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(=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can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56">
                <a:solidFill>
                  <a:srgbClr val="000000"/>
                </a:solidFill>
                <a:latin typeface="Arial MT"/>
              </a:rPr>
              <a:t>get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satisfaction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26">
                <a:solidFill>
                  <a:srgbClr val="000000"/>
                </a:solidFill>
                <a:latin typeface="Arial MT"/>
              </a:rPr>
              <a:t>from</a:t>
            </a:r>
            <a:r>
              <a:rPr lang="fr-FR" sz="1379" spc="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30">
                <a:solidFill>
                  <a:srgbClr val="000000"/>
                </a:solidFill>
                <a:latin typeface="Arial MT"/>
              </a:rPr>
              <a:t>following the</a:t>
            </a:r>
            <a:r>
              <a:rPr lang="fr-FR" sz="1379" spc="2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norms</a:t>
            </a:r>
            <a:r>
              <a:rPr lang="fr-FR" sz="137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46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137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>
                <a:solidFill>
                  <a:srgbClr val="000000"/>
                </a:solidFill>
                <a:latin typeface="Arial MT"/>
              </a:rPr>
              <a:t>your</a:t>
            </a:r>
            <a:r>
              <a:rPr lang="fr-FR" sz="1379" spc="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79" spc="-6">
                <a:solidFill>
                  <a:srgbClr val="000000"/>
                </a:solidFill>
                <a:latin typeface="Arial MT"/>
              </a:rPr>
              <a:t>group)</a:t>
            </a:r>
            <a:endParaRPr lang="fr-FR" sz="1379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528"/>
              </a:spcBef>
            </a:pPr>
            <a:endParaRPr lang="fr-FR" sz="1379">
              <a:solidFill>
                <a:srgbClr val="000000"/>
              </a:solidFill>
              <a:latin typeface="Arial"/>
            </a:endParaRPr>
          </a:p>
          <a:p>
            <a:pPr marL="505050">
              <a:lnSpc>
                <a:spcPct val="113000"/>
              </a:lnSpc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"RCT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obviously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wrong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because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46">
                <a:solidFill>
                  <a:srgbClr val="000000"/>
                </a:solidFill>
                <a:latin typeface="Arial MT"/>
              </a:rPr>
              <a:t>people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000000"/>
                </a:solidFill>
                <a:latin typeface="Arial MT"/>
              </a:rPr>
              <a:t>not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rational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-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in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fact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rather </a:t>
            </a:r>
            <a:r>
              <a:rPr lang="fr-FR" sz="1855" spc="65">
                <a:solidFill>
                  <a:srgbClr val="000000"/>
                </a:solidFill>
                <a:latin typeface="Arial MT"/>
              </a:rPr>
              <a:t>stupid"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1056129">
              <a:lnSpc>
                <a:spcPct val="114000"/>
              </a:lnSpc>
              <a:spcBef>
                <a:spcPts val="334"/>
              </a:spcBef>
            </a:pPr>
            <a:r>
              <a:rPr lang="fr-FR" sz="1329" spc="108">
                <a:solidFill>
                  <a:srgbClr val="000000"/>
                </a:solidFill>
                <a:latin typeface="Arial MT"/>
              </a:rPr>
              <a:t>=&gt;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When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329" spc="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investigate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a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behavior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26">
                <a:solidFill>
                  <a:srgbClr val="000000"/>
                </a:solidFill>
                <a:latin typeface="Arial MT"/>
              </a:rPr>
              <a:t>deeply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-13">
                <a:solidFill>
                  <a:srgbClr val="000000"/>
                </a:solidFill>
                <a:latin typeface="Arial MT"/>
              </a:rPr>
              <a:t>(even</a:t>
            </a:r>
            <a:r>
              <a:rPr lang="fr-FR" sz="1329" spc="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weird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-6">
                <a:solidFill>
                  <a:srgbClr val="000000"/>
                </a:solidFill>
                <a:latin typeface="Arial MT"/>
              </a:rPr>
              <a:t>behaviors)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you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27">
                <a:solidFill>
                  <a:srgbClr val="000000"/>
                </a:solidFill>
                <a:latin typeface="Arial MT"/>
              </a:rPr>
              <a:t>often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-10">
                <a:solidFill>
                  <a:srgbClr val="000000"/>
                </a:solidFill>
                <a:latin typeface="Arial MT"/>
              </a:rPr>
              <a:t>realize</a:t>
            </a:r>
            <a:r>
              <a:rPr lang="fr-FR" sz="1329" spc="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underlying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rational</a:t>
            </a:r>
            <a:r>
              <a:rPr lang="fr-FR" sz="1329" spc="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27">
                <a:solidFill>
                  <a:srgbClr val="000000"/>
                </a:solidFill>
                <a:latin typeface="Arial MT"/>
              </a:rPr>
              <a:t>logic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(given</a:t>
            </a:r>
            <a:r>
              <a:rPr lang="fr-FR" sz="1329" spc="88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information</a:t>
            </a:r>
            <a:r>
              <a:rPr lang="fr-FR" sz="1329" spc="9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329" spc="9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329" spc="-6">
                <a:solidFill>
                  <a:srgbClr val="000000"/>
                </a:solidFill>
                <a:latin typeface="Arial MT"/>
              </a:rPr>
              <a:t>preferences)</a:t>
            </a:r>
            <a:endParaRPr lang="fr-FR" sz="1329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236458" y="254693"/>
            <a:ext cx="7816603" cy="731460"/>
          </a:xfrm>
          <a:prstGeom prst="rect">
            <a:avLst/>
          </a:prstGeom>
          <a:noFill/>
          <a:ln w="0">
            <a:noFill/>
          </a:ln>
        </p:spPr>
        <p:txBody>
          <a:bodyPr lIns="0" tIns="6137" rIns="0" bIns="0" anchor="t">
            <a:spAutoFit/>
          </a:bodyPr>
          <a:lstStyle/>
          <a:p>
            <a:pPr marL="6318">
              <a:lnSpc>
                <a:spcPct val="100000"/>
              </a:lnSpc>
              <a:spcBef>
                <a:spcPts val="48"/>
              </a:spcBef>
            </a:pPr>
            <a:r>
              <a:rPr lang="fr-FR" sz="4713" b="1" spc="-177">
                <a:solidFill>
                  <a:schemeClr val="dk1"/>
                </a:solidFill>
                <a:latin typeface="Arial"/>
              </a:rPr>
              <a:t>Rational</a:t>
            </a:r>
            <a:r>
              <a:rPr lang="fr-FR" sz="4713" b="1" spc="-101">
                <a:solidFill>
                  <a:schemeClr val="dk1"/>
                </a:solidFill>
                <a:latin typeface="Arial"/>
              </a:rPr>
              <a:t> </a:t>
            </a:r>
            <a:r>
              <a:rPr lang="fr-FR" sz="4713" b="1" spc="-211">
                <a:solidFill>
                  <a:schemeClr val="dk1"/>
                </a:solidFill>
                <a:latin typeface="Arial"/>
              </a:rPr>
              <a:t>Choice</a:t>
            </a:r>
            <a:r>
              <a:rPr lang="fr-FR" sz="4713" b="1" spc="-98">
                <a:solidFill>
                  <a:schemeClr val="dk1"/>
                </a:solidFill>
                <a:latin typeface="Arial"/>
              </a:rPr>
              <a:t> </a:t>
            </a:r>
            <a:r>
              <a:rPr lang="fr-FR" sz="4713" b="1" spc="-158">
                <a:solidFill>
                  <a:schemeClr val="dk1"/>
                </a:solidFill>
                <a:latin typeface="Arial"/>
              </a:rPr>
              <a:t>Theory</a:t>
            </a:r>
            <a:r>
              <a:rPr lang="fr-FR" sz="4713" b="1" spc="-98">
                <a:solidFill>
                  <a:schemeClr val="dk1"/>
                </a:solidFill>
                <a:latin typeface="Arial"/>
              </a:rPr>
              <a:t> </a:t>
            </a:r>
            <a:r>
              <a:rPr lang="fr-FR" sz="4713" b="1" spc="-338">
                <a:solidFill>
                  <a:schemeClr val="dk1"/>
                </a:solidFill>
                <a:latin typeface="Arial"/>
              </a:rPr>
              <a:t>(RCT)</a:t>
            </a:r>
            <a:endParaRPr lang="fr-FR" sz="4713"/>
          </a:p>
        </p:txBody>
      </p:sp>
      <p:sp>
        <p:nvSpPr>
          <p:cNvPr id="255" name="object 3"/>
          <p:cNvSpPr/>
          <p:nvPr/>
        </p:nvSpPr>
        <p:spPr>
          <a:xfrm>
            <a:off x="319310" y="1158483"/>
            <a:ext cx="8195303" cy="392230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52527" rIns="0" bIns="0" anchor="t">
            <a:spAutoFit/>
          </a:bodyPr>
          <a:lstStyle/>
          <a:p>
            <a:pPr marL="6318">
              <a:spcBef>
                <a:spcPts val="414"/>
              </a:spcBef>
            </a:pPr>
            <a:r>
              <a:rPr lang="fr-FR" sz="1855" spc="56">
                <a:solidFill>
                  <a:srgbClr val="000000"/>
                </a:solidFill>
                <a:latin typeface="Arial MT"/>
              </a:rPr>
              <a:t>Good</a:t>
            </a:r>
            <a:r>
              <a:rPr lang="fr-FR" sz="1855" spc="6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critiques: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08659" indent="-235558">
              <a:lnSpc>
                <a:spcPct val="113000"/>
              </a:lnSpc>
              <a:spcBef>
                <a:spcPts val="577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09742" algn="l"/>
              </a:tabLst>
            </a:pPr>
            <a:r>
              <a:rPr lang="fr-FR" sz="1855" spc="-111">
                <a:solidFill>
                  <a:srgbClr val="000000"/>
                </a:solidFill>
                <a:latin typeface="Arial MT"/>
              </a:rPr>
              <a:t>RCT</a:t>
            </a:r>
            <a:r>
              <a:rPr lang="fr-FR" sz="1855" spc="-2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37">
                <a:solidFill>
                  <a:srgbClr val="000000"/>
                </a:solidFill>
                <a:latin typeface="Arial MT"/>
              </a:rPr>
              <a:t>researchers</a:t>
            </a:r>
            <a:r>
              <a:rPr lang="fr-FR" sz="1855" spc="-82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make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0">
                <a:solidFill>
                  <a:srgbClr val="000000"/>
                </a:solidFill>
                <a:latin typeface="Arial MT"/>
              </a:rPr>
              <a:t>assumptions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3">
                <a:solidFill>
                  <a:srgbClr val="000000"/>
                </a:solidFill>
                <a:latin typeface="Arial MT"/>
              </a:rPr>
              <a:t>people's</a:t>
            </a:r>
            <a:r>
              <a:rPr lang="fr-FR" sz="1855" spc="-5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preferences.</a:t>
            </a:r>
            <a:r>
              <a:rPr lang="fr-FR" sz="1855" spc="-5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But 	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where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82">
                <a:solidFill>
                  <a:srgbClr val="000000"/>
                </a:solidFill>
                <a:latin typeface="Arial MT"/>
              </a:rPr>
              <a:t>do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these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855" spc="-3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come</a:t>
            </a:r>
            <a:r>
              <a:rPr lang="fr-FR" sz="1855" spc="-3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from?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 marL="700175" indent="-227074">
              <a:lnSpc>
                <a:spcPct val="114000"/>
              </a:lnSpc>
              <a:spcBef>
                <a:spcPts val="1913"/>
              </a:spcBef>
              <a:buClr>
                <a:srgbClr val="000000"/>
              </a:buClr>
              <a:buSzPct val="123000"/>
              <a:buFont typeface="Symbol" charset="2"/>
              <a:buChar char=""/>
              <a:tabLst>
                <a:tab pos="700175" algn="l"/>
              </a:tabLst>
            </a:pPr>
            <a:r>
              <a:rPr lang="fr-FR" sz="1780">
                <a:solidFill>
                  <a:srgbClr val="000000"/>
                </a:solidFill>
                <a:latin typeface="Arial MT"/>
              </a:rPr>
              <a:t>Why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78">
                <a:solidFill>
                  <a:srgbClr val="000000"/>
                </a:solidFill>
                <a:latin typeface="Arial MT"/>
              </a:rPr>
              <a:t>do</a:t>
            </a:r>
            <a:r>
              <a:rPr lang="fr-FR" sz="1780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preferences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seem</a:t>
            </a:r>
            <a:r>
              <a:rPr lang="fr-FR" sz="1780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37">
                <a:solidFill>
                  <a:srgbClr val="000000"/>
                </a:solidFill>
                <a:latin typeface="Arial MT"/>
              </a:rPr>
              <a:t>often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so</a:t>
            </a:r>
            <a:r>
              <a:rPr lang="fr-FR" sz="1780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irrational</a:t>
            </a:r>
            <a:r>
              <a:rPr lang="fr-FR" sz="1780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stupid?</a:t>
            </a:r>
            <a:r>
              <a:rPr lang="fr-FR" sz="1780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For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example: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eating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salt</a:t>
            </a:r>
            <a:r>
              <a:rPr lang="fr-FR" sz="178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and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fat </a:t>
            </a:r>
            <a:r>
              <a:rPr lang="fr-FR" sz="1780" spc="27">
                <a:solidFill>
                  <a:srgbClr val="000000"/>
                </a:solidFill>
                <a:latin typeface="Arial MT"/>
              </a:rPr>
              <a:t>that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26">
                <a:solidFill>
                  <a:srgbClr val="000000"/>
                </a:solidFill>
                <a:latin typeface="Arial MT"/>
              </a:rPr>
              <a:t>makes</a:t>
            </a:r>
            <a:r>
              <a:rPr lang="fr-FR" sz="1780" spc="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10">
                <a:solidFill>
                  <a:srgbClr val="000000"/>
                </a:solidFill>
                <a:latin typeface="Arial MT"/>
              </a:rPr>
              <a:t>us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16">
                <a:solidFill>
                  <a:srgbClr val="000000"/>
                </a:solidFill>
                <a:latin typeface="Arial MT"/>
              </a:rPr>
              <a:t>sick,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 smoking cigarettes,</a:t>
            </a:r>
            <a:r>
              <a:rPr lang="fr-FR" sz="1780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27">
                <a:solidFill>
                  <a:srgbClr val="000000"/>
                </a:solidFill>
                <a:latin typeface="Arial MT"/>
              </a:rPr>
              <a:t>driving</a:t>
            </a:r>
            <a:r>
              <a:rPr lang="fr-FR" sz="178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780" spc="-6">
                <a:solidFill>
                  <a:srgbClr val="000000"/>
                </a:solidFill>
                <a:latin typeface="Arial MT"/>
              </a:rPr>
              <a:t>drunk...?</a:t>
            </a:r>
            <a:endParaRPr lang="fr-FR" sz="178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371"/>
              </a:spcBef>
              <a:tabLst>
                <a:tab pos="700175" algn="l"/>
              </a:tabLst>
            </a:pPr>
            <a:endParaRPr lang="fr-FR" sz="1780">
              <a:solidFill>
                <a:srgbClr val="000000"/>
              </a:solidFill>
              <a:latin typeface="Arial"/>
            </a:endParaRPr>
          </a:p>
          <a:p>
            <a:pPr marL="835734" lvl="1" indent="-235558">
              <a:lnSpc>
                <a:spcPct val="113000"/>
              </a:lnSpc>
              <a:buClr>
                <a:srgbClr val="000000"/>
              </a:buClr>
              <a:buSzPct val="123000"/>
              <a:buFont typeface="Symbol" charset="2"/>
              <a:buChar char=""/>
              <a:tabLst>
                <a:tab pos="836817" algn="l"/>
              </a:tabLst>
            </a:pPr>
            <a:r>
              <a:rPr lang="fr-FR" sz="1855">
                <a:solidFill>
                  <a:srgbClr val="000000"/>
                </a:solidFill>
                <a:latin typeface="Arial MT"/>
              </a:rPr>
              <a:t>Individuals</a:t>
            </a:r>
            <a:r>
              <a:rPr lang="fr-FR" sz="1855" spc="-7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are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b="1" spc="-68">
                <a:solidFill>
                  <a:srgbClr val="000000"/>
                </a:solidFill>
                <a:latin typeface="Arial"/>
              </a:rPr>
              <a:t>selfish</a:t>
            </a:r>
            <a:r>
              <a:rPr lang="fr-FR" sz="1855" b="1" spc="-3">
                <a:solidFill>
                  <a:srgbClr val="000000"/>
                </a:solidFill>
                <a:latin typeface="Arial"/>
              </a:rPr>
              <a:t> </a:t>
            </a:r>
            <a:r>
              <a:rPr lang="fr-FR" sz="1855" spc="-143">
                <a:solidFill>
                  <a:srgbClr val="000000"/>
                </a:solidFill>
                <a:latin typeface="Arial MT"/>
              </a:rPr>
              <a:t>(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150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they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only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care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36">
                <a:solidFill>
                  <a:srgbClr val="000000"/>
                </a:solidFill>
                <a:latin typeface="Arial MT"/>
              </a:rPr>
              <a:t>about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>
                <a:solidFill>
                  <a:srgbClr val="000000"/>
                </a:solidFill>
                <a:latin typeface="Arial MT"/>
              </a:rPr>
              <a:t>their</a:t>
            </a:r>
            <a:r>
              <a:rPr lang="fr-FR" sz="1855" spc="-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1855" spc="-13">
                <a:solidFill>
                  <a:srgbClr val="000000"/>
                </a:solidFill>
                <a:latin typeface="Arial MT"/>
              </a:rPr>
              <a:t>own 	</a:t>
            </a:r>
            <a:r>
              <a:rPr lang="fr-FR" sz="1855" spc="-6">
                <a:solidFill>
                  <a:srgbClr val="000000"/>
                </a:solidFill>
                <a:latin typeface="Arial MT"/>
              </a:rPr>
              <a:t>satisfaction)</a:t>
            </a: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tabLst>
                <a:tab pos="836817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328"/>
              </a:spcBef>
              <a:tabLst>
                <a:tab pos="836817" algn="l"/>
              </a:tabLst>
            </a:pPr>
            <a:endParaRPr lang="fr-FR" sz="1855">
              <a:solidFill>
                <a:srgbClr val="000000"/>
              </a:solidFill>
              <a:latin typeface="Arial"/>
            </a:endParaRPr>
          </a:p>
          <a:p>
            <a:pPr algn="ctr">
              <a:tabLst>
                <a:tab pos="836817" algn="l"/>
              </a:tabLst>
            </a:pPr>
            <a:r>
              <a:rPr lang="fr-FR" sz="1855" spc="-111">
                <a:solidFill>
                  <a:srgbClr val="EE220C"/>
                </a:solidFill>
                <a:latin typeface="Arial MT"/>
              </a:rPr>
              <a:t>RCT</a:t>
            </a:r>
            <a:r>
              <a:rPr lang="fr-FR" sz="1855" spc="-7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>
                <a:solidFill>
                  <a:srgbClr val="EE220C"/>
                </a:solidFill>
                <a:latin typeface="Arial MT"/>
              </a:rPr>
              <a:t>is</a:t>
            </a:r>
            <a:r>
              <a:rPr lang="fr-FR" sz="1855" spc="-6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spc="50">
                <a:solidFill>
                  <a:srgbClr val="EE220C"/>
                </a:solidFill>
                <a:latin typeface="Arial MT"/>
              </a:rPr>
              <a:t>not</a:t>
            </a:r>
            <a:r>
              <a:rPr lang="fr-FR" sz="1855" spc="-6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>
                <a:solidFill>
                  <a:srgbClr val="EE220C"/>
                </a:solidFill>
                <a:latin typeface="Arial MT"/>
              </a:rPr>
              <a:t>perfect,</a:t>
            </a:r>
            <a:r>
              <a:rPr lang="fr-FR" sz="1855" spc="-6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spc="60">
                <a:solidFill>
                  <a:srgbClr val="EE220C"/>
                </a:solidFill>
                <a:latin typeface="Arial MT"/>
              </a:rPr>
              <a:t>but</a:t>
            </a:r>
            <a:r>
              <a:rPr lang="fr-FR" sz="1855" spc="-6">
                <a:solidFill>
                  <a:srgbClr val="EE220C"/>
                </a:solidFill>
                <a:latin typeface="Arial MT"/>
              </a:rPr>
              <a:t> </a:t>
            </a:r>
            <a:r>
              <a:rPr lang="fr-FR" sz="1855" spc="63">
                <a:solidFill>
                  <a:srgbClr val="EE220C"/>
                </a:solidFill>
                <a:latin typeface="Arial MT"/>
              </a:rPr>
              <a:t>it</a:t>
            </a:r>
            <a:r>
              <a:rPr lang="fr-FR" sz="1855" spc="-6">
                <a:solidFill>
                  <a:srgbClr val="EE220C"/>
                </a:solidFill>
                <a:latin typeface="Arial MT"/>
              </a:rPr>
              <a:t> works </a:t>
            </a:r>
            <a:r>
              <a:rPr lang="fr-FR" sz="1855" spc="36">
                <a:solidFill>
                  <a:srgbClr val="EE220C"/>
                </a:solidFill>
                <a:latin typeface="Arial MT"/>
              </a:rPr>
              <a:t>pretty</a:t>
            </a:r>
            <a:r>
              <a:rPr lang="fr-FR" sz="1855" spc="-6">
                <a:solidFill>
                  <a:srgbClr val="EE220C"/>
                </a:solidFill>
                <a:latin typeface="Arial MT"/>
              </a:rPr>
              <a:t> well!</a:t>
            </a:r>
            <a:endParaRPr lang="fr-FR" sz="185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1082632"/>
          </a:xfrm>
          <a:prstGeom prst="rect">
            <a:avLst/>
          </a:prstGeom>
          <a:noFill/>
          <a:ln w="0">
            <a:noFill/>
          </a:ln>
        </p:spPr>
        <p:txBody>
          <a:bodyPr lIns="0" tIns="157762" rIns="0" bIns="0" anchor="t">
            <a:spAutoFit/>
          </a:bodyPr>
          <a:lstStyle/>
          <a:p>
            <a:pPr marL="228879">
              <a:lnSpc>
                <a:spcPts val="3570"/>
              </a:lnSpc>
              <a:spcBef>
                <a:spcPts val="460"/>
              </a:spcBef>
            </a:pPr>
            <a:r>
              <a:rPr lang="fr-FR" sz="3259" b="1">
                <a:solidFill>
                  <a:schemeClr val="dk1"/>
                </a:solidFill>
                <a:latin typeface="Arial"/>
              </a:rPr>
              <a:t>A</a:t>
            </a:r>
            <a:r>
              <a:rPr lang="fr-FR" sz="3259" b="1" spc="-105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108">
                <a:solidFill>
                  <a:schemeClr val="dk1"/>
                </a:solidFill>
                <a:latin typeface="Arial"/>
              </a:rPr>
              <a:t>typically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150">
                <a:solidFill>
                  <a:schemeClr val="dk1"/>
                </a:solidFill>
                <a:latin typeface="Arial"/>
              </a:rPr>
              <a:t>holistic</a:t>
            </a:r>
            <a:r>
              <a:rPr lang="fr-FR" sz="3259" b="1" spc="-75">
                <a:solidFill>
                  <a:schemeClr val="dk1"/>
                </a:solidFill>
                <a:latin typeface="Arial"/>
              </a:rPr>
              <a:t> paradigm: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95">
                <a:solidFill>
                  <a:schemeClr val="dk1"/>
                </a:solidFill>
                <a:latin typeface="Arial"/>
              </a:rPr>
              <a:t>Durkheimian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213">
                <a:solidFill>
                  <a:schemeClr val="dk1"/>
                </a:solidFill>
                <a:latin typeface="Arial"/>
              </a:rPr>
              <a:t>social </a:t>
            </a:r>
            <a:r>
              <a:rPr lang="fr-FR" sz="3259" b="1" spc="-165">
                <a:solidFill>
                  <a:schemeClr val="dk1"/>
                </a:solidFill>
                <a:latin typeface="Arial"/>
              </a:rPr>
              <a:t>facts</a:t>
            </a:r>
            <a:endParaRPr lang="fr-FR" sz="3259"/>
          </a:p>
        </p:txBody>
      </p:sp>
      <p:sp>
        <p:nvSpPr>
          <p:cNvPr id="257" name="object 3"/>
          <p:cNvSpPr/>
          <p:nvPr/>
        </p:nvSpPr>
        <p:spPr>
          <a:xfrm>
            <a:off x="4430680" y="3058121"/>
            <a:ext cx="1157220" cy="692599"/>
          </a:xfrm>
          <a:custGeom>
            <a:avLst/>
            <a:gdLst>
              <a:gd name="textAreaLeft" fmla="*/ 0 w 2307960"/>
              <a:gd name="textAreaRight" fmla="*/ 2308320 w 2307960"/>
              <a:gd name="textAreaTop" fmla="*/ 0 h 1381320"/>
              <a:gd name="textAreaBottom" fmla="*/ 1381680 h 1381320"/>
            </a:gdLst>
            <a:ahLst/>
            <a:cxnLst/>
            <a:rect l="textAreaLeft" t="textAreaTop" r="textAreaRight" b="textAreaBottom"/>
            <a:pathLst>
              <a:path w="2308225" h="1381759">
                <a:moveTo>
                  <a:pt x="2099599" y="0"/>
                </a:moveTo>
                <a:lnTo>
                  <a:pt x="208351" y="0"/>
                </a:lnTo>
                <a:lnTo>
                  <a:pt x="166890" y="159"/>
                </a:lnTo>
                <a:lnTo>
                  <a:pt x="106896" y="4307"/>
                </a:lnTo>
                <a:lnTo>
                  <a:pt x="61148" y="22518"/>
                </a:lnTo>
                <a:lnTo>
                  <a:pt x="22518" y="61148"/>
                </a:lnTo>
                <a:lnTo>
                  <a:pt x="4307" y="106896"/>
                </a:lnTo>
                <a:lnTo>
                  <a:pt x="159" y="166890"/>
                </a:lnTo>
                <a:lnTo>
                  <a:pt x="0" y="208351"/>
                </a:lnTo>
                <a:lnTo>
                  <a:pt x="0" y="1172786"/>
                </a:lnTo>
                <a:lnTo>
                  <a:pt x="159" y="1214247"/>
                </a:lnTo>
                <a:lnTo>
                  <a:pt x="4307" y="1274241"/>
                </a:lnTo>
                <a:lnTo>
                  <a:pt x="22518" y="1319989"/>
                </a:lnTo>
                <a:lnTo>
                  <a:pt x="61148" y="1358619"/>
                </a:lnTo>
                <a:lnTo>
                  <a:pt x="106896" y="1376830"/>
                </a:lnTo>
                <a:lnTo>
                  <a:pt x="166890" y="1380978"/>
                </a:lnTo>
                <a:lnTo>
                  <a:pt x="208351" y="1381138"/>
                </a:lnTo>
                <a:lnTo>
                  <a:pt x="2099599" y="1381138"/>
                </a:lnTo>
                <a:lnTo>
                  <a:pt x="2141061" y="1380978"/>
                </a:lnTo>
                <a:lnTo>
                  <a:pt x="2201060" y="1376830"/>
                </a:lnTo>
                <a:lnTo>
                  <a:pt x="2246810" y="1358619"/>
                </a:lnTo>
                <a:lnTo>
                  <a:pt x="2285435" y="1319989"/>
                </a:lnTo>
                <a:lnTo>
                  <a:pt x="2303648" y="1274241"/>
                </a:lnTo>
                <a:lnTo>
                  <a:pt x="2307800" y="1214247"/>
                </a:lnTo>
                <a:lnTo>
                  <a:pt x="2307960" y="1172786"/>
                </a:lnTo>
                <a:lnTo>
                  <a:pt x="2307960" y="208351"/>
                </a:lnTo>
                <a:lnTo>
                  <a:pt x="2307800" y="166890"/>
                </a:lnTo>
                <a:lnTo>
                  <a:pt x="2303648" y="106896"/>
                </a:lnTo>
                <a:lnTo>
                  <a:pt x="2285435" y="61148"/>
                </a:lnTo>
                <a:lnTo>
                  <a:pt x="2246810" y="22518"/>
                </a:lnTo>
                <a:lnTo>
                  <a:pt x="2201060" y="4307"/>
                </a:lnTo>
                <a:lnTo>
                  <a:pt x="2141061" y="159"/>
                </a:lnTo>
                <a:lnTo>
                  <a:pt x="2099599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object 4"/>
          <p:cNvSpPr/>
          <p:nvPr/>
        </p:nvSpPr>
        <p:spPr>
          <a:xfrm>
            <a:off x="4519128" y="3097111"/>
            <a:ext cx="980144" cy="58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ts val="1549"/>
              </a:lnSpc>
            </a:pPr>
            <a:r>
              <a:rPr lang="fr-FR" sz="1304" spc="30">
                <a:solidFill>
                  <a:srgbClr val="FFFFFF"/>
                </a:solidFill>
                <a:latin typeface="Arial MT"/>
              </a:rPr>
              <a:t>Cognitive</a:t>
            </a:r>
            <a:endParaRPr lang="fr-FR" sz="1304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ts val="1615"/>
              </a:lnSpc>
              <a:spcBef>
                <a:spcPts val="20"/>
              </a:spcBef>
            </a:pPr>
            <a:r>
              <a:rPr lang="fr-FR" sz="1304" spc="30">
                <a:solidFill>
                  <a:srgbClr val="FFFFFF"/>
                </a:solidFill>
                <a:latin typeface="Arial MT"/>
              </a:rPr>
              <a:t>mechanisms </a:t>
            </a:r>
            <a:r>
              <a:rPr lang="fr-FR" sz="1304" spc="33">
                <a:solidFill>
                  <a:srgbClr val="FFFFFF"/>
                </a:solidFill>
                <a:latin typeface="Arial MT"/>
              </a:rPr>
              <a:t>for</a:t>
            </a:r>
            <a:endParaRPr lang="fr-FR" sz="1304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object 5"/>
          <p:cNvSpPr/>
          <p:nvPr/>
        </p:nvSpPr>
        <p:spPr>
          <a:xfrm>
            <a:off x="409202" y="2383392"/>
            <a:ext cx="1794945" cy="1988086"/>
          </a:xfrm>
          <a:custGeom>
            <a:avLst/>
            <a:gdLst>
              <a:gd name="textAreaLeft" fmla="*/ 0 w 3579840"/>
              <a:gd name="textAreaRight" fmla="*/ 3580200 w 3579840"/>
              <a:gd name="textAreaTop" fmla="*/ 0 h 3965040"/>
              <a:gd name="textAreaBottom" fmla="*/ 3965400 h 3965040"/>
            </a:gdLst>
            <a:ahLst/>
            <a:cxnLst/>
            <a:rect l="textAreaLeft" t="textAreaTop" r="textAreaRight" b="textAreaBottom"/>
            <a:pathLst>
              <a:path w="3580129" h="3965575">
                <a:moveTo>
                  <a:pt x="3142598" y="0"/>
                </a:moveTo>
                <a:lnTo>
                  <a:pt x="436992" y="0"/>
                </a:lnTo>
                <a:lnTo>
                  <a:pt x="366002" y="171"/>
                </a:lnTo>
                <a:lnTo>
                  <a:pt x="306090" y="1370"/>
                </a:lnTo>
                <a:lnTo>
                  <a:pt x="256027" y="4625"/>
                </a:lnTo>
                <a:lnTo>
                  <a:pt x="214581" y="10963"/>
                </a:lnTo>
                <a:lnTo>
                  <a:pt x="138164" y="41197"/>
                </a:lnTo>
                <a:lnTo>
                  <a:pt x="100323" y="67750"/>
                </a:lnTo>
                <a:lnTo>
                  <a:pt x="67751" y="100323"/>
                </a:lnTo>
                <a:lnTo>
                  <a:pt x="41198" y="138163"/>
                </a:lnTo>
                <a:lnTo>
                  <a:pt x="21414" y="180522"/>
                </a:lnTo>
                <a:lnTo>
                  <a:pt x="4625" y="256026"/>
                </a:lnTo>
                <a:lnTo>
                  <a:pt x="1370" y="306089"/>
                </a:lnTo>
                <a:lnTo>
                  <a:pt x="171" y="366001"/>
                </a:lnTo>
                <a:lnTo>
                  <a:pt x="0" y="436992"/>
                </a:lnTo>
                <a:lnTo>
                  <a:pt x="0" y="3528090"/>
                </a:lnTo>
                <a:lnTo>
                  <a:pt x="171" y="3599081"/>
                </a:lnTo>
                <a:lnTo>
                  <a:pt x="1370" y="3658993"/>
                </a:lnTo>
                <a:lnTo>
                  <a:pt x="4625" y="3709056"/>
                </a:lnTo>
                <a:lnTo>
                  <a:pt x="10964" y="3750502"/>
                </a:lnTo>
                <a:lnTo>
                  <a:pt x="41198" y="3826919"/>
                </a:lnTo>
                <a:lnTo>
                  <a:pt x="67751" y="3864759"/>
                </a:lnTo>
                <a:lnTo>
                  <a:pt x="100323" y="3897332"/>
                </a:lnTo>
                <a:lnTo>
                  <a:pt x="138164" y="3923885"/>
                </a:lnTo>
                <a:lnTo>
                  <a:pt x="180522" y="3943669"/>
                </a:lnTo>
                <a:lnTo>
                  <a:pt x="256027" y="3960458"/>
                </a:lnTo>
                <a:lnTo>
                  <a:pt x="306090" y="3963712"/>
                </a:lnTo>
                <a:lnTo>
                  <a:pt x="366002" y="3964912"/>
                </a:lnTo>
                <a:lnTo>
                  <a:pt x="436992" y="3965083"/>
                </a:lnTo>
                <a:lnTo>
                  <a:pt x="3142598" y="3965083"/>
                </a:lnTo>
                <a:lnTo>
                  <a:pt x="3213589" y="3964912"/>
                </a:lnTo>
                <a:lnTo>
                  <a:pt x="3273500" y="3963712"/>
                </a:lnTo>
                <a:lnTo>
                  <a:pt x="3323563" y="3960458"/>
                </a:lnTo>
                <a:lnTo>
                  <a:pt x="3365009" y="3954119"/>
                </a:lnTo>
                <a:lnTo>
                  <a:pt x="3441427" y="3923885"/>
                </a:lnTo>
                <a:lnTo>
                  <a:pt x="3479267" y="3897332"/>
                </a:lnTo>
                <a:lnTo>
                  <a:pt x="3511840" y="3864759"/>
                </a:lnTo>
                <a:lnTo>
                  <a:pt x="3538393" y="3826919"/>
                </a:lnTo>
                <a:lnTo>
                  <a:pt x="3558176" y="3784561"/>
                </a:lnTo>
                <a:lnTo>
                  <a:pt x="3574965" y="3709056"/>
                </a:lnTo>
                <a:lnTo>
                  <a:pt x="3578220" y="3658993"/>
                </a:lnTo>
                <a:lnTo>
                  <a:pt x="3579420" y="3599081"/>
                </a:lnTo>
                <a:lnTo>
                  <a:pt x="3579591" y="3528090"/>
                </a:lnTo>
                <a:lnTo>
                  <a:pt x="3579591" y="436992"/>
                </a:lnTo>
                <a:lnTo>
                  <a:pt x="3579420" y="366001"/>
                </a:lnTo>
                <a:lnTo>
                  <a:pt x="3578220" y="306089"/>
                </a:lnTo>
                <a:lnTo>
                  <a:pt x="3574965" y="256026"/>
                </a:lnTo>
                <a:lnTo>
                  <a:pt x="3568627" y="214581"/>
                </a:lnTo>
                <a:lnTo>
                  <a:pt x="3538393" y="138163"/>
                </a:lnTo>
                <a:lnTo>
                  <a:pt x="3511840" y="100323"/>
                </a:lnTo>
                <a:lnTo>
                  <a:pt x="3479267" y="67750"/>
                </a:lnTo>
                <a:lnTo>
                  <a:pt x="3441427" y="41197"/>
                </a:lnTo>
                <a:lnTo>
                  <a:pt x="3399069" y="21414"/>
                </a:lnTo>
                <a:lnTo>
                  <a:pt x="3323563" y="4625"/>
                </a:lnTo>
                <a:lnTo>
                  <a:pt x="3273500" y="1370"/>
                </a:lnTo>
                <a:lnTo>
                  <a:pt x="3213589" y="171"/>
                </a:lnTo>
                <a:lnTo>
                  <a:pt x="3142598" y="0"/>
                </a:lnTo>
                <a:close/>
              </a:path>
            </a:pathLst>
          </a:custGeom>
          <a:solidFill>
            <a:srgbClr val="0076B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0" name="object 6"/>
          <p:cNvGrpSpPr/>
          <p:nvPr/>
        </p:nvGrpSpPr>
        <p:grpSpPr>
          <a:xfrm>
            <a:off x="2243136" y="1888627"/>
            <a:ext cx="5074185" cy="3681406"/>
            <a:chOff x="4473360" y="3766680"/>
            <a:chExt cx="10119960" cy="7342200"/>
          </a:xfrm>
        </p:grpSpPr>
        <p:pic>
          <p:nvPicPr>
            <p:cNvPr id="261" name="object 7"/>
            <p:cNvPicPr/>
            <p:nvPr/>
          </p:nvPicPr>
          <p:blipFill>
            <a:blip r:embed="rId2"/>
            <a:stretch/>
          </p:blipFill>
          <p:spPr>
            <a:xfrm>
              <a:off x="6779520" y="3766680"/>
              <a:ext cx="7332480" cy="73422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2" name="object 8"/>
            <p:cNvSpPr/>
            <p:nvPr/>
          </p:nvSpPr>
          <p:spPr>
            <a:xfrm>
              <a:off x="4473360" y="6451560"/>
              <a:ext cx="3370320" cy="360"/>
            </a:xfrm>
            <a:custGeom>
              <a:avLst/>
              <a:gdLst>
                <a:gd name="textAreaLeft" fmla="*/ 0 w 3370320"/>
                <a:gd name="textAreaRight" fmla="*/ 3370680 w 337032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3370579">
                  <a:moveTo>
                    <a:pt x="0" y="0"/>
                  </a:moveTo>
                  <a:lnTo>
                    <a:pt x="3312399" y="0"/>
                  </a:lnTo>
                  <a:lnTo>
                    <a:pt x="3369989" y="0"/>
                  </a:lnTo>
                </a:path>
              </a:pathLst>
            </a:custGeom>
            <a:noFill/>
            <a:ln w="115179">
              <a:solidFill>
                <a:srgbClr val="EE220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3" name="object 9"/>
            <p:cNvSpPr/>
            <p:nvPr/>
          </p:nvSpPr>
          <p:spPr>
            <a:xfrm>
              <a:off x="7675920" y="6231960"/>
              <a:ext cx="439560" cy="439560"/>
            </a:xfrm>
            <a:custGeom>
              <a:avLst/>
              <a:gdLst>
                <a:gd name="textAreaLeft" fmla="*/ 0 w 439560"/>
                <a:gd name="textAreaRight" fmla="*/ 439920 w 439560"/>
                <a:gd name="textAreaTop" fmla="*/ 0 h 439560"/>
                <a:gd name="textAreaBottom" fmla="*/ 439920 h 439560"/>
              </a:gdLst>
              <a:ahLst/>
              <a:cxnLst/>
              <a:rect l="textAreaLeft" t="textAreaTop" r="textAreaRight" b="textAreaBottom"/>
              <a:pathLst>
                <a:path w="440054" h="440054">
                  <a:moveTo>
                    <a:pt x="0" y="0"/>
                  </a:moveTo>
                  <a:lnTo>
                    <a:pt x="109944" y="219888"/>
                  </a:lnTo>
                  <a:lnTo>
                    <a:pt x="0" y="439777"/>
                  </a:lnTo>
                  <a:lnTo>
                    <a:pt x="439777" y="219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E22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64" name="object 10"/>
            <p:cNvSpPr/>
            <p:nvPr/>
          </p:nvSpPr>
          <p:spPr>
            <a:xfrm>
              <a:off x="12292920" y="6451560"/>
              <a:ext cx="2120400" cy="360"/>
            </a:xfrm>
            <a:custGeom>
              <a:avLst/>
              <a:gdLst>
                <a:gd name="textAreaLeft" fmla="*/ 0 w 2120400"/>
                <a:gd name="textAreaRight" fmla="*/ 2120760 w 212040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2120900">
                  <a:moveTo>
                    <a:pt x="0" y="0"/>
                  </a:moveTo>
                  <a:lnTo>
                    <a:pt x="2083759" y="0"/>
                  </a:lnTo>
                  <a:lnTo>
                    <a:pt x="2120407" y="0"/>
                  </a:lnTo>
                </a:path>
              </a:pathLst>
            </a:custGeom>
            <a:noFill/>
            <a:ln w="73296">
              <a:solidFill>
                <a:srgbClr val="0076BA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5" name="object 11"/>
            <p:cNvSpPr/>
            <p:nvPr/>
          </p:nvSpPr>
          <p:spPr>
            <a:xfrm>
              <a:off x="14304240" y="6307200"/>
              <a:ext cx="289080" cy="289080"/>
            </a:xfrm>
            <a:custGeom>
              <a:avLst/>
              <a:gdLst>
                <a:gd name="textAreaLeft" fmla="*/ 0 w 289080"/>
                <a:gd name="textAreaRight" fmla="*/ 289440 w 289080"/>
                <a:gd name="textAreaTop" fmla="*/ 0 h 289080"/>
                <a:gd name="textAreaBottom" fmla="*/ 289440 h 289080"/>
              </a:gdLst>
              <a:ahLst/>
              <a:cxnLst/>
              <a:rect l="textAreaLeft" t="textAreaTop" r="textAreaRight" b="textAreaBottom"/>
              <a:pathLst>
                <a:path w="289559" h="289559">
                  <a:moveTo>
                    <a:pt x="0" y="0"/>
                  </a:moveTo>
                  <a:lnTo>
                    <a:pt x="72249" y="144498"/>
                  </a:lnTo>
                  <a:lnTo>
                    <a:pt x="0" y="288996"/>
                  </a:lnTo>
                  <a:lnTo>
                    <a:pt x="288996" y="1444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6B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903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66" name="object 12"/>
          <p:cNvSpPr/>
          <p:nvPr/>
        </p:nvSpPr>
        <p:spPr>
          <a:xfrm>
            <a:off x="507397" y="2881948"/>
            <a:ext cx="1598375" cy="96379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430" rIns="0" bIns="0" anchor="t">
            <a:spAutoFit/>
          </a:bodyPr>
          <a:lstStyle/>
          <a:p>
            <a:pPr marL="6137" algn="ctr">
              <a:lnSpc>
                <a:spcPct val="102000"/>
              </a:lnSpc>
              <a:spcBef>
                <a:spcPts val="27"/>
              </a:spcBef>
            </a:pPr>
            <a:r>
              <a:rPr lang="fr-FR" sz="1554">
                <a:solidFill>
                  <a:srgbClr val="FFFFFF"/>
                </a:solidFill>
                <a:latin typeface="Arial MT"/>
              </a:rPr>
              <a:t>Values,</a:t>
            </a:r>
            <a:r>
              <a:rPr lang="fr-FR" sz="1554" spc="-70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54" spc="33">
                <a:solidFill>
                  <a:srgbClr val="FFFFFF"/>
                </a:solidFill>
                <a:latin typeface="Arial MT"/>
              </a:rPr>
              <a:t>norms, </a:t>
            </a:r>
            <a:r>
              <a:rPr lang="fr-FR" sz="1554" spc="26">
                <a:solidFill>
                  <a:srgbClr val="FFFFFF"/>
                </a:solidFill>
                <a:latin typeface="Arial MT"/>
              </a:rPr>
              <a:t>beliefs, </a:t>
            </a:r>
            <a:r>
              <a:rPr lang="fr-FR" sz="1554" spc="23">
                <a:solidFill>
                  <a:srgbClr val="FFFFFF"/>
                </a:solidFill>
                <a:latin typeface="Arial MT"/>
              </a:rPr>
              <a:t>preferences, </a:t>
            </a:r>
            <a:r>
              <a:rPr lang="fr-FR" sz="1554" spc="37">
                <a:solidFill>
                  <a:srgbClr val="FFFFFF"/>
                </a:solidFill>
                <a:latin typeface="Arial MT"/>
              </a:rPr>
              <a:t>habits,</a:t>
            </a:r>
            <a:r>
              <a:rPr lang="fr-FR" sz="1554" spc="13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54" spc="48">
                <a:solidFill>
                  <a:srgbClr val="FFFFFF"/>
                </a:solidFill>
                <a:latin typeface="Arial MT"/>
              </a:rPr>
              <a:t>tools,</a:t>
            </a:r>
            <a:r>
              <a:rPr lang="fr-FR" sz="1554" spc="16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54" spc="33">
                <a:solidFill>
                  <a:srgbClr val="FFFFFF"/>
                </a:solidFill>
                <a:latin typeface="Arial MT"/>
              </a:rPr>
              <a:t>etc.</a:t>
            </a:r>
            <a:endParaRPr lang="fr-FR" sz="1554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object 13"/>
          <p:cNvSpPr/>
          <p:nvPr/>
        </p:nvSpPr>
        <p:spPr>
          <a:xfrm>
            <a:off x="7864614" y="3000360"/>
            <a:ext cx="1325992" cy="4130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2632" spc="-6">
                <a:solidFill>
                  <a:srgbClr val="0076BA"/>
                </a:solidFill>
                <a:latin typeface="Arial MT"/>
              </a:rPr>
              <a:t>Behavior</a:t>
            </a:r>
            <a:endParaRPr lang="fr-FR" sz="2632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object 14"/>
          <p:cNvSpPr/>
          <p:nvPr/>
        </p:nvSpPr>
        <p:spPr>
          <a:xfrm>
            <a:off x="2321295" y="2803068"/>
            <a:ext cx="1361010" cy="2857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942" rIns="0" bIns="0" anchor="t">
            <a:spAutoFit/>
          </a:bodyPr>
          <a:lstStyle/>
          <a:p>
            <a:pPr marL="6318">
              <a:spcBef>
                <a:spcPts val="63"/>
              </a:spcBef>
            </a:pPr>
            <a:r>
              <a:rPr lang="fr-FR" sz="1805" b="1" spc="-33">
                <a:solidFill>
                  <a:srgbClr val="EE220C"/>
                </a:solidFill>
                <a:latin typeface="Arial"/>
              </a:rPr>
              <a:t>Socialization</a:t>
            </a:r>
            <a:endParaRPr lang="fr-FR" sz="1805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object 15"/>
          <p:cNvSpPr/>
          <p:nvPr/>
        </p:nvSpPr>
        <p:spPr>
          <a:xfrm>
            <a:off x="4379778" y="2583753"/>
            <a:ext cx="1649097" cy="1302346"/>
          </a:xfrm>
          <a:custGeom>
            <a:avLst/>
            <a:gdLst>
              <a:gd name="textAreaLeft" fmla="*/ 0 w 3288960"/>
              <a:gd name="textAreaRight" fmla="*/ 3289320 w 3288960"/>
              <a:gd name="textAreaTop" fmla="*/ 0 h 2597400"/>
              <a:gd name="textAreaBottom" fmla="*/ 2597760 h 2597400"/>
            </a:gdLst>
            <a:ahLst/>
            <a:cxnLst/>
            <a:rect l="textAreaLeft" t="textAreaTop" r="textAreaRight" b="textAreaBottom"/>
            <a:pathLst>
              <a:path w="3289300" h="2597784">
                <a:moveTo>
                  <a:pt x="2994135" y="0"/>
                </a:moveTo>
                <a:lnTo>
                  <a:pt x="294835" y="0"/>
                </a:lnTo>
                <a:lnTo>
                  <a:pt x="236164" y="225"/>
                </a:lnTo>
                <a:lnTo>
                  <a:pt x="188849" y="1806"/>
                </a:lnTo>
                <a:lnTo>
                  <a:pt x="121797" y="14448"/>
                </a:lnTo>
                <a:lnTo>
                  <a:pt x="86529" y="31866"/>
                </a:lnTo>
                <a:lnTo>
                  <a:pt x="56223" y="56223"/>
                </a:lnTo>
                <a:lnTo>
                  <a:pt x="31865" y="86529"/>
                </a:lnTo>
                <a:lnTo>
                  <a:pt x="14447" y="121797"/>
                </a:lnTo>
                <a:lnTo>
                  <a:pt x="1805" y="188849"/>
                </a:lnTo>
                <a:lnTo>
                  <a:pt x="225" y="236164"/>
                </a:lnTo>
                <a:lnTo>
                  <a:pt x="0" y="294835"/>
                </a:lnTo>
                <a:lnTo>
                  <a:pt x="0" y="2302610"/>
                </a:lnTo>
                <a:lnTo>
                  <a:pt x="225" y="2361281"/>
                </a:lnTo>
                <a:lnTo>
                  <a:pt x="1805" y="2408596"/>
                </a:lnTo>
                <a:lnTo>
                  <a:pt x="14447" y="2475649"/>
                </a:lnTo>
                <a:lnTo>
                  <a:pt x="31865" y="2510916"/>
                </a:lnTo>
                <a:lnTo>
                  <a:pt x="56223" y="2541222"/>
                </a:lnTo>
                <a:lnTo>
                  <a:pt x="86529" y="2565579"/>
                </a:lnTo>
                <a:lnTo>
                  <a:pt x="121797" y="2582997"/>
                </a:lnTo>
                <a:lnTo>
                  <a:pt x="188849" y="2595639"/>
                </a:lnTo>
                <a:lnTo>
                  <a:pt x="236164" y="2597219"/>
                </a:lnTo>
                <a:lnTo>
                  <a:pt x="294835" y="2597445"/>
                </a:lnTo>
                <a:lnTo>
                  <a:pt x="2994135" y="2597445"/>
                </a:lnTo>
                <a:lnTo>
                  <a:pt x="3052805" y="2597219"/>
                </a:lnTo>
                <a:lnTo>
                  <a:pt x="3100120" y="2595639"/>
                </a:lnTo>
                <a:lnTo>
                  <a:pt x="3167176" y="2582997"/>
                </a:lnTo>
                <a:lnTo>
                  <a:pt x="3202439" y="2565579"/>
                </a:lnTo>
                <a:lnTo>
                  <a:pt x="3232744" y="2541222"/>
                </a:lnTo>
                <a:lnTo>
                  <a:pt x="3257101" y="2510916"/>
                </a:lnTo>
                <a:lnTo>
                  <a:pt x="3274524" y="2475649"/>
                </a:lnTo>
                <a:lnTo>
                  <a:pt x="3287158" y="2408596"/>
                </a:lnTo>
                <a:lnTo>
                  <a:pt x="3288738" y="2361281"/>
                </a:lnTo>
                <a:lnTo>
                  <a:pt x="3288963" y="2302610"/>
                </a:lnTo>
                <a:lnTo>
                  <a:pt x="3288963" y="294835"/>
                </a:lnTo>
                <a:lnTo>
                  <a:pt x="3288738" y="236164"/>
                </a:lnTo>
                <a:lnTo>
                  <a:pt x="3287158" y="188849"/>
                </a:lnTo>
                <a:lnTo>
                  <a:pt x="3274524" y="121797"/>
                </a:lnTo>
                <a:lnTo>
                  <a:pt x="3257101" y="86529"/>
                </a:lnTo>
                <a:lnTo>
                  <a:pt x="3232744" y="56223"/>
                </a:lnTo>
                <a:lnTo>
                  <a:pt x="3202439" y="31866"/>
                </a:lnTo>
                <a:lnTo>
                  <a:pt x="3167176" y="14448"/>
                </a:lnTo>
                <a:lnTo>
                  <a:pt x="3100120" y="1806"/>
                </a:lnTo>
                <a:lnTo>
                  <a:pt x="3052805" y="225"/>
                </a:lnTo>
                <a:lnTo>
                  <a:pt x="299413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903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object 16"/>
          <p:cNvSpPr/>
          <p:nvPr/>
        </p:nvSpPr>
        <p:spPr>
          <a:xfrm>
            <a:off x="4589886" y="2631949"/>
            <a:ext cx="1228880" cy="93894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2888" rIns="0" bIns="0" anchor="t">
            <a:spAutoFit/>
          </a:bodyPr>
          <a:lstStyle/>
          <a:p>
            <a:pPr marL="6318" algn="ctr">
              <a:lnSpc>
                <a:spcPct val="101000"/>
              </a:lnSpc>
              <a:spcBef>
                <a:spcPts val="23"/>
              </a:spcBef>
            </a:pPr>
            <a:r>
              <a:rPr lang="fr-FR" sz="1529" spc="20">
                <a:solidFill>
                  <a:srgbClr val="FFFFFF"/>
                </a:solidFill>
                <a:latin typeface="Arial MT"/>
              </a:rPr>
              <a:t>Interiorized </a:t>
            </a:r>
            <a:r>
              <a:rPr lang="fr-FR" sz="1529" spc="-36">
                <a:solidFill>
                  <a:srgbClr val="FFFFFF"/>
                </a:solidFill>
                <a:latin typeface="Arial MT"/>
              </a:rPr>
              <a:t>values,</a:t>
            </a:r>
            <a:r>
              <a:rPr lang="fr-FR" sz="1529" spc="-48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29" spc="-20">
                <a:solidFill>
                  <a:srgbClr val="FFFFFF"/>
                </a:solidFill>
                <a:latin typeface="Arial MT"/>
              </a:rPr>
              <a:t>norms, </a:t>
            </a:r>
            <a:r>
              <a:rPr lang="fr-FR" sz="1529" spc="-6">
                <a:solidFill>
                  <a:srgbClr val="FFFFFF"/>
                </a:solidFill>
                <a:latin typeface="Arial MT"/>
              </a:rPr>
              <a:t>preferences, habits,</a:t>
            </a:r>
            <a:r>
              <a:rPr lang="fr-FR" sz="1529" spc="-101">
                <a:solidFill>
                  <a:srgbClr val="FFFFFF"/>
                </a:solidFill>
                <a:latin typeface="Arial MT"/>
              </a:rPr>
              <a:t> </a:t>
            </a:r>
            <a:r>
              <a:rPr lang="fr-FR" sz="1529" spc="-10">
                <a:solidFill>
                  <a:srgbClr val="FFFFFF"/>
                </a:solidFill>
                <a:latin typeface="Arial MT"/>
              </a:rPr>
              <a:t>etc.</a:t>
            </a:r>
            <a:endParaRPr lang="fr-FR" sz="1529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object 17"/>
          <p:cNvSpPr/>
          <p:nvPr/>
        </p:nvSpPr>
        <p:spPr>
          <a:xfrm>
            <a:off x="555592" y="1336101"/>
            <a:ext cx="5312091" cy="100722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664" rIns="0" bIns="0" anchor="t">
            <a:spAutoFit/>
          </a:bodyPr>
          <a:lstStyle/>
          <a:p>
            <a:pPr marL="4058452">
              <a:lnSpc>
                <a:spcPts val="2701"/>
              </a:lnSpc>
              <a:spcBef>
                <a:spcPts val="68"/>
              </a:spcBef>
            </a:pPr>
            <a:r>
              <a:rPr lang="fr-FR" sz="2256" spc="23">
                <a:solidFill>
                  <a:srgbClr val="000000"/>
                </a:solidFill>
                <a:latin typeface="Arial MT"/>
              </a:rPr>
              <a:t>Individual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48736">
              <a:lnSpc>
                <a:spcPts val="2278"/>
              </a:lnSpc>
            </a:pPr>
            <a:r>
              <a:rPr lang="fr-FR" sz="1905">
                <a:solidFill>
                  <a:srgbClr val="0076BA"/>
                </a:solidFill>
                <a:latin typeface="Arial MT"/>
              </a:rPr>
              <a:t>Culture</a:t>
            </a:r>
            <a:r>
              <a:rPr lang="fr-FR" sz="1905" spc="-3">
                <a:solidFill>
                  <a:srgbClr val="0076BA"/>
                </a:solidFill>
                <a:latin typeface="Arial MT"/>
              </a:rPr>
              <a:t> </a:t>
            </a:r>
            <a:r>
              <a:rPr lang="fr-FR" sz="1905" spc="46">
                <a:solidFill>
                  <a:srgbClr val="0076BA"/>
                </a:solidFill>
                <a:latin typeface="Arial MT"/>
              </a:rPr>
              <a:t>of</a:t>
            </a:r>
            <a:r>
              <a:rPr lang="fr-FR" sz="1905" spc="3">
                <a:solidFill>
                  <a:srgbClr val="0076BA"/>
                </a:solidFill>
                <a:latin typeface="Arial MT"/>
              </a:rPr>
              <a:t> </a:t>
            </a:r>
            <a:r>
              <a:rPr lang="fr-FR" sz="1905" spc="13">
                <a:solidFill>
                  <a:srgbClr val="0076BA"/>
                </a:solidFill>
                <a:latin typeface="Arial MT"/>
              </a:rPr>
              <a:t>the</a:t>
            </a:r>
            <a:endParaRPr lang="fr-FR" sz="1905">
              <a:solidFill>
                <a:srgbClr val="000000"/>
              </a:solidFill>
              <a:latin typeface="Arial"/>
            </a:endParaRPr>
          </a:p>
          <a:p>
            <a:pPr marL="6318">
              <a:spcBef>
                <a:spcPts val="453"/>
              </a:spcBef>
            </a:pPr>
            <a:r>
              <a:rPr lang="fr-FR" sz="1905" spc="20">
                <a:solidFill>
                  <a:srgbClr val="0076BA"/>
                </a:solidFill>
                <a:latin typeface="Arial MT"/>
              </a:rPr>
              <a:t>group/society</a:t>
            </a:r>
            <a:endParaRPr lang="fr-FR" sz="1905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object 2"/>
          <p:cNvPicPr/>
          <p:nvPr/>
        </p:nvPicPr>
        <p:blipFill>
          <a:blip r:embed="rId2"/>
          <a:stretch/>
        </p:blipFill>
        <p:spPr>
          <a:xfrm>
            <a:off x="6286095" y="864440"/>
            <a:ext cx="3717146" cy="2473645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object 3"/>
          <p:cNvSpPr/>
          <p:nvPr/>
        </p:nvSpPr>
        <p:spPr>
          <a:xfrm>
            <a:off x="223643" y="1809566"/>
            <a:ext cx="8949093" cy="322270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8664" rIns="0" bIns="0" anchor="t">
            <a:spAutoFit/>
          </a:bodyPr>
          <a:lstStyle/>
          <a:p>
            <a:pPr marL="18231">
              <a:spcBef>
                <a:spcPts val="68"/>
              </a:spcBef>
            </a:pPr>
            <a:r>
              <a:rPr lang="fr-FR" sz="2256" i="1" spc="-65">
                <a:solidFill>
                  <a:srgbClr val="000000"/>
                </a:solidFill>
                <a:latin typeface="Arial"/>
              </a:rPr>
              <a:t>Les</a:t>
            </a:r>
            <a:r>
              <a:rPr lang="fr-FR" sz="2256" i="1" spc="-37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 spc="-27">
                <a:solidFill>
                  <a:srgbClr val="000000"/>
                </a:solidFill>
                <a:latin typeface="Arial"/>
              </a:rPr>
              <a:t>Règles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0000"/>
                </a:solidFill>
                <a:latin typeface="Arial"/>
              </a:rPr>
              <a:t>de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0000"/>
                </a:solidFill>
                <a:latin typeface="Arial"/>
              </a:rPr>
              <a:t>la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0000"/>
                </a:solidFill>
                <a:latin typeface="Arial"/>
              </a:rPr>
              <a:t>méthode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i="1" spc="40">
                <a:solidFill>
                  <a:srgbClr val="000000"/>
                </a:solidFill>
                <a:latin typeface="Arial"/>
              </a:rPr>
              <a:t>sociologique</a:t>
            </a:r>
            <a:r>
              <a:rPr lang="fr-FR" sz="2256" i="1" spc="-33">
                <a:solidFill>
                  <a:srgbClr val="000000"/>
                </a:solidFill>
                <a:latin typeface="Arial"/>
              </a:rPr>
              <a:t> </a:t>
            </a:r>
            <a:r>
              <a:rPr lang="fr-FR" sz="2256" spc="-6">
                <a:solidFill>
                  <a:srgbClr val="000000"/>
                </a:solidFill>
                <a:latin typeface="Arial MT"/>
              </a:rPr>
              <a:t>(1894)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492"/>
              </a:spcBef>
            </a:pP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294222" indent="-288084">
              <a:lnSpc>
                <a:spcPct val="114000"/>
              </a:lnSpc>
              <a:buClr>
                <a:srgbClr val="000000"/>
              </a:buClr>
              <a:buSzPct val="123000"/>
              <a:buFont typeface="Symbol" charset="2"/>
              <a:buChar char=""/>
              <a:tabLst>
                <a:tab pos="294763" algn="l"/>
              </a:tabLst>
            </a:pPr>
            <a:r>
              <a:rPr lang="fr-FR" sz="2256">
                <a:solidFill>
                  <a:srgbClr val="000000"/>
                </a:solidFill>
                <a:latin typeface="Arial MT"/>
              </a:rPr>
              <a:t>Sociology</a:t>
            </a:r>
            <a:r>
              <a:rPr lang="fr-FR" sz="2256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is</a:t>
            </a:r>
            <a:r>
              <a:rPr lang="fr-FR" sz="2256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40">
                <a:solidFill>
                  <a:srgbClr val="000000"/>
                </a:solidFill>
                <a:latin typeface="Arial MT"/>
              </a:rPr>
              <a:t>the</a:t>
            </a:r>
            <a:r>
              <a:rPr lang="fr-FR" sz="2256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science</a:t>
            </a:r>
            <a:r>
              <a:rPr lang="fr-FR" sz="2256" spc="-10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65">
                <a:solidFill>
                  <a:srgbClr val="000000"/>
                </a:solidFill>
                <a:latin typeface="Arial MT"/>
              </a:rPr>
              <a:t>of</a:t>
            </a:r>
            <a:r>
              <a:rPr lang="fr-FR" sz="2256" spc="-13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b="1" spc="-60">
                <a:solidFill>
                  <a:srgbClr val="D31876"/>
                </a:solidFill>
                <a:latin typeface="Arial"/>
              </a:rPr>
              <a:t>“social 	</a:t>
            </a:r>
            <a:r>
              <a:rPr lang="fr-FR" sz="2256" b="1" spc="-6">
                <a:solidFill>
                  <a:srgbClr val="D31876"/>
                </a:solidFill>
                <a:latin typeface="Arial"/>
              </a:rPr>
              <a:t>facts”</a:t>
            </a:r>
            <a:r>
              <a:rPr lang="fr-FR" sz="2256" spc="-6">
                <a:solidFill>
                  <a:srgbClr val="000000"/>
                </a:solidFill>
                <a:latin typeface="Arial MT"/>
              </a:rPr>
              <a:t>: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540609" algn="ctr">
              <a:lnSpc>
                <a:spcPct val="114000"/>
              </a:lnSpc>
              <a:spcBef>
                <a:spcPts val="1640"/>
              </a:spcBef>
              <a:tabLst>
                <a:tab pos="2406660" algn="l"/>
              </a:tabLst>
            </a:pPr>
            <a:r>
              <a:rPr lang="fr-FR" sz="2256" spc="-6">
                <a:solidFill>
                  <a:srgbClr val="000000"/>
                </a:solidFill>
                <a:latin typeface="Arial MT"/>
              </a:rPr>
              <a:t>Social</a:t>
            </a:r>
            <a:r>
              <a:rPr lang="fr-FR" sz="2256" spc="-12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facts</a:t>
            </a:r>
            <a:r>
              <a:rPr lang="fr-FR" sz="2256" spc="-121">
                <a:solidFill>
                  <a:srgbClr val="000000"/>
                </a:solidFill>
                <a:latin typeface="Arial MT"/>
              </a:rPr>
              <a:t> </a:t>
            </a:r>
            <a:r>
              <a:rPr lang="fr-FR" sz="2256" spc="170">
                <a:solidFill>
                  <a:srgbClr val="000000"/>
                </a:solidFill>
                <a:latin typeface="Arial MT"/>
              </a:rPr>
              <a:t>=</a:t>
            </a:r>
            <a:r>
              <a:rPr lang="fr-FR" sz="2256">
                <a:solidFill>
                  <a:srgbClr val="000000"/>
                </a:solidFill>
                <a:latin typeface="Arial MT"/>
              </a:rPr>
              <a:t>	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“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manières</a:t>
            </a:r>
            <a:r>
              <a:rPr lang="fr-FR" sz="2256" b="1" i="1" spc="1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d’agir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,</a:t>
            </a:r>
            <a:r>
              <a:rPr lang="fr-FR" sz="2256" i="1" spc="-2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76BA"/>
                </a:solidFill>
                <a:latin typeface="Arial"/>
              </a:rPr>
              <a:t>de</a:t>
            </a:r>
            <a:r>
              <a:rPr lang="fr-FR" sz="2256" i="1" spc="-27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-6">
                <a:solidFill>
                  <a:srgbClr val="0076BA"/>
                </a:solidFill>
                <a:latin typeface="Arial"/>
              </a:rPr>
              <a:t>penser</a:t>
            </a:r>
            <a:r>
              <a:rPr lang="fr-FR" sz="2256" b="1" i="1" spc="1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5">
                <a:solidFill>
                  <a:srgbClr val="0076BA"/>
                </a:solidFill>
                <a:latin typeface="Arial"/>
              </a:rPr>
              <a:t>et</a:t>
            </a:r>
            <a:r>
              <a:rPr lang="fr-FR" sz="2256" i="1" spc="-2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76BA"/>
                </a:solidFill>
                <a:latin typeface="Arial"/>
              </a:rPr>
              <a:t>de</a:t>
            </a:r>
            <a:r>
              <a:rPr lang="fr-FR" sz="2256" i="1" spc="-27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-6">
                <a:solidFill>
                  <a:srgbClr val="0076BA"/>
                </a:solidFill>
                <a:latin typeface="Arial"/>
              </a:rPr>
              <a:t>sentir</a:t>
            </a:r>
            <a:r>
              <a:rPr lang="fr-FR" sz="2256" i="1" spc="-6">
                <a:solidFill>
                  <a:srgbClr val="0076BA"/>
                </a:solidFill>
                <a:latin typeface="Arial"/>
              </a:rPr>
              <a:t>,</a:t>
            </a:r>
            <a:r>
              <a:rPr lang="fr-FR" sz="2256" i="1" spc="-2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0">
                <a:solidFill>
                  <a:srgbClr val="0076BA"/>
                </a:solidFill>
                <a:latin typeface="Arial"/>
              </a:rPr>
              <a:t>qui</a:t>
            </a:r>
            <a:r>
              <a:rPr lang="fr-FR" sz="2256" i="1" spc="-2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-10">
                <a:solidFill>
                  <a:srgbClr val="0076BA"/>
                </a:solidFill>
                <a:latin typeface="Arial"/>
              </a:rPr>
              <a:t>sont 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extérieures</a:t>
            </a:r>
            <a:r>
              <a:rPr lang="fr-FR" sz="2256" b="1" i="1" spc="1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à</a:t>
            </a:r>
            <a:r>
              <a:rPr lang="fr-FR" sz="2256" b="1" i="1" spc="17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-16">
                <a:solidFill>
                  <a:srgbClr val="0076BA"/>
                </a:solidFill>
                <a:latin typeface="Arial"/>
              </a:rPr>
              <a:t>l’individu</a:t>
            </a:r>
            <a:r>
              <a:rPr lang="fr-FR" sz="2256" i="1" spc="-16">
                <a:solidFill>
                  <a:srgbClr val="0076BA"/>
                </a:solidFill>
                <a:latin typeface="Arial"/>
              </a:rPr>
              <a:t>,</a:t>
            </a:r>
            <a:r>
              <a:rPr lang="fr-FR" sz="2256" i="1" spc="-2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5">
                <a:solidFill>
                  <a:srgbClr val="0076BA"/>
                </a:solidFill>
                <a:latin typeface="Arial"/>
              </a:rPr>
              <a:t>et</a:t>
            </a:r>
            <a:r>
              <a:rPr lang="fr-FR" sz="2256" i="1" spc="-2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0">
                <a:solidFill>
                  <a:srgbClr val="0076BA"/>
                </a:solidFill>
                <a:latin typeface="Arial"/>
              </a:rPr>
              <a:t>qui</a:t>
            </a:r>
            <a:r>
              <a:rPr lang="fr-FR" sz="2256" i="1" spc="-2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sont</a:t>
            </a:r>
            <a:r>
              <a:rPr lang="fr-FR" sz="2256" i="1" spc="-2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33">
                <a:solidFill>
                  <a:srgbClr val="0076BA"/>
                </a:solidFill>
                <a:latin typeface="Arial"/>
              </a:rPr>
              <a:t>dotées</a:t>
            </a:r>
            <a:r>
              <a:rPr lang="fr-FR" sz="2256" i="1" spc="-2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53">
                <a:solidFill>
                  <a:srgbClr val="0076BA"/>
                </a:solidFill>
                <a:latin typeface="Arial"/>
              </a:rPr>
              <a:t>d’un</a:t>
            </a:r>
            <a:r>
              <a:rPr lang="fr-FR" sz="2256" i="1" spc="-2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40">
                <a:solidFill>
                  <a:srgbClr val="0076BA"/>
                </a:solidFill>
                <a:latin typeface="Arial"/>
              </a:rPr>
              <a:t>pouvoir</a:t>
            </a:r>
            <a:r>
              <a:rPr lang="fr-FR" sz="2256" i="1" spc="-20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50">
                <a:solidFill>
                  <a:srgbClr val="0076BA"/>
                </a:solidFill>
                <a:latin typeface="Arial"/>
              </a:rPr>
              <a:t>de </a:t>
            </a:r>
            <a:r>
              <a:rPr lang="fr-FR" sz="2256" b="1" i="1" spc="-20">
                <a:solidFill>
                  <a:srgbClr val="0076BA"/>
                </a:solidFill>
                <a:latin typeface="Arial"/>
              </a:rPr>
              <a:t>coercition</a:t>
            </a:r>
            <a:r>
              <a:rPr lang="fr-FR" sz="2256" b="1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en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vertu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63">
                <a:solidFill>
                  <a:srgbClr val="0076BA"/>
                </a:solidFill>
                <a:latin typeface="Arial"/>
              </a:rPr>
              <a:t>du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 spc="43">
                <a:solidFill>
                  <a:srgbClr val="0076BA"/>
                </a:solidFill>
                <a:latin typeface="Arial"/>
              </a:rPr>
              <a:t>quel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i="1">
                <a:solidFill>
                  <a:srgbClr val="0076BA"/>
                </a:solidFill>
                <a:latin typeface="Arial"/>
              </a:rPr>
              <a:t>elles</a:t>
            </a:r>
            <a:r>
              <a:rPr lang="fr-FR" sz="2256" i="1" spc="-33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-20">
                <a:solidFill>
                  <a:srgbClr val="0076BA"/>
                </a:solidFill>
                <a:latin typeface="Arial"/>
              </a:rPr>
              <a:t>s’imposent</a:t>
            </a:r>
            <a:r>
              <a:rPr lang="fr-FR" sz="2256" b="1" i="1" spc="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>
                <a:solidFill>
                  <a:srgbClr val="0076BA"/>
                </a:solidFill>
                <a:latin typeface="Arial"/>
              </a:rPr>
              <a:t>à</a:t>
            </a:r>
            <a:r>
              <a:rPr lang="fr-FR" sz="2256" b="1" i="1" spc="6">
                <a:solidFill>
                  <a:srgbClr val="0076BA"/>
                </a:solidFill>
                <a:latin typeface="Arial"/>
              </a:rPr>
              <a:t> </a:t>
            </a:r>
            <a:r>
              <a:rPr lang="fr-FR" sz="2256" b="1" i="1" spc="56">
                <a:solidFill>
                  <a:srgbClr val="0076BA"/>
                </a:solidFill>
                <a:latin typeface="Arial"/>
              </a:rPr>
              <a:t>lui</a:t>
            </a:r>
            <a:r>
              <a:rPr lang="fr-FR" sz="2256" i="1" spc="56">
                <a:solidFill>
                  <a:srgbClr val="0076BA"/>
                </a:solidFill>
                <a:latin typeface="Arial"/>
              </a:rPr>
              <a:t>”</a:t>
            </a:r>
            <a:endParaRPr lang="fr-FR" sz="2256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6"/>
              </a:spcBef>
              <a:tabLst>
                <a:tab pos="2406660" algn="l"/>
              </a:tabLst>
            </a:pPr>
            <a:endParaRPr lang="fr-FR" sz="2256">
              <a:solidFill>
                <a:srgbClr val="000000"/>
              </a:solidFill>
              <a:latin typeface="Arial"/>
            </a:endParaRPr>
          </a:p>
          <a:p>
            <a:pPr marL="493137" algn="ctr">
              <a:tabLst>
                <a:tab pos="2406660" algn="l"/>
              </a:tabLst>
            </a:pPr>
            <a:r>
              <a:rPr lang="fr-FR" sz="2081" b="1" u="sng" spc="-13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Example:</a:t>
            </a:r>
            <a:r>
              <a:rPr lang="fr-FR" sz="2081" b="1" u="sng" spc="-37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Eating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with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a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fork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 spc="-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instead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of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 spc="-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your</a:t>
            </a:r>
            <a:r>
              <a:rPr lang="fr-FR" sz="2081" b="1" u="sng" spc="-3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 </a:t>
            </a:r>
            <a:r>
              <a:rPr lang="fr-FR" sz="2081" b="1" u="sng" spc="-6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</a:rPr>
              <a:t>hands</a:t>
            </a:r>
            <a:endParaRPr lang="fr-FR" sz="208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13534" y="21480"/>
            <a:ext cx="9263714" cy="1082632"/>
          </a:xfrm>
          <a:prstGeom prst="rect">
            <a:avLst/>
          </a:prstGeom>
          <a:noFill/>
          <a:ln w="0">
            <a:noFill/>
          </a:ln>
        </p:spPr>
        <p:txBody>
          <a:bodyPr lIns="0" tIns="157762" rIns="0" bIns="0" anchor="t">
            <a:spAutoFit/>
          </a:bodyPr>
          <a:lstStyle/>
          <a:p>
            <a:pPr marL="228879">
              <a:lnSpc>
                <a:spcPts val="3570"/>
              </a:lnSpc>
              <a:spcBef>
                <a:spcPts val="460"/>
              </a:spcBef>
            </a:pPr>
            <a:r>
              <a:rPr lang="fr-FR" sz="3259" b="1">
                <a:solidFill>
                  <a:schemeClr val="dk1"/>
                </a:solidFill>
                <a:latin typeface="Arial"/>
              </a:rPr>
              <a:t>A</a:t>
            </a:r>
            <a:r>
              <a:rPr lang="fr-FR" sz="3259" b="1" spc="-105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108">
                <a:solidFill>
                  <a:schemeClr val="dk1"/>
                </a:solidFill>
                <a:latin typeface="Arial"/>
              </a:rPr>
              <a:t>typically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150">
                <a:solidFill>
                  <a:schemeClr val="dk1"/>
                </a:solidFill>
                <a:latin typeface="Arial"/>
              </a:rPr>
              <a:t>holistic</a:t>
            </a:r>
            <a:r>
              <a:rPr lang="fr-FR" sz="3259" b="1" spc="-75">
                <a:solidFill>
                  <a:schemeClr val="dk1"/>
                </a:solidFill>
                <a:latin typeface="Arial"/>
              </a:rPr>
              <a:t> paradigm: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95">
                <a:solidFill>
                  <a:schemeClr val="dk1"/>
                </a:solidFill>
                <a:latin typeface="Arial"/>
              </a:rPr>
              <a:t>Durkheimian</a:t>
            </a:r>
            <a:r>
              <a:rPr lang="fr-FR" sz="3259" b="1" spc="-91">
                <a:solidFill>
                  <a:schemeClr val="dk1"/>
                </a:solidFill>
                <a:latin typeface="Arial"/>
              </a:rPr>
              <a:t> </a:t>
            </a:r>
            <a:r>
              <a:rPr lang="fr-FR" sz="3259" b="1" spc="-213">
                <a:solidFill>
                  <a:schemeClr val="dk1"/>
                </a:solidFill>
                <a:latin typeface="Arial"/>
              </a:rPr>
              <a:t>social </a:t>
            </a:r>
            <a:r>
              <a:rPr lang="fr-FR" sz="3259" b="1" spc="-165">
                <a:solidFill>
                  <a:schemeClr val="dk1"/>
                </a:solidFill>
                <a:latin typeface="Arial"/>
              </a:rPr>
              <a:t>facts</a:t>
            </a:r>
            <a:endParaRPr lang="fr-FR" sz="3259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BE76D01E-AF4B-D0AD-406E-076EFBEC4CAC}"/>
              </a:ext>
            </a:extLst>
          </p:cNvPr>
          <p:cNvSpPr/>
          <p:nvPr/>
        </p:nvSpPr>
        <p:spPr>
          <a:xfrm>
            <a:off x="-1" y="1149118"/>
            <a:ext cx="10080625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truly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matters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 social science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paradigm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it’s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real « engine », the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rest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superficial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" name="Picture 5" descr="social science discipline by Sofia Martinez on Prezi">
            <a:extLst>
              <a:ext uri="{FF2B5EF4-FFF2-40B4-BE49-F238E27FC236}">
                <a16:creationId xmlns:a16="http://schemas.microsoft.com/office/drawing/2014/main" id="{E162ED8E-99A1-6014-70FA-7701724C05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89" y="2516649"/>
            <a:ext cx="3118440" cy="1750781"/>
          </a:xfrm>
          <a:prstGeom prst="rect">
            <a:avLst/>
          </a:prstGeom>
        </p:spPr>
      </p:pic>
      <p:pic>
        <p:nvPicPr>
          <p:cNvPr id="7" name="Picture 6" descr="A society's cultural practices shape the structure of its social networks">
            <a:extLst>
              <a:ext uri="{FF2B5EF4-FFF2-40B4-BE49-F238E27FC236}">
                <a16:creationId xmlns:a16="http://schemas.microsoft.com/office/drawing/2014/main" id="{3DB2E2E4-7C90-7769-B22D-A972302A64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315" y="1855550"/>
            <a:ext cx="3901440" cy="2599944"/>
          </a:xfrm>
          <a:prstGeom prst="rect">
            <a:avLst/>
          </a:prstGeom>
        </p:spPr>
      </p:pic>
      <p:sp>
        <p:nvSpPr>
          <p:cNvPr id="9" name="ZoneTexte 29">
            <a:extLst>
              <a:ext uri="{FF2B5EF4-FFF2-40B4-BE49-F238E27FC236}">
                <a16:creationId xmlns:a16="http://schemas.microsoft.com/office/drawing/2014/main" id="{35C3EB75-490A-5689-43A2-C631D60FF45E}"/>
              </a:ext>
            </a:extLst>
          </p:cNvPr>
          <p:cNvSpPr/>
          <p:nvPr/>
        </p:nvSpPr>
        <p:spPr>
          <a:xfrm>
            <a:off x="685800" y="4521432"/>
            <a:ext cx="1796143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By discipline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9CBA32FB-F8E9-98D1-9E9B-D17B8EC277B2}"/>
              </a:ext>
            </a:extLst>
          </p:cNvPr>
          <p:cNvSpPr/>
          <p:nvPr/>
        </p:nvSpPr>
        <p:spPr>
          <a:xfrm>
            <a:off x="6675664" y="4521432"/>
            <a:ext cx="1796143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By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object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(or area)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961958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eatise on the Family — Harvard University Press">
            <a:extLst>
              <a:ext uri="{FF2B5EF4-FFF2-40B4-BE49-F238E27FC236}">
                <a16:creationId xmlns:a16="http://schemas.microsoft.com/office/drawing/2014/main" id="{BC778E7C-F931-5998-AB4D-88EC7588D4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207" y="391885"/>
            <a:ext cx="3043528" cy="473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5383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FCD9-AECF-DF0C-DC4A-B78B04273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ZoneTexte 29">
            <a:extLst>
              <a:ext uri="{FF2B5EF4-FFF2-40B4-BE49-F238E27FC236}">
                <a16:creationId xmlns:a16="http://schemas.microsoft.com/office/drawing/2014/main" id="{9AC3F5A6-8D15-DE33-2B5E-CC0F091C9008}"/>
              </a:ext>
            </a:extLst>
          </p:cNvPr>
          <p:cNvSpPr/>
          <p:nvPr/>
        </p:nvSpPr>
        <p:spPr>
          <a:xfrm>
            <a:off x="0" y="2351520"/>
            <a:ext cx="10079640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32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PART 3: </a:t>
            </a:r>
            <a:r>
              <a:rPr lang="fr-MA" sz="32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32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3200" b="1" dirty="0">
                <a:solidFill>
                  <a:schemeClr val="dk1"/>
                </a:solidFill>
                <a:latin typeface="Avenir Next LT Pro"/>
              </a:rPr>
              <a:t>do social </a:t>
            </a:r>
            <a:r>
              <a:rPr lang="fr-MA" sz="3200" b="1" dirty="0" err="1">
                <a:solidFill>
                  <a:schemeClr val="dk1"/>
                </a:solidFill>
                <a:latin typeface="Avenir Next LT Pro"/>
              </a:rPr>
              <a:t>scientists</a:t>
            </a:r>
            <a:r>
              <a:rPr lang="fr-MA" sz="3200" b="1" dirty="0">
                <a:solidFill>
                  <a:schemeClr val="dk1"/>
                </a:solidFill>
                <a:latin typeface="Avenir Next LT Pro"/>
              </a:rPr>
              <a:t> do?</a:t>
            </a:r>
            <a:endParaRPr lang="fr-FR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560638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3EE05154-69E5-308C-6537-C1BFC5B392C1}"/>
              </a:ext>
            </a:extLst>
          </p:cNvPr>
          <p:cNvSpPr/>
          <p:nvPr/>
        </p:nvSpPr>
        <p:spPr>
          <a:xfrm>
            <a:off x="1403131" y="2414582"/>
            <a:ext cx="2877207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Thinking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like a social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scientist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skill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" name="Picture 5" descr="Tricks of the Trade: How to Think about Your Research While You're ...">
            <a:extLst>
              <a:ext uri="{FF2B5EF4-FFF2-40B4-BE49-F238E27FC236}">
                <a16:creationId xmlns:a16="http://schemas.microsoft.com/office/drawing/2014/main" id="{D78938C9-AA76-7666-D29B-5E55670A1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643" y="582338"/>
            <a:ext cx="2750692" cy="42507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9FB3D1-389F-DB8B-0D22-BDAB34C1FDEF}"/>
              </a:ext>
            </a:extLst>
          </p:cNvPr>
          <p:cNvSpPr txBox="1"/>
          <p:nvPr/>
        </p:nvSpPr>
        <p:spPr>
          <a:xfrm>
            <a:off x="6424643" y="4833117"/>
            <a:ext cx="3218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Becker, H. S. (1998). </a:t>
            </a:r>
            <a:r>
              <a:rPr lang="en-US" sz="1200" i="1" dirty="0">
                <a:effectLst/>
                <a:latin typeface="+mn-lt"/>
              </a:rPr>
              <a:t>Tricks of the trade: How to think about your research while you're doing it</a:t>
            </a:r>
            <a:r>
              <a:rPr lang="en-US" sz="1200" dirty="0">
                <a:effectLst/>
                <a:latin typeface="+mn-lt"/>
              </a:rPr>
              <a:t>.</a:t>
            </a:r>
            <a:r>
              <a:rPr lang="en-US" sz="1200" dirty="0"/>
              <a:t> University of Chicago Press. </a:t>
            </a:r>
          </a:p>
        </p:txBody>
      </p:sp>
    </p:spTree>
    <p:extLst>
      <p:ext uri="{BB962C8B-B14F-4D97-AF65-F5344CB8AC3E}">
        <p14:creationId xmlns:p14="http://schemas.microsoft.com/office/powerpoint/2010/main" val="31496315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36A0790D-13A7-48FA-C7E4-B38AB4D4393F}"/>
              </a:ext>
            </a:extLst>
          </p:cNvPr>
          <p:cNvSpPr/>
          <p:nvPr/>
        </p:nvSpPr>
        <p:spPr>
          <a:xfrm>
            <a:off x="0" y="144347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Workshop 1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" name="Picture 5" descr="Man in elevator hi-res stock photography and images - Alamy">
            <a:extLst>
              <a:ext uri="{FF2B5EF4-FFF2-40B4-BE49-F238E27FC236}">
                <a16:creationId xmlns:a16="http://schemas.microsoft.com/office/drawing/2014/main" id="{A480E7CC-8093-75CA-9604-8A0D54436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37" y="951295"/>
            <a:ext cx="1764701" cy="1445697"/>
          </a:xfrm>
          <a:prstGeom prst="rect">
            <a:avLst/>
          </a:prstGeom>
        </p:spPr>
      </p:pic>
      <p:sp>
        <p:nvSpPr>
          <p:cNvPr id="8" name="ZoneTexte 29">
            <a:extLst>
              <a:ext uri="{FF2B5EF4-FFF2-40B4-BE49-F238E27FC236}">
                <a16:creationId xmlns:a16="http://schemas.microsoft.com/office/drawing/2014/main" id="{AE518F56-6AB0-0F2A-4364-E0D986B13906}"/>
              </a:ext>
            </a:extLst>
          </p:cNvPr>
          <p:cNvSpPr/>
          <p:nvPr/>
        </p:nvSpPr>
        <p:spPr>
          <a:xfrm>
            <a:off x="-85917" y="2714126"/>
            <a:ext cx="2877207" cy="4294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Why do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we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face the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door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when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waiting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 the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elevator</a:t>
            </a:r>
            <a:r>
              <a:rPr lang="fr-MA" sz="1100" b="1" dirty="0">
                <a:solidFill>
                  <a:schemeClr val="dk1"/>
                </a:solidFill>
                <a:latin typeface="Avenir Next LT Pro"/>
              </a:rPr>
              <a:t>?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" name="Picture 8" descr="Download Holding hands gently Image - Hands, Comfort, Trust | StockCake">
            <a:extLst>
              <a:ext uri="{FF2B5EF4-FFF2-40B4-BE49-F238E27FC236}">
                <a16:creationId xmlns:a16="http://schemas.microsoft.com/office/drawing/2014/main" id="{97828D2D-E1B9-A7B4-D600-828FBD1A49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0172" y="951295"/>
            <a:ext cx="1455355" cy="1455355"/>
          </a:xfrm>
          <a:prstGeom prst="rect">
            <a:avLst/>
          </a:prstGeom>
        </p:spPr>
      </p:pic>
      <p:sp>
        <p:nvSpPr>
          <p:cNvPr id="11" name="ZoneTexte 29">
            <a:extLst>
              <a:ext uri="{FF2B5EF4-FFF2-40B4-BE49-F238E27FC236}">
                <a16:creationId xmlns:a16="http://schemas.microsoft.com/office/drawing/2014/main" id="{69086FB3-EB9E-78CF-D8C4-146C1094541C}"/>
              </a:ext>
            </a:extLst>
          </p:cNvPr>
          <p:cNvSpPr/>
          <p:nvPr/>
        </p:nvSpPr>
        <p:spPr>
          <a:xfrm>
            <a:off x="2672255" y="2723784"/>
            <a:ext cx="2623480" cy="4294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Why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was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normal for men to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hold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hands in the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past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but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less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now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ZoneTexte 29">
            <a:extLst>
              <a:ext uri="{FF2B5EF4-FFF2-40B4-BE49-F238E27FC236}">
                <a16:creationId xmlns:a16="http://schemas.microsoft.com/office/drawing/2014/main" id="{CAD96E37-BF55-B112-48FE-91B9A5D5BB08}"/>
              </a:ext>
            </a:extLst>
          </p:cNvPr>
          <p:cNvSpPr/>
          <p:nvPr/>
        </p:nvSpPr>
        <p:spPr>
          <a:xfrm>
            <a:off x="5295735" y="2714126"/>
            <a:ext cx="2220311" cy="4294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Why are chairs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only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found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industrial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societies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Picture 16" descr="Witches &amp; Witchcraft | My Jewish Learning">
            <a:extLst>
              <a:ext uri="{FF2B5EF4-FFF2-40B4-BE49-F238E27FC236}">
                <a16:creationId xmlns:a16="http://schemas.microsoft.com/office/drawing/2014/main" id="{F9742661-FE89-831E-A3E7-FB008593AE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0055" y="1234087"/>
            <a:ext cx="1816484" cy="1210989"/>
          </a:xfrm>
          <a:prstGeom prst="rect">
            <a:avLst/>
          </a:prstGeom>
        </p:spPr>
      </p:pic>
      <p:sp>
        <p:nvSpPr>
          <p:cNvPr id="19" name="ZoneTexte 29">
            <a:extLst>
              <a:ext uri="{FF2B5EF4-FFF2-40B4-BE49-F238E27FC236}">
                <a16:creationId xmlns:a16="http://schemas.microsoft.com/office/drawing/2014/main" id="{7DE70D2F-89EF-C977-B4CF-497323742BA0}"/>
              </a:ext>
            </a:extLst>
          </p:cNvPr>
          <p:cNvSpPr/>
          <p:nvPr/>
        </p:nvSpPr>
        <p:spPr>
          <a:xfrm>
            <a:off x="7728141" y="2723784"/>
            <a:ext cx="2220311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Why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witchcraft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universal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ZoneTexte 29">
            <a:extLst>
              <a:ext uri="{FF2B5EF4-FFF2-40B4-BE49-F238E27FC236}">
                <a16:creationId xmlns:a16="http://schemas.microsoft.com/office/drawing/2014/main" id="{82189C4F-AB3F-7F88-104C-F4BBCB92C784}"/>
              </a:ext>
            </a:extLst>
          </p:cNvPr>
          <p:cNvSpPr/>
          <p:nvPr/>
        </p:nvSpPr>
        <p:spPr>
          <a:xfrm>
            <a:off x="0" y="3828222"/>
            <a:ext cx="10080625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1: Why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it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puzzling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?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ZoneTexte 29">
            <a:extLst>
              <a:ext uri="{FF2B5EF4-FFF2-40B4-BE49-F238E27FC236}">
                <a16:creationId xmlns:a16="http://schemas.microsoft.com/office/drawing/2014/main" id="{C8FB4340-994E-B89F-FE47-07C8A1843344}"/>
              </a:ext>
            </a:extLst>
          </p:cNvPr>
          <p:cNvSpPr/>
          <p:nvPr/>
        </p:nvSpPr>
        <p:spPr>
          <a:xfrm>
            <a:off x="-1" y="4298489"/>
            <a:ext cx="10080625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100" b="1" dirty="0">
                <a:solidFill>
                  <a:schemeClr val="dk1"/>
                </a:solidFill>
                <a:latin typeface="Avenir Next LT Pro"/>
              </a:rPr>
              <a:t>2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: Propose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various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explanations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and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think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about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their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underlying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assumptions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ZoneTexte 29">
            <a:extLst>
              <a:ext uri="{FF2B5EF4-FFF2-40B4-BE49-F238E27FC236}">
                <a16:creationId xmlns:a16="http://schemas.microsoft.com/office/drawing/2014/main" id="{6DB59AC4-5D81-95D0-991A-52FDEA827DF6}"/>
              </a:ext>
            </a:extLst>
          </p:cNvPr>
          <p:cNvSpPr/>
          <p:nvPr/>
        </p:nvSpPr>
        <p:spPr>
          <a:xfrm>
            <a:off x="0" y="4773041"/>
            <a:ext cx="10080625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3: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Think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about « 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predictions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 » (if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my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explanation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is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true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,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what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should</a:t>
            </a:r>
            <a:r>
              <a:rPr lang="fr-MA" sz="11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 observe in </a:t>
            </a:r>
            <a:r>
              <a:rPr lang="fr-MA" sz="1100" b="1" u="none" strike="noStrike">
                <a:solidFill>
                  <a:schemeClr val="dk1"/>
                </a:solidFill>
                <a:effectLst/>
                <a:uFillTx/>
                <a:latin typeface="Avenir Next LT Pro"/>
              </a:rPr>
              <a:t>the world?)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Picture 2" descr="All Americana Solid Oak Chair by Community Options | Chairs | Worthington  Direct">
            <a:extLst>
              <a:ext uri="{FF2B5EF4-FFF2-40B4-BE49-F238E27FC236}">
                <a16:creationId xmlns:a16="http://schemas.microsoft.com/office/drawing/2014/main" id="{6ECF518C-4D5C-B6E5-2009-A96B5F0A9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0328" y="1002118"/>
            <a:ext cx="1674925" cy="1674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05374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7EBA89CD-36AA-9EE6-88D9-75EE23DFE24B}"/>
              </a:ext>
            </a:extLst>
          </p:cNvPr>
          <p:cNvSpPr/>
          <p:nvPr/>
        </p:nvSpPr>
        <p:spPr>
          <a:xfrm>
            <a:off x="1" y="602111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Skill 1: « 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Sociological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wonder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 »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C325E509-9E14-2525-52C6-E9B0AF945BB9}"/>
              </a:ext>
            </a:extLst>
          </p:cNvPr>
          <p:cNvSpPr/>
          <p:nvPr/>
        </p:nvSpPr>
        <p:spPr>
          <a:xfrm>
            <a:off x="1" y="1089247"/>
            <a:ext cx="1008062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The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capacity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be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puzzled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by society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" name="Picture 7" descr="Pierre Bourdieu — Wikipédia">
            <a:extLst>
              <a:ext uri="{FF2B5EF4-FFF2-40B4-BE49-F238E27FC236}">
                <a16:creationId xmlns:a16="http://schemas.microsoft.com/office/drawing/2014/main" id="{E9093D74-1083-4569-4BD3-9A86EA3BB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878" y="1970432"/>
            <a:ext cx="1469571" cy="2120895"/>
          </a:xfrm>
          <a:prstGeom prst="rect">
            <a:avLst/>
          </a:prstGeom>
        </p:spPr>
      </p:pic>
      <p:sp>
        <p:nvSpPr>
          <p:cNvPr id="10" name="ZoneTexte 29">
            <a:extLst>
              <a:ext uri="{FF2B5EF4-FFF2-40B4-BE49-F238E27FC236}">
                <a16:creationId xmlns:a16="http://schemas.microsoft.com/office/drawing/2014/main" id="{E9F2E5A6-275D-BAEE-1F1B-F49A3A660882}"/>
              </a:ext>
            </a:extLst>
          </p:cNvPr>
          <p:cNvSpPr/>
          <p:nvPr/>
        </p:nvSpPr>
        <p:spPr>
          <a:xfrm>
            <a:off x="623206" y="4244204"/>
            <a:ext cx="2079173" cy="4294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Pierre Bourdieu: « sociologie du dévoilement »</a:t>
            </a:r>
            <a:endParaRPr lang="fr-FR" sz="11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Picture 10" descr="Amazon.fr - La Civilisation des moeurs, nouvelle édition - Elias, Norbert,  Kamnitzer, Pierre - Livres">
            <a:extLst>
              <a:ext uri="{FF2B5EF4-FFF2-40B4-BE49-F238E27FC236}">
                <a16:creationId xmlns:a16="http://schemas.microsoft.com/office/drawing/2014/main" id="{E6D363D6-97C0-3402-D0FC-7E113856F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004" y="1970432"/>
            <a:ext cx="1444330" cy="2120895"/>
          </a:xfrm>
          <a:prstGeom prst="rect">
            <a:avLst/>
          </a:prstGeom>
        </p:spPr>
      </p:pic>
      <p:sp>
        <p:nvSpPr>
          <p:cNvPr id="13" name="ZoneTexte 29">
            <a:extLst>
              <a:ext uri="{FF2B5EF4-FFF2-40B4-BE49-F238E27FC236}">
                <a16:creationId xmlns:a16="http://schemas.microsoft.com/office/drawing/2014/main" id="{8ACC4398-2A56-4623-50FC-E11748FA24A5}"/>
              </a:ext>
            </a:extLst>
          </p:cNvPr>
          <p:cNvSpPr/>
          <p:nvPr/>
        </p:nvSpPr>
        <p:spPr>
          <a:xfrm>
            <a:off x="3445328" y="4244204"/>
            <a:ext cx="2079173" cy="4294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Norbert Elias: « </a:t>
            </a:r>
            <a:r>
              <a:rPr lang="fr-MA" sz="11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Civilization</a:t>
            </a:r>
            <a:r>
              <a:rPr lang="fr-MA" sz="11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process »</a:t>
            </a:r>
            <a:endParaRPr lang="fr-FR" sz="11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Picture 14" descr="Amazon.com: Sex and Temperament: 9780688060169: Mead, Margaret: Books">
            <a:extLst>
              <a:ext uri="{FF2B5EF4-FFF2-40B4-BE49-F238E27FC236}">
                <a16:creationId xmlns:a16="http://schemas.microsoft.com/office/drawing/2014/main" id="{D697229C-6FF7-7897-2334-207CDE616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307" y="1711666"/>
            <a:ext cx="1733550" cy="2638425"/>
          </a:xfrm>
          <a:prstGeom prst="rect">
            <a:avLst/>
          </a:prstGeom>
        </p:spPr>
      </p:pic>
      <p:sp>
        <p:nvSpPr>
          <p:cNvPr id="17" name="ZoneTexte 29">
            <a:extLst>
              <a:ext uri="{FF2B5EF4-FFF2-40B4-BE49-F238E27FC236}">
                <a16:creationId xmlns:a16="http://schemas.microsoft.com/office/drawing/2014/main" id="{2FCF16D5-82E3-CEE3-E37E-99239EB920EB}"/>
              </a:ext>
            </a:extLst>
          </p:cNvPr>
          <p:cNvSpPr/>
          <p:nvPr/>
        </p:nvSpPr>
        <p:spPr>
          <a:xfrm>
            <a:off x="6965495" y="4458920"/>
            <a:ext cx="2079173" cy="4294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1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Margaret Mead: the </a:t>
            </a:r>
            <a:r>
              <a:rPr lang="fr-MA" sz="11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variability</a:t>
            </a:r>
            <a:r>
              <a:rPr lang="fr-MA" sz="11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of </a:t>
            </a:r>
            <a:r>
              <a:rPr lang="fr-MA" sz="11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gender</a:t>
            </a:r>
            <a:r>
              <a:rPr lang="fr-MA" sz="11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1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roles</a:t>
            </a:r>
            <a:endParaRPr lang="fr-FR" sz="11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018267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A2477937-B4FC-176E-1038-910C5DC495D9}"/>
              </a:ext>
            </a:extLst>
          </p:cNvPr>
          <p:cNvSpPr/>
          <p:nvPr/>
        </p:nvSpPr>
        <p:spPr>
          <a:xfrm>
            <a:off x="0" y="144347"/>
            <a:ext cx="1008062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Workshop 2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58026C39-1AFA-BFDB-F33C-97AAD2C3BBC4}"/>
              </a:ext>
            </a:extLst>
          </p:cNvPr>
          <p:cNvSpPr/>
          <p:nvPr/>
        </p:nvSpPr>
        <p:spPr>
          <a:xfrm>
            <a:off x="175340" y="2085476"/>
            <a:ext cx="2877207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Love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ZoneTexte 29">
            <a:extLst>
              <a:ext uri="{FF2B5EF4-FFF2-40B4-BE49-F238E27FC236}">
                <a16:creationId xmlns:a16="http://schemas.microsoft.com/office/drawing/2014/main" id="{50BFB973-6103-7B61-FAEF-F0BE923DF30A}"/>
              </a:ext>
            </a:extLst>
          </p:cNvPr>
          <p:cNvSpPr/>
          <p:nvPr/>
        </p:nvSpPr>
        <p:spPr>
          <a:xfrm>
            <a:off x="2083062" y="2085476"/>
            <a:ext cx="2877207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Death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ZoneTexte 29">
            <a:extLst>
              <a:ext uri="{FF2B5EF4-FFF2-40B4-BE49-F238E27FC236}">
                <a16:creationId xmlns:a16="http://schemas.microsoft.com/office/drawing/2014/main" id="{AC2DC999-EEC2-7D06-3682-6810D43A89C1}"/>
              </a:ext>
            </a:extLst>
          </p:cNvPr>
          <p:cNvSpPr/>
          <p:nvPr/>
        </p:nvSpPr>
        <p:spPr>
          <a:xfrm>
            <a:off x="4301027" y="2085475"/>
            <a:ext cx="2877207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Illness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ZoneTexte 29">
            <a:extLst>
              <a:ext uri="{FF2B5EF4-FFF2-40B4-BE49-F238E27FC236}">
                <a16:creationId xmlns:a16="http://schemas.microsoft.com/office/drawing/2014/main" id="{64B7C408-157D-EF9A-EF74-EB8AA78CC9AA}"/>
              </a:ext>
            </a:extLst>
          </p:cNvPr>
          <p:cNvSpPr/>
          <p:nvPr/>
        </p:nvSpPr>
        <p:spPr>
          <a:xfrm>
            <a:off x="6867991" y="2085474"/>
            <a:ext cx="2877207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Guilt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2825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29">
            <a:extLst>
              <a:ext uri="{FF2B5EF4-FFF2-40B4-BE49-F238E27FC236}">
                <a16:creationId xmlns:a16="http://schemas.microsoft.com/office/drawing/2014/main" id="{572E376F-EE96-FFA3-DDEC-D9828B8AA23B}"/>
              </a:ext>
            </a:extLst>
          </p:cNvPr>
          <p:cNvSpPr/>
          <p:nvPr/>
        </p:nvSpPr>
        <p:spPr>
          <a:xfrm>
            <a:off x="1" y="602111"/>
            <a:ext cx="10080624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Skill 2: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See</a:t>
            </a:r>
            <a:r>
              <a:rPr lang="fr-MA" sz="2000" b="1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the social </a:t>
            </a:r>
            <a:r>
              <a:rPr lang="fr-MA" sz="2000" b="1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everywhere</a:t>
            </a:r>
            <a:endParaRPr lang="fr-F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ZoneTexte 29">
            <a:extLst>
              <a:ext uri="{FF2B5EF4-FFF2-40B4-BE49-F238E27FC236}">
                <a16:creationId xmlns:a16="http://schemas.microsoft.com/office/drawing/2014/main" id="{CA4FBF67-C85A-1E56-35FF-7DBECAE3CBBB}"/>
              </a:ext>
            </a:extLst>
          </p:cNvPr>
          <p:cNvSpPr/>
          <p:nvPr/>
        </p:nvSpPr>
        <p:spPr>
          <a:xfrm>
            <a:off x="1" y="1089247"/>
            <a:ext cx="10080624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The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capacity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to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identify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social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mechanisms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even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in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intimate</a:t>
            </a:r>
            <a:r>
              <a:rPr lang="fr-MA" sz="1600" u="none" strike="noStrike" dirty="0">
                <a:solidFill>
                  <a:schemeClr val="dk1"/>
                </a:solidFill>
                <a:effectLst/>
                <a:uFillTx/>
                <a:latin typeface="Avenir Next LT Pro"/>
              </a:rPr>
              <a:t> </a:t>
            </a:r>
            <a:r>
              <a:rPr lang="fr-MA" sz="1600" u="none" strike="noStrike" dirty="0" err="1">
                <a:solidFill>
                  <a:schemeClr val="dk1"/>
                </a:solidFill>
                <a:effectLst/>
                <a:uFillTx/>
                <a:latin typeface="Avenir Next LT Pro"/>
              </a:rPr>
              <a:t>behavior</a:t>
            </a:r>
            <a:endParaRPr lang="fr-FR" sz="16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" name="Picture 8" descr="Le suicide | PUF">
            <a:extLst>
              <a:ext uri="{FF2B5EF4-FFF2-40B4-BE49-F238E27FC236}">
                <a16:creationId xmlns:a16="http://schemas.microsoft.com/office/drawing/2014/main" id="{F265EF0B-D1B9-1F2C-E683-B642D5996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8752" y="2390283"/>
            <a:ext cx="1763120" cy="267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1933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>
            <a:extLst>
              <a:ext uri="{FF2B5EF4-FFF2-40B4-BE49-F238E27FC236}">
                <a16:creationId xmlns:a16="http://schemas.microsoft.com/office/drawing/2014/main" id="{E8139946-F1DE-9CA8-CD5D-A144702DE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455" y="2154775"/>
            <a:ext cx="9263714" cy="673121"/>
          </a:xfrm>
          <a:prstGeom prst="rect">
            <a:avLst/>
          </a:prstGeom>
          <a:noFill/>
          <a:ln w="0">
            <a:noFill/>
          </a:ln>
        </p:spPr>
        <p:txBody>
          <a:bodyPr lIns="0" tIns="158484" rIns="0" bIns="0" anchor="t">
            <a:spAutoFit/>
          </a:bodyPr>
          <a:lstStyle/>
          <a:p>
            <a:pPr marL="2925970">
              <a:lnSpc>
                <a:spcPct val="100000"/>
              </a:lnSpc>
              <a:spcBef>
                <a:spcPts val="63"/>
              </a:spcBef>
            </a:pPr>
            <a:r>
              <a:rPr lang="fr-FR" sz="3334" b="1" dirty="0">
                <a:solidFill>
                  <a:schemeClr val="dk1"/>
                </a:solidFill>
                <a:latin typeface="Arial"/>
              </a:rPr>
              <a:t>Weekly Journal</a:t>
            </a:r>
            <a:endParaRPr lang="fr-FR" sz="3334" dirty="0"/>
          </a:p>
        </p:txBody>
      </p:sp>
    </p:spTree>
    <p:extLst>
      <p:ext uri="{BB962C8B-B14F-4D97-AF65-F5344CB8AC3E}">
        <p14:creationId xmlns:p14="http://schemas.microsoft.com/office/powerpoint/2010/main" val="40907512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nalisé 3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5E5E5E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1621</TotalTime>
  <Words>2636</Words>
  <Application>Microsoft Office PowerPoint</Application>
  <PresentationFormat>Custom</PresentationFormat>
  <Paragraphs>305</Paragraphs>
  <Slides>59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59</vt:i4>
      </vt:variant>
    </vt:vector>
  </HeadingPairs>
  <TitlesOfParts>
    <vt:vector size="72" baseType="lpstr">
      <vt:lpstr>Arial</vt:lpstr>
      <vt:lpstr>Arial MT</vt:lpstr>
      <vt:lpstr>Avenir Next LT Pro</vt:lpstr>
      <vt:lpstr>Calibri</vt:lpstr>
      <vt:lpstr>OpenSymbol</vt:lpstr>
      <vt:lpstr>Segoe UI Emoji</vt:lpstr>
      <vt:lpstr>Symbol</vt:lpstr>
      <vt:lpstr>Times New Roman</vt:lpstr>
      <vt:lpstr>Trebuchet MS</vt:lpstr>
      <vt:lpstr>Wingdings</vt:lpstr>
      <vt:lpstr>Office</vt:lpstr>
      <vt:lpstr>Thème Office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does it mean to do social science? as opposed to just “talking about society”?</vt:lpstr>
      <vt:lpstr>PowerPoint Presentation</vt:lpstr>
      <vt:lpstr>The scientific method</vt:lpstr>
      <vt:lpstr>The scientific method</vt:lpstr>
      <vt:lpstr>Ignoring “folk-theories”</vt:lpstr>
      <vt:lpstr>Ignoring “folk-theories”</vt:lpstr>
      <vt:lpstr>Ignoring “folk-theories”</vt:lpstr>
      <vt:lpstr>Science can yield counter-intuitive results</vt:lpstr>
      <vt:lpstr>Axiologic neutrality</vt:lpstr>
      <vt:lpstr>Descriptive claims ≠ Normative claims</vt:lpstr>
      <vt:lpstr>Descriptive claims ≠ Normative claims</vt:lpstr>
      <vt:lpstr>Descriptive claims ≠ Normative claims</vt:lpstr>
      <vt:lpstr>Methods in social science</vt:lpstr>
      <vt:lpstr>Quantitative methods</vt:lpstr>
      <vt:lpstr>Quantitative methods</vt:lpstr>
      <vt:lpstr>PowerPoint Presentation</vt:lpstr>
      <vt:lpstr>PowerPoint Presentation</vt:lpstr>
      <vt:lpstr>Quantitative methods</vt:lpstr>
      <vt:lpstr>Quantitative methods</vt:lpstr>
      <vt:lpstr>PowerPoint Presentation</vt:lpstr>
      <vt:lpstr>PowerPoint Presentation</vt:lpstr>
      <vt:lpstr>PowerPoint Presentation</vt:lpstr>
      <vt:lpstr>PowerPoint Presentation</vt:lpstr>
      <vt:lpstr>Problem: descriptive data says little about causality</vt:lpstr>
      <vt:lpstr>Quantitative methods</vt:lpstr>
      <vt:lpstr>Quantitative methods</vt:lpstr>
      <vt:lpstr>Quantitative methods</vt:lpstr>
      <vt:lpstr>Qualitative methods</vt:lpstr>
      <vt:lpstr>Qualitative methods</vt:lpstr>
      <vt:lpstr>Mathematical Models</vt:lpstr>
      <vt:lpstr>Mathematical Models</vt:lpstr>
      <vt:lpstr>Mathematical Models</vt:lpstr>
      <vt:lpstr>Mathematical Models</vt:lpstr>
      <vt:lpstr>These methods are used in all disciplines, but each discipline has more predominant approaches</vt:lpstr>
      <vt:lpstr>Theoretical paradigms in social sciences</vt:lpstr>
      <vt:lpstr>It is common to distinguish two broad ‘families’ of paradigms (although the distinction is somewhat artificial!)</vt:lpstr>
      <vt:lpstr>A typical individualist or (“agentic”) paradigm: Rational Choice Theory</vt:lpstr>
      <vt:lpstr>Rational Choice Theory</vt:lpstr>
      <vt:lpstr>Rational Choice Theory</vt:lpstr>
      <vt:lpstr>Rational Choice Theory (RCT)</vt:lpstr>
      <vt:lpstr>A typically holistic paradigm: Durkheimian social facts</vt:lpstr>
      <vt:lpstr>A typically holistic paradigm: Durkheimian social facts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Weekly Journal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Amine Sijilmassi</dc:creator>
  <dc:description/>
  <cp:lastModifiedBy>Amine SIJILMASSI</cp:lastModifiedBy>
  <cp:revision>10</cp:revision>
  <dcterms:created xsi:type="dcterms:W3CDTF">2026-09-01T15:59:19Z</dcterms:created>
  <dcterms:modified xsi:type="dcterms:W3CDTF">2026-09-03T08:33:29Z</dcterms:modified>
  <dc:language>fr-FR</dc:language>
</cp:coreProperties>
</file>