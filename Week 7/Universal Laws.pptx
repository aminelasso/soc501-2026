
<file path=[Content_Types].xml><?xml version="1.0" encoding="utf-8"?>
<Types xmlns="http://schemas.openxmlformats.org/package/2006/content-types">
  <Default Extension="jpeg" ContentType="image/jpeg"/>
  <Default Extension="jpg" ContentType="image/jpeg"/>
  <Default Extension="jpg&amp;f=1&amp;nofb=1&amp;ipt=c9745f407c10f7747cd99adc95e90ea6884cf8a287678280556b2389d27366c8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58" r:id="rId3"/>
    <p:sldId id="260" r:id="rId4"/>
    <p:sldId id="261" r:id="rId5"/>
    <p:sldId id="262" r:id="rId6"/>
    <p:sldId id="493" r:id="rId7"/>
    <p:sldId id="501" r:id="rId8"/>
    <p:sldId id="502" r:id="rId9"/>
    <p:sldId id="498" r:id="rId10"/>
    <p:sldId id="499" r:id="rId11"/>
    <p:sldId id="500" r:id="rId12"/>
    <p:sldId id="259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9E9C75-9853-4FEB-98AC-FB1112E07C41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C68CA3-585B-4A55-BA4A-95124A88B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555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Shape 40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02" name="Shape 4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pPr>
              <a:defRPr b="0"/>
            </a:pPr>
            <a:r>
              <a:rPr b="1"/>
              <a:t>Amine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5824C-3D40-7A37-8239-336EB4A27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0FDBDC-BE01-AC6A-318E-E4970F654C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A7CBF-877A-67AE-DC4B-810D89E7B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7B32-DB6D-46C1-A1D3-8F7311FF0796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9BC1D-9CA6-391E-74B8-93B1C8779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AFA74-0C55-AA95-17F9-95BC1675B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6D511-24E3-4815-9D75-5835A1ACB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51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784F-DDE7-9362-5290-B78D87FB9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34EB0-B057-BCB0-FCBF-EE33781FF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D9720-6831-2423-5D56-27A9A3A2D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7B32-DB6D-46C1-A1D3-8F7311FF0796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AED1F-AF97-1E0F-7359-B53B60D9A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EA559-BD22-AC17-168D-DBAB86A2E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6D511-24E3-4815-9D75-5835A1ACB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345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D31D0-F5DC-9D63-01D3-A1ACEDB47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B600C-3C9E-D074-4F20-08B96FC49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4AC59-5F85-66F6-1ECB-C244058D8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7B32-DB6D-46C1-A1D3-8F7311FF0796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BC37B-7041-70F2-E60C-C81161B39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40E58-048C-8AB6-24E8-66F1F9AE7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6D511-24E3-4815-9D75-5835A1ACB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065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614D6-C3D3-B431-C3B6-01670D256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BC79E-9F23-2933-1474-65E48955AF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4386DC-58A4-A932-7DD8-8246254D3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9E9036-5498-9A92-9790-2E3B68FEF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7B32-DB6D-46C1-A1D3-8F7311FF0796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B4C19-DA7D-8C47-896A-AB80CE405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6E87DA-5779-A10A-D219-8DE6F1AA9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6D511-24E3-4815-9D75-5835A1ACB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153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46D80-8C1D-9629-4548-15B2B8473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7DF63-C845-6FF5-6C5F-418A37DDD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E2300-5287-BA75-49CC-BF0352782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6A5D7D-DD6D-B54F-BD05-20B89289C2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EB8115-7619-100F-A638-AA5B7B99C5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14AAD5-B8DD-620A-2F5A-5901B8A93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7B32-DB6D-46C1-A1D3-8F7311FF0796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815B6B-8E85-A6A4-8D7E-8342E0758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1F9F56-D2BA-4A54-2F6F-3B2712B1D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6D511-24E3-4815-9D75-5835A1ACB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99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DE5C9-6776-F350-B727-6EA74F8DB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EC7BEF-B34A-2EDF-3155-94A03E102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7B32-DB6D-46C1-A1D3-8F7311FF0796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709E83-ABC9-31C2-7C72-17CE430AE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724F78-D914-BEA0-073F-81264E015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6D511-24E3-4815-9D75-5835A1ACB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300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035FD0-8EED-3B11-3FF2-80E851EF0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7B32-DB6D-46C1-A1D3-8F7311FF0796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A9A2C0-C5AB-B531-90A4-FCC51648D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74BC4-0B16-FCE9-52C6-0CE9BEE92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6D511-24E3-4815-9D75-5835A1ACB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54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57EFF-D43E-3027-2604-13815E808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A8B04-0DFC-AE08-AFCF-F64FB39B5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8C73B5-A3E1-118E-9700-E126C8127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4C0C95-331B-9197-F84C-F5C176C96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7B32-DB6D-46C1-A1D3-8F7311FF0796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EFAA4-60F8-B904-084F-8FED452E4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76D7E4-BEB2-A0B8-0FD2-010B79B4A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6D511-24E3-4815-9D75-5835A1ACB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391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974DF-0333-E455-B8BA-D1AC93C18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39667F-AAF9-E7AD-B37D-0C5EE194FF8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EF36C0-14EC-1B1B-7961-B25DE7AC3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6AC951-F4EE-B4F1-BE41-E3709F035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7B32-DB6D-46C1-A1D3-8F7311FF0796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ADA31-27C7-7E30-1215-B1FE0A061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92D0FE-EC2A-1F95-290E-6E14059F2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6D511-24E3-4815-9D75-5835A1ACB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483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650E9-B428-C7CB-BD03-BED046AEE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92CFCF-7B6B-E077-0D7D-D6D4F60B7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1F09E-E240-D674-0BEE-53410A97E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7B32-DB6D-46C1-A1D3-8F7311FF0796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BFC4C-AB71-3468-EC4E-5E23105F0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18BBC-5AF4-8E47-1FA9-108EC4BEE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6D511-24E3-4815-9D75-5835A1ACB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81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D2DD5A-37CE-1F64-AC04-61EE49E3A4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016C2D-6612-185C-B817-F8985530E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B6131-39C0-09D1-B792-FD2EC1EA1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7B32-DB6D-46C1-A1D3-8F7311FF0796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95E4C-62D0-8414-C4AC-330D60408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F4248-64C5-313C-C9BA-A48727ED2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6D511-24E3-4815-9D75-5835A1ACB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8158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Diapositive de tit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dt" idx="4"/>
          </p:nvPr>
        </p:nvSpPr>
        <p:spPr>
          <a:xfrm>
            <a:off x="837712" y="6355770"/>
            <a:ext cx="2742595" cy="36485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105875">
              <a:lnSpc>
                <a:spcPct val="100000"/>
              </a:lnSpc>
              <a:buNone/>
              <a:defRPr lang="fr-MA" sz="1451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r>
              <a:rPr lang="en-US"/>
              <a:t>&lt;date/heure&gt;</a:t>
            </a:r>
            <a:endParaRPr lang="en-US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ftr" idx="5"/>
          </p:nvPr>
        </p:nvSpPr>
        <p:spPr>
          <a:xfrm>
            <a:off x="4037914" y="6355770"/>
            <a:ext cx="4114109" cy="36485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693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r>
              <a:rPr lang="en-US"/>
              <a:t>&lt;pied de page&gt;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sldNum" idx="6"/>
          </p:nvPr>
        </p:nvSpPr>
        <p:spPr>
          <a:xfrm>
            <a:off x="8609631" y="6355770"/>
            <a:ext cx="2742595" cy="36485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105875">
              <a:lnSpc>
                <a:spcPct val="100000"/>
              </a:lnSpc>
              <a:buNone/>
              <a:defRPr lang="fr-MA" sz="1451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fld id="{AB19D96C-F57F-4CBA-B8E6-BFA21FFAB019}" type="slidenum">
              <a:rPr lang="en-US" smtClean="0"/>
              <a:pPr/>
              <a:t>‹#›</a:t>
            </a:fld>
            <a:endParaRPr lang="en-US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title"/>
          </p:nvPr>
        </p:nvSpPr>
        <p:spPr>
          <a:xfrm>
            <a:off x="609127" y="273422"/>
            <a:ext cx="10971684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1105875">
              <a:lnSpc>
                <a:spcPct val="90000"/>
              </a:lnSpc>
              <a:buNone/>
              <a:defRPr lang="fr-FR" sz="4402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fr-FR" sz="4402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Cliquez pour éditer le format du texte-titre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609127" y="1603963"/>
            <a:ext cx="10971684" cy="39768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276469" indent="-276469" algn="l" defTabSz="1105875">
              <a:lnSpc>
                <a:spcPct val="90000"/>
              </a:lnSpc>
              <a:spcBef>
                <a:spcPts val="998"/>
              </a:spcBef>
              <a:buClr>
                <a:srgbClr val="000000"/>
              </a:buClr>
              <a:buFont typeface="Arial"/>
              <a:buChar char="•"/>
              <a:defRPr lang="fr-FR" sz="2794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  <a:lvl2pPr lvl="1" algn="l" defTabSz="1105875">
              <a:lnSpc>
                <a:spcPct val="90000"/>
              </a:lnSpc>
              <a:spcBef>
                <a:spcPts val="49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393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2pPr>
            <a:lvl3pPr lvl="2" algn="l" defTabSz="1105875">
              <a:lnSpc>
                <a:spcPct val="90000"/>
              </a:lnSpc>
              <a:spcBef>
                <a:spcPts val="49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996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3pPr>
            <a:lvl4pPr lvl="3" algn="l" defTabSz="1105875">
              <a:lnSpc>
                <a:spcPct val="90000"/>
              </a:lnSpc>
              <a:spcBef>
                <a:spcPts val="49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802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4pPr>
            <a:lvl5pPr lvl="4" algn="l" defTabSz="1105875">
              <a:lnSpc>
                <a:spcPct val="90000"/>
              </a:lnSpc>
              <a:spcBef>
                <a:spcPts val="49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2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5pPr>
            <a:lvl6pPr lvl="5" algn="l" defTabSz="1105875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996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6pPr>
            <a:lvl7pPr lvl="6" algn="l" defTabSz="1105875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996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825"/>
              </a:spcBef>
              <a:buClr>
                <a:srgbClr val="000000"/>
              </a:buClr>
              <a:buFont typeface="Arial"/>
              <a:buChar char="•"/>
            </a:pPr>
            <a:r>
              <a:rPr lang="fr-FR" sz="2794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Cliquez pour éditer le format du plan de texte</a:t>
            </a:r>
          </a:p>
          <a:p>
            <a:pPr marL="1044922" lvl="1" indent="-391846" algn="l" defTabSz="1105875">
              <a:lnSpc>
                <a:spcPct val="90000"/>
              </a:lnSpc>
              <a:spcBef>
                <a:spcPts val="49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393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Second niveau de plan</a:t>
            </a:r>
          </a:p>
          <a:p>
            <a:pPr marL="1567382" lvl="2" indent="-348307" algn="l" defTabSz="1105875">
              <a:lnSpc>
                <a:spcPct val="90000"/>
              </a:lnSpc>
              <a:spcBef>
                <a:spcPts val="49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996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Troisième niveau de plan</a:t>
            </a:r>
          </a:p>
          <a:p>
            <a:pPr marL="2089843" lvl="3" indent="-261230" algn="l" defTabSz="1105875">
              <a:lnSpc>
                <a:spcPct val="90000"/>
              </a:lnSpc>
              <a:spcBef>
                <a:spcPts val="49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2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Quatrième niveau de plan</a:t>
            </a:r>
          </a:p>
          <a:p>
            <a:pPr marL="2612304" lvl="4" indent="-261230" algn="l" defTabSz="1105875">
              <a:lnSpc>
                <a:spcPct val="90000"/>
              </a:lnSpc>
              <a:spcBef>
                <a:spcPts val="49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2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Cinquième niveau de plan</a:t>
            </a:r>
          </a:p>
          <a:p>
            <a:pPr marL="3134765" lvl="5" indent="-261230" algn="l" defTabSz="1105875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996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Sixième niveau de plan</a:t>
            </a:r>
          </a:p>
          <a:p>
            <a:pPr marL="3657226" lvl="6" indent="-261230" algn="l" defTabSz="1105875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996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Septième niveau de plan</a:t>
            </a:r>
          </a:p>
        </p:txBody>
      </p:sp>
    </p:spTree>
    <p:extLst>
      <p:ext uri="{BB962C8B-B14F-4D97-AF65-F5344CB8AC3E}">
        <p14:creationId xmlns:p14="http://schemas.microsoft.com/office/powerpoint/2010/main" val="28300571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eur et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670" y="5929931"/>
            <a:ext cx="10985502" cy="33295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31">
              <a:lnSpc>
                <a:spcPct val="100000"/>
              </a:lnSpc>
              <a:spcBef>
                <a:spcPts val="0"/>
              </a:spcBef>
              <a:buSzTx/>
              <a:buNone/>
              <a:defRPr sz="1800" b="1"/>
            </a:lvl1pPr>
          </a:lstStyle>
          <a:p>
            <a:r>
              <a:t>Auteur et date</a:t>
            </a:r>
          </a:p>
        </p:txBody>
      </p:sp>
      <p:sp>
        <p:nvSpPr>
          <p:cNvPr id="12" name="Titre de la présentation"/>
          <p:cNvSpPr txBox="1">
            <a:spLocks noGrp="1"/>
          </p:cNvSpPr>
          <p:nvPr>
            <p:ph type="title" hasCustomPrompt="1"/>
          </p:nvPr>
        </p:nvSpPr>
        <p:spPr>
          <a:xfrm>
            <a:off x="603248" y="2719089"/>
            <a:ext cx="10985502" cy="892509"/>
          </a:xfrm>
          <a:prstGeom prst="rect">
            <a:avLst/>
          </a:prstGeom>
        </p:spPr>
        <p:txBody>
          <a:bodyPr anchor="b"/>
          <a:lstStyle>
            <a:lvl1pPr>
              <a:defRPr sz="5800" spc="-116"/>
            </a:lvl1pPr>
          </a:lstStyle>
          <a:p>
            <a:r>
              <a:t>Titre de la présentation</a:t>
            </a:r>
          </a:p>
        </p:txBody>
      </p:sp>
      <p:sp>
        <p:nvSpPr>
          <p:cNvPr id="13" name="Texte niveau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0672" y="3611595"/>
            <a:ext cx="10985501" cy="2115986"/>
          </a:xfrm>
          <a:prstGeom prst="rect">
            <a:avLst/>
          </a:prstGeom>
        </p:spPr>
        <p:txBody>
          <a:bodyPr/>
          <a:lstStyle>
            <a:lvl1pPr marL="0" indent="0" defTabSz="412731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1pPr>
            <a:lvl2pPr marL="0" indent="228589" defTabSz="412731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2pPr>
            <a:lvl3pPr marL="0" indent="457179" defTabSz="412731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3pPr>
            <a:lvl4pPr marL="0" indent="685768" defTabSz="412731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4pPr>
            <a:lvl5pPr marL="0" indent="914358" defTabSz="412731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5pPr>
          </a:lstStyle>
          <a:p>
            <a:r>
              <a:t>Sous-titre de la présentation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01"/>
          <p:cNvSpPr txBox="1">
            <a:spLocks noGrp="1"/>
          </p:cNvSpPr>
          <p:nvPr>
            <p:ph type="sldNum" sz="quarter" idx="2"/>
          </p:nvPr>
        </p:nvSpPr>
        <p:spPr>
          <a:xfrm>
            <a:off x="8778241" y="6377941"/>
            <a:ext cx="2804160" cy="16797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8976524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39C7AA-EF21-3B03-D89E-E8810F503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D1C58C-E6EF-FCB8-EC70-AE0BADC35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AABBA-8041-A536-AA3B-EE85BA623C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F87B32-DB6D-46C1-A1D3-8F7311FF0796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9D691-4D39-778D-D10B-8A9DC1ED13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3EB03-4B41-BFE4-279B-5BD665EE5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A6D511-24E3-4815-9D75-5835A1ACB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067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&amp;f=1&amp;nofb=1&amp;ipt=c9745f407c10f7747cd99adc95e90ea6884cf8a287678280556b2389d27366c8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ZoneTexte 3"/>
          <p:cNvSpPr/>
          <p:nvPr/>
        </p:nvSpPr>
        <p:spPr>
          <a:xfrm>
            <a:off x="2131866" y="1959239"/>
            <a:ext cx="7926208" cy="14500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t">
            <a:spAutoFit/>
          </a:bodyPr>
          <a:lstStyle/>
          <a:p>
            <a:pPr algn="ctr" defTabSz="1105875"/>
            <a:r>
              <a:rPr lang="fr-MA" sz="4354" b="1" dirty="0">
                <a:solidFill>
                  <a:schemeClr val="dk1"/>
                </a:solidFill>
                <a:latin typeface="Avenir Next LT Pro"/>
              </a:rPr>
              <a:t>(SOC501) </a:t>
            </a:r>
            <a:r>
              <a:rPr lang="fr-MA" sz="4354" b="1" dirty="0" err="1">
                <a:solidFill>
                  <a:schemeClr val="dk1"/>
                </a:solidFill>
                <a:latin typeface="Avenir Next LT Pro"/>
              </a:rPr>
              <a:t>Sociology</a:t>
            </a:r>
            <a:r>
              <a:rPr lang="fr-MA" sz="4354" b="1" dirty="0">
                <a:solidFill>
                  <a:schemeClr val="dk1"/>
                </a:solidFill>
                <a:latin typeface="Avenir Next LT Pro"/>
              </a:rPr>
              <a:t>: Theory and Methods</a:t>
            </a:r>
            <a:endParaRPr lang="fr-FR" sz="4354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" name="Picture 2" descr="Université Mohammed VI Polytechnique — Wikipédia"/>
          <p:cNvPicPr/>
          <p:nvPr/>
        </p:nvPicPr>
        <p:blipFill>
          <a:blip r:embed="rId2"/>
          <a:stretch/>
        </p:blipFill>
        <p:spPr>
          <a:xfrm>
            <a:off x="9436778" y="0"/>
            <a:ext cx="2753383" cy="1879127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ZoneTexte 5"/>
          <p:cNvSpPr/>
          <p:nvPr/>
        </p:nvSpPr>
        <p:spPr>
          <a:xfrm>
            <a:off x="2131866" y="5484127"/>
            <a:ext cx="7926208" cy="407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t">
            <a:spAutoFit/>
          </a:bodyPr>
          <a:lstStyle/>
          <a:p>
            <a:pPr algn="ctr" defTabSz="1105875"/>
            <a:r>
              <a:rPr lang="fr-MA" sz="1935">
                <a:solidFill>
                  <a:schemeClr val="dk1"/>
                </a:solidFill>
                <a:latin typeface="Avenir Next LT Pro"/>
              </a:rPr>
              <a:t>Amine Sijilmassi</a:t>
            </a:r>
            <a:endParaRPr lang="fr-FR" sz="1935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ZoneTexte 6"/>
          <p:cNvSpPr/>
          <p:nvPr/>
        </p:nvSpPr>
        <p:spPr>
          <a:xfrm>
            <a:off x="214" y="4391742"/>
            <a:ext cx="12190382" cy="5566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t">
            <a:spAutoFit/>
          </a:bodyPr>
          <a:lstStyle/>
          <a:p>
            <a:pPr algn="ctr" defTabSz="1105875"/>
            <a:r>
              <a:rPr lang="fr-MA" sz="2903" dirty="0">
                <a:solidFill>
                  <a:schemeClr val="dk1"/>
                </a:solidFill>
                <a:latin typeface="Avenir Next LT Pro"/>
              </a:rPr>
              <a:t>Universal </a:t>
            </a:r>
            <a:r>
              <a:rPr lang="fr-MA" sz="2903" dirty="0" err="1">
                <a:solidFill>
                  <a:schemeClr val="dk1"/>
                </a:solidFill>
                <a:latin typeface="Avenir Next LT Pro"/>
              </a:rPr>
              <a:t>laws</a:t>
            </a:r>
            <a:r>
              <a:rPr lang="fr-MA" sz="2903" dirty="0">
                <a:solidFill>
                  <a:schemeClr val="dk1"/>
                </a:solidFill>
                <a:latin typeface="Avenir Next LT Pro"/>
              </a:rPr>
              <a:t> and </a:t>
            </a:r>
            <a:r>
              <a:rPr lang="fr-MA" sz="2903" dirty="0" err="1">
                <a:solidFill>
                  <a:schemeClr val="dk1"/>
                </a:solidFill>
                <a:latin typeface="Avenir Next LT Pro"/>
              </a:rPr>
              <a:t>context</a:t>
            </a:r>
            <a:endParaRPr lang="fr-FR" sz="2903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ZoneTexte 7"/>
          <p:cNvSpPr/>
          <p:nvPr/>
        </p:nvSpPr>
        <p:spPr>
          <a:xfrm>
            <a:off x="2131866" y="5822422"/>
            <a:ext cx="7926208" cy="407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t">
            <a:spAutoFit/>
          </a:bodyPr>
          <a:lstStyle/>
          <a:p>
            <a:pPr algn="ctr" defTabSz="1105875"/>
            <a:r>
              <a:rPr lang="fr-MA" sz="1935">
                <a:solidFill>
                  <a:schemeClr val="dk1"/>
                </a:solidFill>
                <a:latin typeface="Avenir Next LT Pro"/>
              </a:rPr>
              <a:t>amine.sijilmassi@um6p.ma</a:t>
            </a:r>
            <a:endParaRPr lang="fr-FR" sz="1935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9D6AB00E-D19B-113A-BE84-6D541C4A4A6F}"/>
              </a:ext>
            </a:extLst>
          </p:cNvPr>
          <p:cNvSpPr/>
          <p:nvPr/>
        </p:nvSpPr>
        <p:spPr>
          <a:xfrm>
            <a:off x="0" y="0"/>
            <a:ext cx="1197569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36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The </a:t>
            </a:r>
            <a:r>
              <a:rPr lang="fr-MA" sz="36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debate</a:t>
            </a:r>
            <a:endParaRPr lang="fr-FR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F71F3320-A31C-92A3-AEFB-94FF28875DB6}"/>
              </a:ext>
            </a:extLst>
          </p:cNvPr>
          <p:cNvSpPr/>
          <p:nvPr/>
        </p:nvSpPr>
        <p:spPr>
          <a:xfrm>
            <a:off x="0" y="953537"/>
            <a:ext cx="1197569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Are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there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general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law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s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in social science? Or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is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it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that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context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matters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too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much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: a social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law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in one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context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cannot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be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applied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in the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other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?  </a:t>
            </a:r>
            <a:endParaRPr lang="fr-FR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ZoneTexte 29">
            <a:extLst>
              <a:ext uri="{FF2B5EF4-FFF2-40B4-BE49-F238E27FC236}">
                <a16:creationId xmlns:a16="http://schemas.microsoft.com/office/drawing/2014/main" id="{E4514A57-08EB-E5AA-667A-F19CE9557563}"/>
              </a:ext>
            </a:extLst>
          </p:cNvPr>
          <p:cNvSpPr/>
          <p:nvPr/>
        </p:nvSpPr>
        <p:spPr>
          <a:xfrm>
            <a:off x="0" y="1887023"/>
            <a:ext cx="11975690" cy="9218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At first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sight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: social science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might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seem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like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it’s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leaning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heavily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towards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emphasizing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context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! In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fact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, one of the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founding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gestures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of social science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is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precisely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to show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that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what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feels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eternal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and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natural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actually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is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contextual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endParaRPr lang="fr-FR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" name="Picture 12" descr="Amazon.fr - La Civilisation des moeurs, nouvelle édition - Elias, Norbert,  Kamnitzer, Pierre - Livres">
            <a:extLst>
              <a:ext uri="{FF2B5EF4-FFF2-40B4-BE49-F238E27FC236}">
                <a16:creationId xmlns:a16="http://schemas.microsoft.com/office/drawing/2014/main" id="{CE0BA79B-ABD1-15CD-B177-C32415949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5666" y="2922766"/>
            <a:ext cx="1444330" cy="2120895"/>
          </a:xfrm>
          <a:prstGeom prst="rect">
            <a:avLst/>
          </a:prstGeom>
        </p:spPr>
      </p:pic>
      <p:sp>
        <p:nvSpPr>
          <p:cNvPr id="15" name="ZoneTexte 29">
            <a:extLst>
              <a:ext uri="{FF2B5EF4-FFF2-40B4-BE49-F238E27FC236}">
                <a16:creationId xmlns:a16="http://schemas.microsoft.com/office/drawing/2014/main" id="{AA5F6345-7E45-14E3-BDFF-6DB3167EE9C5}"/>
              </a:ext>
            </a:extLst>
          </p:cNvPr>
          <p:cNvSpPr/>
          <p:nvPr/>
        </p:nvSpPr>
        <p:spPr>
          <a:xfrm>
            <a:off x="6948244" y="5120027"/>
            <a:ext cx="2079173" cy="42943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11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Norbert Elias: « </a:t>
            </a:r>
            <a:r>
              <a:rPr lang="fr-MA" sz="11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Civilization</a:t>
            </a:r>
            <a:r>
              <a:rPr lang="fr-MA" sz="11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process »</a:t>
            </a:r>
            <a:endParaRPr lang="fr-FR" sz="11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Picture 16" descr="Amazon.com: Sex and Temperament: 9780688060169: Mead, Margaret: Books">
            <a:extLst>
              <a:ext uri="{FF2B5EF4-FFF2-40B4-BE49-F238E27FC236}">
                <a16:creationId xmlns:a16="http://schemas.microsoft.com/office/drawing/2014/main" id="{C7A24B88-69FE-2FDB-C4BE-016845A03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4630" y="2922766"/>
            <a:ext cx="1393513" cy="2120896"/>
          </a:xfrm>
          <a:prstGeom prst="rect">
            <a:avLst/>
          </a:prstGeom>
        </p:spPr>
      </p:pic>
      <p:sp>
        <p:nvSpPr>
          <p:cNvPr id="19" name="ZoneTexte 29">
            <a:extLst>
              <a:ext uri="{FF2B5EF4-FFF2-40B4-BE49-F238E27FC236}">
                <a16:creationId xmlns:a16="http://schemas.microsoft.com/office/drawing/2014/main" id="{3BBD6AC4-3C62-0F74-DF9B-BE9B05B68BBD}"/>
              </a:ext>
            </a:extLst>
          </p:cNvPr>
          <p:cNvSpPr/>
          <p:nvPr/>
        </p:nvSpPr>
        <p:spPr>
          <a:xfrm>
            <a:off x="9856179" y="5055214"/>
            <a:ext cx="2079173" cy="42943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11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Margaret Mead: the </a:t>
            </a:r>
            <a:r>
              <a:rPr lang="fr-MA" sz="11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variability</a:t>
            </a:r>
            <a:r>
              <a:rPr lang="fr-MA" sz="11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of </a:t>
            </a:r>
            <a:r>
              <a:rPr lang="fr-MA" sz="11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gender</a:t>
            </a:r>
            <a:r>
              <a:rPr lang="fr-MA" sz="11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11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roles</a:t>
            </a:r>
            <a:endParaRPr lang="fr-FR" sz="11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" name="Picture 19" descr="Amazon.com: L'enfant et la vie familiale sous l'ancien régime ...">
            <a:extLst>
              <a:ext uri="{FF2B5EF4-FFF2-40B4-BE49-F238E27FC236}">
                <a16:creationId xmlns:a16="http://schemas.microsoft.com/office/drawing/2014/main" id="{3520F121-5556-C031-1FC0-7BF4C75FEC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9672" y="2922766"/>
            <a:ext cx="1562368" cy="2343551"/>
          </a:xfrm>
          <a:prstGeom prst="rect">
            <a:avLst/>
          </a:prstGeom>
        </p:spPr>
      </p:pic>
      <p:sp>
        <p:nvSpPr>
          <p:cNvPr id="22" name="ZoneTexte 29">
            <a:extLst>
              <a:ext uri="{FF2B5EF4-FFF2-40B4-BE49-F238E27FC236}">
                <a16:creationId xmlns:a16="http://schemas.microsoft.com/office/drawing/2014/main" id="{62FB56CA-ABF0-090B-9C12-A83BF7C82824}"/>
              </a:ext>
            </a:extLst>
          </p:cNvPr>
          <p:cNvSpPr/>
          <p:nvPr/>
        </p:nvSpPr>
        <p:spPr>
          <a:xfrm>
            <a:off x="4461269" y="5304321"/>
            <a:ext cx="2079173" cy="260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11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Philippe Ariès</a:t>
            </a:r>
            <a:endParaRPr lang="fr-FR" sz="11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ZoneTexte 29">
            <a:extLst>
              <a:ext uri="{FF2B5EF4-FFF2-40B4-BE49-F238E27FC236}">
                <a16:creationId xmlns:a16="http://schemas.microsoft.com/office/drawing/2014/main" id="{BC56392F-FF52-334A-E0F8-C8E22C50A536}"/>
              </a:ext>
            </a:extLst>
          </p:cNvPr>
          <p:cNvSpPr/>
          <p:nvPr/>
        </p:nvSpPr>
        <p:spPr>
          <a:xfrm>
            <a:off x="0" y="5904463"/>
            <a:ext cx="1197569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Variability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can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even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serve as a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disciplinary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divide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where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social science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handles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« 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context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 »: e.g. the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sex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vs.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g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ender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distinction</a:t>
            </a:r>
            <a:endParaRPr lang="fr-FR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3027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911E5E-A2F0-06C1-B166-6E0445D5C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81" y="1254734"/>
            <a:ext cx="5121084" cy="5204911"/>
          </a:xfrm>
          <a:prstGeom prst="rect">
            <a:avLst/>
          </a:prstGeom>
        </p:spPr>
      </p:pic>
      <p:sp>
        <p:nvSpPr>
          <p:cNvPr id="7" name="ZoneTexte 29">
            <a:extLst>
              <a:ext uri="{FF2B5EF4-FFF2-40B4-BE49-F238E27FC236}">
                <a16:creationId xmlns:a16="http://schemas.microsoft.com/office/drawing/2014/main" id="{A516829C-6C14-6735-6AA5-C05D58694A86}"/>
              </a:ext>
            </a:extLst>
          </p:cNvPr>
          <p:cNvSpPr/>
          <p:nvPr/>
        </p:nvSpPr>
        <p:spPr>
          <a:xfrm>
            <a:off x="0" y="231207"/>
            <a:ext cx="1197569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NB: to a large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extent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, the « 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embededness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 » critique of Homo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Oeconomicus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are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contextual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critiques, in the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sense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that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they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highlight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that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the « 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decontextualized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 » rational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actor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either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doesn’t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exist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, or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is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itself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constructed</a:t>
            </a:r>
            <a:endParaRPr lang="fr-FR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97BECB-3271-5353-B9F0-70E21F89F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6065" y="1243302"/>
            <a:ext cx="6223190" cy="538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155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e raisonnement sociologique - Jean-Claude Passeron - Librairie Eyrolles">
            <a:extLst>
              <a:ext uri="{FF2B5EF4-FFF2-40B4-BE49-F238E27FC236}">
                <a16:creationId xmlns:a16="http://schemas.microsoft.com/office/drawing/2014/main" id="{A25801B2-A3CF-FBCC-7F87-AB954F4D7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856" y="855406"/>
            <a:ext cx="3397144" cy="5147188"/>
          </a:xfrm>
          <a:prstGeom prst="rect">
            <a:avLst/>
          </a:prstGeom>
        </p:spPr>
      </p:pic>
      <p:sp>
        <p:nvSpPr>
          <p:cNvPr id="6" name="ZoneTexte 29">
            <a:extLst>
              <a:ext uri="{FF2B5EF4-FFF2-40B4-BE49-F238E27FC236}">
                <a16:creationId xmlns:a16="http://schemas.microsoft.com/office/drawing/2014/main" id="{A6B62F10-74F5-3E73-546D-B8C8BB055BB2}"/>
              </a:ext>
            </a:extLst>
          </p:cNvPr>
          <p:cNvSpPr/>
          <p:nvPr/>
        </p:nvSpPr>
        <p:spPr>
          <a:xfrm>
            <a:off x="0" y="0"/>
            <a:ext cx="1197569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36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Passeron’s</a:t>
            </a:r>
            <a:r>
              <a:rPr lang="fr-MA" sz="36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arguments</a:t>
            </a:r>
            <a:endParaRPr lang="fr-FR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ZoneTexte 29">
            <a:extLst>
              <a:ext uri="{FF2B5EF4-FFF2-40B4-BE49-F238E27FC236}">
                <a16:creationId xmlns:a16="http://schemas.microsoft.com/office/drawing/2014/main" id="{42F7815B-670A-FE0B-0AE1-8FA145D18554}"/>
              </a:ext>
            </a:extLst>
          </p:cNvPr>
          <p:cNvSpPr/>
          <p:nvPr/>
        </p:nvSpPr>
        <p:spPr>
          <a:xfrm>
            <a:off x="0" y="953537"/>
            <a:ext cx="8794856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He starts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from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the standard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Popperian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definition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of science: a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statement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is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scientific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if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it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can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be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falsified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by observations. </a:t>
            </a:r>
            <a:endParaRPr lang="fr-FR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ZoneTexte 29">
            <a:extLst>
              <a:ext uri="{FF2B5EF4-FFF2-40B4-BE49-F238E27FC236}">
                <a16:creationId xmlns:a16="http://schemas.microsoft.com/office/drawing/2014/main" id="{39E15662-82F5-2445-94D2-F43A4C2968AA}"/>
              </a:ext>
            </a:extLst>
          </p:cNvPr>
          <p:cNvSpPr/>
          <p:nvPr/>
        </p:nvSpPr>
        <p:spPr>
          <a:xfrm>
            <a:off x="-1" y="1879651"/>
            <a:ext cx="9114503" cy="11988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He argues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that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sociology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is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not a science,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because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social science concepts are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contextual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and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historically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situated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.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Think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about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Bourdieu’s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theory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for inst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ance: « 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working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class », « 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school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system », « cultural capital »… are all concepts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that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only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make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sense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in Western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societies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in the 1960s. </a:t>
            </a:r>
            <a:endParaRPr lang="fr-FR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ZoneTexte 29">
            <a:extLst>
              <a:ext uri="{FF2B5EF4-FFF2-40B4-BE49-F238E27FC236}">
                <a16:creationId xmlns:a16="http://schemas.microsoft.com/office/drawing/2014/main" id="{ABFCFAAF-892D-3AEC-2E44-38947FDF27E2}"/>
              </a:ext>
            </a:extLst>
          </p:cNvPr>
          <p:cNvSpPr/>
          <p:nvPr/>
        </p:nvSpPr>
        <p:spPr>
          <a:xfrm>
            <a:off x="-2" y="3359763"/>
            <a:ext cx="9114503" cy="17528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Likewise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, the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observed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phenomena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are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contextual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, in the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sense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that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they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cannot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be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replicated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. 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E.g. « Schools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perpetuate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class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inequality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 ». You can observe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that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this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is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true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, but to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extract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a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general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law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,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you’d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need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to show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that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this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work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, for instance, in 2026 Italy, or 2000 Morocco. But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so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many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things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change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across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this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situation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that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making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the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same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observation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is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impossible (e.g.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maybe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the concept of « 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school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 », or of « class »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means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smth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completely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different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then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)</a:t>
            </a:r>
            <a:endParaRPr lang="fr-FR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ZoneTexte 29">
            <a:extLst>
              <a:ext uri="{FF2B5EF4-FFF2-40B4-BE49-F238E27FC236}">
                <a16:creationId xmlns:a16="http://schemas.microsoft.com/office/drawing/2014/main" id="{0B897048-8C5C-F174-04A5-A439EC90F946}"/>
              </a:ext>
            </a:extLst>
          </p:cNvPr>
          <p:cNvSpPr/>
          <p:nvPr/>
        </p:nvSpPr>
        <p:spPr>
          <a:xfrm>
            <a:off x="0" y="5323164"/>
            <a:ext cx="9114503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Because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refuting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universal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law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by observation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is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impossible,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then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sociology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cannot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be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 « science » in the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Popperian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sense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endParaRPr lang="fr-FR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ZoneTexte 29">
            <a:extLst>
              <a:ext uri="{FF2B5EF4-FFF2-40B4-BE49-F238E27FC236}">
                <a16:creationId xmlns:a16="http://schemas.microsoft.com/office/drawing/2014/main" id="{794E5687-A12A-E277-AF66-378A99E9A34F}"/>
              </a:ext>
            </a:extLst>
          </p:cNvPr>
          <p:cNvSpPr/>
          <p:nvPr/>
        </p:nvSpPr>
        <p:spPr>
          <a:xfrm>
            <a:off x="-3" y="6178570"/>
            <a:ext cx="9114503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Sociology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can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still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extract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patterns about a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specific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context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endParaRPr lang="fr-FR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4984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ASSERON, J-C., 1991 | De l'éthnologie vers l'archéologie">
            <a:extLst>
              <a:ext uri="{FF2B5EF4-FFF2-40B4-BE49-F238E27FC236}">
                <a16:creationId xmlns:a16="http://schemas.microsoft.com/office/drawing/2014/main" id="{10A8CFC7-2C0A-F6C8-4355-F84B2E29D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6667" y="654439"/>
            <a:ext cx="6504371" cy="514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71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E52C3-6AA2-F7DC-CDC1-1EFA364FA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811" y="2284369"/>
            <a:ext cx="10971684" cy="1144631"/>
          </a:xfrm>
        </p:spPr>
        <p:txBody>
          <a:bodyPr/>
          <a:lstStyle/>
          <a:p>
            <a:r>
              <a:rPr lang="fr-FR" b="1" dirty="0"/>
              <a:t>Example of </a:t>
            </a:r>
            <a:r>
              <a:rPr lang="fr-FR" b="1" dirty="0" err="1"/>
              <a:t>conceptual</a:t>
            </a:r>
            <a:r>
              <a:rPr lang="fr-FR" b="1" dirty="0"/>
              <a:t> </a:t>
            </a:r>
            <a:r>
              <a:rPr lang="fr-FR" b="1" dirty="0" err="1"/>
              <a:t>difficulty</a:t>
            </a:r>
            <a:r>
              <a:rPr lang="fr-FR" b="1" dirty="0"/>
              <a:t>: the </a:t>
            </a:r>
            <a:r>
              <a:rPr lang="fr-FR" b="1" dirty="0" err="1"/>
              <a:t>definition</a:t>
            </a:r>
            <a:r>
              <a:rPr lang="fr-FR" b="1" dirty="0"/>
              <a:t> of </a:t>
            </a:r>
            <a:r>
              <a:rPr lang="fr-FR" b="1" dirty="0" err="1"/>
              <a:t>kinship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11129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Hamilton's rule"/>
          <p:cNvSpPr txBox="1"/>
          <p:nvPr/>
        </p:nvSpPr>
        <p:spPr>
          <a:xfrm>
            <a:off x="146695" y="-190689"/>
            <a:ext cx="9397198" cy="1598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398" tIns="25398" rIns="25398" bIns="25398" anchor="b">
            <a:normAutofit/>
          </a:bodyPr>
          <a:lstStyle>
            <a:lvl1pPr algn="l">
              <a:lnSpc>
                <a:spcPct val="80000"/>
              </a:lnSpc>
              <a:defRPr sz="13900" spc="-278">
                <a:solidFill>
                  <a:srgbClr val="000000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rPr sz="6950"/>
              <a:t>Hamilton's rule</a:t>
            </a:r>
          </a:p>
        </p:txBody>
      </p:sp>
      <p:sp>
        <p:nvSpPr>
          <p:cNvPr id="396" name="See Hamilton, W. D. (1964). The genetical evolution of social behaviour. II. Journal of theoretical biology"/>
          <p:cNvSpPr txBox="1"/>
          <p:nvPr/>
        </p:nvSpPr>
        <p:spPr>
          <a:xfrm>
            <a:off x="2178484" y="6365689"/>
            <a:ext cx="9754333" cy="359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398" tIns="25398" rIns="25398" bIns="25398" anchor="ctr">
            <a:spAutoFit/>
          </a:bodyPr>
          <a:lstStyle/>
          <a:p>
            <a:pPr defTabSz="228589">
              <a:lnSpc>
                <a:spcPts val="2700"/>
              </a:lnSpc>
              <a:defRPr sz="33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650"/>
              <a:t>See Hamilton, W. D. (1964). The genetical evolution of social behaviour. II. </a:t>
            </a:r>
            <a:r>
              <a:rPr sz="1650" i="1"/>
              <a:t>Journal of theoretical biology</a:t>
            </a:r>
          </a:p>
        </p:txBody>
      </p:sp>
      <p:sp>
        <p:nvSpPr>
          <p:cNvPr id="397" name="If rb &gt; c…"/>
          <p:cNvSpPr txBox="1"/>
          <p:nvPr/>
        </p:nvSpPr>
        <p:spPr>
          <a:xfrm>
            <a:off x="557857" y="1284612"/>
            <a:ext cx="10839590" cy="2491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398" tIns="25398" rIns="25398" bIns="25398">
            <a:normAutofit/>
          </a:bodyPr>
          <a:lstStyle/>
          <a:p>
            <a:pPr defTabSz="889953">
              <a:spcBef>
                <a:spcPts val="1650"/>
              </a:spcBef>
              <a:defRPr sz="7300">
                <a:solidFill>
                  <a:srgbClr val="000000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rPr sz="3650"/>
              <a:t>If </a:t>
            </a:r>
            <a:r>
              <a:rPr sz="3650" i="1">
                <a:solidFill>
                  <a:schemeClr val="accent1"/>
                </a:solidFill>
                <a:latin typeface="Avenir Heavy"/>
                <a:ea typeface="Avenir Heavy"/>
                <a:cs typeface="Avenir Heavy"/>
                <a:sym typeface="Avenir Heavy"/>
              </a:rPr>
              <a:t>rb &gt; c</a:t>
            </a:r>
            <a:r>
              <a:rPr sz="3650" i="1">
                <a:solidFill>
                  <a:schemeClr val="accent6">
                    <a:satOff val="-20754"/>
                    <a:lumOff val="-16738"/>
                  </a:schemeClr>
                </a:solidFill>
                <a:latin typeface="Avenir Heavy"/>
                <a:ea typeface="Avenir Heavy"/>
                <a:cs typeface="Avenir Heavy"/>
                <a:sym typeface="Avenir Heavy"/>
              </a:rPr>
              <a:t> </a:t>
            </a:r>
          </a:p>
          <a:p>
            <a:pPr lvl="1" defTabSz="889953">
              <a:spcBef>
                <a:spcPts val="1650"/>
              </a:spcBef>
              <a:defRPr sz="7300">
                <a:solidFill>
                  <a:srgbClr val="000000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rPr sz="3650"/>
              <a:t>organisms are better off cooperating: </a:t>
            </a:r>
            <a:r>
              <a:rPr sz="3650">
                <a:solidFill>
                  <a:schemeClr val="accent6"/>
                </a:solidFill>
                <a:latin typeface="Avenir Heavy"/>
                <a:ea typeface="Avenir Heavy"/>
                <a:cs typeface="Avenir Heavy"/>
                <a:sym typeface="Avenir Heavy"/>
              </a:rPr>
              <a:t>cooperation</a:t>
            </a:r>
            <a:r>
              <a:rPr sz="3650">
                <a:latin typeface="Avenir Heavy"/>
                <a:ea typeface="Avenir Heavy"/>
                <a:cs typeface="Avenir Heavy"/>
                <a:sym typeface="Avenir Heavy"/>
              </a:rPr>
              <a:t> </a:t>
            </a:r>
            <a:r>
              <a:rPr sz="3650">
                <a:solidFill>
                  <a:schemeClr val="accent6"/>
                </a:solidFill>
                <a:latin typeface="Avenir Heavy"/>
                <a:ea typeface="Avenir Heavy"/>
                <a:cs typeface="Avenir Heavy"/>
                <a:sym typeface="Avenir Heavy"/>
              </a:rPr>
              <a:t>toward kins </a:t>
            </a:r>
            <a:r>
              <a:rPr sz="3650">
                <a:latin typeface="Avenir Heavy"/>
                <a:ea typeface="Avenir Heavy"/>
                <a:cs typeface="Avenir Heavy"/>
                <a:sym typeface="Avenir Heavy"/>
              </a:rPr>
              <a:t>will be favored by natural selection </a:t>
            </a:r>
          </a:p>
        </p:txBody>
      </p:sp>
      <p:sp>
        <p:nvSpPr>
          <p:cNvPr id="398" name="b = the benefit given to the recipient"/>
          <p:cNvSpPr txBox="1"/>
          <p:nvPr/>
        </p:nvSpPr>
        <p:spPr>
          <a:xfrm>
            <a:off x="421256" y="4182086"/>
            <a:ext cx="9979110" cy="638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398" tIns="25398" rIns="25398" bIns="25398">
            <a:normAutofit/>
          </a:bodyPr>
          <a:lstStyle/>
          <a:p>
            <a:pPr marL="419081" lvl="1" indent="-285737">
              <a:spcBef>
                <a:spcPts val="2300"/>
              </a:spcBef>
              <a:buSzPct val="123000"/>
              <a:buChar char="•"/>
              <a:defRPr sz="6400">
                <a:solidFill>
                  <a:srgbClr val="000000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rPr sz="3200"/>
              <a:t>b = the </a:t>
            </a:r>
            <a:r>
              <a:rPr sz="3200">
                <a:latin typeface="Avenir Heavy"/>
                <a:ea typeface="Avenir Heavy"/>
                <a:cs typeface="Avenir Heavy"/>
                <a:sym typeface="Avenir Heavy"/>
              </a:rPr>
              <a:t>benefit</a:t>
            </a:r>
            <a:r>
              <a:rPr sz="3200"/>
              <a:t> given to the recipient</a:t>
            </a:r>
          </a:p>
        </p:txBody>
      </p:sp>
      <p:sp>
        <p:nvSpPr>
          <p:cNvPr id="399" name="c = the cost of cooperation for the cooperator"/>
          <p:cNvSpPr txBox="1"/>
          <p:nvPr/>
        </p:nvSpPr>
        <p:spPr>
          <a:xfrm>
            <a:off x="421256" y="4781836"/>
            <a:ext cx="9979110" cy="638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398" tIns="25398" rIns="25398" bIns="25398">
            <a:normAutofit/>
          </a:bodyPr>
          <a:lstStyle/>
          <a:p>
            <a:pPr marL="419081" lvl="1" indent="-285737">
              <a:spcBef>
                <a:spcPts val="2300"/>
              </a:spcBef>
              <a:buSzPct val="123000"/>
              <a:buChar char="•"/>
              <a:defRPr sz="6400">
                <a:solidFill>
                  <a:srgbClr val="000000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rPr sz="3200"/>
              <a:t>c = the </a:t>
            </a:r>
            <a:r>
              <a:rPr sz="3200">
                <a:latin typeface="Avenir Heavy"/>
                <a:ea typeface="Avenir Heavy"/>
                <a:cs typeface="Avenir Heavy"/>
                <a:sym typeface="Avenir Heavy"/>
              </a:rPr>
              <a:t>cost</a:t>
            </a:r>
            <a:r>
              <a:rPr sz="3200"/>
              <a:t> of cooperation for the cooperator</a:t>
            </a:r>
          </a:p>
        </p:txBody>
      </p:sp>
      <p:sp>
        <p:nvSpPr>
          <p:cNvPr id="400" name="r = genetic relatedness between the cooperator &amp; the recipient"/>
          <p:cNvSpPr txBox="1"/>
          <p:nvPr/>
        </p:nvSpPr>
        <p:spPr>
          <a:xfrm>
            <a:off x="391240" y="5360135"/>
            <a:ext cx="11670482" cy="768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398" tIns="25398" rIns="25398" bIns="25398">
            <a:normAutofit/>
          </a:bodyPr>
          <a:lstStyle/>
          <a:p>
            <a:pPr marL="402317" lvl="1" indent="-274307" defTabSz="1170349">
              <a:spcBef>
                <a:spcPts val="2200"/>
              </a:spcBef>
              <a:buSzPct val="123000"/>
              <a:buChar char="•"/>
              <a:defRPr sz="6144">
                <a:solidFill>
                  <a:srgbClr val="000000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rPr sz="3072"/>
              <a:t>r = </a:t>
            </a:r>
            <a:r>
              <a:rPr sz="3072">
                <a:latin typeface="Avenir Heavy"/>
                <a:ea typeface="Avenir Heavy"/>
                <a:cs typeface="Avenir Heavy"/>
                <a:sym typeface="Avenir Heavy"/>
              </a:rPr>
              <a:t>genetic relatedness</a:t>
            </a:r>
            <a:r>
              <a:rPr sz="3072"/>
              <a:t> between the cooperator &amp; the recipient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" grpId="0" animBg="1" advAuto="0"/>
      <p:bldP spid="398" grpId="0" animBg="1" advAuto="0"/>
      <p:bldP spid="399" grpId="0" animBg="1" advAuto="0"/>
      <p:bldP spid="400" grpId="0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377A2A9D-3139-8FBB-97A4-C55BC4D3578D}"/>
              </a:ext>
            </a:extLst>
          </p:cNvPr>
          <p:cNvSpPr txBox="1"/>
          <p:nvPr/>
        </p:nvSpPr>
        <p:spPr>
          <a:xfrm>
            <a:off x="427" y="5277310"/>
            <a:ext cx="12191144" cy="42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83" dirty="0">
                <a:solidFill>
                  <a:srgbClr val="111111"/>
                </a:solidFill>
                <a:latin typeface="Garamond" panose="02020404030301010803" pitchFamily="18" charset="0"/>
              </a:rPr>
              <a:t>“I against my brother. I and my brother against my cousin. I, my brother, and my cousin against the world”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EE53172-FD9C-08F3-C821-08F4A6F95D2F}"/>
              </a:ext>
            </a:extLst>
          </p:cNvPr>
          <p:cNvSpPr txBox="1"/>
          <p:nvPr/>
        </p:nvSpPr>
        <p:spPr>
          <a:xfrm>
            <a:off x="427" y="6155257"/>
            <a:ext cx="12191144" cy="42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83" dirty="0">
                <a:solidFill>
                  <a:srgbClr val="111111"/>
                </a:solidFill>
                <a:latin typeface="Garamond" panose="02020404030301010803" pitchFamily="18" charset="0"/>
              </a:rPr>
              <a:t>“I would gladly give up my life for two brothers or eight cousins.”</a:t>
            </a:r>
          </a:p>
        </p:txBody>
      </p:sp>
      <p:pic>
        <p:nvPicPr>
          <p:cNvPr id="2052" name="Picture 4" descr="K is for Kinship – The EDIT Blog">
            <a:extLst>
              <a:ext uri="{FF2B5EF4-FFF2-40B4-BE49-F238E27FC236}">
                <a16:creationId xmlns:a16="http://schemas.microsoft.com/office/drawing/2014/main" id="{2CA63DD6-E2BE-CFDD-B9EB-92ED602B30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2472" y="199573"/>
            <a:ext cx="5967057" cy="445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463328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AD1F08F1-0915-014E-D022-5AC51293E53D}"/>
              </a:ext>
            </a:extLst>
          </p:cNvPr>
          <p:cNvSpPr txBox="1"/>
          <p:nvPr/>
        </p:nvSpPr>
        <p:spPr>
          <a:xfrm>
            <a:off x="428" y="241"/>
            <a:ext cx="12191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latin typeface="Garamond" panose="02020404030301010803" pitchFamily="18" charset="0"/>
              </a:rPr>
              <a:t>A critique of </a:t>
            </a:r>
            <a:r>
              <a:rPr lang="fr-FR" sz="4000" b="1" dirty="0" err="1">
                <a:latin typeface="Garamond" panose="02020404030301010803" pitchFamily="18" charset="0"/>
              </a:rPr>
              <a:t>kin</a:t>
            </a:r>
            <a:r>
              <a:rPr lang="fr-FR" sz="4000" b="1" dirty="0">
                <a:latin typeface="Garamond" panose="02020404030301010803" pitchFamily="18" charset="0"/>
              </a:rPr>
              <a:t> </a:t>
            </a:r>
            <a:r>
              <a:rPr lang="fr-FR" sz="4000" b="1" dirty="0" err="1">
                <a:latin typeface="Garamond" panose="02020404030301010803" pitchFamily="18" charset="0"/>
              </a:rPr>
              <a:t>altruism</a:t>
            </a:r>
            <a:r>
              <a:rPr lang="fr-FR" sz="4000" b="1" dirty="0">
                <a:latin typeface="Garamond" panose="02020404030301010803" pitchFamily="18" charset="0"/>
              </a:rPr>
              <a:t>: </a:t>
            </a:r>
            <a:r>
              <a:rPr lang="fr-FR" sz="4000" b="1" dirty="0" err="1">
                <a:latin typeface="Garamond" panose="02020404030301010803" pitchFamily="18" charset="0"/>
              </a:rPr>
              <a:t>what</a:t>
            </a:r>
            <a:r>
              <a:rPr lang="fr-FR" sz="4000" b="1" dirty="0">
                <a:latin typeface="Garamond" panose="02020404030301010803" pitchFamily="18" charset="0"/>
              </a:rPr>
              <a:t> about fictive </a:t>
            </a:r>
            <a:r>
              <a:rPr lang="fr-FR" sz="4000" b="1" dirty="0" err="1">
                <a:latin typeface="Garamond" panose="02020404030301010803" pitchFamily="18" charset="0"/>
              </a:rPr>
              <a:t>kinship</a:t>
            </a:r>
            <a:r>
              <a:rPr lang="fr-FR" sz="4000" b="1" dirty="0">
                <a:latin typeface="Garamond" panose="02020404030301010803" pitchFamily="18" charset="0"/>
              </a:rPr>
              <a:t>?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BB10CFF-F811-2AE7-5635-339126718B07}"/>
              </a:ext>
            </a:extLst>
          </p:cNvPr>
          <p:cNvSpPr txBox="1"/>
          <p:nvPr/>
        </p:nvSpPr>
        <p:spPr>
          <a:xfrm>
            <a:off x="5726338" y="5231102"/>
            <a:ext cx="6221022" cy="1398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98" dirty="0">
                <a:latin typeface="Garamond" panose="02020404030301010803" pitchFamily="18" charset="0"/>
              </a:rPr>
              <a:t>“... there is not a single system of marriage, </a:t>
            </a:r>
            <a:r>
              <a:rPr lang="en-US" sz="1698" dirty="0" err="1">
                <a:latin typeface="Garamond" panose="02020404030301010803" pitchFamily="18" charset="0"/>
              </a:rPr>
              <a:t>postmarital</a:t>
            </a:r>
            <a:r>
              <a:rPr lang="en-US" sz="1698" dirty="0">
                <a:latin typeface="Garamond" panose="02020404030301010803" pitchFamily="18" charset="0"/>
              </a:rPr>
              <a:t> residence, family organization, interpersonal kinship, or common descent in human societies that does not set up a different calculus of relationship and social action than is indicated by the principles of kin selection.” (</a:t>
            </a:r>
            <a:r>
              <a:rPr lang="en-US" sz="1698" dirty="0" err="1">
                <a:latin typeface="Garamond" panose="02020404030301010803" pitchFamily="18" charset="0"/>
              </a:rPr>
              <a:t>Sahlins</a:t>
            </a:r>
            <a:r>
              <a:rPr lang="en-US" sz="1698" dirty="0">
                <a:latin typeface="Garamond" panose="02020404030301010803" pitchFamily="18" charset="0"/>
              </a:rPr>
              <a:t>, 1976)</a:t>
            </a:r>
          </a:p>
        </p:txBody>
      </p:sp>
      <p:pic>
        <p:nvPicPr>
          <p:cNvPr id="3074" name="Picture 2" descr="Marshall Sahlins - Babelio">
            <a:extLst>
              <a:ext uri="{FF2B5EF4-FFF2-40B4-BE49-F238E27FC236}">
                <a16:creationId xmlns:a16="http://schemas.microsoft.com/office/drawing/2014/main" id="{FC6DC5B4-B7D7-4E48-D5C2-88A68F4112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4648" y="1276289"/>
            <a:ext cx="2916864" cy="3350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he Use and Abuse of Biology: An Anthropological Critique of Sociobiology:  Sahlins, Marshall D.: 9780472766000: Amazon.com: Books">
            <a:extLst>
              <a:ext uri="{FF2B5EF4-FFF2-40B4-BE49-F238E27FC236}">
                <a16:creationId xmlns:a16="http://schemas.microsoft.com/office/drawing/2014/main" id="{D4086524-11EE-1341-5F1E-BE36C34A5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63" y="979989"/>
            <a:ext cx="3480600" cy="5322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203828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682D419C-BAED-40DB-7C28-A275B7693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821" y="0"/>
            <a:ext cx="5122777" cy="707431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3254522-6AC9-5264-D6DB-0AB5ABC35493}"/>
              </a:ext>
            </a:extLst>
          </p:cNvPr>
          <p:cNvSpPr txBox="1"/>
          <p:nvPr/>
        </p:nvSpPr>
        <p:spPr>
          <a:xfrm>
            <a:off x="428" y="1719314"/>
            <a:ext cx="4154847" cy="61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98" b="1" dirty="0">
                <a:latin typeface="Garamond" panose="02020404030301010803" pitchFamily="18" charset="0"/>
              </a:rPr>
              <a:t>Kinship systems are extremely variable across cultures!!</a:t>
            </a:r>
          </a:p>
        </p:txBody>
      </p:sp>
    </p:spTree>
    <p:extLst>
      <p:ext uri="{BB962C8B-B14F-4D97-AF65-F5344CB8AC3E}">
        <p14:creationId xmlns:p14="http://schemas.microsoft.com/office/powerpoint/2010/main" val="92511596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95FBB07F-3FF3-F306-4D11-29501B204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8028" y="2458637"/>
            <a:ext cx="7044046" cy="3789035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30BBBD6-9345-1655-39A9-C84D3381A0A3}"/>
              </a:ext>
            </a:extLst>
          </p:cNvPr>
          <p:cNvSpPr txBox="1"/>
          <p:nvPr/>
        </p:nvSpPr>
        <p:spPr>
          <a:xfrm>
            <a:off x="428" y="241"/>
            <a:ext cx="12191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latin typeface="Garamond" panose="02020404030301010803" pitchFamily="18" charset="0"/>
              </a:rPr>
              <a:t>An </a:t>
            </a:r>
            <a:r>
              <a:rPr lang="fr-FR" sz="4000" b="1" dirty="0" err="1">
                <a:latin typeface="Garamond" panose="02020404030301010803" pitchFamily="18" charset="0"/>
              </a:rPr>
              <a:t>example</a:t>
            </a:r>
            <a:r>
              <a:rPr lang="fr-FR" sz="4000" b="1" dirty="0">
                <a:latin typeface="Garamond" panose="02020404030301010803" pitchFamily="18" charset="0"/>
              </a:rPr>
              <a:t>: </a:t>
            </a:r>
            <a:r>
              <a:rPr lang="fr-FR" sz="4000" b="1" dirty="0" err="1">
                <a:latin typeface="Garamond" panose="02020404030301010803" pitchFamily="18" charset="0"/>
              </a:rPr>
              <a:t>patrilineal</a:t>
            </a:r>
            <a:r>
              <a:rPr lang="fr-FR" sz="4000" b="1" dirty="0">
                <a:latin typeface="Garamond" panose="02020404030301010803" pitchFamily="18" charset="0"/>
              </a:rPr>
              <a:t> </a:t>
            </a:r>
            <a:r>
              <a:rPr lang="fr-FR" sz="4000" b="1" dirty="0" err="1">
                <a:latin typeface="Garamond" panose="02020404030301010803" pitchFamily="18" charset="0"/>
              </a:rPr>
              <a:t>descent</a:t>
            </a:r>
            <a:r>
              <a:rPr lang="fr-FR" sz="4000" b="1" dirty="0">
                <a:latin typeface="Garamond" panose="02020404030301010803" pitchFamily="18" charset="0"/>
              </a:rPr>
              <a:t> </a:t>
            </a:r>
            <a:r>
              <a:rPr lang="fr-FR" sz="4000" b="1" dirty="0" err="1">
                <a:latin typeface="Garamond" panose="02020404030301010803" pitchFamily="18" charset="0"/>
              </a:rPr>
              <a:t>societies</a:t>
            </a:r>
            <a:endParaRPr lang="fr-FR" sz="4000" b="1" dirty="0">
              <a:latin typeface="Garamond" panose="02020404030301010803" pitchFamily="18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16FF50F-E40A-D908-F297-A33EB6FBF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187" y="671741"/>
            <a:ext cx="2645244" cy="1786896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C2B87666-04F2-A2EA-EC25-CCB8496D5B12}"/>
              </a:ext>
            </a:extLst>
          </p:cNvPr>
          <p:cNvSpPr txBox="1"/>
          <p:nvPr/>
        </p:nvSpPr>
        <p:spPr>
          <a:xfrm>
            <a:off x="6225676" y="6465824"/>
            <a:ext cx="6221022" cy="428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92" dirty="0" err="1">
                <a:latin typeface="Garamond" panose="02020404030301010803" pitchFamily="18" charset="0"/>
              </a:rPr>
              <a:t>Alvard</a:t>
            </a:r>
            <a:r>
              <a:rPr lang="en-US" sz="1092" dirty="0">
                <a:latin typeface="Garamond" panose="02020404030301010803" pitchFamily="18" charset="0"/>
              </a:rPr>
              <a:t>, M. S. (2003). Kinship, lineage, and an evolutionary perspective on cooperative hunting groups in Indonesia. Human Nature, 14, 129-163.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A1F5C1F-A72A-59A0-FCB2-8B189866DF64}"/>
              </a:ext>
            </a:extLst>
          </p:cNvPr>
          <p:cNvSpPr txBox="1"/>
          <p:nvPr/>
        </p:nvSpPr>
        <p:spPr>
          <a:xfrm>
            <a:off x="428" y="2169352"/>
            <a:ext cx="4154847" cy="61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98" dirty="0">
                <a:latin typeface="Garamond" panose="02020404030301010803" pitchFamily="18" charset="0"/>
              </a:rPr>
              <a:t>Patrilineal descent = your group identity is defined by the group of your father. 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57BE519-382B-1242-D317-A7B614ABC8CC}"/>
              </a:ext>
            </a:extLst>
          </p:cNvPr>
          <p:cNvSpPr txBox="1"/>
          <p:nvPr/>
        </p:nvSpPr>
        <p:spPr>
          <a:xfrm>
            <a:off x="428" y="4034111"/>
            <a:ext cx="4154847" cy="876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98" dirty="0">
                <a:latin typeface="Garamond" panose="02020404030301010803" pitchFamily="18" charset="0"/>
              </a:rPr>
              <a:t>Ex: if your father is from group A and your mother is from group B, then you belong to group A</a:t>
            </a:r>
          </a:p>
        </p:txBody>
      </p:sp>
    </p:spTree>
    <p:extLst>
      <p:ext uri="{BB962C8B-B14F-4D97-AF65-F5344CB8AC3E}">
        <p14:creationId xmlns:p14="http://schemas.microsoft.com/office/powerpoint/2010/main" val="3000048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6668C73C-CF4A-7721-403E-CD9DC3BFED3C}"/>
              </a:ext>
            </a:extLst>
          </p:cNvPr>
          <p:cNvSpPr/>
          <p:nvPr/>
        </p:nvSpPr>
        <p:spPr>
          <a:xfrm>
            <a:off x="0" y="108155"/>
            <a:ext cx="1197569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400" b="1" dirty="0">
                <a:solidFill>
                  <a:schemeClr val="dk1"/>
                </a:solidFill>
                <a:latin typeface="Avenir Next LT Pro"/>
              </a:rPr>
              <a:t>But s</a:t>
            </a:r>
            <a:r>
              <a:rPr lang="fr-MA" sz="24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ocial science has a </a:t>
            </a:r>
            <a:r>
              <a:rPr lang="fr-MA" sz="24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rich</a:t>
            </a:r>
            <a:r>
              <a:rPr lang="fr-MA" sz="24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4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history</a:t>
            </a:r>
            <a:r>
              <a:rPr lang="fr-MA" sz="24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of </a:t>
            </a:r>
            <a:r>
              <a:rPr lang="fr-MA" sz="24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searching</a:t>
            </a:r>
            <a:r>
              <a:rPr lang="fr-MA" sz="24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for </a:t>
            </a:r>
            <a:r>
              <a:rPr lang="fr-MA" sz="24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universal</a:t>
            </a:r>
            <a:r>
              <a:rPr lang="fr-MA" sz="24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4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laws</a:t>
            </a:r>
            <a:r>
              <a:rPr lang="fr-MA" sz="24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!</a:t>
            </a:r>
            <a:endParaRPr lang="fr-F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47A20419-F00B-45B0-BDDD-2283D9C7EE89}"/>
              </a:ext>
            </a:extLst>
          </p:cNvPr>
          <p:cNvSpPr/>
          <p:nvPr/>
        </p:nvSpPr>
        <p:spPr>
          <a:xfrm>
            <a:off x="0" y="953537"/>
            <a:ext cx="1197569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Marx: the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idea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that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the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history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of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human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societies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in the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history</a:t>
            </a:r>
            <a:r>
              <a:rPr lang="fr-MA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of class </a:t>
            </a: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struggles</a:t>
            </a:r>
            <a:endParaRPr lang="fr-FR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ZoneTexte 29">
            <a:extLst>
              <a:ext uri="{FF2B5EF4-FFF2-40B4-BE49-F238E27FC236}">
                <a16:creationId xmlns:a16="http://schemas.microsoft.com/office/drawing/2014/main" id="{44564A9B-6D9C-29A3-3E17-BA18EBA29348}"/>
              </a:ext>
            </a:extLst>
          </p:cNvPr>
          <p:cNvSpPr/>
          <p:nvPr/>
        </p:nvSpPr>
        <p:spPr>
          <a:xfrm>
            <a:off x="0" y="2145283"/>
            <a:ext cx="770849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dirty="0">
                <a:solidFill>
                  <a:schemeClr val="dk1"/>
                </a:solidFill>
                <a:latin typeface="Avenir Next LT Pro"/>
              </a:rPr>
              <a:t>As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early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as Durkheim: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analyzing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ethnographies of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Australian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Aborigines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,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he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seeks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to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provide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a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universal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definition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and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explanation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of religion. He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finds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it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not in the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belief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in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supernatural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agents, but in the distinction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between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the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sacred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and the profane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that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binds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a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whole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community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…</a:t>
            </a:r>
            <a:endParaRPr lang="fr-FR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" name="Picture 9" descr="Les Formes élémentaires de la vie religieuse - Babelio">
            <a:extLst>
              <a:ext uri="{FF2B5EF4-FFF2-40B4-BE49-F238E27FC236}">
                <a16:creationId xmlns:a16="http://schemas.microsoft.com/office/drawing/2014/main" id="{0006D4B4-3129-A893-FB87-B2F94327E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791" y="2145283"/>
            <a:ext cx="2848590" cy="457130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42E2929-2E81-F5CF-8FE8-14787FEF26DE}"/>
              </a:ext>
            </a:extLst>
          </p:cNvPr>
          <p:cNvSpPr txBox="1"/>
          <p:nvPr/>
        </p:nvSpPr>
        <p:spPr>
          <a:xfrm>
            <a:off x="1155291" y="4620764"/>
            <a:ext cx="61451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Religion = “a unified system of beliefs and practices relative to sacred things, that is to say, things set apart and forbidden — beliefs and practices which unite into one single moral community called a Church, all those who adhere to them”</a:t>
            </a:r>
          </a:p>
        </p:txBody>
      </p:sp>
    </p:spTree>
    <p:extLst>
      <p:ext uri="{BB962C8B-B14F-4D97-AF65-F5344CB8AC3E}">
        <p14:creationId xmlns:p14="http://schemas.microsoft.com/office/powerpoint/2010/main" val="2435089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E795882E-8FE8-BA86-E59F-FD09628B7360}"/>
              </a:ext>
            </a:extLst>
          </p:cNvPr>
          <p:cNvSpPr/>
          <p:nvPr/>
        </p:nvSpPr>
        <p:spPr>
          <a:xfrm>
            <a:off x="0" y="0"/>
            <a:ext cx="1197569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3600" b="1" dirty="0">
                <a:solidFill>
                  <a:schemeClr val="dk1"/>
                </a:solidFill>
                <a:latin typeface="Avenir Next LT Pro"/>
              </a:rPr>
              <a:t>The </a:t>
            </a:r>
            <a:r>
              <a:rPr lang="fr-MA" sz="3600" b="1" dirty="0" err="1">
                <a:solidFill>
                  <a:schemeClr val="dk1"/>
                </a:solidFill>
                <a:latin typeface="Avenir Next LT Pro"/>
              </a:rPr>
              <a:t>benefits</a:t>
            </a:r>
            <a:r>
              <a:rPr lang="fr-MA" sz="3600" b="1" dirty="0">
                <a:solidFill>
                  <a:schemeClr val="dk1"/>
                </a:solidFill>
                <a:latin typeface="Avenir Next LT Pro"/>
              </a:rPr>
              <a:t> of </a:t>
            </a:r>
            <a:r>
              <a:rPr lang="fr-MA" sz="3600" b="1" dirty="0" err="1">
                <a:solidFill>
                  <a:schemeClr val="dk1"/>
                </a:solidFill>
                <a:latin typeface="Avenir Next LT Pro"/>
              </a:rPr>
              <a:t>extracting</a:t>
            </a:r>
            <a:r>
              <a:rPr lang="fr-MA" sz="3600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3600" b="1" dirty="0" err="1">
                <a:solidFill>
                  <a:schemeClr val="dk1"/>
                </a:solidFill>
                <a:latin typeface="Avenir Next LT Pro"/>
              </a:rPr>
              <a:t>universal</a:t>
            </a:r>
            <a:r>
              <a:rPr lang="fr-MA" sz="3600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3600" b="1" dirty="0" err="1">
                <a:solidFill>
                  <a:schemeClr val="dk1"/>
                </a:solidFill>
                <a:latin typeface="Avenir Next LT Pro"/>
              </a:rPr>
              <a:t>laws</a:t>
            </a:r>
            <a:endParaRPr lang="fr-FR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7886DEBD-2311-DC08-FADF-444E2EBF4833}"/>
              </a:ext>
            </a:extLst>
          </p:cNvPr>
          <p:cNvSpPr/>
          <p:nvPr/>
        </p:nvSpPr>
        <p:spPr>
          <a:xfrm>
            <a:off x="0" y="953537"/>
            <a:ext cx="1219200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dirty="0">
                <a:solidFill>
                  <a:schemeClr val="dk1"/>
                </a:solidFill>
                <a:latin typeface="Avenir Next LT Pro"/>
              </a:rPr>
              <a:t>Most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obvious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…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explain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universal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patterns</a:t>
            </a:r>
            <a:endParaRPr lang="fr-FR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ZoneTexte 29">
            <a:extLst>
              <a:ext uri="{FF2B5EF4-FFF2-40B4-BE49-F238E27FC236}">
                <a16:creationId xmlns:a16="http://schemas.microsoft.com/office/drawing/2014/main" id="{B93D6D5C-F497-64FD-A177-EF49EA94682B}"/>
              </a:ext>
            </a:extLst>
          </p:cNvPr>
          <p:cNvSpPr/>
          <p:nvPr/>
        </p:nvSpPr>
        <p:spPr>
          <a:xfrm>
            <a:off x="0" y="1630075"/>
            <a:ext cx="1219200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dirty="0">
                <a:solidFill>
                  <a:schemeClr val="dk1"/>
                </a:solidFill>
                <a:latin typeface="Avenir Next LT Pro"/>
              </a:rPr>
              <a:t>Some patterns are « 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universal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 » in the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statistical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sense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: 1)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they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are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present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in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most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cultures 2) in a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way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that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cannot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be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explained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by cultural diffusion</a:t>
            </a:r>
            <a:endParaRPr lang="fr-FR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" name="Picture 9" descr="Human Universals by Donald E. Brown | Goodreads">
            <a:extLst>
              <a:ext uri="{FF2B5EF4-FFF2-40B4-BE49-F238E27FC236}">
                <a16:creationId xmlns:a16="http://schemas.microsoft.com/office/drawing/2014/main" id="{33A2BB85-31BD-0BF1-A5EE-CD7F97950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5" y="2399673"/>
            <a:ext cx="2692395" cy="4112178"/>
          </a:xfrm>
          <a:prstGeom prst="rect">
            <a:avLst/>
          </a:prstGeom>
        </p:spPr>
      </p:pic>
      <p:sp>
        <p:nvSpPr>
          <p:cNvPr id="12" name="ZoneTexte 29">
            <a:extLst>
              <a:ext uri="{FF2B5EF4-FFF2-40B4-BE49-F238E27FC236}">
                <a16:creationId xmlns:a16="http://schemas.microsoft.com/office/drawing/2014/main" id="{03F26393-52EB-1421-48D8-722B426C4112}"/>
              </a:ext>
            </a:extLst>
          </p:cNvPr>
          <p:cNvSpPr/>
          <p:nvPr/>
        </p:nvSpPr>
        <p:spPr>
          <a:xfrm>
            <a:off x="847218" y="2399673"/>
            <a:ext cx="6940255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Belief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s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in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supernatural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agents;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witchcraft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;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shamanism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…</a:t>
            </a:r>
            <a:endParaRPr lang="fr-FR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ZoneTexte 29">
            <a:extLst>
              <a:ext uri="{FF2B5EF4-FFF2-40B4-BE49-F238E27FC236}">
                <a16:creationId xmlns:a16="http://schemas.microsoft.com/office/drawing/2014/main" id="{BF4A1093-05F5-E730-0394-7BCDAA6178AE}"/>
              </a:ext>
            </a:extLst>
          </p:cNvPr>
          <p:cNvSpPr/>
          <p:nvPr/>
        </p:nvSpPr>
        <p:spPr>
          <a:xfrm>
            <a:off x="847217" y="2892272"/>
            <a:ext cx="6940255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dirty="0">
                <a:solidFill>
                  <a:schemeClr val="dk1"/>
                </a:solidFill>
                <a:latin typeface="Avenir Next LT Pro"/>
              </a:rPr>
              <a:t>Group living and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cooperation</a:t>
            </a:r>
            <a:endParaRPr lang="fr-FR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ZoneTexte 29">
            <a:extLst>
              <a:ext uri="{FF2B5EF4-FFF2-40B4-BE49-F238E27FC236}">
                <a16:creationId xmlns:a16="http://schemas.microsoft.com/office/drawing/2014/main" id="{48BF23F7-0095-6A07-5A8F-86F888748E2A}"/>
              </a:ext>
            </a:extLst>
          </p:cNvPr>
          <p:cNvSpPr/>
          <p:nvPr/>
        </p:nvSpPr>
        <p:spPr>
          <a:xfrm>
            <a:off x="847217" y="3429000"/>
            <a:ext cx="6940255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dirty="0">
                <a:solidFill>
                  <a:schemeClr val="dk1"/>
                </a:solidFill>
                <a:latin typeface="Avenir Next LT Pro"/>
              </a:rPr>
              <a:t>Cooking and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food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sharing…</a:t>
            </a:r>
            <a:endParaRPr lang="fr-FR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ZoneTexte 29">
            <a:extLst>
              <a:ext uri="{FF2B5EF4-FFF2-40B4-BE49-F238E27FC236}">
                <a16:creationId xmlns:a16="http://schemas.microsoft.com/office/drawing/2014/main" id="{2A18485F-115D-DCEC-85C4-76E8E496BE38}"/>
              </a:ext>
            </a:extLst>
          </p:cNvPr>
          <p:cNvSpPr/>
          <p:nvPr/>
        </p:nvSpPr>
        <p:spPr>
          <a:xfrm>
            <a:off x="0" y="5017096"/>
            <a:ext cx="9499605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dirty="0">
                <a:solidFill>
                  <a:schemeClr val="dk1"/>
                </a:solidFill>
                <a:latin typeface="Avenir Next LT Pro"/>
              </a:rPr>
              <a:t>NB: Universal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laws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don’t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mean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universal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phenomenon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: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it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can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be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a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universal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pattern of variation!   </a:t>
            </a:r>
            <a:endParaRPr lang="fr-FR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78264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5E5A99-A18E-D247-436C-B73DD5D25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609" y="997298"/>
            <a:ext cx="8122781" cy="4863403"/>
          </a:xfrm>
          <a:prstGeom prst="rect">
            <a:avLst/>
          </a:prstGeom>
        </p:spPr>
      </p:pic>
      <p:sp>
        <p:nvSpPr>
          <p:cNvPr id="7" name="ZoneTexte 29">
            <a:extLst>
              <a:ext uri="{FF2B5EF4-FFF2-40B4-BE49-F238E27FC236}">
                <a16:creationId xmlns:a16="http://schemas.microsoft.com/office/drawing/2014/main" id="{89A2F5F6-B655-4F74-BFE4-FBD57D54CEB9}"/>
              </a:ext>
            </a:extLst>
          </p:cNvPr>
          <p:cNvSpPr/>
          <p:nvPr/>
        </p:nvSpPr>
        <p:spPr>
          <a:xfrm>
            <a:off x="0" y="0"/>
            <a:ext cx="1197569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3600" b="1" dirty="0">
                <a:solidFill>
                  <a:schemeClr val="dk1"/>
                </a:solidFill>
                <a:latin typeface="Avenir Next LT Pro"/>
              </a:rPr>
              <a:t>The Galton </a:t>
            </a:r>
            <a:r>
              <a:rPr lang="fr-MA" sz="3600" b="1" dirty="0" err="1">
                <a:solidFill>
                  <a:schemeClr val="dk1"/>
                </a:solidFill>
                <a:latin typeface="Avenir Next LT Pro"/>
              </a:rPr>
              <a:t>problem</a:t>
            </a:r>
            <a:endParaRPr lang="fr-FR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3241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E35CF7-F393-1646-DB81-8C9015F9A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944" y="337523"/>
            <a:ext cx="5608806" cy="64394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39790E-3A34-296C-CBF0-2BD43DEC6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50" y="1459060"/>
            <a:ext cx="6522660" cy="3836422"/>
          </a:xfrm>
          <a:prstGeom prst="rect">
            <a:avLst/>
          </a:prstGeom>
        </p:spPr>
      </p:pic>
      <p:sp>
        <p:nvSpPr>
          <p:cNvPr id="9" name="ZoneTexte 29">
            <a:extLst>
              <a:ext uri="{FF2B5EF4-FFF2-40B4-BE49-F238E27FC236}">
                <a16:creationId xmlns:a16="http://schemas.microsoft.com/office/drawing/2014/main" id="{5A6B26E6-3956-75CA-A44F-D78E5FF08008}"/>
              </a:ext>
            </a:extLst>
          </p:cNvPr>
          <p:cNvSpPr/>
          <p:nvPr/>
        </p:nvSpPr>
        <p:spPr>
          <a:xfrm>
            <a:off x="0" y="5484414"/>
            <a:ext cx="6184490" cy="9218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dirty="0" err="1">
                <a:solidFill>
                  <a:schemeClr val="dk1"/>
                </a:solidFill>
                <a:latin typeface="Avenir Next LT Pro"/>
              </a:rPr>
              <a:t>Societies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can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be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tight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(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strong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norms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,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harsh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punishment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of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norm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deviattion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, </a:t>
            </a:r>
            <a:r>
              <a:rPr lang="fr-MA" dirty="0" err="1">
                <a:solidFill>
                  <a:schemeClr val="dk1"/>
                </a:solidFill>
                <a:latin typeface="Avenir Next LT Pro"/>
              </a:rPr>
              <a:t>norm</a:t>
            </a:r>
            <a:r>
              <a:rPr lang="fr-MA" dirty="0">
                <a:solidFill>
                  <a:schemeClr val="dk1"/>
                </a:solidFill>
                <a:latin typeface="Avenir Next LT Pro"/>
              </a:rPr>
              <a:t> monitoring…) or loose (the opposite). </a:t>
            </a:r>
            <a:endParaRPr lang="fr-FR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4890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45D946-CBCF-D4B1-A1B3-3D7CC1254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368" y="282888"/>
            <a:ext cx="7895415" cy="644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443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546BD4-61AD-4EAF-EBF4-758706EBC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46" y="510287"/>
            <a:ext cx="11621507" cy="583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121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12D1CDCD-E396-AD15-5C9B-0ECD30A63828}"/>
              </a:ext>
            </a:extLst>
          </p:cNvPr>
          <p:cNvSpPr/>
          <p:nvPr/>
        </p:nvSpPr>
        <p:spPr>
          <a:xfrm>
            <a:off x="0" y="0"/>
            <a:ext cx="1197569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3600" b="1" dirty="0">
                <a:solidFill>
                  <a:schemeClr val="dk1"/>
                </a:solidFill>
                <a:latin typeface="Avenir Next LT Pro"/>
              </a:rPr>
              <a:t>The limitations of </a:t>
            </a:r>
            <a:r>
              <a:rPr lang="fr-MA" sz="3600" b="1" dirty="0" err="1">
                <a:solidFill>
                  <a:schemeClr val="dk1"/>
                </a:solidFill>
                <a:latin typeface="Avenir Next LT Pro"/>
              </a:rPr>
              <a:t>extracting</a:t>
            </a:r>
            <a:r>
              <a:rPr lang="fr-MA" sz="3600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3600" b="1" dirty="0" err="1">
                <a:solidFill>
                  <a:schemeClr val="dk1"/>
                </a:solidFill>
                <a:latin typeface="Avenir Next LT Pro"/>
              </a:rPr>
              <a:t>universal</a:t>
            </a:r>
            <a:r>
              <a:rPr lang="fr-MA" sz="3600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3600" b="1" dirty="0" err="1">
                <a:solidFill>
                  <a:schemeClr val="dk1"/>
                </a:solidFill>
                <a:latin typeface="Avenir Next LT Pro"/>
              </a:rPr>
              <a:t>laws</a:t>
            </a:r>
            <a:r>
              <a:rPr lang="fr-MA" sz="3600" b="1" dirty="0">
                <a:solidFill>
                  <a:schemeClr val="dk1"/>
                </a:solidFill>
                <a:latin typeface="Avenir Next LT Pro"/>
              </a:rPr>
              <a:t>?</a:t>
            </a:r>
            <a:endParaRPr lang="fr-FR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71386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1380</TotalTime>
  <Words>888</Words>
  <Application>Microsoft Office PowerPoint</Application>
  <PresentationFormat>Widescreen</PresentationFormat>
  <Paragraphs>50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Aptos</vt:lpstr>
      <vt:lpstr>Aptos Display</vt:lpstr>
      <vt:lpstr>Arial</vt:lpstr>
      <vt:lpstr>Avenir Heavy</vt:lpstr>
      <vt:lpstr>Avenir Next LT Pro</vt:lpstr>
      <vt:lpstr>Garamond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of conceptual difficulty: the definition of kinship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Amine SIJILMASSI</dc:creator>
  <cp:lastModifiedBy>Amine SIJILMASSI</cp:lastModifiedBy>
  <cp:revision>3</cp:revision>
  <dcterms:created xsi:type="dcterms:W3CDTF">2026-10-20T19:21:52Z</dcterms:created>
  <dcterms:modified xsi:type="dcterms:W3CDTF">2026-10-23T18:58:02Z</dcterms:modified>
</cp:coreProperties>
</file>