
<file path=[Content_Types].xml><?xml version="1.0" encoding="utf-8"?>
<Types xmlns="http://schemas.openxmlformats.org/package/2006/content-types">
  <Default Extension="jpeg" ContentType="image/jpeg"/>
  <Default Extension="jpg" ContentType="image/jpg"/>
  <Default Extension="jpg&amp;f=1&amp;nofb=1&amp;ipt=254fd7d097d98dca69479457b478bc8a7a1ca8a4146bb4a77e9edaea2eb69281" ContentType="image/jpeg"/>
  <Default Extension="jpg&amp;f=1&amp;nofb=1&amp;ipt=6f37adf1cb79b3653fa7d2b6503a81bee120e4acd021d23591364501ee29ca40" ContentType="image/jpeg"/>
  <Default Extension="jpg&amp;f=1&amp;nofb=1&amp;ipt=7692288615e979b6a6e23eabc9d2db0ced01e820b5f956caaa8a120c4c3134c3" ContentType="image/jpeg"/>
  <Default Extension="jpg&amp;f=1&amp;nofb=1&amp;ipt=8e9069b99d65f61f1d4bee1de629a276086674085c594ae50838bc291fd1f803" ContentType="image/jpeg"/>
  <Default Extension="jpg&amp;f=1&amp;nofb=1&amp;ipt=909ef0dfdc201e156e31ddf72a3f4fe79a93ba01b1edcc6aae1424f3cf49cc8e" ContentType="image/jpeg"/>
  <Default Extension="jpg&amp;f=1&amp;nofb=1&amp;ipt=c8cd20df8c8e6815ebcb1e7129d79953c1b13510b8612f6fb77823db2c67576a" ContentType="image/jpeg"/>
  <Default Extension="jpg&amp;f=1&amp;nofb=1&amp;ipt=d49a34231519d9cd5097a9279df5fba9aa0263d5bc2592b5e7ea12da53508bd9" ContentType="image/jpeg"/>
  <Default Extension="org&amp;utm_campaign=parser&amp;utm_content=thumbnail" ContentType="image/png"/>
  <Default Extension="png" ContentType="image/png"/>
  <Default Extension="png&amp;f=1&amp;nofb=1&amp;ipt=1473a1838754dbd1f4523b116bfeb86bf8b7d41fe58dc824dc971b06adf1eb0f" ContentType="image/png"/>
  <Default Extension="png&amp;f=1&amp;nofb=1&amp;ipt=9f29f2a2100ba46f2962d932d858a84f4224fb62a41f8f8315ac557dfb1b90ad" ContentType="image/png"/>
  <Default Extension="png&amp;f=1&amp;nofb=1&amp;ipt=c8549bca4c5caaed0ae69862d8f9b710847c268f953361cec0db815e85545df5" ContentType="image/png"/>
  <Default Extension="png&amp;f=1&amp;nofb=1&amp;ipt=dcf3adfed8ec808d43b4358a40f0becae23cfea0901d78217b1c90ad82a5c600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5.jpg" ContentType="image/jpeg"/>
  <Override PartName="/ppt/media/image30.jpg" ContentType="image/jpeg"/>
  <Override PartName="/ppt/media/image32.jpg" ContentType="image/jpeg"/>
  <Override PartName="/ppt/media/image33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7" r:id="rId2"/>
    <p:sldId id="327" r:id="rId3"/>
    <p:sldId id="328" r:id="rId4"/>
    <p:sldId id="329" r:id="rId5"/>
    <p:sldId id="330" r:id="rId6"/>
    <p:sldId id="314" r:id="rId7"/>
    <p:sldId id="331" r:id="rId8"/>
    <p:sldId id="332" r:id="rId9"/>
    <p:sldId id="333" r:id="rId10"/>
    <p:sldId id="334" r:id="rId11"/>
    <p:sldId id="335" r:id="rId12"/>
    <p:sldId id="340" r:id="rId13"/>
    <p:sldId id="336" r:id="rId14"/>
    <p:sldId id="337" r:id="rId15"/>
    <p:sldId id="338" r:id="rId16"/>
    <p:sldId id="339" r:id="rId17"/>
    <p:sldId id="258" r:id="rId18"/>
    <p:sldId id="351" r:id="rId19"/>
    <p:sldId id="341" r:id="rId20"/>
    <p:sldId id="342" r:id="rId21"/>
    <p:sldId id="344" r:id="rId22"/>
    <p:sldId id="343" r:id="rId23"/>
    <p:sldId id="259" r:id="rId24"/>
    <p:sldId id="352" r:id="rId25"/>
    <p:sldId id="345" r:id="rId26"/>
    <p:sldId id="347" r:id="rId27"/>
    <p:sldId id="346" r:id="rId28"/>
    <p:sldId id="348" r:id="rId29"/>
    <p:sldId id="324" r:id="rId30"/>
    <p:sldId id="325" r:id="rId31"/>
    <p:sldId id="350" r:id="rId32"/>
    <p:sldId id="349" r:id="rId33"/>
    <p:sldId id="353" r:id="rId34"/>
    <p:sldId id="359" r:id="rId35"/>
    <p:sldId id="356" r:id="rId36"/>
    <p:sldId id="355" r:id="rId37"/>
    <p:sldId id="263" r:id="rId38"/>
    <p:sldId id="264" r:id="rId39"/>
    <p:sldId id="265" r:id="rId40"/>
    <p:sldId id="266" r:id="rId41"/>
    <p:sldId id="267" r:id="rId42"/>
    <p:sldId id="268" r:id="rId43"/>
    <p:sldId id="357" r:id="rId44"/>
    <p:sldId id="557" r:id="rId45"/>
    <p:sldId id="270" r:id="rId46"/>
    <p:sldId id="271" r:id="rId47"/>
    <p:sldId id="272" r:id="rId48"/>
    <p:sldId id="363" r:id="rId49"/>
    <p:sldId id="361" r:id="rId50"/>
    <p:sldId id="362" r:id="rId51"/>
    <p:sldId id="360" r:id="rId52"/>
    <p:sldId id="273" r:id="rId53"/>
    <p:sldId id="275" r:id="rId54"/>
    <p:sldId id="276" r:id="rId55"/>
    <p:sldId id="364" r:id="rId56"/>
    <p:sldId id="365" r:id="rId57"/>
    <p:sldId id="307" r:id="rId58"/>
    <p:sldId id="552" r:id="rId59"/>
    <p:sldId id="308" r:id="rId60"/>
    <p:sldId id="309" r:id="rId61"/>
    <p:sldId id="381" r:id="rId62"/>
    <p:sldId id="382" r:id="rId63"/>
    <p:sldId id="383" r:id="rId64"/>
    <p:sldId id="549" r:id="rId65"/>
    <p:sldId id="548" r:id="rId66"/>
    <p:sldId id="384" r:id="rId67"/>
    <p:sldId id="533" r:id="rId68"/>
    <p:sldId id="385" r:id="rId69"/>
    <p:sldId id="277" r:id="rId70"/>
    <p:sldId id="278" r:id="rId71"/>
    <p:sldId id="279" r:id="rId72"/>
    <p:sldId id="281" r:id="rId73"/>
    <p:sldId id="282" r:id="rId74"/>
    <p:sldId id="283" r:id="rId75"/>
    <p:sldId id="284" r:id="rId76"/>
    <p:sldId id="285" r:id="rId77"/>
    <p:sldId id="286" r:id="rId78"/>
    <p:sldId id="550" r:id="rId79"/>
    <p:sldId id="551" r:id="rId80"/>
    <p:sldId id="553" r:id="rId81"/>
    <p:sldId id="554" r:id="rId82"/>
    <p:sldId id="555" r:id="rId83"/>
    <p:sldId id="358" r:id="rId84"/>
    <p:sldId id="287" r:id="rId85"/>
    <p:sldId id="288" r:id="rId86"/>
    <p:sldId id="289" r:id="rId87"/>
    <p:sldId id="290" r:id="rId88"/>
    <p:sldId id="291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D3452-B106-48A4-93EE-48DAB9AB101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097FD-A4F0-4B2E-8AC6-2307F21A7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1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2" name="Shape 6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the assumption that they cannot communicate and don’t know what the other will do or wants to do.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8" name="Shape 6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Natural selection is a </a:t>
            </a:r>
            <a:r>
              <a:rPr b="1"/>
              <a:t>competitive process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4" name="Shape 6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Natural selection is a </a:t>
            </a:r>
            <a:r>
              <a:rPr b="1"/>
              <a:t>competitive process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1011-5414-CA0E-EB8D-0E4359693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7C56B-7AAD-1EA6-AE11-A63D4A020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AB056-4B1D-D5A1-8590-BEED053A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B14B0-D030-55F8-61CB-FBCA5CD5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78B4-44B0-2456-2950-EDC1F84E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8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C020-BE10-A55C-4B2B-F97DB264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72C50-C5C3-BB23-4520-80DAB3A39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BF555-6531-8C35-3638-EF4FF41E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68274-E997-6007-0F24-9CBD19ED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335A1-7A6A-C032-57CE-A4969CDD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9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23A2-AD3F-7909-B8F2-99746825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84084-A04E-91DB-7D80-9DBBE71C7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C3167-3C2F-AA61-2AF3-75F53293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9E9C9-554B-F775-8AC4-6EC36941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325BC-BBE8-4329-8418-B70DA615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2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F52C-D012-4F9F-2BFB-2EF7546A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5765-8E4A-CB77-DF24-5A744D25B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7DEE1-A172-4199-2A86-57E1173B5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4E9B6-3773-2FC6-32B7-8D1C3ED7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0A503-ABDB-7871-EDCD-E2F4F11D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16286-65B8-1C22-6518-1F03174A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0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CF9D-2D4A-0A24-D2F5-B3B0AA06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11797-FB7C-04B3-4CED-7B6485967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DB295-DF10-CB28-9EE8-E4F463C90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B5E35-81EF-931F-B329-2F4CE94C0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A36C3-049A-44BA-4692-1FE8CCD50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E4959-BF33-571C-DE70-C177D58C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C2255-AFA0-A64B-68B8-7C1C1C94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53E8B-1240-D336-27AF-F0951380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0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4677-C8F5-CCF7-919C-81AD528A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A67D4-7B42-59EE-2754-8B967BE7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6B9B0-D323-0E33-1EDA-59933826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FA7CB-00AF-8431-B7E9-573F3F1B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5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D2E2B-7965-C9EF-38B9-A0BF1478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028A1-0D3F-EF72-D65A-C73894B0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109EC-5415-EE57-1C21-0EA28301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5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2C24-51F5-20D2-61D2-80B7AAB9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2712-9408-AAC3-98AB-A22C0C43E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08D5E-D22D-3574-635C-47DBE5D5C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A488D-3EFB-ACDF-FAF1-BC827C62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FD63B-D33B-1C7E-E783-3B084825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58C90-FEF8-8C4E-C24A-76A03533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70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C69F-D2CB-15C6-18ED-F62BB287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FDBA0-9F4C-7068-9D53-3BEFA3B46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04AB7-DB7E-66E6-6B9B-A533D6A00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44E30-9A95-6E23-5B7F-D3E71AF3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85245-60AA-8657-B69E-94F83535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556BD-8E85-BD92-E6BE-8A584293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3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0ABF-322E-7F0E-3DD2-80A9EFE6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80634-BE93-00CA-B089-05CFD7FD0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83CDC-1407-5D7E-1A5D-96065E3D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E9ED-687B-0F56-78C5-96500EC5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26A8A-8410-5726-AC07-F02EE667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6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2241A-E749-710E-41FB-F3D9FB17B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E94F8-8E7C-9590-5CA3-48E9071B6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4486D-561B-EB30-D71E-AEA071B6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50DD4-63A2-599F-B439-C377FC23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B6CE-6321-9D98-D125-EE2F65EF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40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837712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4037914" y="6355770"/>
            <a:ext cx="4114109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693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8609631" y="6355770"/>
            <a:ext cx="2742595" cy="36485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105875">
              <a:lnSpc>
                <a:spcPct val="100000"/>
              </a:lnSpc>
              <a:buNone/>
              <a:defRPr lang="fr-MA" sz="1451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fld id="{AB19D96C-F57F-4CBA-B8E6-BFA21FFAB019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609127" y="273422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1105875">
              <a:lnSpc>
                <a:spcPct val="90000"/>
              </a:lnSpc>
              <a:buNone/>
              <a:def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texte-titre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127" y="1603963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76469" indent="-276469" algn="l" defTabSz="1105875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825"/>
              </a:spcBef>
              <a:buClr>
                <a:srgbClr val="000000"/>
              </a:buClr>
              <a:buFont typeface="Arial"/>
              <a:buChar char="•"/>
            </a:pPr>
            <a:r>
              <a:rPr lang="fr-FR" sz="2794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Cliquez pour éditer le format du plan de texte</a:t>
            </a:r>
          </a:p>
          <a:p>
            <a:pPr marL="1044922" lvl="1" indent="-391846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393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niveau de plan</a:t>
            </a:r>
          </a:p>
          <a:p>
            <a:pPr marL="1567382" lvl="2" indent="-348307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Troisième niveau de plan</a:t>
            </a:r>
          </a:p>
          <a:p>
            <a:pPr marL="2089843" lvl="3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Quatrième niveau de plan</a:t>
            </a:r>
          </a:p>
          <a:p>
            <a:pPr marL="2612304" lvl="4" indent="-261230" algn="l" defTabSz="1105875">
              <a:lnSpc>
                <a:spcPct val="90000"/>
              </a:lnSpc>
              <a:spcBef>
                <a:spcPts val="49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2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Cinquième niveau de plan</a:t>
            </a:r>
          </a:p>
          <a:p>
            <a:pPr marL="3134765" lvl="5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Sixième niveau de plan</a:t>
            </a:r>
          </a:p>
          <a:p>
            <a:pPr marL="3657226" lvl="6" indent="-261230" algn="l" defTabSz="1105875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996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2283997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873" y="-872"/>
            <a:ext cx="12193807" cy="6858903"/>
          </a:xfrm>
          <a:custGeom>
            <a:avLst/>
            <a:gdLst>
              <a:gd name="textAreaLeft" fmla="*/ 0 w 20107080"/>
              <a:gd name="textAreaRight" fmla="*/ 20107440 w 20107080"/>
              <a:gd name="textAreaTop" fmla="*/ 0 h 11310840"/>
              <a:gd name="textAreaBottom" fmla="*/ 11311200 h 11310840"/>
            </a:gdLst>
            <a:ahLst/>
            <a:cxnLst/>
            <a:rect l="textAreaLeft" t="textAreaTop" r="textAreaRight" b="textAreaBottom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fr-FR" sz="1092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811" y="26197"/>
            <a:ext cx="10319533" cy="56688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fr-FR" sz="409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409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5237" y="6377980"/>
            <a:ext cx="3901153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849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&lt;pied de page&gt;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548" y="6377980"/>
            <a:ext cx="2803880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84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US"/>
              <a:t>&lt;date/heure&gt;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78196" y="6377980"/>
            <a:ext cx="2803880" cy="3427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fr-FR" sz="849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fld id="{DBBBDCA1-0229-4EB2-9585-2A5FAD024C04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550" y="1604756"/>
            <a:ext cx="10972527" cy="39772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22461" indent="-391846" algn="l">
              <a:spcBef>
                <a:spcPts val="17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68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51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34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523924" lvl="1" indent="-196472" algn="l">
              <a:spcBef>
                <a:spcPts val="68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785885" lvl="2" indent="-174641" algn="l">
              <a:spcBef>
                <a:spcPts val="51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047847" lvl="3" indent="-130980" algn="l">
              <a:spcBef>
                <a:spcPts val="34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92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1309809" lvl="4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1571771" lvl="5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1833733" lvl="6" indent="-130980" algn="l">
              <a:spcBef>
                <a:spcPts val="1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13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211723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93" y="-793"/>
            <a:ext cx="12193925" cy="6859155"/>
          </a:xfrm>
          <a:custGeom>
            <a:avLst/>
            <a:gdLst/>
            <a:ahLst/>
            <a:cxnLst/>
            <a:rect l="l" t="t" r="r" b="b"/>
            <a:pathLst>
              <a:path w="20107275" h="11311255">
                <a:moveTo>
                  <a:pt x="0" y="11311173"/>
                </a:moveTo>
                <a:lnTo>
                  <a:pt x="20106717" y="11311173"/>
                </a:lnTo>
                <a:lnTo>
                  <a:pt x="20106717" y="0"/>
                </a:lnTo>
                <a:lnTo>
                  <a:pt x="0" y="0"/>
                </a:lnTo>
                <a:lnTo>
                  <a:pt x="0" y="1131117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749" y="2576984"/>
            <a:ext cx="5415726" cy="4171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1955" y="401094"/>
            <a:ext cx="8473556" cy="6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33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71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7389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846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3295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31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Auteur et date</a:t>
            </a:r>
          </a:p>
        </p:txBody>
      </p:sp>
      <p:sp>
        <p:nvSpPr>
          <p:cNvPr id="12" name="Titre de la présentation"/>
          <p:cNvSpPr txBox="1">
            <a:spLocks noGrp="1"/>
          </p:cNvSpPr>
          <p:nvPr>
            <p:ph type="title" hasCustomPrompt="1"/>
          </p:nvPr>
        </p:nvSpPr>
        <p:spPr>
          <a:xfrm>
            <a:off x="603248" y="2719089"/>
            <a:ext cx="10985502" cy="892509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Titre de la présentation</a:t>
            </a:r>
          </a:p>
        </p:txBody>
      </p:sp>
      <p:sp>
        <p:nvSpPr>
          <p:cNvPr id="13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611595"/>
            <a:ext cx="10985501" cy="2115986"/>
          </a:xfrm>
          <a:prstGeom prst="rect">
            <a:avLst/>
          </a:prstGeom>
        </p:spPr>
        <p:txBody>
          <a:bodyPr/>
          <a:lstStyle>
            <a:lvl1pPr marL="0" indent="0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589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179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768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358" defTabSz="412731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Sous-titre de la présentation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xfrm>
            <a:off x="8778241" y="6377941"/>
            <a:ext cx="2804160" cy="16797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520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A64BE-BEE1-4CE5-6C69-CA69FBB9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477EF-0D76-A33A-5BB0-7AEFEEAC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6365-0271-619D-A443-422FAE144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79AD9-1AC4-484F-A4CB-FC97405C664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BE5B-D061-9370-529D-CE2A824C2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EC449-67B0-08A3-9917-701FE7A3A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34E45-A109-4C18-A02A-6BDF55EE0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8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&amp;f=1&amp;nofb=1&amp;ipt=909ef0dfdc201e156e31ddf72a3f4fe79a93ba01b1edcc6aae1424f3cf49cc8e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&amp;f=1&amp;nofb=1&amp;ipt=1473a1838754dbd1f4523b116bfeb86bf8b7d41fe58dc824dc971b06adf1eb0f"/><Relationship Id="rId2" Type="http://schemas.openxmlformats.org/officeDocument/2006/relationships/image" Target="../media/image9.png&amp;f=1&amp;nofb=1&amp;ipt=dcf3adfed8ec808d43b4358a40f0becae23cfea0901d78217b1c90ad82a5c600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&amp;f=1&amp;nofb=1&amp;ipt=d49a34231519d9cd5097a9279df5fba9aa0263d5bc2592b5e7ea12da53508bd9"/><Relationship Id="rId2" Type="http://schemas.openxmlformats.org/officeDocument/2006/relationships/image" Target="../media/image16.png&amp;f=1&amp;nofb=1&amp;ipt=c8549bca4c5caaed0ae69862d8f9b710847c268f953361cec0db815e85545df5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International_Standard_Book_Number" TargetMode="External"/><Relationship Id="rId2" Type="http://schemas.openxmlformats.org/officeDocument/2006/relationships/hyperlink" Target="https://fr.wikipedia.org/wiki/Les_&#201;ditions_de_minuit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r.wikipedia.org/wiki/Sp&#233;cial:Ouvrages_de_r&#233;f&#233;rence/978-2-7073-0298-4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&amp;f=1&amp;nofb=1&amp;ipt=c8cd20df8c8e6815ebcb1e7129d79953c1b13510b8612f6fb77823db2c67576a"/><Relationship Id="rId2" Type="http://schemas.openxmlformats.org/officeDocument/2006/relationships/image" Target="../media/image19.jpg&amp;f=1&amp;nofb=1&amp;ipt=6f37adf1cb79b3653fa7d2b6503a81bee120e4acd021d23591364501ee29ca40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&amp;f=1&amp;nofb=1&amp;ipt=8e9069b99d65f61f1d4bee1de629a276086674085c594ae50838bc291fd1f803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&amp;f=1&amp;nofb=1&amp;ipt=7692288615e979b6a6e23eabc9d2db0ced01e820b5f956caaa8a120c4c3134c3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80/0022250X.1971.9989794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org&amp;utm_campaign=parser&amp;utm_content=thumbnai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&amp;f=1&amp;nofb=1&amp;ipt=254fd7d097d98dca69479457b478bc8a7a1ca8a4146bb4a77e9edaea2eb69281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nCaGBsBOxM" TargetMode="Externa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jp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&amp;f=1&amp;nofb=1&amp;ipt=9f29f2a2100ba46f2962d932d858a84f4224fb62a41f8f8315ac557dfb1b90ad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3"/>
          <p:cNvSpPr/>
          <p:nvPr/>
        </p:nvSpPr>
        <p:spPr>
          <a:xfrm>
            <a:off x="2131866" y="1959239"/>
            <a:ext cx="7926208" cy="14500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4354" b="1">
                <a:solidFill>
                  <a:schemeClr val="dk1"/>
                </a:solidFill>
                <a:latin typeface="Avenir Next LT Pro"/>
              </a:rPr>
              <a:t>(DAT501) Sociology: Theory and Methods</a:t>
            </a:r>
            <a:endParaRPr lang="fr-FR" sz="435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2" descr="Université Mohammed VI Polytechnique — Wikipédia"/>
          <p:cNvPicPr/>
          <p:nvPr/>
        </p:nvPicPr>
        <p:blipFill>
          <a:blip r:embed="rId2"/>
          <a:stretch/>
        </p:blipFill>
        <p:spPr>
          <a:xfrm>
            <a:off x="9436778" y="0"/>
            <a:ext cx="2753383" cy="18791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ZoneTexte 5"/>
          <p:cNvSpPr/>
          <p:nvPr/>
        </p:nvSpPr>
        <p:spPr>
          <a:xfrm>
            <a:off x="2131866" y="5484127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 Sijilmassi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ZoneTexte 6"/>
          <p:cNvSpPr/>
          <p:nvPr/>
        </p:nvSpPr>
        <p:spPr>
          <a:xfrm>
            <a:off x="214" y="4391742"/>
            <a:ext cx="12190382" cy="5566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2903" dirty="0">
                <a:solidFill>
                  <a:schemeClr val="dk1"/>
                </a:solidFill>
                <a:latin typeface="Avenir Next LT Pro"/>
              </a:rPr>
              <a:t>Weeks 3: </a:t>
            </a:r>
            <a:r>
              <a:rPr lang="fr-MA" sz="2903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903" dirty="0">
                <a:solidFill>
                  <a:schemeClr val="dk1"/>
                </a:solidFill>
                <a:latin typeface="Avenir Next LT Pro"/>
              </a:rPr>
              <a:t> and Structures</a:t>
            </a:r>
            <a:endParaRPr lang="fr-FR" sz="290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ZoneTexte 7"/>
          <p:cNvSpPr/>
          <p:nvPr/>
        </p:nvSpPr>
        <p:spPr>
          <a:xfrm>
            <a:off x="2131866" y="5822422"/>
            <a:ext cx="7926208" cy="407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spAutoFit/>
          </a:bodyPr>
          <a:lstStyle/>
          <a:p>
            <a:pPr algn="ctr" defTabSz="1105875"/>
            <a:r>
              <a:rPr lang="fr-MA" sz="1935">
                <a:solidFill>
                  <a:schemeClr val="dk1"/>
                </a:solidFill>
                <a:latin typeface="Avenir Next LT Pro"/>
              </a:rPr>
              <a:t>amine.sijilmassi@um6p.ma</a:t>
            </a:r>
            <a:endParaRPr lang="fr-FR" sz="193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FEC9450A-CB2F-4E8A-8F88-D29422F2C043}"/>
              </a:ext>
            </a:extLst>
          </p:cNvPr>
          <p:cNvSpPr/>
          <p:nvPr/>
        </p:nvSpPr>
        <p:spPr>
          <a:xfrm>
            <a:off x="216" y="0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I)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debates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we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won’t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address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E8D87391-75A3-35F0-F436-62230AEE95FA}"/>
              </a:ext>
            </a:extLst>
          </p:cNvPr>
          <p:cNvSpPr/>
          <p:nvPr/>
        </p:nvSpPr>
        <p:spPr>
          <a:xfrm>
            <a:off x="216" y="2272130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II) The Cultural and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Agentic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B5C0840A-E67E-34D3-D110-470F8828BB68}"/>
              </a:ext>
            </a:extLst>
          </p:cNvPr>
          <p:cNvSpPr/>
          <p:nvPr/>
        </p:nvSpPr>
        <p:spPr>
          <a:xfrm>
            <a:off x="216" y="482136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Determinism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Contingency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1DCC73CA-D2BD-138F-2745-3030FFC7976D}"/>
              </a:ext>
            </a:extLst>
          </p:cNvPr>
          <p:cNvSpPr/>
          <p:nvPr/>
        </p:nvSpPr>
        <p:spPr>
          <a:xfrm>
            <a:off x="216" y="964272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Objectivism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Subjectivism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E11404DD-8866-96EE-4CE1-1351E083EEE4}"/>
              </a:ext>
            </a:extLst>
          </p:cNvPr>
          <p:cNvSpPr/>
          <p:nvPr/>
        </p:nvSpPr>
        <p:spPr>
          <a:xfrm>
            <a:off x="216" y="1455644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Individualism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E11938FF-3ADB-45D5-1943-B63D560FF42F}"/>
              </a:ext>
            </a:extLst>
          </p:cNvPr>
          <p:cNvSpPr/>
          <p:nvPr/>
        </p:nvSpPr>
        <p:spPr>
          <a:xfrm>
            <a:off x="215" y="2821626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Workshop: Social class and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 The case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education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ZoneTexte 29">
            <a:extLst>
              <a:ext uri="{FF2B5EF4-FFF2-40B4-BE49-F238E27FC236}">
                <a16:creationId xmlns:a16="http://schemas.microsoft.com/office/drawing/2014/main" id="{7A5151C5-8012-6354-FF9F-FCB0C8612452}"/>
              </a:ext>
            </a:extLst>
          </p:cNvPr>
          <p:cNvSpPr/>
          <p:nvPr/>
        </p:nvSpPr>
        <p:spPr>
          <a:xfrm>
            <a:off x="216" y="3312998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« Cultural » and « 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schools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thought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ZoneTexte 29">
            <a:extLst>
              <a:ext uri="{FF2B5EF4-FFF2-40B4-BE49-F238E27FC236}">
                <a16:creationId xmlns:a16="http://schemas.microsoft.com/office/drawing/2014/main" id="{21802CEC-9D69-F4E7-681D-1DED3E0F2878}"/>
              </a:ext>
            </a:extLst>
          </p:cNvPr>
          <p:cNvSpPr/>
          <p:nvPr/>
        </p:nvSpPr>
        <p:spPr>
          <a:xfrm>
            <a:off x="216" y="3862495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Limitations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both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approaches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03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36BC184D-8ED7-39F7-6CE1-481B35AC7AAE}"/>
              </a:ext>
            </a:extLst>
          </p:cNvPr>
          <p:cNvSpPr/>
          <p:nvPr/>
        </p:nvSpPr>
        <p:spPr>
          <a:xfrm>
            <a:off x="0" y="2113935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I)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debates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we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won’t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address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1EE6BA92-9ECB-ABE2-D2C0-FAD82F804B95}"/>
              </a:ext>
            </a:extLst>
          </p:cNvPr>
          <p:cNvSpPr/>
          <p:nvPr/>
        </p:nvSpPr>
        <p:spPr>
          <a:xfrm>
            <a:off x="0" y="259607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A)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Determinism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Contingency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E2268803-C9CF-4DE1-229F-73F84411161F}"/>
              </a:ext>
            </a:extLst>
          </p:cNvPr>
          <p:cNvSpPr/>
          <p:nvPr/>
        </p:nvSpPr>
        <p:spPr>
          <a:xfrm>
            <a:off x="0" y="3078207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Objectivism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Subjectivism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C02E661E-4658-0F3A-458B-1A2CBA3D3EA0}"/>
              </a:ext>
            </a:extLst>
          </p:cNvPr>
          <p:cNvSpPr/>
          <p:nvPr/>
        </p:nvSpPr>
        <p:spPr>
          <a:xfrm>
            <a:off x="0" y="3569579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Individualism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377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52C6920C-41AD-A5C2-B6B9-A0500750B536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Determinism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vs. contingence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DD7F831C-02CA-A90B-181E-D0E35138A2D3}"/>
              </a:ext>
            </a:extLst>
          </p:cNvPr>
          <p:cNvSpPr/>
          <p:nvPr/>
        </p:nvSpPr>
        <p:spPr>
          <a:xfrm>
            <a:off x="0" y="2722568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Are social agents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strictly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determined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the structure in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which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are,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there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room for contingence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personal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agency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within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these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structures?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441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2218DB12-7FF1-3E2D-A214-628BB6DF7BCF}"/>
              </a:ext>
            </a:extLst>
          </p:cNvPr>
          <p:cNvSpPr/>
          <p:nvPr/>
        </p:nvSpPr>
        <p:spPr>
          <a:xfrm>
            <a:off x="0" y="2722568"/>
            <a:ext cx="1197569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Traditionally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sociology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leans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deterministic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47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/>
          <p:cNvPicPr/>
          <p:nvPr/>
        </p:nvPicPr>
        <p:blipFill>
          <a:blip r:embed="rId2"/>
          <a:stretch/>
        </p:blipFill>
        <p:spPr>
          <a:xfrm>
            <a:off x="8101781" y="1045460"/>
            <a:ext cx="3996418" cy="262197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/>
          <p:cNvSpPr/>
          <p:nvPr/>
        </p:nvSpPr>
        <p:spPr>
          <a:xfrm>
            <a:off x="270690" y="2188501"/>
            <a:ext cx="10823091" cy="3905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478" rIns="0" bIns="0" anchor="t">
            <a:spAutoFit/>
          </a:bodyPr>
          <a:lstStyle/>
          <a:p>
            <a:pPr marL="22049">
              <a:spcBef>
                <a:spcPts val="82"/>
              </a:spcBef>
            </a:pPr>
            <a:r>
              <a:rPr lang="fr-FR" sz="2728" i="1" spc="-79" dirty="0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728" i="1" spc="-45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-33" dirty="0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0000"/>
                </a:solidFill>
                <a:latin typeface="Arial"/>
              </a:rPr>
              <a:t>de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0000"/>
                </a:solidFill>
                <a:latin typeface="Arial"/>
              </a:rPr>
              <a:t>la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48" dirty="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spc="-7" dirty="0">
                <a:solidFill>
                  <a:srgbClr val="000000"/>
                </a:solidFill>
                <a:latin typeface="Arial MT"/>
              </a:rPr>
              <a:t>(1894)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95"/>
              </a:spcBef>
            </a:pP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355832" indent="-348409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356486" algn="l"/>
              </a:tabLst>
            </a:pPr>
            <a:r>
              <a:rPr lang="fr-FR" sz="2728" dirty="0" err="1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 err="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728" spc="-12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48" dirty="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728" spc="-12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79" dirty="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b="1" spc="-73" dirty="0">
                <a:solidFill>
                  <a:srgbClr val="D31876"/>
                </a:solidFill>
                <a:latin typeface="Arial"/>
              </a:rPr>
              <a:t>“social </a:t>
            </a:r>
            <a:r>
              <a:rPr lang="fr-FR" sz="2728" b="1" spc="-7" dirty="0" err="1">
                <a:solidFill>
                  <a:srgbClr val="D31876"/>
                </a:solidFill>
                <a:latin typeface="Arial"/>
              </a:rPr>
              <a:t>facts</a:t>
            </a:r>
            <a:r>
              <a:rPr lang="fr-FR" sz="2728" b="1" spc="-7" dirty="0">
                <a:solidFill>
                  <a:srgbClr val="D31876"/>
                </a:solidFill>
                <a:latin typeface="Arial"/>
              </a:rPr>
              <a:t>”</a:t>
            </a:r>
            <a:r>
              <a:rPr lang="fr-FR" sz="2728" spc="-7" dirty="0">
                <a:solidFill>
                  <a:srgbClr val="000000"/>
                </a:solidFill>
                <a:latin typeface="Arial MT"/>
              </a:rPr>
              <a:t>: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653813" algn="ctr">
              <a:lnSpc>
                <a:spcPct val="114000"/>
              </a:lnSpc>
              <a:spcBef>
                <a:spcPts val="1983"/>
              </a:spcBef>
              <a:tabLst>
                <a:tab pos="2910615" algn="l"/>
              </a:tabLst>
            </a:pPr>
            <a:r>
              <a:rPr lang="fr-FR" sz="2728" spc="-7" dirty="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728" spc="-14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 err="1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728" spc="-14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206" dirty="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728" dirty="0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728" b="1" i="1" spc="12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de</a:t>
            </a:r>
            <a:r>
              <a:rPr lang="fr-FR" sz="2728" i="1" spc="-33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7" dirty="0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728" b="1" i="1" spc="16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9" dirty="0">
                <a:solidFill>
                  <a:srgbClr val="0076BA"/>
                </a:solidFill>
                <a:latin typeface="Arial"/>
              </a:rPr>
              <a:t>et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de</a:t>
            </a:r>
            <a:r>
              <a:rPr lang="fr-FR" sz="2728" i="1" spc="-33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7" dirty="0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728" i="1" spc="-7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3" dirty="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-12" dirty="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728" b="1" i="1" spc="19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à</a:t>
            </a:r>
            <a:r>
              <a:rPr lang="fr-FR" sz="2728" b="1" i="1" spc="2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19" dirty="0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728" i="1" spc="-19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9" dirty="0">
                <a:solidFill>
                  <a:srgbClr val="0076BA"/>
                </a:solidFill>
                <a:latin typeface="Arial"/>
              </a:rPr>
              <a:t>et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3" dirty="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40" dirty="0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64" dirty="0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48" dirty="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60" dirty="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728" b="1" i="1" spc="-24" dirty="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728" b="1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en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du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52" dirty="0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24" dirty="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728" b="1" i="1" spc="7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à</a:t>
            </a:r>
            <a:r>
              <a:rPr lang="fr-FR" sz="2728" b="1" i="1" spc="7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68" dirty="0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728" i="1" spc="68" dirty="0">
                <a:solidFill>
                  <a:srgbClr val="0076BA"/>
                </a:solidFill>
                <a:latin typeface="Arial"/>
              </a:rPr>
              <a:t>”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"/>
              </a:spcBef>
              <a:tabLst>
                <a:tab pos="2910615" algn="l"/>
              </a:tabLst>
            </a:pP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596400" algn="ctr">
              <a:tabLst>
                <a:tab pos="2910615" algn="l"/>
              </a:tabLst>
            </a:pPr>
            <a:r>
              <a:rPr lang="fr-FR" sz="2517" b="1" u="sng" spc="-1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517" b="1"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51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6582" y="25979"/>
            <a:ext cx="11203596" cy="1295527"/>
          </a:xfrm>
          <a:prstGeom prst="rect">
            <a:avLst/>
          </a:prstGeom>
          <a:noFill/>
          <a:ln w="0">
            <a:noFill/>
          </a:ln>
        </p:spPr>
        <p:txBody>
          <a:bodyPr vert="horz" lIns="0" tIns="190798" rIns="0" bIns="0" rtlCol="0" anchor="t">
            <a:spAutoFit/>
          </a:bodyPr>
          <a:lstStyle/>
          <a:p>
            <a:pPr marL="276806">
              <a:lnSpc>
                <a:spcPts val="4318"/>
              </a:lnSpc>
              <a:spcBef>
                <a:spcPts val="556"/>
              </a:spcBef>
            </a:pPr>
            <a:r>
              <a:rPr lang="fr-FR" sz="3941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941" b="1" spc="-127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31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81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941" b="1" spc="-91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1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258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941" b="1" spc="-200">
                <a:solidFill>
                  <a:schemeClr val="dk1"/>
                </a:solidFill>
                <a:latin typeface="Arial"/>
              </a:rPr>
              <a:t>facts</a:t>
            </a:r>
            <a:endParaRPr lang="fr-FR" sz="394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se-superstructure – Literary Theory and Criticism">
            <a:extLst>
              <a:ext uri="{FF2B5EF4-FFF2-40B4-BE49-F238E27FC236}">
                <a16:creationId xmlns:a16="http://schemas.microsoft.com/office/drawing/2014/main" id="{BEF24BF0-2143-1C13-84E5-9BBF0045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01" y="928858"/>
            <a:ext cx="5511562" cy="5511562"/>
          </a:xfrm>
          <a:prstGeom prst="rect">
            <a:avLst/>
          </a:prstGeom>
        </p:spPr>
      </p:pic>
      <p:sp>
        <p:nvSpPr>
          <p:cNvPr id="6" name="ZoneTexte 29">
            <a:extLst>
              <a:ext uri="{FF2B5EF4-FFF2-40B4-BE49-F238E27FC236}">
                <a16:creationId xmlns:a16="http://schemas.microsoft.com/office/drawing/2014/main" id="{CA8D15E9-A1BC-E6C4-6DF7-62068951CBD7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Marxism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67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A6656BFA-BB6D-E6AA-B4FF-1F4459F469ED}"/>
              </a:ext>
            </a:extLst>
          </p:cNvPr>
          <p:cNvSpPr/>
          <p:nvPr/>
        </p:nvSpPr>
        <p:spPr>
          <a:xfrm>
            <a:off x="0" y="0"/>
            <a:ext cx="1197569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800" b="1" dirty="0">
                <a:solidFill>
                  <a:schemeClr val="dk1"/>
                </a:solidFill>
                <a:latin typeface="Avenir Next LT Pro"/>
              </a:rPr>
              <a:t>Other </a:t>
            </a:r>
            <a:r>
              <a:rPr lang="fr-MA" sz="2800" b="1" dirty="0" err="1">
                <a:solidFill>
                  <a:schemeClr val="dk1"/>
                </a:solidFill>
                <a:latin typeface="Avenir Next LT Pro"/>
              </a:rPr>
              <a:t>approaches</a:t>
            </a:r>
            <a:r>
              <a:rPr lang="fr-MA" sz="28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dirty="0" err="1">
                <a:solidFill>
                  <a:schemeClr val="dk1"/>
                </a:solidFill>
                <a:latin typeface="Avenir Next LT Pro"/>
              </a:rPr>
              <a:t>lean</a:t>
            </a:r>
            <a:r>
              <a:rPr lang="fr-MA" sz="2800" b="1" dirty="0">
                <a:solidFill>
                  <a:schemeClr val="dk1"/>
                </a:solidFill>
                <a:latin typeface="Avenir Next LT Pro"/>
              </a:rPr>
              <a:t> more </a:t>
            </a:r>
            <a:r>
              <a:rPr lang="fr-MA" sz="2800" b="1" dirty="0" err="1">
                <a:solidFill>
                  <a:schemeClr val="dk1"/>
                </a:solidFill>
                <a:latin typeface="Avenir Next LT Pro"/>
              </a:rPr>
              <a:t>towards</a:t>
            </a:r>
            <a:r>
              <a:rPr lang="fr-MA" sz="28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dirty="0" err="1">
                <a:solidFill>
                  <a:schemeClr val="dk1"/>
                </a:solidFill>
                <a:latin typeface="Avenir Next LT Pro"/>
              </a:rPr>
              <a:t>symbolic</a:t>
            </a:r>
            <a:r>
              <a:rPr lang="fr-MA" sz="28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800" b="1" dirty="0" err="1">
                <a:solidFill>
                  <a:schemeClr val="dk1"/>
                </a:solidFill>
                <a:latin typeface="Avenir Next LT Pro"/>
              </a:rPr>
              <a:t>interactionism</a:t>
            </a:r>
            <a:endParaRPr lang="fr-FR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Outsiders eBook by Howard S. Becker | Official Publisher Page | Simon &amp;  Schuster UK">
            <a:extLst>
              <a:ext uri="{FF2B5EF4-FFF2-40B4-BE49-F238E27FC236}">
                <a16:creationId xmlns:a16="http://schemas.microsoft.com/office/drawing/2014/main" id="{159E0F35-61A9-69F4-AB36-5361D6598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851" y="1297776"/>
            <a:ext cx="3493027" cy="5228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673C03-F60F-B73B-3B72-7F7E1906B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30" y="521766"/>
            <a:ext cx="4991479" cy="617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6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54797A7-D337-C9B3-86F5-D84A4DC7476C}"/>
              </a:ext>
            </a:extLst>
          </p:cNvPr>
          <p:cNvSpPr/>
          <p:nvPr/>
        </p:nvSpPr>
        <p:spPr>
          <a:xfrm>
            <a:off x="0" y="0"/>
            <a:ext cx="1219200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This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debate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perhaps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most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pronounced</a:t>
            </a:r>
            <a:r>
              <a:rPr lang="fr-MA" sz="3200" b="1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3200" b="1" dirty="0" err="1">
                <a:solidFill>
                  <a:schemeClr val="dk1"/>
                </a:solidFill>
                <a:latin typeface="Avenir Next LT Pro"/>
              </a:rPr>
              <a:t>history</a:t>
            </a:r>
            <a:endParaRPr lang="fr-FR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985C0-28DE-E2D0-DF19-68B2EBE57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65497"/>
            <a:ext cx="5171765" cy="5837507"/>
          </a:xfrm>
          <a:prstGeom prst="rect">
            <a:avLst/>
          </a:prstGeom>
        </p:spPr>
      </p:pic>
      <p:pic>
        <p:nvPicPr>
          <p:cNvPr id="8" name="Picture 7" descr="The Cultural Origins of the French Revolution by Roger Chartier, Lydia ...">
            <a:extLst>
              <a:ext uri="{FF2B5EF4-FFF2-40B4-BE49-F238E27FC236}">
                <a16:creationId xmlns:a16="http://schemas.microsoft.com/office/drawing/2014/main" id="{3DC8F9F9-2E36-C588-75E1-8CF797101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0" y="765497"/>
            <a:ext cx="3555898" cy="573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0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4EA5AC6B-A917-1147-1978-3C77EE97ED55}"/>
              </a:ext>
            </a:extLst>
          </p:cNvPr>
          <p:cNvSpPr/>
          <p:nvPr/>
        </p:nvSpPr>
        <p:spPr>
          <a:xfrm>
            <a:off x="0" y="2722568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Today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would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say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most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leans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towards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emphasis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on contingence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rather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than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causal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laws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understand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historical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change 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95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eresta Books">
            <a:extLst>
              <a:ext uri="{FF2B5EF4-FFF2-40B4-BE49-F238E27FC236}">
                <a16:creationId xmlns:a16="http://schemas.microsoft.com/office/drawing/2014/main" id="{B037C304-C6B1-22D4-4896-3476FBED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85" y="851840"/>
            <a:ext cx="3218118" cy="5154562"/>
          </a:xfrm>
          <a:prstGeom prst="rect">
            <a:avLst/>
          </a:prstGeom>
        </p:spPr>
      </p:pic>
      <p:pic>
        <p:nvPicPr>
          <p:cNvPr id="5" name="Picture 4" descr="Why Nations Fail Goodreads : Why Nations Fail : The Origins of Power ...">
            <a:extLst>
              <a:ext uri="{FF2B5EF4-FFF2-40B4-BE49-F238E27FC236}">
                <a16:creationId xmlns:a16="http://schemas.microsoft.com/office/drawing/2014/main" id="{A60CB509-192B-681A-EF5F-EFB16810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617" y="851597"/>
            <a:ext cx="5154805" cy="515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5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6C986C-7B02-7A14-E7B3-D550F466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6" y="601735"/>
            <a:ext cx="10478408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2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19F6C2-887E-FCE2-B214-97E9114F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58" y="563631"/>
            <a:ext cx="10653683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35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B4414F-8C1A-F8E4-05E4-2438C3A2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82" y="449322"/>
            <a:ext cx="10562235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01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5CE3E5-485E-C6B1-35BE-93C9F3014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85" y="510287"/>
            <a:ext cx="10486029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D5A84C-A77C-4EA7-8A98-B59072710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2" y="449322"/>
            <a:ext cx="10554615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0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947D6B4-490A-13B8-21BA-298EAB953C51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Overall…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BACE8E65-09E0-CD24-CC3B-F46E3DFEFC84}"/>
              </a:ext>
            </a:extLst>
          </p:cNvPr>
          <p:cNvSpPr/>
          <p:nvPr/>
        </p:nvSpPr>
        <p:spPr>
          <a:xfrm>
            <a:off x="0" y="1080581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Are social agents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strictly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determined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by the structure in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which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are,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there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room for contingence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personal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agency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within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these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structures?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013B5D63-7DBA-E1C9-E7F3-E15B0BDD3833}"/>
              </a:ext>
            </a:extLst>
          </p:cNvPr>
          <p:cNvSpPr/>
          <p:nvPr/>
        </p:nvSpPr>
        <p:spPr>
          <a:xfrm>
            <a:off x="0" y="2039226"/>
            <a:ext cx="1219200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Not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important,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because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most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people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agree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on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something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like « 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probabilistic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determinism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2DE83244-45D4-5D1A-1220-8326EDB6E2D8}"/>
              </a:ext>
            </a:extLst>
          </p:cNvPr>
          <p:cNvSpPr/>
          <p:nvPr/>
        </p:nvSpPr>
        <p:spPr>
          <a:xfrm>
            <a:off x="0" y="2645330"/>
            <a:ext cx="121920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Most people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agree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structural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constraints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play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role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…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including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RCT and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other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approaches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reputation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 »!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0634FADE-C63F-92C1-29F9-71117F6D58EC}"/>
              </a:ext>
            </a:extLst>
          </p:cNvPr>
          <p:cNvSpPr/>
          <p:nvPr/>
        </p:nvSpPr>
        <p:spPr>
          <a:xfrm>
            <a:off x="0" y="3559211"/>
            <a:ext cx="121920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RCT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also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deterministic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 »: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are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assumed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predictible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and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react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predictibly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external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constraints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(e.g.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prices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quality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products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available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options…)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60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6DCE2-8C97-85CC-CF14-447DDB64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8B06540C-9080-3241-03F4-79068967C420}"/>
              </a:ext>
            </a:extLst>
          </p:cNvPr>
          <p:cNvSpPr/>
          <p:nvPr/>
        </p:nvSpPr>
        <p:spPr>
          <a:xfrm>
            <a:off x="0" y="2113935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I)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debates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we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won’t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address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DB0539F4-3ABF-4059-5E12-058474C05D6B}"/>
              </a:ext>
            </a:extLst>
          </p:cNvPr>
          <p:cNvSpPr/>
          <p:nvPr/>
        </p:nvSpPr>
        <p:spPr>
          <a:xfrm>
            <a:off x="0" y="259607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Determinism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Contingency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AEECBE15-ADEE-2EAD-5ACD-00535142D724}"/>
              </a:ext>
            </a:extLst>
          </p:cNvPr>
          <p:cNvSpPr/>
          <p:nvPr/>
        </p:nvSpPr>
        <p:spPr>
          <a:xfrm>
            <a:off x="0" y="3078207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B)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Objectivism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Subjectivism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C134ACE8-AE6D-25F3-96C6-B0C86AFFA1F2}"/>
              </a:ext>
            </a:extLst>
          </p:cNvPr>
          <p:cNvSpPr/>
          <p:nvPr/>
        </p:nvSpPr>
        <p:spPr>
          <a:xfrm>
            <a:off x="0" y="3569579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Individualism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2168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FF9F-2AE6-30CF-BCDA-EDFFE558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9309227-BED4-9BF1-6503-F5051C57FD34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Objectivism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vs.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subjectivism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A9DFEC91-738B-F22E-53DE-5E46440FB0DF}"/>
              </a:ext>
            </a:extLst>
          </p:cNvPr>
          <p:cNvSpPr/>
          <p:nvPr/>
        </p:nvSpPr>
        <p:spPr>
          <a:xfrm>
            <a:off x="0" y="1965484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Is society an objective reality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studied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scientifically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does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onl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exist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through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eyes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who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give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meaning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402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170A53D-955C-74B3-062D-B605192BAAE2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« The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interpretive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turn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 descr="Clifford Geertz on Contemporary Approaches &amp; 15 Important Qs">
            <a:extLst>
              <a:ext uri="{FF2B5EF4-FFF2-40B4-BE49-F238E27FC236}">
                <a16:creationId xmlns:a16="http://schemas.microsoft.com/office/drawing/2014/main" id="{5EC28C92-ECF7-769D-061D-D5A20EDD8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629" y="1120877"/>
            <a:ext cx="4763183" cy="2679290"/>
          </a:xfrm>
          <a:prstGeom prst="rect">
            <a:avLst/>
          </a:prstGeom>
        </p:spPr>
      </p:pic>
      <p:pic>
        <p:nvPicPr>
          <p:cNvPr id="7" name="Picture 6" descr="The Interpretation Of Cultures by Clifford Geertz &amp; Tim Dixon ...">
            <a:extLst>
              <a:ext uri="{FF2B5EF4-FFF2-40B4-BE49-F238E27FC236}">
                <a16:creationId xmlns:a16="http://schemas.microsoft.com/office/drawing/2014/main" id="{97408803-1FDC-CE5E-84D8-BAB88ED06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4" y="1305583"/>
            <a:ext cx="5220931" cy="52209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C1E473-81A2-BE16-E3C9-96F5D2D735BE}"/>
              </a:ext>
            </a:extLst>
          </p:cNvPr>
          <p:cNvSpPr txBox="1"/>
          <p:nvPr/>
        </p:nvSpPr>
        <p:spPr>
          <a:xfrm>
            <a:off x="6442860" y="3953001"/>
            <a:ext cx="55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man is an animal suspended in webs of significance he himself has spun, I take culture to be those webs</a:t>
            </a:r>
            <a:r>
              <a:rPr lang="en-US" dirty="0"/>
              <a:t>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438D95-5613-6336-FFF7-1C3B2A615421}"/>
              </a:ext>
            </a:extLst>
          </p:cNvPr>
          <p:cNvSpPr txBox="1"/>
          <p:nvPr/>
        </p:nvSpPr>
        <p:spPr>
          <a:xfrm>
            <a:off x="6096000" y="5136958"/>
            <a:ext cx="58796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‘</a:t>
            </a:r>
            <a:r>
              <a:rPr lang="en-US" b="1" dirty="0"/>
              <a:t>Thick description</a:t>
            </a:r>
            <a:r>
              <a:rPr lang="en-US" dirty="0"/>
              <a:t>”: the task of the social scientist is to describe social interactions in a thick way, to reconstruct the deep subjective meaning of every aspect of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490159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3A3317-37AE-0D26-8C20-587123168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30" y="1542886"/>
            <a:ext cx="8314140" cy="3772227"/>
          </a:xfrm>
          <a:prstGeom prst="rect">
            <a:avLst/>
          </a:prstGeom>
        </p:spPr>
      </p:pic>
      <p:sp>
        <p:nvSpPr>
          <p:cNvPr id="7" name="ZoneTexte 29">
            <a:extLst>
              <a:ext uri="{FF2B5EF4-FFF2-40B4-BE49-F238E27FC236}">
                <a16:creationId xmlns:a16="http://schemas.microsoft.com/office/drawing/2014/main" id="{B64CB8C1-57B6-DADB-5CF1-935E3A972B58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Max Weber has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this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reputation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also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1504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3D9B-BAC2-5112-1F64-DF417348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CAE8442B-9FBB-B648-BF5E-314483BE0E31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Objectivism</a:t>
            </a:r>
            <a:r>
              <a:rPr lang="fr-MA" sz="36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vs. </a:t>
            </a:r>
            <a:r>
              <a:rPr lang="fr-MA" sz="36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subjectivism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A21CD7A0-879B-CE5B-5DC7-7B39E72DE052}"/>
              </a:ext>
            </a:extLst>
          </p:cNvPr>
          <p:cNvSpPr/>
          <p:nvPr/>
        </p:nvSpPr>
        <p:spPr>
          <a:xfrm>
            <a:off x="0" y="1965484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Is society an objective reality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can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studied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scientifically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, or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does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onl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exist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through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eyes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who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give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meaning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9">
            <a:extLst>
              <a:ext uri="{FF2B5EF4-FFF2-40B4-BE49-F238E27FC236}">
                <a16:creationId xmlns:a16="http://schemas.microsoft.com/office/drawing/2014/main" id="{68424E23-B6D5-6B43-665F-CF76F6B0AFD0}"/>
              </a:ext>
            </a:extLst>
          </p:cNvPr>
          <p:cNvSpPr/>
          <p:nvPr/>
        </p:nvSpPr>
        <p:spPr>
          <a:xfrm>
            <a:off x="521110" y="2766813"/>
            <a:ext cx="1167089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In the se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cond case,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raises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question if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even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still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science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ZoneTexte 29">
            <a:extLst>
              <a:ext uri="{FF2B5EF4-FFF2-40B4-BE49-F238E27FC236}">
                <a16:creationId xmlns:a16="http://schemas.microsoft.com/office/drawing/2014/main" id="{4EDDA062-F01C-A2E2-DFAA-8A72E1ADB692}"/>
              </a:ext>
            </a:extLst>
          </p:cNvPr>
          <p:cNvSpPr/>
          <p:nvPr/>
        </p:nvSpPr>
        <p:spPr>
          <a:xfrm>
            <a:off x="521110" y="3429000"/>
            <a:ext cx="1167089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Most social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scientists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today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recognize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objective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features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outside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minds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do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play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role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in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their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actions and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behaviors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even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while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recognizing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importance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considering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subjectivity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BC8DC2B4-B317-4B51-A76F-9E43E327FEDE}"/>
              </a:ext>
            </a:extLst>
          </p:cNvPr>
          <p:cNvSpPr/>
          <p:nvPr/>
        </p:nvSpPr>
        <p:spPr>
          <a:xfrm>
            <a:off x="521110" y="4706741"/>
            <a:ext cx="1167089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Moving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past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debate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one of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reason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Pierre Bourdieu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important: « habitus »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social incorporé »: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it’s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an objective reality (like,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one’s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objective position in society)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shapes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 subjective life (e.g.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tastes,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mannerisms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relationship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my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body, etc…)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1193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23F2B-27BE-4A29-EE8A-B8FCD897A33A}"/>
              </a:ext>
            </a:extLst>
          </p:cNvPr>
          <p:cNvSpPr txBox="1"/>
          <p:nvPr/>
        </p:nvSpPr>
        <p:spPr>
          <a:xfrm>
            <a:off x="0" y="1584799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Avenir Next LT Pro" panose="020B0504020202020204" pitchFamily="34" charset="0"/>
              </a:rPr>
              <a:t>Les </a:t>
            </a:r>
            <a:r>
              <a:rPr lang="en-US" sz="2000" i="1" dirty="0" err="1">
                <a:latin typeface="Avenir Next LT Pro" panose="020B0504020202020204" pitchFamily="34" charset="0"/>
              </a:rPr>
              <a:t>conditionnements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associés</a:t>
            </a:r>
            <a:r>
              <a:rPr lang="en-US" sz="2000" i="1" dirty="0">
                <a:latin typeface="Avenir Next LT Pro" panose="020B0504020202020204" pitchFamily="34" charset="0"/>
              </a:rPr>
              <a:t> à </a:t>
            </a:r>
            <a:r>
              <a:rPr lang="en-US" sz="2000" i="1" dirty="0" err="1">
                <a:latin typeface="Avenir Next LT Pro" panose="020B0504020202020204" pitchFamily="34" charset="0"/>
              </a:rPr>
              <a:t>une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classe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particulière</a:t>
            </a:r>
            <a:r>
              <a:rPr lang="en-US" sz="2000" i="1" dirty="0">
                <a:latin typeface="Avenir Next LT Pro" panose="020B0504020202020204" pitchFamily="34" charset="0"/>
              </a:rPr>
              <a:t> de conditions </a:t>
            </a:r>
            <a:r>
              <a:rPr lang="en-US" sz="2000" i="1" dirty="0" err="1">
                <a:latin typeface="Avenir Next LT Pro" panose="020B0504020202020204" pitchFamily="34" charset="0"/>
              </a:rPr>
              <a:t>d’existence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produisent</a:t>
            </a:r>
            <a:r>
              <a:rPr lang="en-US" sz="2000" i="1" dirty="0">
                <a:latin typeface="Avenir Next LT Pro" panose="020B0504020202020204" pitchFamily="34" charset="0"/>
              </a:rPr>
              <a:t> des habitus, </a:t>
            </a:r>
            <a:r>
              <a:rPr lang="en-US" sz="2000" i="1" dirty="0" err="1">
                <a:latin typeface="Avenir Next LT Pro" panose="020B0504020202020204" pitchFamily="34" charset="0"/>
              </a:rPr>
              <a:t>systèmes</a:t>
            </a:r>
            <a:r>
              <a:rPr lang="en-US" sz="2000" i="1" dirty="0">
                <a:latin typeface="Avenir Next LT Pro" panose="020B0504020202020204" pitchFamily="34" charset="0"/>
              </a:rPr>
              <a:t> de dispositions durables et </a:t>
            </a:r>
            <a:r>
              <a:rPr lang="en-US" sz="2000" i="1" dirty="0" err="1">
                <a:latin typeface="Avenir Next LT Pro" panose="020B0504020202020204" pitchFamily="34" charset="0"/>
              </a:rPr>
              <a:t>transposables</a:t>
            </a:r>
            <a:r>
              <a:rPr lang="en-US" sz="2000" i="1" dirty="0">
                <a:latin typeface="Avenir Next LT Pro" panose="020B0504020202020204" pitchFamily="34" charset="0"/>
              </a:rPr>
              <a:t>, structures </a:t>
            </a:r>
            <a:r>
              <a:rPr lang="en-US" sz="2000" i="1" dirty="0" err="1">
                <a:latin typeface="Avenir Next LT Pro" panose="020B0504020202020204" pitchFamily="34" charset="0"/>
              </a:rPr>
              <a:t>structurées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prédisposées</a:t>
            </a:r>
            <a:r>
              <a:rPr lang="en-US" sz="2000" i="1" dirty="0">
                <a:latin typeface="Avenir Next LT Pro" panose="020B0504020202020204" pitchFamily="34" charset="0"/>
              </a:rPr>
              <a:t> à </a:t>
            </a:r>
            <a:r>
              <a:rPr lang="en-US" sz="2000" i="1" dirty="0" err="1">
                <a:latin typeface="Avenir Next LT Pro" panose="020B0504020202020204" pitchFamily="34" charset="0"/>
              </a:rPr>
              <a:t>fonctionner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comme</a:t>
            </a:r>
            <a:r>
              <a:rPr lang="en-US" sz="2000" i="1" dirty="0">
                <a:latin typeface="Avenir Next LT Pro" panose="020B0504020202020204" pitchFamily="34" charset="0"/>
              </a:rPr>
              <a:t> structures </a:t>
            </a:r>
            <a:r>
              <a:rPr lang="en-US" sz="2000" i="1" dirty="0" err="1">
                <a:latin typeface="Avenir Next LT Pro" panose="020B0504020202020204" pitchFamily="34" charset="0"/>
              </a:rPr>
              <a:t>structurantes</a:t>
            </a:r>
            <a:r>
              <a:rPr lang="en-US" sz="2000" i="1" dirty="0">
                <a:latin typeface="Avenir Next LT Pro" panose="020B0504020202020204" pitchFamily="34" charset="0"/>
              </a:rPr>
              <a:t>, </a:t>
            </a:r>
            <a:r>
              <a:rPr lang="en-US" sz="2000" i="1" dirty="0" err="1">
                <a:latin typeface="Avenir Next LT Pro" panose="020B0504020202020204" pitchFamily="34" charset="0"/>
              </a:rPr>
              <a:t>c'est</a:t>
            </a:r>
            <a:r>
              <a:rPr lang="en-US" sz="2000" i="1" dirty="0">
                <a:latin typeface="Avenir Next LT Pro" panose="020B0504020202020204" pitchFamily="34" charset="0"/>
              </a:rPr>
              <a:t>-à-dire </a:t>
            </a:r>
            <a:r>
              <a:rPr lang="en-US" sz="2000" i="1" dirty="0" err="1">
                <a:latin typeface="Avenir Next LT Pro" panose="020B0504020202020204" pitchFamily="34" charset="0"/>
              </a:rPr>
              <a:t>en</a:t>
            </a:r>
            <a:r>
              <a:rPr lang="en-US" sz="2000" i="1" dirty="0">
                <a:latin typeface="Avenir Next LT Pro" panose="020B0504020202020204" pitchFamily="34" charset="0"/>
              </a:rPr>
              <a:t> tant </a:t>
            </a:r>
            <a:r>
              <a:rPr lang="en-US" sz="2000" i="1" dirty="0" err="1">
                <a:latin typeface="Avenir Next LT Pro" panose="020B0504020202020204" pitchFamily="34" charset="0"/>
              </a:rPr>
              <a:t>que</a:t>
            </a:r>
            <a:r>
              <a:rPr lang="en-US" sz="2000" i="1" dirty="0">
                <a:latin typeface="Avenir Next LT Pro" panose="020B0504020202020204" pitchFamily="34" charset="0"/>
              </a:rPr>
              <a:t> principes </a:t>
            </a:r>
            <a:r>
              <a:rPr lang="en-US" sz="2000" i="1" dirty="0" err="1">
                <a:latin typeface="Avenir Next LT Pro" panose="020B0504020202020204" pitchFamily="34" charset="0"/>
              </a:rPr>
              <a:t>générateurs</a:t>
            </a:r>
            <a:r>
              <a:rPr lang="en-US" sz="2000" i="1" dirty="0">
                <a:latin typeface="Avenir Next LT Pro" panose="020B0504020202020204" pitchFamily="34" charset="0"/>
              </a:rPr>
              <a:t> et </a:t>
            </a:r>
            <a:r>
              <a:rPr lang="en-US" sz="2000" i="1" dirty="0" err="1">
                <a:latin typeface="Avenir Next LT Pro" panose="020B0504020202020204" pitchFamily="34" charset="0"/>
              </a:rPr>
              <a:t>organisateurs</a:t>
            </a:r>
            <a:r>
              <a:rPr lang="en-US" sz="2000" i="1" dirty="0">
                <a:latin typeface="Avenir Next LT Pro" panose="020B0504020202020204" pitchFamily="34" charset="0"/>
              </a:rPr>
              <a:t> de pratiques et de </a:t>
            </a:r>
            <a:r>
              <a:rPr lang="en-US" sz="2000" i="1" dirty="0" err="1">
                <a:latin typeface="Avenir Next LT Pro" panose="020B0504020202020204" pitchFamily="34" charset="0"/>
              </a:rPr>
              <a:t>représentations</a:t>
            </a:r>
            <a:r>
              <a:rPr lang="en-US" sz="2000" i="1" dirty="0">
                <a:latin typeface="Avenir Next LT Pro" panose="020B0504020202020204" pitchFamily="34" charset="0"/>
              </a:rPr>
              <a:t> qui </a:t>
            </a:r>
            <a:r>
              <a:rPr lang="en-US" sz="2000" i="1" dirty="0" err="1">
                <a:latin typeface="Avenir Next LT Pro" panose="020B0504020202020204" pitchFamily="34" charset="0"/>
              </a:rPr>
              <a:t>peuvent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être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objectivement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adaptées</a:t>
            </a:r>
            <a:r>
              <a:rPr lang="en-US" sz="2000" i="1" dirty="0">
                <a:latin typeface="Avenir Next LT Pro" panose="020B0504020202020204" pitchFamily="34" charset="0"/>
              </a:rPr>
              <a:t> à </a:t>
            </a:r>
            <a:r>
              <a:rPr lang="en-US" sz="2000" i="1" dirty="0" err="1">
                <a:latin typeface="Avenir Next LT Pro" panose="020B0504020202020204" pitchFamily="34" charset="0"/>
              </a:rPr>
              <a:t>leur</a:t>
            </a:r>
            <a:r>
              <a:rPr lang="en-US" sz="2000" i="1" dirty="0">
                <a:latin typeface="Avenir Next LT Pro" panose="020B0504020202020204" pitchFamily="34" charset="0"/>
              </a:rPr>
              <a:t> but sans supposer la </a:t>
            </a:r>
            <a:r>
              <a:rPr lang="en-US" sz="2000" i="1" dirty="0" err="1">
                <a:latin typeface="Avenir Next LT Pro" panose="020B0504020202020204" pitchFamily="34" charset="0"/>
              </a:rPr>
              <a:t>visée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consciente</a:t>
            </a:r>
            <a:r>
              <a:rPr lang="en-US" sz="2000" i="1" dirty="0">
                <a:latin typeface="Avenir Next LT Pro" panose="020B0504020202020204" pitchFamily="34" charset="0"/>
              </a:rPr>
              <a:t> des fins et la </a:t>
            </a:r>
            <a:r>
              <a:rPr lang="en-US" sz="2000" i="1" dirty="0" err="1">
                <a:latin typeface="Avenir Next LT Pro" panose="020B0504020202020204" pitchFamily="34" charset="0"/>
              </a:rPr>
              <a:t>maîtrise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expresse</a:t>
            </a:r>
            <a:r>
              <a:rPr lang="en-US" sz="2000" i="1" dirty="0">
                <a:latin typeface="Avenir Next LT Pro" panose="020B0504020202020204" pitchFamily="34" charset="0"/>
              </a:rPr>
              <a:t> des </a:t>
            </a:r>
            <a:r>
              <a:rPr lang="en-US" sz="2000" i="1" dirty="0" err="1">
                <a:latin typeface="Avenir Next LT Pro" panose="020B0504020202020204" pitchFamily="34" charset="0"/>
              </a:rPr>
              <a:t>opérations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nécessaires</a:t>
            </a:r>
            <a:r>
              <a:rPr lang="en-US" sz="2000" i="1" dirty="0">
                <a:latin typeface="Avenir Next LT Pro" panose="020B0504020202020204" pitchFamily="34" charset="0"/>
              </a:rPr>
              <a:t> pour les </a:t>
            </a:r>
            <a:r>
              <a:rPr lang="en-US" sz="2000" i="1" dirty="0" err="1">
                <a:latin typeface="Avenir Next LT Pro" panose="020B0504020202020204" pitchFamily="34" charset="0"/>
              </a:rPr>
              <a:t>atteindre</a:t>
            </a:r>
            <a:r>
              <a:rPr lang="en-US" sz="2000" i="1" dirty="0">
                <a:latin typeface="Avenir Next LT Pro" panose="020B0504020202020204" pitchFamily="34" charset="0"/>
              </a:rPr>
              <a:t>, </a:t>
            </a:r>
            <a:r>
              <a:rPr lang="en-US" sz="2000" i="1" dirty="0" err="1">
                <a:latin typeface="Avenir Next LT Pro" panose="020B0504020202020204" pitchFamily="34" charset="0"/>
              </a:rPr>
              <a:t>objectivement</a:t>
            </a:r>
            <a:r>
              <a:rPr lang="en-US" sz="2000" i="1" dirty="0">
                <a:latin typeface="Avenir Next LT Pro" panose="020B0504020202020204" pitchFamily="34" charset="0"/>
              </a:rPr>
              <a:t> « </a:t>
            </a:r>
            <a:r>
              <a:rPr lang="en-US" sz="2000" i="1" dirty="0" err="1">
                <a:latin typeface="Avenir Next LT Pro" panose="020B0504020202020204" pitchFamily="34" charset="0"/>
              </a:rPr>
              <a:t>réglées</a:t>
            </a:r>
            <a:r>
              <a:rPr lang="en-US" sz="2000" i="1" dirty="0">
                <a:latin typeface="Avenir Next LT Pro" panose="020B0504020202020204" pitchFamily="34" charset="0"/>
              </a:rPr>
              <a:t> » et « </a:t>
            </a:r>
            <a:r>
              <a:rPr lang="en-US" sz="2000" i="1" dirty="0" err="1">
                <a:latin typeface="Avenir Next LT Pro" panose="020B0504020202020204" pitchFamily="34" charset="0"/>
              </a:rPr>
              <a:t>régulières</a:t>
            </a:r>
            <a:r>
              <a:rPr lang="en-US" sz="2000" i="1" dirty="0">
                <a:latin typeface="Avenir Next LT Pro" panose="020B0504020202020204" pitchFamily="34" charset="0"/>
              </a:rPr>
              <a:t> » sans </a:t>
            </a:r>
            <a:r>
              <a:rPr lang="en-US" sz="2000" i="1" dirty="0" err="1">
                <a:latin typeface="Avenir Next LT Pro" panose="020B0504020202020204" pitchFamily="34" charset="0"/>
              </a:rPr>
              <a:t>être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en</a:t>
            </a:r>
            <a:r>
              <a:rPr lang="en-US" sz="2000" i="1" dirty="0">
                <a:latin typeface="Avenir Next LT Pro" panose="020B0504020202020204" pitchFamily="34" charset="0"/>
              </a:rPr>
              <a:t> rien le </a:t>
            </a:r>
            <a:r>
              <a:rPr lang="en-US" sz="2000" i="1" dirty="0" err="1">
                <a:latin typeface="Avenir Next LT Pro" panose="020B0504020202020204" pitchFamily="34" charset="0"/>
              </a:rPr>
              <a:t>produit</a:t>
            </a:r>
            <a:r>
              <a:rPr lang="en-US" sz="2000" i="1" dirty="0">
                <a:latin typeface="Avenir Next LT Pro" panose="020B0504020202020204" pitchFamily="34" charset="0"/>
              </a:rPr>
              <a:t> de </a:t>
            </a:r>
            <a:r>
              <a:rPr lang="en-US" sz="2000" i="1" dirty="0" err="1">
                <a:latin typeface="Avenir Next LT Pro" panose="020B0504020202020204" pitchFamily="34" charset="0"/>
              </a:rPr>
              <a:t>l’obéissance</a:t>
            </a:r>
            <a:r>
              <a:rPr lang="en-US" sz="2000" i="1" dirty="0">
                <a:latin typeface="Avenir Next LT Pro" panose="020B0504020202020204" pitchFamily="34" charset="0"/>
              </a:rPr>
              <a:t> à des </a:t>
            </a:r>
            <a:r>
              <a:rPr lang="en-US" sz="2000" i="1" dirty="0" err="1">
                <a:latin typeface="Avenir Next LT Pro" panose="020B0504020202020204" pitchFamily="34" charset="0"/>
              </a:rPr>
              <a:t>règles</a:t>
            </a:r>
            <a:r>
              <a:rPr lang="en-US" sz="2000" i="1" dirty="0">
                <a:latin typeface="Avenir Next LT Pro" panose="020B0504020202020204" pitchFamily="34" charset="0"/>
              </a:rPr>
              <a:t>, et, </a:t>
            </a:r>
            <a:r>
              <a:rPr lang="en-US" sz="2000" i="1" dirty="0" err="1">
                <a:latin typeface="Avenir Next LT Pro" panose="020B0504020202020204" pitchFamily="34" charset="0"/>
              </a:rPr>
              <a:t>étant</a:t>
            </a:r>
            <a:r>
              <a:rPr lang="en-US" sz="2000" i="1" dirty="0">
                <a:latin typeface="Avenir Next LT Pro" panose="020B0504020202020204" pitchFamily="34" charset="0"/>
              </a:rPr>
              <a:t> tout </a:t>
            </a:r>
            <a:r>
              <a:rPr lang="en-US" sz="2000" i="1" dirty="0" err="1">
                <a:latin typeface="Avenir Next LT Pro" panose="020B0504020202020204" pitchFamily="34" charset="0"/>
              </a:rPr>
              <a:t>cela</a:t>
            </a:r>
            <a:r>
              <a:rPr lang="en-US" sz="2000" i="1" dirty="0">
                <a:latin typeface="Avenir Next LT Pro" panose="020B0504020202020204" pitchFamily="34" charset="0"/>
              </a:rPr>
              <a:t>, </a:t>
            </a:r>
            <a:r>
              <a:rPr lang="en-US" sz="2000" i="1" dirty="0" err="1">
                <a:latin typeface="Avenir Next LT Pro" panose="020B0504020202020204" pitchFamily="34" charset="0"/>
              </a:rPr>
              <a:t>collectivement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orchestrées</a:t>
            </a:r>
            <a:r>
              <a:rPr lang="en-US" sz="2000" i="1" dirty="0">
                <a:latin typeface="Avenir Next LT Pro" panose="020B0504020202020204" pitchFamily="34" charset="0"/>
              </a:rPr>
              <a:t> sans </a:t>
            </a:r>
            <a:r>
              <a:rPr lang="en-US" sz="2000" i="1" dirty="0" err="1">
                <a:latin typeface="Avenir Next LT Pro" panose="020B0504020202020204" pitchFamily="34" charset="0"/>
              </a:rPr>
              <a:t>être</a:t>
            </a:r>
            <a:r>
              <a:rPr lang="en-US" sz="2000" i="1" dirty="0">
                <a:latin typeface="Avenir Next LT Pro" panose="020B0504020202020204" pitchFamily="34" charset="0"/>
              </a:rPr>
              <a:t> le </a:t>
            </a:r>
            <a:r>
              <a:rPr lang="en-US" sz="2000" i="1" dirty="0" err="1">
                <a:latin typeface="Avenir Next LT Pro" panose="020B0504020202020204" pitchFamily="34" charset="0"/>
              </a:rPr>
              <a:t>produit</a:t>
            </a:r>
            <a:r>
              <a:rPr lang="en-US" sz="2000" i="1" dirty="0">
                <a:latin typeface="Avenir Next LT Pro" panose="020B0504020202020204" pitchFamily="34" charset="0"/>
              </a:rPr>
              <a:t> de </a:t>
            </a:r>
            <a:r>
              <a:rPr lang="en-US" sz="2000" i="1" dirty="0" err="1">
                <a:latin typeface="Avenir Next LT Pro" panose="020B0504020202020204" pitchFamily="34" charset="0"/>
              </a:rPr>
              <a:t>l’action</a:t>
            </a:r>
            <a:r>
              <a:rPr lang="en-US" sz="2000" i="1" dirty="0">
                <a:latin typeface="Avenir Next LT Pro" panose="020B0504020202020204" pitchFamily="34" charset="0"/>
              </a:rPr>
              <a:t> </a:t>
            </a:r>
            <a:r>
              <a:rPr lang="en-US" sz="2000" i="1" dirty="0" err="1">
                <a:latin typeface="Avenir Next LT Pro" panose="020B0504020202020204" pitchFamily="34" charset="0"/>
              </a:rPr>
              <a:t>organisatrice</a:t>
            </a:r>
            <a:r>
              <a:rPr lang="en-US" sz="2000" i="1" dirty="0">
                <a:latin typeface="Avenir Next LT Pro" panose="020B0504020202020204" pitchFamily="34" charset="0"/>
              </a:rPr>
              <a:t> d’un chef </a:t>
            </a:r>
            <a:r>
              <a:rPr lang="en-US" sz="2000" i="1" dirty="0" err="1">
                <a:latin typeface="Avenir Next LT Pro" panose="020B0504020202020204" pitchFamily="34" charset="0"/>
              </a:rPr>
              <a:t>d’orchestre</a:t>
            </a:r>
            <a:r>
              <a:rPr lang="en-US" sz="2000" i="1" dirty="0">
                <a:latin typeface="Avenir Next LT Pro" panose="020B0504020202020204" pitchFamily="34" charset="0"/>
              </a:rPr>
              <a:t>.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1684D-4A4F-408C-10CD-9E47ACE73E7A}"/>
              </a:ext>
            </a:extLst>
          </p:cNvPr>
          <p:cNvSpPr txBox="1"/>
          <p:nvPr/>
        </p:nvSpPr>
        <p:spPr>
          <a:xfrm>
            <a:off x="6071420" y="5605687"/>
            <a:ext cx="6120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Pierre Bourdieu, </a:t>
            </a:r>
            <a:r>
              <a:rPr lang="en-US" i="1"/>
              <a:t>Le Sens pratique</a:t>
            </a:r>
            <a:r>
              <a:rPr lang="en-US"/>
              <a:t>, Paris, </a:t>
            </a:r>
            <a:r>
              <a:rPr lang="en-US">
                <a:hlinkClick r:id="rId2" tooltip="Les Éditions de minuit"/>
              </a:rPr>
              <a:t>Les Éditions de </a:t>
            </a:r>
            <a:r>
              <a:rPr lang="en-US" dirty="0" err="1">
                <a:hlinkClick r:id="rId2" tooltip="Les Éditions de minuit"/>
              </a:rPr>
              <a:t>minuit</a:t>
            </a:r>
            <a:r>
              <a:rPr lang="en-US" dirty="0"/>
              <a:t>, 1980, 480 p. (</a:t>
            </a:r>
            <a:r>
              <a:rPr lang="en-US" dirty="0">
                <a:hlinkClick r:id="rId3" tooltip="International Standard Book Number"/>
              </a:rPr>
              <a:t>ISBN</a:t>
            </a:r>
            <a:r>
              <a:rPr lang="en-US" dirty="0"/>
              <a:t> </a:t>
            </a:r>
            <a:r>
              <a:rPr lang="en-US" dirty="0">
                <a:hlinkClick r:id="rId4" tooltip="Spécial:Ouvrages de référence/978-2-7073-0298-4"/>
              </a:rPr>
              <a:t>978-2-7073-0298-4</a:t>
            </a:r>
            <a:r>
              <a:rPr lang="en-US" dirty="0"/>
              <a:t>), p. 88</a:t>
            </a:r>
          </a:p>
        </p:txBody>
      </p:sp>
    </p:spTree>
    <p:extLst>
      <p:ext uri="{BB962C8B-B14F-4D97-AF65-F5344CB8AC3E}">
        <p14:creationId xmlns:p14="http://schemas.microsoft.com/office/powerpoint/2010/main" val="2281740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B8E1-73A9-35FF-86F4-ED521D5B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E580802-8DB2-D7C8-58FB-2D42381E4309}"/>
              </a:ext>
            </a:extLst>
          </p:cNvPr>
          <p:cNvSpPr/>
          <p:nvPr/>
        </p:nvSpPr>
        <p:spPr>
          <a:xfrm>
            <a:off x="0" y="2113935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I)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debates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we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won’t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address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284C6666-B4AF-61CE-7AD9-BCF252D34698}"/>
              </a:ext>
            </a:extLst>
          </p:cNvPr>
          <p:cNvSpPr/>
          <p:nvPr/>
        </p:nvSpPr>
        <p:spPr>
          <a:xfrm>
            <a:off x="0" y="259607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Determinism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Contingency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6AA558B7-8B91-6F06-1097-DC4ACB9A10DA}"/>
              </a:ext>
            </a:extLst>
          </p:cNvPr>
          <p:cNvSpPr/>
          <p:nvPr/>
        </p:nvSpPr>
        <p:spPr>
          <a:xfrm>
            <a:off x="0" y="3078207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Objectivism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Subjectivism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C643173A-9FCA-CD4B-FEDF-FFCA92DAC59E}"/>
              </a:ext>
            </a:extLst>
          </p:cNvPr>
          <p:cNvSpPr/>
          <p:nvPr/>
        </p:nvSpPr>
        <p:spPr>
          <a:xfrm>
            <a:off x="0" y="3569579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C)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vs.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Individualism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4735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9F2A-8B91-ECE9-BB30-BE1B37BF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F12DF296-203A-6CA2-6ECF-4C59475F1F89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‘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Holism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vs.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Individualism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’</a:t>
            </a: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A9CA393B-5B25-C130-45AB-5138A1C9A5F6}"/>
              </a:ext>
            </a:extLst>
          </p:cNvPr>
          <p:cNvSpPr/>
          <p:nvPr/>
        </p:nvSpPr>
        <p:spPr>
          <a:xfrm>
            <a:off x="0" y="1965484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Is society an objective reality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outside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exerts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influence on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), or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product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actions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individualism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 descr="society vector icon illustration 23017060 Vector Art at Vecteezy">
            <a:extLst>
              <a:ext uri="{FF2B5EF4-FFF2-40B4-BE49-F238E27FC236}">
                <a16:creationId xmlns:a16="http://schemas.microsoft.com/office/drawing/2014/main" id="{AE7AE506-2622-FA3A-87AA-6D12D1D7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96648" y="3052739"/>
            <a:ext cx="1806677" cy="1806677"/>
          </a:xfrm>
          <a:prstGeom prst="rect">
            <a:avLst/>
          </a:prstGeom>
        </p:spPr>
      </p:pic>
      <p:pic>
        <p:nvPicPr>
          <p:cNvPr id="6" name="Picture 5" descr="A simple outline icon of a single User profile or individual person ...">
            <a:extLst>
              <a:ext uri="{FF2B5EF4-FFF2-40B4-BE49-F238E27FC236}">
                <a16:creationId xmlns:a16="http://schemas.microsoft.com/office/drawing/2014/main" id="{2CF812B5-BA2B-DF71-4F6F-D92163B9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349" y="5240239"/>
            <a:ext cx="842806" cy="842806"/>
          </a:xfrm>
          <a:prstGeom prst="rect">
            <a:avLst/>
          </a:prstGeom>
        </p:spPr>
      </p:pic>
      <p:pic>
        <p:nvPicPr>
          <p:cNvPr id="9" name="Picture 8" descr="A simple outline icon of a single User profile or individual person ...">
            <a:extLst>
              <a:ext uri="{FF2B5EF4-FFF2-40B4-BE49-F238E27FC236}">
                <a16:creationId xmlns:a16="http://schemas.microsoft.com/office/drawing/2014/main" id="{F8A29C65-687D-2DD6-14D4-87F950CA1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755" y="5240239"/>
            <a:ext cx="842806" cy="842806"/>
          </a:xfrm>
          <a:prstGeom prst="rect">
            <a:avLst/>
          </a:prstGeom>
        </p:spPr>
      </p:pic>
      <p:pic>
        <p:nvPicPr>
          <p:cNvPr id="11" name="Picture 10" descr="A simple outline icon of a single User profile or individual person ...">
            <a:extLst>
              <a:ext uri="{FF2B5EF4-FFF2-40B4-BE49-F238E27FC236}">
                <a16:creationId xmlns:a16="http://schemas.microsoft.com/office/drawing/2014/main" id="{E49AE162-C43D-3FC7-C861-7F265CDC3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161" y="5240239"/>
            <a:ext cx="842806" cy="842806"/>
          </a:xfrm>
          <a:prstGeom prst="rect">
            <a:avLst/>
          </a:prstGeom>
        </p:spPr>
      </p:pic>
      <p:pic>
        <p:nvPicPr>
          <p:cNvPr id="13" name="Picture 12" descr="A simple outline icon of a single User profile or individual person ...">
            <a:extLst>
              <a:ext uri="{FF2B5EF4-FFF2-40B4-BE49-F238E27FC236}">
                <a16:creationId xmlns:a16="http://schemas.microsoft.com/office/drawing/2014/main" id="{9546ACB6-2687-F33D-7FD2-899B3279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567" y="5240239"/>
            <a:ext cx="842806" cy="842806"/>
          </a:xfrm>
          <a:prstGeom prst="rect">
            <a:avLst/>
          </a:prstGeom>
        </p:spPr>
      </p:pic>
      <p:pic>
        <p:nvPicPr>
          <p:cNvPr id="15" name="Picture 14" descr="A simple outline icon of a single User profile or individual person ...">
            <a:extLst>
              <a:ext uri="{FF2B5EF4-FFF2-40B4-BE49-F238E27FC236}">
                <a16:creationId xmlns:a16="http://schemas.microsoft.com/office/drawing/2014/main" id="{46CB9994-5EF5-7C34-6224-194286058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973" y="5240239"/>
            <a:ext cx="842806" cy="84280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6893E9-D1DB-8CA5-0B65-A044F5BCCA59}"/>
              </a:ext>
            </a:extLst>
          </p:cNvPr>
          <p:cNvCxnSpPr/>
          <p:nvPr/>
        </p:nvCxnSpPr>
        <p:spPr>
          <a:xfrm flipV="1">
            <a:off x="5423469" y="4507616"/>
            <a:ext cx="0" cy="582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8EF2C9-776A-AD58-B862-6A919DBE4461}"/>
              </a:ext>
            </a:extLst>
          </p:cNvPr>
          <p:cNvCxnSpPr>
            <a:cxnSpLocks/>
          </p:cNvCxnSpPr>
          <p:nvPr/>
        </p:nvCxnSpPr>
        <p:spPr>
          <a:xfrm>
            <a:off x="5665804" y="4518717"/>
            <a:ext cx="0" cy="571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BD9B2-6EA0-96B5-F842-A3FB102B36AA}"/>
              </a:ext>
            </a:extLst>
          </p:cNvPr>
          <p:cNvSpPr/>
          <p:nvPr/>
        </p:nvSpPr>
        <p:spPr>
          <a:xfrm>
            <a:off x="2986346" y="5240239"/>
            <a:ext cx="5190431" cy="84280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9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966D-2BA9-8726-F150-FA459F87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object 2">
            <a:extLst>
              <a:ext uri="{FF2B5EF4-FFF2-40B4-BE49-F238E27FC236}">
                <a16:creationId xmlns:a16="http://schemas.microsoft.com/office/drawing/2014/main" id="{6A0632D6-E09F-06B4-4BAA-74F0A07A2E8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101781" y="1045460"/>
            <a:ext cx="3996418" cy="262197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object 3">
            <a:extLst>
              <a:ext uri="{FF2B5EF4-FFF2-40B4-BE49-F238E27FC236}">
                <a16:creationId xmlns:a16="http://schemas.microsoft.com/office/drawing/2014/main" id="{0DBC4C5F-D387-FF9B-955A-CEECF35714CB}"/>
              </a:ext>
            </a:extLst>
          </p:cNvPr>
          <p:cNvSpPr/>
          <p:nvPr/>
        </p:nvSpPr>
        <p:spPr>
          <a:xfrm>
            <a:off x="270690" y="2188501"/>
            <a:ext cx="10823091" cy="3905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478" rIns="0" bIns="0" anchor="t">
            <a:spAutoFit/>
          </a:bodyPr>
          <a:lstStyle/>
          <a:p>
            <a:pPr marL="22049">
              <a:spcBef>
                <a:spcPts val="82"/>
              </a:spcBef>
            </a:pPr>
            <a:r>
              <a:rPr lang="fr-FR" sz="2728" i="1" spc="-79" dirty="0">
                <a:solidFill>
                  <a:srgbClr val="000000"/>
                </a:solidFill>
                <a:latin typeface="Arial"/>
              </a:rPr>
              <a:t>Les</a:t>
            </a:r>
            <a:r>
              <a:rPr lang="fr-FR" sz="2728" i="1" spc="-45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-33" dirty="0">
                <a:solidFill>
                  <a:srgbClr val="000000"/>
                </a:solidFill>
                <a:latin typeface="Arial"/>
              </a:rPr>
              <a:t>Règles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0000"/>
                </a:solidFill>
                <a:latin typeface="Arial"/>
              </a:rPr>
              <a:t>de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0000"/>
                </a:solidFill>
                <a:latin typeface="Arial"/>
              </a:rPr>
              <a:t>la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0000"/>
                </a:solidFill>
                <a:latin typeface="Arial"/>
              </a:rPr>
              <a:t>méthode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i="1" spc="48" dirty="0">
                <a:solidFill>
                  <a:srgbClr val="000000"/>
                </a:solidFill>
                <a:latin typeface="Arial"/>
              </a:rPr>
              <a:t>sociologique</a:t>
            </a:r>
            <a:r>
              <a:rPr lang="fr-FR" sz="2728" i="1" spc="-4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728" spc="-7" dirty="0">
                <a:solidFill>
                  <a:srgbClr val="000000"/>
                </a:solidFill>
                <a:latin typeface="Arial MT"/>
              </a:rPr>
              <a:t>(1894)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95"/>
              </a:spcBef>
            </a:pP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355832" indent="-348409">
              <a:lnSpc>
                <a:spcPct val="114000"/>
              </a:lnSpc>
              <a:buClr>
                <a:srgbClr val="000000"/>
              </a:buClr>
              <a:buSzPct val="123000"/>
              <a:buFont typeface="Symbol" charset="2"/>
              <a:buChar char=""/>
              <a:tabLst>
                <a:tab pos="356486" algn="l"/>
              </a:tabLst>
            </a:pPr>
            <a:r>
              <a:rPr lang="fr-FR" sz="2728" dirty="0" err="1">
                <a:solidFill>
                  <a:srgbClr val="000000"/>
                </a:solidFill>
                <a:latin typeface="Arial MT"/>
              </a:rPr>
              <a:t>Sociology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 err="1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728" spc="-12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48" dirty="0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>
                <a:solidFill>
                  <a:srgbClr val="000000"/>
                </a:solidFill>
                <a:latin typeface="Arial MT"/>
              </a:rPr>
              <a:t>science</a:t>
            </a:r>
            <a:r>
              <a:rPr lang="fr-FR" sz="2728" spc="-12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79" dirty="0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728" spc="-1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b="1" spc="-73" dirty="0">
                <a:solidFill>
                  <a:srgbClr val="D31876"/>
                </a:solidFill>
                <a:latin typeface="Arial"/>
              </a:rPr>
              <a:t>“social </a:t>
            </a:r>
            <a:r>
              <a:rPr lang="fr-FR" sz="2728" b="1" spc="-7" dirty="0" err="1">
                <a:solidFill>
                  <a:srgbClr val="D31876"/>
                </a:solidFill>
                <a:latin typeface="Arial"/>
              </a:rPr>
              <a:t>facts</a:t>
            </a:r>
            <a:r>
              <a:rPr lang="fr-FR" sz="2728" b="1" spc="-7" dirty="0">
                <a:solidFill>
                  <a:srgbClr val="D31876"/>
                </a:solidFill>
                <a:latin typeface="Arial"/>
              </a:rPr>
              <a:t>”</a:t>
            </a:r>
            <a:r>
              <a:rPr lang="fr-FR" sz="2728" spc="-7" dirty="0">
                <a:solidFill>
                  <a:srgbClr val="000000"/>
                </a:solidFill>
                <a:latin typeface="Arial MT"/>
              </a:rPr>
              <a:t>: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653813" algn="ctr">
              <a:lnSpc>
                <a:spcPct val="114000"/>
              </a:lnSpc>
              <a:spcBef>
                <a:spcPts val="1983"/>
              </a:spcBef>
              <a:tabLst>
                <a:tab pos="2910615" algn="l"/>
              </a:tabLst>
            </a:pPr>
            <a:r>
              <a:rPr lang="fr-FR" sz="2728" spc="-7" dirty="0">
                <a:solidFill>
                  <a:srgbClr val="000000"/>
                </a:solidFill>
                <a:latin typeface="Arial MT"/>
              </a:rPr>
              <a:t>Social</a:t>
            </a:r>
            <a:r>
              <a:rPr lang="fr-FR" sz="2728" spc="-14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dirty="0" err="1">
                <a:solidFill>
                  <a:srgbClr val="000000"/>
                </a:solidFill>
                <a:latin typeface="Arial MT"/>
              </a:rPr>
              <a:t>facts</a:t>
            </a:r>
            <a:r>
              <a:rPr lang="fr-FR" sz="2728" spc="-146" dirty="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728" spc="206" dirty="0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728" dirty="0">
                <a:solidFill>
                  <a:srgbClr val="000000"/>
                </a:solidFill>
                <a:latin typeface="Arial MT"/>
              </a:rPr>
              <a:t>	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“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manières</a:t>
            </a:r>
            <a:r>
              <a:rPr lang="fr-FR" sz="2728" b="1" i="1" spc="12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d’agir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de</a:t>
            </a:r>
            <a:r>
              <a:rPr lang="fr-FR" sz="2728" i="1" spc="-33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7" dirty="0">
                <a:solidFill>
                  <a:srgbClr val="0076BA"/>
                </a:solidFill>
                <a:latin typeface="Arial"/>
              </a:rPr>
              <a:t>penser</a:t>
            </a:r>
            <a:r>
              <a:rPr lang="fr-FR" sz="2728" b="1" i="1" spc="16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9" dirty="0">
                <a:solidFill>
                  <a:srgbClr val="0076BA"/>
                </a:solidFill>
                <a:latin typeface="Arial"/>
              </a:rPr>
              <a:t>et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de</a:t>
            </a:r>
            <a:r>
              <a:rPr lang="fr-FR" sz="2728" i="1" spc="-33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7" dirty="0">
                <a:solidFill>
                  <a:srgbClr val="0076BA"/>
                </a:solidFill>
                <a:latin typeface="Arial"/>
              </a:rPr>
              <a:t>sentir</a:t>
            </a:r>
            <a:r>
              <a:rPr lang="fr-FR" sz="2728" i="1" spc="-7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3" dirty="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728" i="1" spc="-3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-12" dirty="0">
                <a:solidFill>
                  <a:srgbClr val="0076BA"/>
                </a:solidFill>
                <a:latin typeface="Arial"/>
              </a:rPr>
              <a:t>sont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extérieures</a:t>
            </a:r>
            <a:r>
              <a:rPr lang="fr-FR" sz="2728" b="1" i="1" spc="19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à</a:t>
            </a:r>
            <a:r>
              <a:rPr lang="fr-FR" sz="2728" b="1" i="1" spc="21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19" dirty="0">
                <a:solidFill>
                  <a:srgbClr val="0076BA"/>
                </a:solidFill>
                <a:latin typeface="Arial"/>
              </a:rPr>
              <a:t>l’individu</a:t>
            </a:r>
            <a:r>
              <a:rPr lang="fr-FR" sz="2728" i="1" spc="-19" dirty="0">
                <a:solidFill>
                  <a:srgbClr val="0076BA"/>
                </a:solidFill>
                <a:latin typeface="Arial"/>
              </a:rPr>
              <a:t>,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9" dirty="0">
                <a:solidFill>
                  <a:srgbClr val="0076BA"/>
                </a:solidFill>
                <a:latin typeface="Arial"/>
              </a:rPr>
              <a:t>et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3" dirty="0">
                <a:solidFill>
                  <a:srgbClr val="0076BA"/>
                </a:solidFill>
                <a:latin typeface="Arial"/>
              </a:rPr>
              <a:t>qui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sont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40" dirty="0">
                <a:solidFill>
                  <a:srgbClr val="0076BA"/>
                </a:solidFill>
                <a:latin typeface="Arial"/>
              </a:rPr>
              <a:t>dotées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64" dirty="0">
                <a:solidFill>
                  <a:srgbClr val="0076BA"/>
                </a:solidFill>
                <a:latin typeface="Arial"/>
              </a:rPr>
              <a:t>d’un</a:t>
            </a:r>
            <a:r>
              <a:rPr lang="fr-FR" sz="2728" i="1" spc="-28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48" dirty="0">
                <a:solidFill>
                  <a:srgbClr val="0076BA"/>
                </a:solidFill>
                <a:latin typeface="Arial"/>
              </a:rPr>
              <a:t>pouvoir</a:t>
            </a:r>
            <a:r>
              <a:rPr lang="fr-FR" sz="2728" i="1" spc="-24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60" dirty="0">
                <a:solidFill>
                  <a:srgbClr val="0076BA"/>
                </a:solidFill>
                <a:latin typeface="Arial"/>
              </a:rPr>
              <a:t>de </a:t>
            </a:r>
            <a:r>
              <a:rPr lang="fr-FR" sz="2728" b="1" i="1" spc="-24" dirty="0">
                <a:solidFill>
                  <a:srgbClr val="0076BA"/>
                </a:solidFill>
                <a:latin typeface="Arial"/>
              </a:rPr>
              <a:t>coercition</a:t>
            </a:r>
            <a:r>
              <a:rPr lang="fr-FR" sz="2728" b="1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en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vertu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76" dirty="0">
                <a:solidFill>
                  <a:srgbClr val="0076BA"/>
                </a:solidFill>
                <a:latin typeface="Arial"/>
              </a:rPr>
              <a:t>du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spc="52" dirty="0">
                <a:solidFill>
                  <a:srgbClr val="0076BA"/>
                </a:solidFill>
                <a:latin typeface="Arial"/>
              </a:rPr>
              <a:t>quel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i="1" dirty="0">
                <a:solidFill>
                  <a:srgbClr val="0076BA"/>
                </a:solidFill>
                <a:latin typeface="Arial"/>
              </a:rPr>
              <a:t>elles</a:t>
            </a:r>
            <a:r>
              <a:rPr lang="fr-FR" sz="2728" i="1" spc="-40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-24" dirty="0">
                <a:solidFill>
                  <a:srgbClr val="0076BA"/>
                </a:solidFill>
                <a:latin typeface="Arial"/>
              </a:rPr>
              <a:t>s’imposent</a:t>
            </a:r>
            <a:r>
              <a:rPr lang="fr-FR" sz="2728" b="1" i="1" spc="7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dirty="0">
                <a:solidFill>
                  <a:srgbClr val="0076BA"/>
                </a:solidFill>
                <a:latin typeface="Arial"/>
              </a:rPr>
              <a:t>à</a:t>
            </a:r>
            <a:r>
              <a:rPr lang="fr-FR" sz="2728" b="1" i="1" spc="7" dirty="0">
                <a:solidFill>
                  <a:srgbClr val="0076BA"/>
                </a:solidFill>
                <a:latin typeface="Arial"/>
              </a:rPr>
              <a:t> </a:t>
            </a:r>
            <a:r>
              <a:rPr lang="fr-FR" sz="2728" b="1" i="1" spc="68" dirty="0">
                <a:solidFill>
                  <a:srgbClr val="0076BA"/>
                </a:solidFill>
                <a:latin typeface="Arial"/>
              </a:rPr>
              <a:t>lui</a:t>
            </a:r>
            <a:r>
              <a:rPr lang="fr-FR" sz="2728" i="1" spc="68" dirty="0">
                <a:solidFill>
                  <a:srgbClr val="0076BA"/>
                </a:solidFill>
                <a:latin typeface="Arial"/>
              </a:rPr>
              <a:t>”</a:t>
            </a: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"/>
              </a:spcBef>
              <a:tabLst>
                <a:tab pos="2910615" algn="l"/>
              </a:tabLst>
            </a:pPr>
            <a:endParaRPr lang="fr-FR" sz="2728" dirty="0">
              <a:solidFill>
                <a:srgbClr val="000000"/>
              </a:solidFill>
              <a:latin typeface="Arial"/>
            </a:endParaRPr>
          </a:p>
          <a:p>
            <a:pPr marL="596400" algn="ctr">
              <a:tabLst>
                <a:tab pos="2910615" algn="l"/>
              </a:tabLst>
            </a:pPr>
            <a:r>
              <a:rPr lang="fr-FR" sz="2517" b="1" u="sng" spc="-1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Example:</a:t>
            </a:r>
            <a:r>
              <a:rPr lang="fr-FR" sz="2517" b="1"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Eating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with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a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fork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instead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of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your</a:t>
            </a:r>
            <a:r>
              <a:rPr lang="fr-FR" sz="2517" b="1" u="sng" spc="-4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 </a:t>
            </a:r>
            <a:r>
              <a:rPr lang="fr-FR" sz="2517" b="1" u="sng" spc="-7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</a:rPr>
              <a:t>hands</a:t>
            </a:r>
            <a:endParaRPr lang="fr-FR" sz="251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>
            <a:extLst>
              <a:ext uri="{FF2B5EF4-FFF2-40B4-BE49-F238E27FC236}">
                <a16:creationId xmlns:a16="http://schemas.microsoft.com/office/drawing/2014/main" id="{3B7588F8-D225-22DC-DD1F-40AB9566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" y="25979"/>
            <a:ext cx="11203596" cy="1295527"/>
          </a:xfrm>
          <a:prstGeom prst="rect">
            <a:avLst/>
          </a:prstGeom>
          <a:noFill/>
          <a:ln w="0">
            <a:noFill/>
          </a:ln>
        </p:spPr>
        <p:txBody>
          <a:bodyPr vert="horz" lIns="0" tIns="190798" rIns="0" bIns="0" rtlCol="0" anchor="t">
            <a:spAutoFit/>
          </a:bodyPr>
          <a:lstStyle/>
          <a:p>
            <a:pPr marL="276806">
              <a:lnSpc>
                <a:spcPts val="4318"/>
              </a:lnSpc>
              <a:spcBef>
                <a:spcPts val="556"/>
              </a:spcBef>
            </a:pPr>
            <a:r>
              <a:rPr lang="fr-FR" sz="3941" b="1">
                <a:solidFill>
                  <a:schemeClr val="dk1"/>
                </a:solidFill>
                <a:latin typeface="Arial"/>
              </a:rPr>
              <a:t>A</a:t>
            </a:r>
            <a:r>
              <a:rPr lang="fr-FR" sz="3941" b="1" spc="-127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31">
                <a:solidFill>
                  <a:schemeClr val="dk1"/>
                </a:solidFill>
                <a:latin typeface="Arial"/>
              </a:rPr>
              <a:t>typically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81">
                <a:solidFill>
                  <a:schemeClr val="dk1"/>
                </a:solidFill>
                <a:latin typeface="Arial"/>
              </a:rPr>
              <a:t>holistic</a:t>
            </a:r>
            <a:r>
              <a:rPr lang="fr-FR" sz="3941" b="1" spc="-91">
                <a:solidFill>
                  <a:schemeClr val="dk1"/>
                </a:solidFill>
                <a:latin typeface="Arial"/>
              </a:rPr>
              <a:t> paradigm: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115">
                <a:solidFill>
                  <a:schemeClr val="dk1"/>
                </a:solidFill>
                <a:latin typeface="Arial"/>
              </a:rPr>
              <a:t>Durkheimian</a:t>
            </a:r>
            <a:r>
              <a:rPr lang="fr-FR" sz="3941" b="1" spc="-110">
                <a:solidFill>
                  <a:schemeClr val="dk1"/>
                </a:solidFill>
                <a:latin typeface="Arial"/>
              </a:rPr>
              <a:t> </a:t>
            </a:r>
            <a:r>
              <a:rPr lang="fr-FR" sz="3941" b="1" spc="-258">
                <a:solidFill>
                  <a:schemeClr val="dk1"/>
                </a:solidFill>
                <a:latin typeface="Arial"/>
              </a:rPr>
              <a:t>social </a:t>
            </a:r>
            <a:r>
              <a:rPr lang="fr-FR" sz="3941" b="1" spc="-200">
                <a:solidFill>
                  <a:schemeClr val="dk1"/>
                </a:solidFill>
                <a:latin typeface="Arial"/>
              </a:rPr>
              <a:t>facts</a:t>
            </a:r>
            <a:endParaRPr lang="fr-FR" sz="3941"/>
          </a:p>
        </p:txBody>
      </p:sp>
    </p:spTree>
    <p:extLst>
      <p:ext uri="{BB962C8B-B14F-4D97-AF65-F5344CB8AC3E}">
        <p14:creationId xmlns:p14="http://schemas.microsoft.com/office/powerpoint/2010/main" val="20060029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2A75DBA-0A16-B676-1B1F-DE7EDD4AC6D3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Typical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« 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individualist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approach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 »: in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economy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 descr="What is wrong with 'scalping'? - American Experiment">
            <a:extLst>
              <a:ext uri="{FF2B5EF4-FFF2-40B4-BE49-F238E27FC236}">
                <a16:creationId xmlns:a16="http://schemas.microsoft.com/office/drawing/2014/main" id="{AD19CD25-67B7-1671-2B30-2D2F7814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077" y="1354311"/>
            <a:ext cx="5617680" cy="52209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C3DC8A-BAE5-06DE-9215-74000841F06F}"/>
              </a:ext>
            </a:extLst>
          </p:cNvPr>
          <p:cNvSpPr txBox="1"/>
          <p:nvPr/>
        </p:nvSpPr>
        <p:spPr>
          <a:xfrm>
            <a:off x="0" y="1963341"/>
            <a:ext cx="5329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venir Next LT Pro" panose="020B0504020202020204" pitchFamily="34" charset="0"/>
              </a:rPr>
              <a:t>Prices are a macro phenomenon that result purely from the aggregation of individual behavior!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10511-0704-065A-B96B-14A150C26FBE}"/>
              </a:ext>
            </a:extLst>
          </p:cNvPr>
          <p:cNvSpPr txBox="1"/>
          <p:nvPr/>
        </p:nvSpPr>
        <p:spPr>
          <a:xfrm>
            <a:off x="0" y="3688438"/>
            <a:ext cx="5329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venir Next LT Pro" panose="020B0504020202020204" pitchFamily="34" charset="0"/>
              </a:rPr>
              <a:t>(NB: it doesn’t keep it from influencing individual behavior in return)</a:t>
            </a:r>
          </a:p>
        </p:txBody>
      </p:sp>
    </p:spTree>
    <p:extLst>
      <p:ext uri="{BB962C8B-B14F-4D97-AF65-F5344CB8AC3E}">
        <p14:creationId xmlns:p14="http://schemas.microsoft.com/office/powerpoint/2010/main" val="2875901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258D-5E34-F5D1-7783-B773FA4E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87D98AD-E69D-800B-3C75-F7748DE14F9E}"/>
              </a:ext>
            </a:extLst>
          </p:cNvPr>
          <p:cNvSpPr/>
          <p:nvPr/>
        </p:nvSpPr>
        <p:spPr>
          <a:xfrm>
            <a:off x="0" y="0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Durkheim’s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critique of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individualistic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explanations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division of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labor</a:t>
            </a:r>
            <a:endParaRPr lang="fr-FR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 descr="The Wealth of Nations: Smith, Adam: 9781505577129: Amazon.com: Books">
            <a:extLst>
              <a:ext uri="{FF2B5EF4-FFF2-40B4-BE49-F238E27FC236}">
                <a16:creationId xmlns:a16="http://schemas.microsoft.com/office/drawing/2014/main" id="{17E4598C-D614-E8C3-15EF-D3FF90BB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53" y="1401096"/>
            <a:ext cx="4007832" cy="522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B53F8-D803-F193-A36C-02D663F870B3}"/>
              </a:ext>
            </a:extLst>
          </p:cNvPr>
          <p:cNvSpPr txBox="1"/>
          <p:nvPr/>
        </p:nvSpPr>
        <p:spPr>
          <a:xfrm>
            <a:off x="5486400" y="1668374"/>
            <a:ext cx="670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venir Next LT Pro" panose="020B0504020202020204" pitchFamily="34" charset="0"/>
              </a:rPr>
              <a:t>The increased division of labor in society comes from individual self-interest: we all benefit from specializing on specific tasks to be more productive, earn more money </a:t>
            </a:r>
            <a:r>
              <a:rPr lang="en-US" sz="2000" dirty="0" err="1">
                <a:latin typeface="Avenir Next LT Pro" panose="020B0504020202020204" pitchFamily="34" charset="0"/>
              </a:rPr>
              <a:t>etc</a:t>
            </a:r>
            <a:r>
              <a:rPr lang="en-US" sz="2000" dirty="0">
                <a:latin typeface="Avenir Next LT Pro" panose="020B0504020202020204" pitchFamily="34" charset="0"/>
              </a:rPr>
              <a:t>….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C307E-B48D-F299-054F-E5576DD7275C}"/>
              </a:ext>
            </a:extLst>
          </p:cNvPr>
          <p:cNvSpPr txBox="1"/>
          <p:nvPr/>
        </p:nvSpPr>
        <p:spPr>
          <a:xfrm>
            <a:off x="5486400" y="3698735"/>
            <a:ext cx="670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Avenir Next LT Pro" panose="020B0504020202020204" pitchFamily="34" charset="0"/>
              </a:rPr>
              <a:t>B</a:t>
            </a:r>
            <a:r>
              <a:rPr lang="en-US" sz="2000" dirty="0" err="1">
                <a:latin typeface="Avenir Next LT Pro" panose="020B0504020202020204" pitchFamily="34" charset="0"/>
              </a:rPr>
              <a:t>ut</a:t>
            </a:r>
            <a:r>
              <a:rPr lang="en-US" sz="2000" dirty="0">
                <a:latin typeface="Avenir Next LT Pro" panose="020B0504020202020204" pitchFamily="34" charset="0"/>
              </a:rPr>
              <a:t> for Durkheim: the division of labor is not caused by individual wills, but my macrostructural (“social”) mutations: the “</a:t>
            </a:r>
            <a:r>
              <a:rPr lang="en-US" sz="2000" dirty="0" err="1">
                <a:latin typeface="Avenir Next LT Pro" panose="020B0504020202020204" pitchFamily="34" charset="0"/>
              </a:rPr>
              <a:t>hausse</a:t>
            </a:r>
            <a:r>
              <a:rPr lang="en-US" sz="2000" dirty="0">
                <a:latin typeface="Avenir Next LT Pro" panose="020B0504020202020204" pitchFamily="34" charset="0"/>
              </a:rPr>
              <a:t> de la </a:t>
            </a:r>
            <a:r>
              <a:rPr lang="en-US" sz="2000" dirty="0" err="1">
                <a:latin typeface="Avenir Next LT Pro" panose="020B0504020202020204" pitchFamily="34" charset="0"/>
              </a:rPr>
              <a:t>densité</a:t>
            </a:r>
            <a:r>
              <a:rPr lang="en-US" sz="2000" dirty="0">
                <a:latin typeface="Avenir Next LT Pro" panose="020B0504020202020204" pitchFamily="34" charset="0"/>
              </a:rPr>
              <a:t> morale et </a:t>
            </a:r>
            <a:r>
              <a:rPr lang="en-US" sz="2000" dirty="0" err="1">
                <a:latin typeface="Avenir Next LT Pro" panose="020B0504020202020204" pitchFamily="34" charset="0"/>
              </a:rPr>
              <a:t>matérielle</a:t>
            </a:r>
            <a:r>
              <a:rPr lang="en-US" sz="2000" dirty="0">
                <a:latin typeface="Avenir Next LT Pro" panose="020B0504020202020204" pitchFamily="34" charset="0"/>
              </a:rPr>
              <a:t>” (increased population and interactions) that requires a separation of tasks for it to work</a:t>
            </a:r>
          </a:p>
        </p:txBody>
      </p:sp>
    </p:spTree>
    <p:extLst>
      <p:ext uri="{BB962C8B-B14F-4D97-AF65-F5344CB8AC3E}">
        <p14:creationId xmlns:p14="http://schemas.microsoft.com/office/powerpoint/2010/main" val="2368521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30957" y="316323"/>
            <a:ext cx="11786905" cy="1001954"/>
          </a:xfrm>
          <a:prstGeom prst="rect">
            <a:avLst/>
          </a:prstGeom>
          <a:noFill/>
          <a:ln w="0">
            <a:noFill/>
          </a:ln>
        </p:spPr>
        <p:txBody>
          <a:bodyPr vert="horz" lIns="0" tIns="8077" rIns="0" bIns="0" rtlCol="0" anchor="t">
            <a:spAutoFit/>
          </a:bodyPr>
          <a:lstStyle/>
          <a:p>
            <a:pPr marL="7641">
              <a:lnSpc>
                <a:spcPct val="100000"/>
              </a:lnSpc>
              <a:spcBef>
                <a:spcPts val="64"/>
              </a:spcBef>
            </a:pPr>
            <a:r>
              <a:rPr lang="fr-FR" sz="6458" b="1" spc="-215">
                <a:solidFill>
                  <a:schemeClr val="dk1"/>
                </a:solidFill>
                <a:latin typeface="Arial"/>
              </a:rPr>
              <a:t>Organic</a:t>
            </a:r>
            <a:r>
              <a:rPr lang="fr-FR" sz="6458" b="1" spc="-124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91">
                <a:solidFill>
                  <a:schemeClr val="dk1"/>
                </a:solidFill>
                <a:latin typeface="Arial"/>
              </a:rPr>
              <a:t>&amp;</a:t>
            </a:r>
            <a:r>
              <a:rPr lang="fr-FR" sz="6458" b="1" spc="-124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-258">
                <a:solidFill>
                  <a:schemeClr val="dk1"/>
                </a:solidFill>
                <a:latin typeface="Arial"/>
              </a:rPr>
              <a:t>Mechanical</a:t>
            </a:r>
            <a:r>
              <a:rPr lang="fr-FR" sz="6458" b="1" spc="-122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-237">
                <a:solidFill>
                  <a:schemeClr val="dk1"/>
                </a:solidFill>
                <a:latin typeface="Arial"/>
              </a:rPr>
              <a:t>Solidarity</a:t>
            </a:r>
            <a:endParaRPr lang="fr-FR" sz="6458"/>
          </a:p>
        </p:txBody>
      </p:sp>
      <p:pic>
        <p:nvPicPr>
          <p:cNvPr id="313" name="object 3"/>
          <p:cNvPicPr/>
          <p:nvPr/>
        </p:nvPicPr>
        <p:blipFill>
          <a:blip r:embed="rId2"/>
          <a:stretch/>
        </p:blipFill>
        <p:spPr>
          <a:xfrm>
            <a:off x="9046959" y="1625494"/>
            <a:ext cx="2661785" cy="408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object 4"/>
          <p:cNvSpPr/>
          <p:nvPr/>
        </p:nvSpPr>
        <p:spPr>
          <a:xfrm>
            <a:off x="10161839" y="5826979"/>
            <a:ext cx="424820" cy="230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986" rIns="0" bIns="0" anchor="t">
            <a:spAutoFit/>
          </a:bodyPr>
          <a:lstStyle/>
          <a:p>
            <a:pPr marL="7641">
              <a:spcBef>
                <a:spcPts val="55"/>
              </a:spcBef>
            </a:pPr>
            <a:r>
              <a:rPr lang="fr-FR" sz="1455" spc="-12">
                <a:solidFill>
                  <a:srgbClr val="000000"/>
                </a:solidFill>
                <a:latin typeface="Arial MT"/>
              </a:rPr>
              <a:t>1893</a:t>
            </a:r>
            <a:endParaRPr lang="fr-FR" sz="14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5"/>
          <p:cNvSpPr/>
          <p:nvPr/>
        </p:nvSpPr>
        <p:spPr>
          <a:xfrm>
            <a:off x="215239" y="2116461"/>
            <a:ext cx="8478940" cy="7559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22" rIns="0" bIns="0" anchor="t">
            <a:spAutoFit/>
          </a:bodyPr>
          <a:lstStyle/>
          <a:p>
            <a:pPr marL="435516" indent="-428094">
              <a:lnSpc>
                <a:spcPct val="113000"/>
              </a:lnSpc>
              <a:spcBef>
                <a:spcPts val="58"/>
              </a:spcBef>
              <a:tabLst>
                <a:tab pos="0" algn="l"/>
              </a:tabLst>
            </a:pPr>
            <a:r>
              <a:rPr lang="fr-FR" sz="2244">
                <a:solidFill>
                  <a:srgbClr val="000000"/>
                </a:solidFill>
                <a:latin typeface="Arial MT"/>
              </a:rPr>
              <a:t>Durkheim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wanted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99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2244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capture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3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4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intuition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36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2244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there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is</a:t>
            </a:r>
            <a:r>
              <a:rPr lang="fr-FR" sz="2244" spc="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-7">
                <a:solidFill>
                  <a:srgbClr val="000000"/>
                </a:solidFill>
                <a:latin typeface="Arial MT"/>
              </a:rPr>
              <a:t>distinction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between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84">
                <a:solidFill>
                  <a:srgbClr val="000000"/>
                </a:solidFill>
                <a:latin typeface="Arial MT"/>
              </a:rPr>
              <a:t>"traditional"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societies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31">
                <a:solidFill>
                  <a:srgbClr val="000000"/>
                </a:solidFill>
                <a:latin typeface="Arial MT"/>
              </a:rPr>
              <a:t>modern,</a:t>
            </a:r>
            <a:r>
              <a:rPr lang="fr-FR" sz="2244" spc="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industrial</a:t>
            </a:r>
            <a:r>
              <a:rPr lang="fr-FR" sz="2244" spc="4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-12">
                <a:solidFill>
                  <a:srgbClr val="000000"/>
                </a:solidFill>
                <a:latin typeface="Arial MT"/>
              </a:rPr>
              <a:t>ones</a:t>
            </a:r>
            <a:endParaRPr lang="fr-FR" sz="2244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object 6"/>
          <p:cNvPicPr/>
          <p:nvPr/>
        </p:nvPicPr>
        <p:blipFill>
          <a:blip r:embed="rId3"/>
          <a:stretch/>
        </p:blipFill>
        <p:spPr>
          <a:xfrm>
            <a:off x="133812" y="4520864"/>
            <a:ext cx="3767278" cy="2260323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object 7"/>
          <p:cNvPicPr/>
          <p:nvPr/>
        </p:nvPicPr>
        <p:blipFill>
          <a:blip r:embed="rId4"/>
          <a:stretch/>
        </p:blipFill>
        <p:spPr>
          <a:xfrm>
            <a:off x="4940437" y="4420662"/>
            <a:ext cx="3777756" cy="23605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object 8"/>
          <p:cNvSpPr/>
          <p:nvPr/>
        </p:nvSpPr>
        <p:spPr>
          <a:xfrm>
            <a:off x="4281594" y="5344526"/>
            <a:ext cx="250832" cy="230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986" rIns="0" bIns="0" anchor="t">
            <a:spAutoFit/>
          </a:bodyPr>
          <a:lstStyle/>
          <a:p>
            <a:pPr marL="7641">
              <a:spcBef>
                <a:spcPts val="55"/>
              </a:spcBef>
            </a:pPr>
            <a:r>
              <a:rPr lang="fr-FR" sz="1455" spc="-16">
                <a:solidFill>
                  <a:srgbClr val="000000"/>
                </a:solidFill>
                <a:latin typeface="Arial MT"/>
              </a:rPr>
              <a:t>vs.</a:t>
            </a:r>
            <a:endParaRPr lang="fr-FR" sz="14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object 9"/>
          <p:cNvSpPr/>
          <p:nvPr/>
        </p:nvSpPr>
        <p:spPr>
          <a:xfrm>
            <a:off x="1121857" y="4099973"/>
            <a:ext cx="1795335" cy="230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986" rIns="0" bIns="0" anchor="t">
            <a:spAutoFit/>
          </a:bodyPr>
          <a:lstStyle/>
          <a:p>
            <a:pPr marL="7641">
              <a:spcBef>
                <a:spcPts val="55"/>
              </a:spcBef>
            </a:pPr>
            <a:r>
              <a:rPr lang="fr-FR" sz="1455" spc="-7">
                <a:solidFill>
                  <a:srgbClr val="000000"/>
                </a:solidFill>
                <a:latin typeface="Arial MT"/>
              </a:rPr>
              <a:t>"Traditional</a:t>
            </a:r>
            <a:r>
              <a:rPr lang="fr-FR" sz="1455" spc="-33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5" spc="-7">
                <a:solidFill>
                  <a:srgbClr val="000000"/>
                </a:solidFill>
                <a:latin typeface="Arial MT"/>
              </a:rPr>
              <a:t>societies"</a:t>
            </a:r>
            <a:endParaRPr lang="fr-FR" sz="14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object 10"/>
          <p:cNvSpPr/>
          <p:nvPr/>
        </p:nvSpPr>
        <p:spPr>
          <a:xfrm>
            <a:off x="6214897" y="4099973"/>
            <a:ext cx="1590784" cy="230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986" rIns="0" bIns="0" anchor="t">
            <a:spAutoFit/>
          </a:bodyPr>
          <a:lstStyle/>
          <a:p>
            <a:pPr marL="7641">
              <a:spcBef>
                <a:spcPts val="55"/>
              </a:spcBef>
            </a:pPr>
            <a:r>
              <a:rPr lang="fr-FR" sz="1455" spc="27">
                <a:solidFill>
                  <a:srgbClr val="000000"/>
                </a:solidFill>
                <a:latin typeface="Arial MT"/>
              </a:rPr>
              <a:t>"Modern</a:t>
            </a:r>
            <a:r>
              <a:rPr lang="fr-FR" sz="1455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455" spc="-7">
                <a:solidFill>
                  <a:srgbClr val="000000"/>
                </a:solidFill>
                <a:latin typeface="Arial MT"/>
              </a:rPr>
              <a:t>societies"</a:t>
            </a:r>
            <a:endParaRPr lang="fr-FR" sz="1455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30957" y="316323"/>
            <a:ext cx="11786905" cy="1001954"/>
          </a:xfrm>
          <a:prstGeom prst="rect">
            <a:avLst/>
          </a:prstGeom>
          <a:noFill/>
          <a:ln w="0">
            <a:noFill/>
          </a:ln>
        </p:spPr>
        <p:txBody>
          <a:bodyPr vert="horz" lIns="0" tIns="8077" rIns="0" bIns="0" rtlCol="0" anchor="t">
            <a:spAutoFit/>
          </a:bodyPr>
          <a:lstStyle/>
          <a:p>
            <a:pPr marL="7641">
              <a:lnSpc>
                <a:spcPct val="100000"/>
              </a:lnSpc>
              <a:spcBef>
                <a:spcPts val="64"/>
              </a:spcBef>
            </a:pPr>
            <a:r>
              <a:rPr lang="fr-FR" sz="6458" b="1" spc="-215">
                <a:solidFill>
                  <a:schemeClr val="dk1"/>
                </a:solidFill>
                <a:latin typeface="Arial"/>
              </a:rPr>
              <a:t>Organic</a:t>
            </a:r>
            <a:r>
              <a:rPr lang="fr-FR" sz="6458" b="1" spc="-124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91">
                <a:solidFill>
                  <a:schemeClr val="dk1"/>
                </a:solidFill>
                <a:latin typeface="Arial"/>
              </a:rPr>
              <a:t>&amp;</a:t>
            </a:r>
            <a:r>
              <a:rPr lang="fr-FR" sz="6458" b="1" spc="-124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-258">
                <a:solidFill>
                  <a:schemeClr val="dk1"/>
                </a:solidFill>
                <a:latin typeface="Arial"/>
              </a:rPr>
              <a:t>Mechanical</a:t>
            </a:r>
            <a:r>
              <a:rPr lang="fr-FR" sz="6458" b="1" spc="-122">
                <a:solidFill>
                  <a:schemeClr val="dk1"/>
                </a:solidFill>
                <a:latin typeface="Arial"/>
              </a:rPr>
              <a:t> </a:t>
            </a:r>
            <a:r>
              <a:rPr lang="fr-FR" sz="6458" b="1" spc="-237">
                <a:solidFill>
                  <a:schemeClr val="dk1"/>
                </a:solidFill>
                <a:latin typeface="Arial"/>
              </a:rPr>
              <a:t>Solidarity</a:t>
            </a:r>
            <a:endParaRPr lang="fr-FR" sz="6458"/>
          </a:p>
        </p:txBody>
      </p:sp>
      <p:pic>
        <p:nvPicPr>
          <p:cNvPr id="322" name="object 3"/>
          <p:cNvPicPr/>
          <p:nvPr/>
        </p:nvPicPr>
        <p:blipFill>
          <a:blip r:embed="rId2"/>
          <a:stretch/>
        </p:blipFill>
        <p:spPr>
          <a:xfrm>
            <a:off x="9046959" y="1625494"/>
            <a:ext cx="2661785" cy="408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object 4"/>
          <p:cNvSpPr/>
          <p:nvPr/>
        </p:nvSpPr>
        <p:spPr>
          <a:xfrm>
            <a:off x="10161839" y="5826979"/>
            <a:ext cx="424820" cy="230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986" rIns="0" bIns="0" anchor="t">
            <a:spAutoFit/>
          </a:bodyPr>
          <a:lstStyle/>
          <a:p>
            <a:pPr marL="7641">
              <a:spcBef>
                <a:spcPts val="55"/>
              </a:spcBef>
            </a:pPr>
            <a:r>
              <a:rPr lang="fr-FR" sz="1455" spc="-12">
                <a:solidFill>
                  <a:srgbClr val="000000"/>
                </a:solidFill>
                <a:latin typeface="Arial MT"/>
              </a:rPr>
              <a:t>1893</a:t>
            </a:r>
            <a:endParaRPr lang="fr-FR" sz="1455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object 5"/>
          <p:cNvSpPr/>
          <p:nvPr/>
        </p:nvSpPr>
        <p:spPr>
          <a:xfrm>
            <a:off x="18110" y="1671993"/>
            <a:ext cx="8872761" cy="19111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422" rIns="0" bIns="0" anchor="t">
            <a:spAutoFit/>
          </a:bodyPr>
          <a:lstStyle/>
          <a:p>
            <a:pPr marL="292309" indent="-284887" algn="just">
              <a:lnSpc>
                <a:spcPct val="113000"/>
              </a:lnSpc>
              <a:spcBef>
                <a:spcPts val="58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293401" algn="l"/>
              </a:tabLst>
            </a:pPr>
            <a:r>
              <a:rPr lang="fr-FR" sz="2244" b="1" spc="-19">
                <a:solidFill>
                  <a:srgbClr val="000000"/>
                </a:solidFill>
                <a:latin typeface="Arial"/>
              </a:rPr>
              <a:t>Mechanical</a:t>
            </a:r>
            <a:r>
              <a:rPr lang="fr-FR" sz="2244" b="1" spc="79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b="1" spc="-7">
                <a:solidFill>
                  <a:srgbClr val="000000"/>
                </a:solidFill>
                <a:latin typeface="Arial"/>
              </a:rPr>
              <a:t>solidarity</a:t>
            </a:r>
            <a:r>
              <a:rPr lang="fr-FR" sz="2244" b="1" spc="48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spc="182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44" spc="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244" spc="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2244" spc="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2244" spc="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3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4" spc="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cohesion</a:t>
            </a:r>
            <a:r>
              <a:rPr lang="fr-FR" sz="2244" spc="4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results</a:t>
            </a:r>
            <a:r>
              <a:rPr lang="fr-FR" sz="2244" spc="45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-12">
                <a:solidFill>
                  <a:srgbClr val="000000"/>
                </a:solidFill>
                <a:latin typeface="Arial MT"/>
              </a:rPr>
              <a:t>from 	</a:t>
            </a:r>
            <a:r>
              <a:rPr lang="fr-FR" sz="2244" spc="3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4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i="1" spc="33">
                <a:solidFill>
                  <a:srgbClr val="000000"/>
                </a:solidFill>
                <a:latin typeface="Arial"/>
              </a:rPr>
              <a:t>homogeneity</a:t>
            </a:r>
            <a:r>
              <a:rPr lang="fr-FR" sz="2244" i="1" spc="7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spc="5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44" spc="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its</a:t>
            </a:r>
            <a:r>
              <a:rPr lang="fr-FR" sz="2244" spc="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-7">
                <a:solidFill>
                  <a:srgbClr val="000000"/>
                </a:solidFill>
                <a:latin typeface="Arial MT"/>
              </a:rPr>
              <a:t>members.</a:t>
            </a:r>
            <a:endParaRPr lang="fr-FR" sz="2244">
              <a:solidFill>
                <a:srgbClr val="000000"/>
              </a:solidFill>
              <a:latin typeface="Arial"/>
            </a:endParaRPr>
          </a:p>
          <a:p>
            <a:pPr marL="1336239" lvl="1" indent="-262183" algn="just">
              <a:lnSpc>
                <a:spcPct val="113000"/>
              </a:lnSpc>
              <a:spcBef>
                <a:spcPts val="628"/>
              </a:spcBef>
              <a:buClr>
                <a:srgbClr val="000000"/>
              </a:buClr>
              <a:buSzPct val="124000"/>
              <a:buFont typeface="Symbol" charset="2"/>
              <a:buChar char=""/>
              <a:tabLst>
                <a:tab pos="1336894" algn="l"/>
              </a:tabLst>
            </a:pPr>
            <a:r>
              <a:rPr lang="fr-FR" sz="2062">
                <a:solidFill>
                  <a:srgbClr val="000000"/>
                </a:solidFill>
                <a:latin typeface="Arial MT"/>
              </a:rPr>
              <a:t>Cohesion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-12">
                <a:solidFill>
                  <a:srgbClr val="000000"/>
                </a:solidFill>
                <a:latin typeface="Arial MT"/>
              </a:rPr>
              <a:t>comes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24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36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7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33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7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-39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2062" spc="2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culturally</a:t>
            </a:r>
            <a:r>
              <a:rPr lang="fr-FR" sz="2062" spc="4">
                <a:solidFill>
                  <a:srgbClr val="000000"/>
                </a:solidFill>
                <a:latin typeface="Arial MT"/>
              </a:rPr>
              <a:t> 	</a:t>
            </a:r>
            <a:r>
              <a:rPr lang="fr-FR" sz="2062" spc="119">
                <a:solidFill>
                  <a:srgbClr val="000000"/>
                </a:solidFill>
                <a:latin typeface="Arial MT"/>
              </a:rPr>
              <a:t>very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30">
                <a:solidFill>
                  <a:srgbClr val="000000"/>
                </a:solidFill>
                <a:latin typeface="Arial MT"/>
              </a:rPr>
              <a:t>similar,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91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19">
                <a:solidFill>
                  <a:srgbClr val="000000"/>
                </a:solidFill>
                <a:latin typeface="Arial MT"/>
              </a:rPr>
              <a:t>very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51">
                <a:solidFill>
                  <a:srgbClr val="000000"/>
                </a:solidFill>
                <a:latin typeface="Arial MT"/>
              </a:rPr>
              <a:t>similar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73">
                <a:solidFill>
                  <a:srgbClr val="000000"/>
                </a:solidFill>
                <a:latin typeface="Arial MT"/>
              </a:rPr>
              <a:t>activities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-155">
                <a:solidFill>
                  <a:srgbClr val="000000"/>
                </a:solidFill>
                <a:latin typeface="Arial MT"/>
              </a:rPr>
              <a:t>(</a:t>
            </a:r>
            <a:r>
              <a:rPr lang="fr-FR" sz="2062" spc="-378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34">
                <a:solidFill>
                  <a:srgbClr val="000000"/>
                </a:solidFill>
                <a:latin typeface="Arial MT"/>
              </a:rPr>
              <a:t>no</a:t>
            </a:r>
            <a:r>
              <a:rPr lang="fr-FR" sz="2062" spc="113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86">
                <a:solidFill>
                  <a:srgbClr val="000000"/>
                </a:solidFill>
                <a:latin typeface="Arial MT"/>
              </a:rPr>
              <a:t>"task</a:t>
            </a:r>
            <a:r>
              <a:rPr lang="fr-FR" sz="2062" spc="-24">
                <a:solidFill>
                  <a:srgbClr val="000000"/>
                </a:solidFill>
                <a:latin typeface="Arial MT"/>
              </a:rPr>
              <a:t> 	</a:t>
            </a:r>
            <a:r>
              <a:rPr lang="fr-FR" sz="2062" spc="7">
                <a:solidFill>
                  <a:srgbClr val="000000"/>
                </a:solidFill>
                <a:latin typeface="Arial MT"/>
              </a:rPr>
              <a:t>specialization"),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8">
                <a:solidFill>
                  <a:srgbClr val="000000"/>
                </a:solidFill>
                <a:latin typeface="Arial MT"/>
              </a:rPr>
              <a:t>and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-58">
                <a:solidFill>
                  <a:srgbClr val="000000"/>
                </a:solidFill>
                <a:latin typeface="Arial MT"/>
              </a:rPr>
              <a:t>share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9">
                <a:solidFill>
                  <a:srgbClr val="000000"/>
                </a:solidFill>
                <a:latin typeface="Arial MT"/>
              </a:rPr>
              <a:t>strong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16">
                <a:solidFill>
                  <a:srgbClr val="000000"/>
                </a:solidFill>
                <a:latin typeface="Arial MT"/>
              </a:rPr>
              <a:t>collective</a:t>
            </a:r>
            <a:r>
              <a:rPr lang="fr-FR" sz="206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062" spc="-4">
                <a:solidFill>
                  <a:srgbClr val="000000"/>
                </a:solidFill>
                <a:latin typeface="Arial MT"/>
              </a:rPr>
              <a:t>norms</a:t>
            </a:r>
            <a:endParaRPr lang="fr-FR" sz="2062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object 6"/>
          <p:cNvSpPr/>
          <p:nvPr/>
        </p:nvSpPr>
        <p:spPr>
          <a:xfrm>
            <a:off x="18110" y="4059369"/>
            <a:ext cx="8872761" cy="26083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2830" rIns="0" bIns="0" anchor="t">
            <a:spAutoFit/>
          </a:bodyPr>
          <a:lstStyle/>
          <a:p>
            <a:pPr marL="292746" indent="-284887">
              <a:spcBef>
                <a:spcPts val="416"/>
              </a:spcBef>
              <a:buClr>
                <a:srgbClr val="000000"/>
              </a:buClr>
              <a:buSzPct val="123000"/>
              <a:buFont typeface="Arial MT"/>
              <a:buChar char="•"/>
              <a:tabLst>
                <a:tab pos="292746" algn="l"/>
              </a:tabLst>
            </a:pPr>
            <a:r>
              <a:rPr lang="fr-FR" sz="2244" b="1">
                <a:solidFill>
                  <a:srgbClr val="000000"/>
                </a:solidFill>
                <a:latin typeface="Arial"/>
              </a:rPr>
              <a:t>Organic</a:t>
            </a:r>
            <a:r>
              <a:rPr lang="fr-FR" sz="2244" b="1" spc="60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b="1" spc="-16">
                <a:solidFill>
                  <a:srgbClr val="000000"/>
                </a:solidFill>
                <a:latin typeface="Arial"/>
              </a:rPr>
              <a:t>solidarity</a:t>
            </a:r>
            <a:r>
              <a:rPr lang="fr-FR" sz="2244" b="1" spc="24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spc="182">
                <a:solidFill>
                  <a:srgbClr val="000000"/>
                </a:solidFill>
                <a:latin typeface="Arial MT"/>
              </a:rPr>
              <a:t>=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2244" spc="27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39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cohesion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results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2244" spc="24">
                <a:solidFill>
                  <a:srgbClr val="000000"/>
                </a:solidFill>
                <a:latin typeface="Arial MT"/>
              </a:rPr>
              <a:t> the</a:t>
            </a:r>
            <a:endParaRPr lang="fr-FR" sz="2244">
              <a:solidFill>
                <a:srgbClr val="000000"/>
              </a:solidFill>
              <a:latin typeface="Arial"/>
            </a:endParaRPr>
          </a:p>
          <a:p>
            <a:pPr marL="293401">
              <a:spcBef>
                <a:spcPts val="358"/>
              </a:spcBef>
              <a:tabLst>
                <a:tab pos="292746" algn="l"/>
              </a:tabLst>
            </a:pPr>
            <a:r>
              <a:rPr lang="fr-FR" sz="2244" i="1">
                <a:solidFill>
                  <a:srgbClr val="000000"/>
                </a:solidFill>
                <a:latin typeface="Arial"/>
              </a:rPr>
              <a:t>complementarity</a:t>
            </a:r>
            <a:r>
              <a:rPr lang="fr-FR" sz="2244" i="1" spc="110">
                <a:solidFill>
                  <a:srgbClr val="000000"/>
                </a:solidFill>
                <a:latin typeface="Arial"/>
              </a:rPr>
              <a:t> </a:t>
            </a:r>
            <a:r>
              <a:rPr lang="fr-FR" sz="2244" spc="5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2244" spc="1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>
                <a:solidFill>
                  <a:srgbClr val="000000"/>
                </a:solidFill>
                <a:latin typeface="Arial MT"/>
              </a:rPr>
              <a:t>its</a:t>
            </a:r>
            <a:r>
              <a:rPr lang="fr-FR" sz="2244" spc="11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2244" spc="-7">
                <a:solidFill>
                  <a:srgbClr val="000000"/>
                </a:solidFill>
                <a:latin typeface="Arial MT"/>
              </a:rPr>
              <a:t>members.</a:t>
            </a:r>
            <a:endParaRPr lang="fr-FR" sz="2244">
              <a:solidFill>
                <a:srgbClr val="000000"/>
              </a:solidFill>
              <a:latin typeface="Arial"/>
            </a:endParaRPr>
          </a:p>
          <a:p>
            <a:pPr marL="1317028" lvl="1" indent="-242972" algn="just">
              <a:lnSpc>
                <a:spcPct val="113000"/>
              </a:lnSpc>
              <a:spcBef>
                <a:spcPts val="1358"/>
              </a:spcBef>
              <a:buClr>
                <a:srgbClr val="000000"/>
              </a:buClr>
              <a:buSzPct val="122000"/>
              <a:buFont typeface="Symbol" charset="2"/>
              <a:buChar char=""/>
              <a:tabLst>
                <a:tab pos="1317028" algn="l"/>
              </a:tabLst>
            </a:pPr>
            <a:r>
              <a:rPr lang="fr-FR" sz="1910">
                <a:solidFill>
                  <a:srgbClr val="000000"/>
                </a:solidFill>
                <a:latin typeface="Arial MT"/>
              </a:rPr>
              <a:t>Cohesion</a:t>
            </a:r>
            <a:r>
              <a:rPr lang="fr-FR" sz="1910" spc="234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comes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43">
                <a:solidFill>
                  <a:srgbClr val="000000"/>
                </a:solidFill>
                <a:latin typeface="Arial MT"/>
              </a:rPr>
              <a:t>from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52">
                <a:solidFill>
                  <a:srgbClr val="000000"/>
                </a:solidFill>
                <a:latin typeface="Arial MT"/>
              </a:rPr>
              <a:t>the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fact</a:t>
            </a:r>
            <a:r>
              <a:rPr lang="fr-FR" sz="1910" spc="243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55">
                <a:solidFill>
                  <a:srgbClr val="000000"/>
                </a:solidFill>
                <a:latin typeface="Arial MT"/>
              </a:rPr>
              <a:t>that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33">
                <a:solidFill>
                  <a:srgbClr val="000000"/>
                </a:solidFill>
                <a:latin typeface="Arial MT"/>
              </a:rPr>
              <a:t>individuals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910" spc="239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39">
                <a:solidFill>
                  <a:srgbClr val="000000"/>
                </a:solidFill>
                <a:latin typeface="Arial MT"/>
              </a:rPr>
              <a:t>highly </a:t>
            </a:r>
            <a:r>
              <a:rPr lang="fr-FR" sz="1910" spc="31">
                <a:solidFill>
                  <a:srgbClr val="000000"/>
                </a:solidFill>
                <a:latin typeface="Arial MT"/>
              </a:rPr>
              <a:t>interdependent,</a:t>
            </a:r>
            <a:r>
              <a:rPr lang="fr-FR" sz="1910" spc="40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31">
                <a:solidFill>
                  <a:srgbClr val="000000"/>
                </a:solidFill>
                <a:latin typeface="Arial MT"/>
              </a:rPr>
              <a:t>due</a:t>
            </a:r>
            <a:r>
              <a:rPr lang="fr-FR" sz="1910" spc="4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84">
                <a:solidFill>
                  <a:srgbClr val="000000"/>
                </a:solidFill>
                <a:latin typeface="Arial MT"/>
              </a:rPr>
              <a:t>to</a:t>
            </a:r>
            <a:r>
              <a:rPr lang="fr-FR" sz="1910" spc="4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10" spc="4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33">
                <a:solidFill>
                  <a:srgbClr val="000000"/>
                </a:solidFill>
                <a:latin typeface="Arial MT"/>
              </a:rPr>
              <a:t>high</a:t>
            </a:r>
            <a:r>
              <a:rPr lang="fr-FR" sz="1910" spc="4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45">
                <a:solidFill>
                  <a:srgbClr val="000000"/>
                </a:solidFill>
                <a:latin typeface="Arial MT"/>
              </a:rPr>
              <a:t>"division</a:t>
            </a:r>
            <a:r>
              <a:rPr lang="fr-FR" sz="1910" spc="4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45">
                <a:solidFill>
                  <a:srgbClr val="000000"/>
                </a:solidFill>
                <a:latin typeface="Arial MT"/>
              </a:rPr>
              <a:t>of</a:t>
            </a:r>
            <a:r>
              <a:rPr lang="fr-FR" sz="1910" spc="4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60">
                <a:solidFill>
                  <a:srgbClr val="000000"/>
                </a:solidFill>
                <a:latin typeface="Arial MT"/>
              </a:rPr>
              <a:t>labor".</a:t>
            </a:r>
            <a:r>
              <a:rPr lang="fr-FR" sz="1910" spc="41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Thus,</a:t>
            </a:r>
            <a:r>
              <a:rPr lang="fr-FR" sz="1910" spc="412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-7">
                <a:solidFill>
                  <a:srgbClr val="000000"/>
                </a:solidFill>
                <a:latin typeface="Arial MT"/>
              </a:rPr>
              <a:t>social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solidarity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can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52">
                <a:solidFill>
                  <a:srgbClr val="000000"/>
                </a:solidFill>
                <a:latin typeface="Arial MT"/>
              </a:rPr>
              <a:t>be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maintained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even</a:t>
            </a:r>
            <a:r>
              <a:rPr lang="fr-FR" sz="1910" spc="270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in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a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society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where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45">
                <a:solidFill>
                  <a:srgbClr val="000000"/>
                </a:solidFill>
                <a:latin typeface="Arial MT"/>
              </a:rPr>
              <a:t>people</a:t>
            </a:r>
            <a:r>
              <a:rPr lang="fr-FR" sz="1910" spc="266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-16">
                <a:solidFill>
                  <a:srgbClr val="000000"/>
                </a:solidFill>
                <a:latin typeface="Arial MT"/>
              </a:rPr>
              <a:t>are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less</a:t>
            </a:r>
            <a:r>
              <a:rPr lang="fr-FR" sz="1910" spc="-27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similar,</a:t>
            </a:r>
            <a:r>
              <a:rPr lang="fr-FR" sz="1910" spc="-24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84">
                <a:solidFill>
                  <a:srgbClr val="000000"/>
                </a:solidFill>
                <a:latin typeface="Arial MT"/>
              </a:rPr>
              <a:t>do</a:t>
            </a:r>
            <a:r>
              <a:rPr lang="fr-FR" sz="1910" spc="-27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different</a:t>
            </a:r>
            <a:r>
              <a:rPr lang="fr-FR" sz="1910" spc="-24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activities,</a:t>
            </a:r>
            <a:r>
              <a:rPr lang="fr-FR" sz="1910" spc="-27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are</a:t>
            </a:r>
            <a:r>
              <a:rPr lang="fr-FR" sz="1910" spc="-24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52">
                <a:solidFill>
                  <a:srgbClr val="000000"/>
                </a:solidFill>
                <a:latin typeface="Arial MT"/>
              </a:rPr>
              <a:t>not</a:t>
            </a:r>
            <a:r>
              <a:rPr lang="fr-FR" sz="1910" spc="-27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regulated</a:t>
            </a:r>
            <a:r>
              <a:rPr lang="fr-FR" sz="1910" spc="-24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by</a:t>
            </a:r>
            <a:r>
              <a:rPr lang="fr-FR" sz="1910" spc="-27">
                <a:solidFill>
                  <a:srgbClr val="000000"/>
                </a:solidFill>
                <a:latin typeface="Arial MT"/>
              </a:rPr>
              <a:t>  </a:t>
            </a:r>
            <a:r>
              <a:rPr lang="fr-FR" sz="1910" spc="-7">
                <a:solidFill>
                  <a:srgbClr val="000000"/>
                </a:solidFill>
                <a:latin typeface="Arial MT"/>
              </a:rPr>
              <a:t>strong shared</a:t>
            </a:r>
            <a:r>
              <a:rPr lang="fr-FR" sz="1910" spc="-7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>
                <a:solidFill>
                  <a:srgbClr val="000000"/>
                </a:solidFill>
                <a:latin typeface="Arial MT"/>
              </a:rPr>
              <a:t>norms</a:t>
            </a:r>
            <a:r>
              <a:rPr lang="fr-FR" sz="1910" spc="-79">
                <a:solidFill>
                  <a:srgbClr val="000000"/>
                </a:solidFill>
                <a:latin typeface="Arial MT"/>
              </a:rPr>
              <a:t> </a:t>
            </a:r>
            <a:r>
              <a:rPr lang="fr-FR" sz="1910" spc="-7">
                <a:solidFill>
                  <a:srgbClr val="000000"/>
                </a:solidFill>
                <a:latin typeface="Arial MT"/>
              </a:rPr>
              <a:t>etc...</a:t>
            </a:r>
            <a:endParaRPr lang="fr-FR" sz="191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2EB610BB-534D-1B4F-C00D-C1BF69CB85E1}"/>
              </a:ext>
            </a:extLst>
          </p:cNvPr>
          <p:cNvSpPr/>
          <p:nvPr/>
        </p:nvSpPr>
        <p:spPr>
          <a:xfrm>
            <a:off x="0" y="0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Even « 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individualists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 »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recognize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possibility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of « </a:t>
            </a:r>
            <a:r>
              <a:rPr lang="fr-FR" sz="3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emergence</a:t>
            </a:r>
            <a:r>
              <a:rPr lang="fr-FR" sz="3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 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0FE84-1EF8-A863-7443-E57E24D5ED92}"/>
              </a:ext>
            </a:extLst>
          </p:cNvPr>
          <p:cNvSpPr txBox="1"/>
          <p:nvPr/>
        </p:nvSpPr>
        <p:spPr>
          <a:xfrm>
            <a:off x="0" y="166837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Emergence: when complex entity, system, or organism possesses properties, behaviors, or patterns that its individual parts do not have on their 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8E3C6-03BD-7FB2-7EEE-430773CC3EDC}"/>
              </a:ext>
            </a:extLst>
          </p:cNvPr>
          <p:cNvSpPr txBox="1"/>
          <p:nvPr/>
        </p:nvSpPr>
        <p:spPr>
          <a:xfrm>
            <a:off x="5997678" y="5934670"/>
            <a:ext cx="6194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effectLst/>
                <a:latin typeface="+mn-lt"/>
              </a:rPr>
              <a:t>Schelling, T. </a:t>
            </a:r>
            <a:r>
              <a:rPr lang="en-US" dirty="0">
                <a:effectLst/>
                <a:latin typeface="+mn-lt"/>
              </a:rPr>
              <a:t>C. (1971).</a:t>
            </a:r>
            <a:r>
              <a:rPr lang="en-US" dirty="0"/>
              <a:t> </a:t>
            </a:r>
            <a:r>
              <a:rPr lang="en-US" dirty="0">
                <a:effectLst/>
                <a:latin typeface="+mn-lt"/>
              </a:rPr>
              <a:t>Dynamic models of segregation.</a:t>
            </a:r>
            <a:r>
              <a:rPr lang="en-US" dirty="0"/>
              <a:t> </a:t>
            </a:r>
            <a:r>
              <a:rPr lang="en-US" i="1" dirty="0">
                <a:effectLst/>
                <a:latin typeface="+mn-lt"/>
              </a:rPr>
              <a:t>The Journal of Mathematical Sociology</a:t>
            </a:r>
            <a:r>
              <a:rPr lang="en-US" dirty="0">
                <a:effectLst/>
                <a:latin typeface="+mn-lt"/>
              </a:rPr>
              <a:t>, </a:t>
            </a:r>
            <a:r>
              <a:rPr lang="en-US" i="1" dirty="0">
                <a:effectLst/>
                <a:latin typeface="+mn-lt"/>
              </a:rPr>
              <a:t>1</a:t>
            </a:r>
            <a:r>
              <a:rPr lang="en-US" dirty="0">
                <a:effectLst/>
                <a:latin typeface="+mn-lt"/>
              </a:rPr>
              <a:t>(2), 143–186.</a:t>
            </a:r>
            <a:r>
              <a:rPr lang="en-US" dirty="0"/>
              <a:t> </a:t>
            </a:r>
            <a:r>
              <a:rPr lang="en-US" dirty="0">
                <a:effectLst/>
                <a:latin typeface="+mn-lt"/>
                <a:hlinkClick r:id="rId2"/>
              </a:rPr>
              <a:t>https://doi.org/10.1080/0022250X.1971.9989794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E81C2-BFFD-4C2C-111D-D1EA5275F57C}"/>
              </a:ext>
            </a:extLst>
          </p:cNvPr>
          <p:cNvSpPr txBox="1"/>
          <p:nvPr/>
        </p:nvSpPr>
        <p:spPr>
          <a:xfrm>
            <a:off x="2998839" y="3992275"/>
            <a:ext cx="6194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https://www.youtube.com/watch?v=tsOOeQ9IxvA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55C46-E08A-69AB-3A7F-59008DF04850}"/>
              </a:ext>
            </a:extLst>
          </p:cNvPr>
          <p:cNvSpPr txBox="1"/>
          <p:nvPr/>
        </p:nvSpPr>
        <p:spPr>
          <a:xfrm>
            <a:off x="0" y="272111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venir Next LT Pro" panose="020B0504020202020204" pitchFamily="34" charset="0"/>
              </a:rPr>
              <a:t>Schelling (1971)’s model of segregation: very small individual preferences for discrimination can result in massive segregation at the macro scale!</a:t>
            </a:r>
          </a:p>
        </p:txBody>
      </p:sp>
    </p:spTree>
    <p:extLst>
      <p:ext uri="{BB962C8B-B14F-4D97-AF65-F5344CB8AC3E}">
        <p14:creationId xmlns:p14="http://schemas.microsoft.com/office/powerpoint/2010/main" val="353302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017F-2064-F225-07CD-FFAB8DFA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B11A4918-17CC-B74E-D11B-EEA426594B84}"/>
              </a:ext>
            </a:extLst>
          </p:cNvPr>
          <p:cNvSpPr/>
          <p:nvPr/>
        </p:nvSpPr>
        <p:spPr>
          <a:xfrm>
            <a:off x="0" y="0"/>
            <a:ext cx="119756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FR" sz="36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Overall…</a:t>
            </a: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4809213E-4258-CA1E-56A7-0D98981614AC}"/>
              </a:ext>
            </a:extLst>
          </p:cNvPr>
          <p:cNvSpPr/>
          <p:nvPr/>
        </p:nvSpPr>
        <p:spPr>
          <a:xfrm>
            <a:off x="0" y="1110078"/>
            <a:ext cx="1197569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Is society an objective reality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outside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exerts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its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influence on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holism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), or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product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actions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individualism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9">
            <a:extLst>
              <a:ext uri="{FF2B5EF4-FFF2-40B4-BE49-F238E27FC236}">
                <a16:creationId xmlns:a16="http://schemas.microsoft.com/office/drawing/2014/main" id="{43710EF3-1AF7-103B-6189-D1AF80B12DDF}"/>
              </a:ext>
            </a:extLst>
          </p:cNvPr>
          <p:cNvSpPr/>
          <p:nvPr/>
        </p:nvSpPr>
        <p:spPr>
          <a:xfrm>
            <a:off x="1278194" y="1940904"/>
            <a:ext cx="10913806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Not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important,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because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most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people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agree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society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an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external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force on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(no one chose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 fork, or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learn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their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native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tongue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…); but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also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society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product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actions (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didn’t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fall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from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sky out of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nowhere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)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ZoneTexte 29">
            <a:extLst>
              <a:ext uri="{FF2B5EF4-FFF2-40B4-BE49-F238E27FC236}">
                <a16:creationId xmlns:a16="http://schemas.microsoft.com/office/drawing/2014/main" id="{36D4A254-B1A1-FB44-A959-4CDA0E7D9051}"/>
              </a:ext>
            </a:extLst>
          </p:cNvPr>
          <p:cNvSpPr/>
          <p:nvPr/>
        </p:nvSpPr>
        <p:spPr>
          <a:xfrm>
            <a:off x="1278194" y="3302672"/>
            <a:ext cx="10785987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Most people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agree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emergence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can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occur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ZoneTexte 29">
            <a:extLst>
              <a:ext uri="{FF2B5EF4-FFF2-40B4-BE49-F238E27FC236}">
                <a16:creationId xmlns:a16="http://schemas.microsoft.com/office/drawing/2014/main" id="{E70D4FA9-9DEB-4682-1C93-16089D646018}"/>
              </a:ext>
            </a:extLst>
          </p:cNvPr>
          <p:cNvSpPr/>
          <p:nvPr/>
        </p:nvSpPr>
        <p:spPr>
          <a:xfrm>
            <a:off x="1278193" y="4133498"/>
            <a:ext cx="1078598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What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varies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the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emphasis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: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some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people to start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society »,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others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« 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individuals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 »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0195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6656BAE5-F5B1-25A5-03CA-B70880A4F794}"/>
              </a:ext>
            </a:extLst>
          </p:cNvPr>
          <p:cNvSpPr/>
          <p:nvPr/>
        </p:nvSpPr>
        <p:spPr>
          <a:xfrm>
            <a:off x="214" y="1082426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II) The Cultural and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Agentic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AA0A6D09-BE7E-E2DD-FB65-6D1D4CF0800E}"/>
              </a:ext>
            </a:extLst>
          </p:cNvPr>
          <p:cNvSpPr/>
          <p:nvPr/>
        </p:nvSpPr>
        <p:spPr>
          <a:xfrm>
            <a:off x="213" y="1631922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A) Workshop: Social class and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. The case of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education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4D8BA8D8-4B8C-922D-B791-11754ED5BB3C}"/>
              </a:ext>
            </a:extLst>
          </p:cNvPr>
          <p:cNvSpPr/>
          <p:nvPr/>
        </p:nvSpPr>
        <p:spPr>
          <a:xfrm>
            <a:off x="214" y="2123294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« Cultural » and « 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schools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thought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46320F87-F48C-C0C1-24A8-4FF745ED7263}"/>
              </a:ext>
            </a:extLst>
          </p:cNvPr>
          <p:cNvSpPr/>
          <p:nvPr/>
        </p:nvSpPr>
        <p:spPr>
          <a:xfrm>
            <a:off x="214" y="267279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Limitations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both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approaches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050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4CC33491-43BE-7E72-BB04-8999A5677AD6}"/>
              </a:ext>
            </a:extLst>
          </p:cNvPr>
          <p:cNvSpPr/>
          <p:nvPr/>
        </p:nvSpPr>
        <p:spPr>
          <a:xfrm>
            <a:off x="0" y="775781"/>
            <a:ext cx="1197569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Questions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you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may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think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about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while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reading</a:t>
            </a:r>
            <a:r>
              <a:rPr lang="fr-MA" sz="20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: </a:t>
            </a:r>
            <a:endParaRPr lang="fr-FR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935C812-78A8-2E8A-5C0D-AEC057916720}"/>
              </a:ext>
            </a:extLst>
          </p:cNvPr>
          <p:cNvSpPr/>
          <p:nvPr/>
        </p:nvSpPr>
        <p:spPr>
          <a:xfrm>
            <a:off x="447368" y="1272759"/>
            <a:ext cx="117446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Why do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these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two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approaches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« 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feel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 »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different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CC8B85D3-CB63-93FD-50E5-D4E149003CC5}"/>
              </a:ext>
            </a:extLst>
          </p:cNvPr>
          <p:cNvSpPr/>
          <p:nvPr/>
        </p:nvSpPr>
        <p:spPr>
          <a:xfrm>
            <a:off x="447368" y="1769737"/>
            <a:ext cx="117446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Are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these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000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approaches</a:t>
            </a:r>
            <a:r>
              <a:rPr lang="fr-MA" sz="2000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incompatible? 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A78638E1-F242-91A8-6FC3-E15DAD1B03A7}"/>
              </a:ext>
            </a:extLst>
          </p:cNvPr>
          <p:cNvSpPr/>
          <p:nvPr/>
        </p:nvSpPr>
        <p:spPr>
          <a:xfrm>
            <a:off x="447368" y="2266715"/>
            <a:ext cx="117446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>
                <a:solidFill>
                  <a:schemeClr val="dk1"/>
                </a:solidFill>
                <a:latin typeface="Avenir Next LT Pro"/>
              </a:rPr>
              <a:t>Do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you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prefer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one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over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other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? Why? 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2BBAD902-289F-647A-0191-F5C1E9F954BA}"/>
              </a:ext>
            </a:extLst>
          </p:cNvPr>
          <p:cNvSpPr/>
          <p:nvPr/>
        </p:nvSpPr>
        <p:spPr>
          <a:xfrm>
            <a:off x="447368" y="2763693"/>
            <a:ext cx="117446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What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evidence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would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allow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us to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determine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whether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one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better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than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 the </a:t>
            </a:r>
            <a:r>
              <a:rPr lang="fr-MA" sz="2000" dirty="0" err="1">
                <a:solidFill>
                  <a:schemeClr val="dk1"/>
                </a:solidFill>
                <a:latin typeface="Avenir Next LT Pro"/>
              </a:rPr>
              <a:t>other</a:t>
            </a:r>
            <a:r>
              <a:rPr lang="fr-MA" sz="2000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7733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EC10D6C4-F017-A769-1657-23FD5829F862}"/>
              </a:ext>
            </a:extLst>
          </p:cNvPr>
          <p:cNvSpPr/>
          <p:nvPr/>
        </p:nvSpPr>
        <p:spPr>
          <a:xfrm>
            <a:off x="108155" y="2063806"/>
            <a:ext cx="119756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Debate: Are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individuals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passive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executers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of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interiorized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norms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and culture (‘cultural idiots’) or are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they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strategic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agents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who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adapt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their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behavior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to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achieve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</a:t>
            </a:r>
            <a:r>
              <a:rPr lang="fr-MA" sz="2400" b="1" u="none" strike="noStrike" dirty="0" err="1">
                <a:solidFill>
                  <a:schemeClr val="dk1"/>
                </a:solidFill>
                <a:effectLst/>
                <a:uFillTx/>
                <a:latin typeface="Avenir Next LT Pro"/>
              </a:rPr>
              <a:t>their</a:t>
            </a:r>
            <a:r>
              <a:rPr lang="fr-MA" sz="2400" b="1" u="none" strike="noStrike" dirty="0">
                <a:solidFill>
                  <a:schemeClr val="dk1"/>
                </a:solidFill>
                <a:effectLst/>
                <a:uFillTx/>
                <a:latin typeface="Avenir Next LT Pro"/>
              </a:rPr>
              <a:t> objectives</a:t>
            </a:r>
            <a:r>
              <a:rPr lang="fr-MA" sz="2400" b="1" dirty="0">
                <a:solidFill>
                  <a:schemeClr val="dk1"/>
                </a:solidFill>
                <a:latin typeface="Avenir Next LT Pro"/>
              </a:rPr>
              <a:t>?</a:t>
            </a:r>
            <a:endParaRPr lang="fr-FR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964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349E-6ECE-70C9-4B05-5A04CA5A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F65258AA-B8FA-AF4B-F875-72ABABA7C77A}"/>
              </a:ext>
            </a:extLst>
          </p:cNvPr>
          <p:cNvSpPr/>
          <p:nvPr/>
        </p:nvSpPr>
        <p:spPr>
          <a:xfrm>
            <a:off x="214" y="1082426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II) The Cultural and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Agentic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BDCCD9D1-A67C-D871-894E-A8E6BD70CB0A}"/>
              </a:ext>
            </a:extLst>
          </p:cNvPr>
          <p:cNvSpPr/>
          <p:nvPr/>
        </p:nvSpPr>
        <p:spPr>
          <a:xfrm>
            <a:off x="213" y="1631922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Workshop: Social class and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 The case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education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4607DFC7-A8D7-0D58-FD95-1B4100F85A25}"/>
              </a:ext>
            </a:extLst>
          </p:cNvPr>
          <p:cNvSpPr/>
          <p:nvPr/>
        </p:nvSpPr>
        <p:spPr>
          <a:xfrm>
            <a:off x="214" y="2123294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B) « Cultural » and « 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schools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thought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DDC9A944-D446-816F-596F-F4265BD7B222}"/>
              </a:ext>
            </a:extLst>
          </p:cNvPr>
          <p:cNvSpPr/>
          <p:nvPr/>
        </p:nvSpPr>
        <p:spPr>
          <a:xfrm>
            <a:off x="214" y="267279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C) Limitations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both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approaches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3873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58728" y="3698490"/>
            <a:ext cx="1399710" cy="837901"/>
          </a:xfrm>
          <a:custGeom>
            <a:avLst/>
            <a:gdLst/>
            <a:ahLst/>
            <a:cxnLst/>
            <a:rect l="l" t="t" r="r" b="b"/>
            <a:pathLst>
              <a:path w="2308225" h="1381759">
                <a:moveTo>
                  <a:pt x="2099599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1172786"/>
                </a:lnTo>
                <a:lnTo>
                  <a:pt x="159" y="1214247"/>
                </a:lnTo>
                <a:lnTo>
                  <a:pt x="4307" y="1274241"/>
                </a:lnTo>
                <a:lnTo>
                  <a:pt x="22518" y="1319989"/>
                </a:lnTo>
                <a:lnTo>
                  <a:pt x="61148" y="1358619"/>
                </a:lnTo>
                <a:lnTo>
                  <a:pt x="106896" y="1376830"/>
                </a:lnTo>
                <a:lnTo>
                  <a:pt x="166890" y="1380978"/>
                </a:lnTo>
                <a:lnTo>
                  <a:pt x="208351" y="1381138"/>
                </a:lnTo>
                <a:lnTo>
                  <a:pt x="2099599" y="1381138"/>
                </a:lnTo>
                <a:lnTo>
                  <a:pt x="2141061" y="1380978"/>
                </a:lnTo>
                <a:lnTo>
                  <a:pt x="2201060" y="1376830"/>
                </a:lnTo>
                <a:lnTo>
                  <a:pt x="2246810" y="1358619"/>
                </a:lnTo>
                <a:lnTo>
                  <a:pt x="2285435" y="1319989"/>
                </a:lnTo>
                <a:lnTo>
                  <a:pt x="2303648" y="1274241"/>
                </a:lnTo>
                <a:lnTo>
                  <a:pt x="2307800" y="1214247"/>
                </a:lnTo>
                <a:lnTo>
                  <a:pt x="2307960" y="1172786"/>
                </a:lnTo>
                <a:lnTo>
                  <a:pt x="2307960" y="208351"/>
                </a:lnTo>
                <a:lnTo>
                  <a:pt x="2307800" y="166890"/>
                </a:lnTo>
                <a:lnTo>
                  <a:pt x="2303648" y="106896"/>
                </a:lnTo>
                <a:lnTo>
                  <a:pt x="2285435" y="61148"/>
                </a:lnTo>
                <a:lnTo>
                  <a:pt x="2246810" y="22518"/>
                </a:lnTo>
                <a:lnTo>
                  <a:pt x="2201060" y="4307"/>
                </a:lnTo>
                <a:lnTo>
                  <a:pt x="2141061" y="159"/>
                </a:lnTo>
                <a:lnTo>
                  <a:pt x="20995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/>
          <p:nvPr/>
        </p:nvSpPr>
        <p:spPr>
          <a:xfrm>
            <a:off x="5465675" y="3745655"/>
            <a:ext cx="1185613" cy="738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74"/>
              </a:lnSpc>
            </a:pPr>
            <a:r>
              <a:rPr sz="1577" spc="36" dirty="0">
                <a:solidFill>
                  <a:srgbClr val="FFFFFF"/>
                </a:solidFill>
                <a:latin typeface="Arial MT"/>
                <a:cs typeface="Arial MT"/>
              </a:rPr>
              <a:t>Cognitive</a:t>
            </a:r>
            <a:endParaRPr sz="1577">
              <a:latin typeface="Arial MT"/>
              <a:cs typeface="Arial MT"/>
            </a:endParaRPr>
          </a:p>
          <a:p>
            <a:pPr algn="ctr">
              <a:lnSpc>
                <a:spcPts val="1953"/>
              </a:lnSpc>
              <a:spcBef>
                <a:spcPts val="24"/>
              </a:spcBef>
            </a:pPr>
            <a:r>
              <a:rPr sz="1577" spc="36" dirty="0">
                <a:solidFill>
                  <a:srgbClr val="FFFFFF"/>
                </a:solidFill>
                <a:latin typeface="Arial MT"/>
                <a:cs typeface="Arial MT"/>
              </a:rPr>
              <a:t>mechanisms </a:t>
            </a:r>
            <a:r>
              <a:rPr sz="1577" spc="39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endParaRPr sz="1577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1487" y="2284138"/>
            <a:ext cx="4446589" cy="445247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95025" y="2882543"/>
            <a:ext cx="2170993" cy="2404728"/>
          </a:xfrm>
          <a:custGeom>
            <a:avLst/>
            <a:gdLst/>
            <a:ahLst/>
            <a:cxnLst/>
            <a:rect l="l" t="t" r="r" b="b"/>
            <a:pathLst>
              <a:path w="3580129" h="3965575">
                <a:moveTo>
                  <a:pt x="3142598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4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3528090"/>
                </a:lnTo>
                <a:lnTo>
                  <a:pt x="171" y="3599081"/>
                </a:lnTo>
                <a:lnTo>
                  <a:pt x="1370" y="3658993"/>
                </a:lnTo>
                <a:lnTo>
                  <a:pt x="4625" y="3709056"/>
                </a:lnTo>
                <a:lnTo>
                  <a:pt x="10964" y="3750502"/>
                </a:lnTo>
                <a:lnTo>
                  <a:pt x="41198" y="3826919"/>
                </a:lnTo>
                <a:lnTo>
                  <a:pt x="67751" y="3864759"/>
                </a:lnTo>
                <a:lnTo>
                  <a:pt x="100323" y="3897332"/>
                </a:lnTo>
                <a:lnTo>
                  <a:pt x="138164" y="3923885"/>
                </a:lnTo>
                <a:lnTo>
                  <a:pt x="180522" y="3943669"/>
                </a:lnTo>
                <a:lnTo>
                  <a:pt x="256027" y="3960458"/>
                </a:lnTo>
                <a:lnTo>
                  <a:pt x="306090" y="3963712"/>
                </a:lnTo>
                <a:lnTo>
                  <a:pt x="366002" y="3964912"/>
                </a:lnTo>
                <a:lnTo>
                  <a:pt x="436992" y="3965083"/>
                </a:lnTo>
                <a:lnTo>
                  <a:pt x="3142598" y="3965083"/>
                </a:lnTo>
                <a:lnTo>
                  <a:pt x="3213589" y="3964912"/>
                </a:lnTo>
                <a:lnTo>
                  <a:pt x="3273500" y="3963712"/>
                </a:lnTo>
                <a:lnTo>
                  <a:pt x="3323563" y="3960458"/>
                </a:lnTo>
                <a:lnTo>
                  <a:pt x="3365009" y="3954119"/>
                </a:lnTo>
                <a:lnTo>
                  <a:pt x="3441427" y="3923885"/>
                </a:lnTo>
                <a:lnTo>
                  <a:pt x="3479267" y="3897332"/>
                </a:lnTo>
                <a:lnTo>
                  <a:pt x="3511840" y="3864759"/>
                </a:lnTo>
                <a:lnTo>
                  <a:pt x="3538393" y="3826919"/>
                </a:lnTo>
                <a:lnTo>
                  <a:pt x="3558176" y="3784561"/>
                </a:lnTo>
                <a:lnTo>
                  <a:pt x="3574965" y="3709056"/>
                </a:lnTo>
                <a:lnTo>
                  <a:pt x="3578220" y="3658993"/>
                </a:lnTo>
                <a:lnTo>
                  <a:pt x="3579420" y="3599081"/>
                </a:lnTo>
                <a:lnTo>
                  <a:pt x="3579591" y="3528090"/>
                </a:lnTo>
                <a:lnTo>
                  <a:pt x="3579591" y="436992"/>
                </a:lnTo>
                <a:lnTo>
                  <a:pt x="3579420" y="366001"/>
                </a:lnTo>
                <a:lnTo>
                  <a:pt x="3578220" y="306089"/>
                </a:lnTo>
                <a:lnTo>
                  <a:pt x="3574965" y="256026"/>
                </a:lnTo>
                <a:lnTo>
                  <a:pt x="3568627" y="214581"/>
                </a:lnTo>
                <a:lnTo>
                  <a:pt x="3538393" y="138163"/>
                </a:lnTo>
                <a:lnTo>
                  <a:pt x="3511840" y="100323"/>
                </a:lnTo>
                <a:lnTo>
                  <a:pt x="3479267" y="67750"/>
                </a:lnTo>
                <a:lnTo>
                  <a:pt x="3441427" y="41197"/>
                </a:lnTo>
                <a:lnTo>
                  <a:pt x="3399069" y="21414"/>
                </a:lnTo>
                <a:lnTo>
                  <a:pt x="3323563" y="4625"/>
                </a:lnTo>
                <a:lnTo>
                  <a:pt x="3273500" y="1370"/>
                </a:lnTo>
                <a:lnTo>
                  <a:pt x="3213589" y="171"/>
                </a:lnTo>
                <a:lnTo>
                  <a:pt x="3142598" y="0"/>
                </a:lnTo>
                <a:close/>
              </a:path>
            </a:pathLst>
          </a:custGeom>
          <a:solidFill>
            <a:srgbClr val="0076B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 txBox="1"/>
          <p:nvPr/>
        </p:nvSpPr>
        <p:spPr>
          <a:xfrm>
            <a:off x="613799" y="3485363"/>
            <a:ext cx="1933409" cy="1165749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/>
          <a:p>
            <a:pPr marL="7316" marR="3081" algn="ctr">
              <a:lnSpc>
                <a:spcPct val="102000"/>
              </a:lnSpc>
              <a:spcBef>
                <a:spcPts val="33"/>
              </a:spcBef>
            </a:pPr>
            <a:r>
              <a:rPr sz="1880" dirty="0">
                <a:solidFill>
                  <a:srgbClr val="FFFFFF"/>
                </a:solidFill>
                <a:latin typeface="Arial MT"/>
                <a:cs typeface="Arial MT"/>
              </a:rPr>
              <a:t>Values,</a:t>
            </a:r>
            <a:r>
              <a:rPr sz="188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39" dirty="0">
                <a:solidFill>
                  <a:srgbClr val="FFFFFF"/>
                </a:solidFill>
                <a:latin typeface="Arial MT"/>
                <a:cs typeface="Arial MT"/>
              </a:rPr>
              <a:t>norms, </a:t>
            </a:r>
            <a:r>
              <a:rPr sz="1880" spc="30" dirty="0">
                <a:solidFill>
                  <a:srgbClr val="FFFFFF"/>
                </a:solidFill>
                <a:latin typeface="Arial MT"/>
                <a:cs typeface="Arial MT"/>
              </a:rPr>
              <a:t>beliefs, </a:t>
            </a:r>
            <a:r>
              <a:rPr sz="1880" spc="27" dirty="0">
                <a:solidFill>
                  <a:srgbClr val="FFFFFF"/>
                </a:solidFill>
                <a:latin typeface="Arial MT"/>
                <a:cs typeface="Arial MT"/>
              </a:rPr>
              <a:t>preferences, </a:t>
            </a:r>
            <a:r>
              <a:rPr sz="1880" spc="45" dirty="0">
                <a:solidFill>
                  <a:srgbClr val="FFFFFF"/>
                </a:solidFill>
                <a:latin typeface="Arial MT"/>
                <a:cs typeface="Arial MT"/>
              </a:rPr>
              <a:t>habits,</a:t>
            </a:r>
            <a:r>
              <a:rPr sz="188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58" dirty="0">
                <a:solidFill>
                  <a:srgbClr val="FFFFFF"/>
                </a:solidFill>
                <a:latin typeface="Arial MT"/>
                <a:cs typeface="Arial MT"/>
              </a:rPr>
              <a:t>tools,</a:t>
            </a:r>
            <a:r>
              <a:rPr sz="1880" spc="1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39" dirty="0">
                <a:solidFill>
                  <a:srgbClr val="FFFFFF"/>
                </a:solidFill>
                <a:latin typeface="Arial MT"/>
                <a:cs typeface="Arial MT"/>
              </a:rPr>
              <a:t>etc.</a:t>
            </a:r>
            <a:endParaRPr sz="188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1655" y="3628753"/>
            <a:ext cx="1603794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3184" spc="-6" dirty="0">
                <a:solidFill>
                  <a:srgbClr val="0076BA"/>
                </a:solidFill>
                <a:latin typeface="Arial MT"/>
                <a:cs typeface="Arial MT"/>
              </a:rPr>
              <a:t>Behavior</a:t>
            </a:r>
            <a:endParaRPr sz="3184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13079" y="3778963"/>
            <a:ext cx="2208730" cy="266850"/>
            <a:chOff x="4473363" y="6231790"/>
            <a:chExt cx="3642360" cy="440055"/>
          </a:xfrm>
        </p:grpSpPr>
        <p:sp>
          <p:nvSpPr>
            <p:cNvPr id="9" name="object 9"/>
            <p:cNvSpPr/>
            <p:nvPr/>
          </p:nvSpPr>
          <p:spPr>
            <a:xfrm>
              <a:off x="4473363" y="6451679"/>
              <a:ext cx="3370579" cy="0"/>
            </a:xfrm>
            <a:custGeom>
              <a:avLst/>
              <a:gdLst/>
              <a:ahLst/>
              <a:cxnLst/>
              <a:rect l="l" t="t" r="r" b="b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ln w="115179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0" name="object 10"/>
            <p:cNvSpPr/>
            <p:nvPr/>
          </p:nvSpPr>
          <p:spPr>
            <a:xfrm>
              <a:off x="7675819" y="6231790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454805" y="3824680"/>
            <a:ext cx="1395089" cy="175589"/>
            <a:chOff x="12292819" y="6307180"/>
            <a:chExt cx="2300605" cy="289560"/>
          </a:xfrm>
        </p:grpSpPr>
        <p:sp>
          <p:nvSpPr>
            <p:cNvPr id="12" name="object 12"/>
            <p:cNvSpPr/>
            <p:nvPr/>
          </p:nvSpPr>
          <p:spPr>
            <a:xfrm>
              <a:off x="12292819" y="6451679"/>
              <a:ext cx="2120900" cy="0"/>
            </a:xfrm>
            <a:custGeom>
              <a:avLst/>
              <a:gdLst/>
              <a:ahLst/>
              <a:cxnLst/>
              <a:rect l="l" t="t" r="r" b="b"/>
              <a:pathLst>
                <a:path w="2120900">
                  <a:moveTo>
                    <a:pt x="0" y="0"/>
                  </a:moveTo>
                  <a:lnTo>
                    <a:pt x="2083759" y="0"/>
                  </a:lnTo>
                  <a:lnTo>
                    <a:pt x="2120407" y="0"/>
                  </a:lnTo>
                </a:path>
              </a:pathLst>
            </a:custGeom>
            <a:ln w="73296">
              <a:solidFill>
                <a:srgbClr val="0076BA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04328" y="630718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6B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19952" y="48942"/>
            <a:ext cx="9935435" cy="147080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marL="7701" marR="3081">
              <a:lnSpc>
                <a:spcPct val="113199"/>
              </a:lnSpc>
              <a:spcBef>
                <a:spcPts val="61"/>
              </a:spcBef>
            </a:pPr>
            <a:r>
              <a:rPr sz="4305" dirty="0"/>
              <a:t>The</a:t>
            </a:r>
            <a:r>
              <a:rPr sz="4305" spc="-64" dirty="0"/>
              <a:t> </a:t>
            </a:r>
            <a:r>
              <a:rPr sz="4305" spc="-69" dirty="0"/>
              <a:t>common</a:t>
            </a:r>
            <a:r>
              <a:rPr sz="4305" spc="-64" dirty="0"/>
              <a:t> </a:t>
            </a:r>
            <a:r>
              <a:rPr sz="4305" spc="-170" dirty="0"/>
              <a:t>assumptions</a:t>
            </a:r>
            <a:r>
              <a:rPr sz="4305" spc="-61" dirty="0"/>
              <a:t> </a:t>
            </a:r>
            <a:r>
              <a:rPr sz="4305" dirty="0"/>
              <a:t>of</a:t>
            </a:r>
            <a:r>
              <a:rPr sz="4305" spc="-64" dirty="0"/>
              <a:t> </a:t>
            </a:r>
            <a:r>
              <a:rPr sz="4305" spc="-30" dirty="0"/>
              <a:t>“cultural” </a:t>
            </a:r>
            <a:r>
              <a:rPr sz="4305" spc="-6" dirty="0"/>
              <a:t>models</a:t>
            </a:r>
            <a:endParaRPr sz="4305"/>
          </a:p>
        </p:txBody>
      </p:sp>
      <p:sp>
        <p:nvSpPr>
          <p:cNvPr id="15" name="object 15"/>
          <p:cNvSpPr txBox="1"/>
          <p:nvPr/>
        </p:nvSpPr>
        <p:spPr>
          <a:xfrm>
            <a:off x="2807652" y="3389947"/>
            <a:ext cx="1646151" cy="34564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183" b="1" spc="-39" dirty="0">
                <a:solidFill>
                  <a:srgbClr val="EE220C"/>
                </a:solidFill>
                <a:latin typeface="Arial"/>
                <a:cs typeface="Arial"/>
              </a:rPr>
              <a:t>Socialization</a:t>
            </a:r>
            <a:endParaRPr sz="2183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97177" y="3124758"/>
            <a:ext cx="1994634" cy="1575299"/>
          </a:xfrm>
          <a:custGeom>
            <a:avLst/>
            <a:gdLst/>
            <a:ahLst/>
            <a:cxnLst/>
            <a:rect l="l" t="t" r="r" b="b"/>
            <a:pathLst>
              <a:path w="3289300" h="2597784">
                <a:moveTo>
                  <a:pt x="2994135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6" y="14448"/>
                </a:lnTo>
                <a:lnTo>
                  <a:pt x="86529" y="31866"/>
                </a:lnTo>
                <a:lnTo>
                  <a:pt x="56222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2302610"/>
                </a:lnTo>
                <a:lnTo>
                  <a:pt x="225" y="2361281"/>
                </a:lnTo>
                <a:lnTo>
                  <a:pt x="1805" y="2408596"/>
                </a:lnTo>
                <a:lnTo>
                  <a:pt x="14447" y="2475649"/>
                </a:lnTo>
                <a:lnTo>
                  <a:pt x="31865" y="2510916"/>
                </a:lnTo>
                <a:lnTo>
                  <a:pt x="56222" y="2541222"/>
                </a:lnTo>
                <a:lnTo>
                  <a:pt x="86529" y="2565579"/>
                </a:lnTo>
                <a:lnTo>
                  <a:pt x="121796" y="2582997"/>
                </a:lnTo>
                <a:lnTo>
                  <a:pt x="188849" y="2595639"/>
                </a:lnTo>
                <a:lnTo>
                  <a:pt x="236164" y="2597219"/>
                </a:lnTo>
                <a:lnTo>
                  <a:pt x="294835" y="2597445"/>
                </a:lnTo>
                <a:lnTo>
                  <a:pt x="2994135" y="2597445"/>
                </a:lnTo>
                <a:lnTo>
                  <a:pt x="3052805" y="2597219"/>
                </a:lnTo>
                <a:lnTo>
                  <a:pt x="3100120" y="2595639"/>
                </a:lnTo>
                <a:lnTo>
                  <a:pt x="3167176" y="2582997"/>
                </a:lnTo>
                <a:lnTo>
                  <a:pt x="3202439" y="2565579"/>
                </a:lnTo>
                <a:lnTo>
                  <a:pt x="3232744" y="2541222"/>
                </a:lnTo>
                <a:lnTo>
                  <a:pt x="3257101" y="2510916"/>
                </a:lnTo>
                <a:lnTo>
                  <a:pt x="3274524" y="2475649"/>
                </a:lnTo>
                <a:lnTo>
                  <a:pt x="3287158" y="2408596"/>
                </a:lnTo>
                <a:lnTo>
                  <a:pt x="3288738" y="2361281"/>
                </a:lnTo>
                <a:lnTo>
                  <a:pt x="3288963" y="2302610"/>
                </a:lnTo>
                <a:lnTo>
                  <a:pt x="3288963" y="294835"/>
                </a:lnTo>
                <a:lnTo>
                  <a:pt x="3288738" y="236164"/>
                </a:lnTo>
                <a:lnTo>
                  <a:pt x="3287158" y="188849"/>
                </a:lnTo>
                <a:lnTo>
                  <a:pt x="3274524" y="121797"/>
                </a:lnTo>
                <a:lnTo>
                  <a:pt x="3257101" y="86529"/>
                </a:lnTo>
                <a:lnTo>
                  <a:pt x="3232744" y="56223"/>
                </a:lnTo>
                <a:lnTo>
                  <a:pt x="3202439" y="31866"/>
                </a:lnTo>
                <a:lnTo>
                  <a:pt x="3167176" y="14448"/>
                </a:lnTo>
                <a:lnTo>
                  <a:pt x="3100120" y="1806"/>
                </a:lnTo>
                <a:lnTo>
                  <a:pt x="3052805" y="225"/>
                </a:lnTo>
                <a:lnTo>
                  <a:pt x="2994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 txBox="1"/>
          <p:nvPr/>
        </p:nvSpPr>
        <p:spPr>
          <a:xfrm>
            <a:off x="5551312" y="3183078"/>
            <a:ext cx="1486349" cy="1135669"/>
          </a:xfrm>
          <a:prstGeom prst="rect">
            <a:avLst/>
          </a:prstGeom>
        </p:spPr>
        <p:txBody>
          <a:bodyPr vert="horz" wrap="square" lIns="0" tIns="3466" rIns="0" bIns="0" rtlCol="0">
            <a:spAutoFit/>
          </a:bodyPr>
          <a:lstStyle/>
          <a:p>
            <a:pPr marL="7701" marR="3081" algn="ctr">
              <a:lnSpc>
                <a:spcPct val="101499"/>
              </a:lnSpc>
              <a:spcBef>
                <a:spcPts val="27"/>
              </a:spcBef>
            </a:pPr>
            <a:r>
              <a:rPr sz="1850" spc="24" dirty="0">
                <a:solidFill>
                  <a:srgbClr val="FFFFFF"/>
                </a:solidFill>
                <a:latin typeface="Arial MT"/>
                <a:cs typeface="Arial MT"/>
              </a:rPr>
              <a:t>Interiorized </a:t>
            </a:r>
            <a:r>
              <a:rPr sz="1850" spc="-42" dirty="0">
                <a:solidFill>
                  <a:srgbClr val="FFFFFF"/>
                </a:solidFill>
                <a:latin typeface="Arial MT"/>
                <a:cs typeface="Arial MT"/>
              </a:rPr>
              <a:t>values,</a:t>
            </a:r>
            <a:r>
              <a:rPr sz="1850" spc="-5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4" dirty="0">
                <a:solidFill>
                  <a:srgbClr val="FFFFFF"/>
                </a:solidFill>
                <a:latin typeface="Arial MT"/>
                <a:cs typeface="Arial MT"/>
              </a:rPr>
              <a:t>norms, </a:t>
            </a:r>
            <a:r>
              <a:rPr sz="1850" spc="-6" dirty="0">
                <a:solidFill>
                  <a:srgbClr val="FFFFFF"/>
                </a:solidFill>
                <a:latin typeface="Arial MT"/>
                <a:cs typeface="Arial MT"/>
              </a:rPr>
              <a:t>preferences, habits,</a:t>
            </a:r>
            <a:r>
              <a:rPr sz="1850" spc="-12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2" dirty="0">
                <a:solidFill>
                  <a:srgbClr val="FFFFFF"/>
                </a:solidFill>
                <a:latin typeface="Arial MT"/>
                <a:cs typeface="Arial MT"/>
              </a:rPr>
              <a:t>etc.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177" y="1615794"/>
            <a:ext cx="6424802" cy="1211468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4908411">
              <a:lnSpc>
                <a:spcPts val="3265"/>
              </a:lnSpc>
              <a:spcBef>
                <a:spcPts val="82"/>
              </a:spcBef>
            </a:pPr>
            <a:r>
              <a:rPr sz="2729" spc="27" dirty="0">
                <a:latin typeface="Arial MT"/>
                <a:cs typeface="Arial MT"/>
              </a:rPr>
              <a:t>Individual</a:t>
            </a:r>
            <a:endParaRPr sz="2729">
              <a:latin typeface="Arial MT"/>
              <a:cs typeface="Arial MT"/>
            </a:endParaRPr>
          </a:p>
          <a:p>
            <a:pPr marL="58915">
              <a:lnSpc>
                <a:spcPts val="2756"/>
              </a:lnSpc>
            </a:pPr>
            <a:r>
              <a:rPr sz="2304" dirty="0">
                <a:solidFill>
                  <a:srgbClr val="0076BA"/>
                </a:solidFill>
                <a:latin typeface="Arial MT"/>
                <a:cs typeface="Arial MT"/>
              </a:rPr>
              <a:t>Culture</a:t>
            </a:r>
            <a:r>
              <a:rPr sz="2304" spc="-3" dirty="0">
                <a:solidFill>
                  <a:srgbClr val="0076BA"/>
                </a:solidFill>
                <a:latin typeface="Arial MT"/>
                <a:cs typeface="Arial MT"/>
              </a:rPr>
              <a:t> </a:t>
            </a:r>
            <a:r>
              <a:rPr sz="2304" spc="55" dirty="0">
                <a:solidFill>
                  <a:srgbClr val="0076BA"/>
                </a:solidFill>
                <a:latin typeface="Arial MT"/>
                <a:cs typeface="Arial MT"/>
              </a:rPr>
              <a:t>of</a:t>
            </a:r>
            <a:r>
              <a:rPr sz="2304" spc="3" dirty="0">
                <a:solidFill>
                  <a:srgbClr val="0076BA"/>
                </a:solidFill>
                <a:latin typeface="Arial MT"/>
                <a:cs typeface="Arial MT"/>
              </a:rPr>
              <a:t> </a:t>
            </a:r>
            <a:r>
              <a:rPr sz="2304" spc="15" dirty="0">
                <a:solidFill>
                  <a:srgbClr val="0076BA"/>
                </a:solidFill>
                <a:latin typeface="Arial MT"/>
                <a:cs typeface="Arial MT"/>
              </a:rPr>
              <a:t>the</a:t>
            </a:r>
            <a:endParaRPr sz="2304">
              <a:latin typeface="Arial MT"/>
              <a:cs typeface="Arial MT"/>
            </a:endParaRPr>
          </a:p>
          <a:p>
            <a:pPr marL="7701">
              <a:spcBef>
                <a:spcPts val="549"/>
              </a:spcBef>
            </a:pPr>
            <a:r>
              <a:rPr sz="2304" spc="24" dirty="0">
                <a:solidFill>
                  <a:srgbClr val="0076BA"/>
                </a:solidFill>
                <a:latin typeface="Arial MT"/>
                <a:cs typeface="Arial MT"/>
              </a:rPr>
              <a:t>group/society</a:t>
            </a:r>
            <a:endParaRPr sz="230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713" y="-149515"/>
            <a:ext cx="6376669" cy="1545676"/>
          </a:xfrm>
          <a:prstGeom prst="rect">
            <a:avLst/>
          </a:prstGeom>
        </p:spPr>
        <p:txBody>
          <a:bodyPr vert="horz" wrap="square" lIns="0" tIns="132393" rIns="0" bIns="0" rtlCol="0" anchor="ctr">
            <a:spAutoFit/>
          </a:bodyPr>
          <a:lstStyle/>
          <a:p>
            <a:pPr marL="37736" marR="3081">
              <a:lnSpc>
                <a:spcPts val="5482"/>
              </a:lnSpc>
              <a:spcBef>
                <a:spcPts val="637"/>
              </a:spcBef>
            </a:pPr>
            <a:r>
              <a:rPr sz="5003" spc="-30" dirty="0"/>
              <a:t>Emile</a:t>
            </a:r>
            <a:r>
              <a:rPr sz="5003" spc="-118" dirty="0"/>
              <a:t> </a:t>
            </a:r>
            <a:r>
              <a:rPr sz="5003" spc="-6" dirty="0"/>
              <a:t>Durkheim</a:t>
            </a:r>
            <a:r>
              <a:rPr sz="5003" spc="-115" dirty="0"/>
              <a:t> </a:t>
            </a:r>
            <a:r>
              <a:rPr sz="5003" dirty="0"/>
              <a:t>and</a:t>
            </a:r>
            <a:r>
              <a:rPr sz="5003" spc="-118" dirty="0"/>
              <a:t> </a:t>
            </a:r>
            <a:r>
              <a:rPr sz="5003" spc="49" dirty="0"/>
              <a:t>the</a:t>
            </a:r>
            <a:r>
              <a:rPr sz="5003" spc="-115" dirty="0"/>
              <a:t> </a:t>
            </a:r>
            <a:r>
              <a:rPr sz="5003" dirty="0"/>
              <a:t>birth</a:t>
            </a:r>
            <a:r>
              <a:rPr sz="5003" spc="-118" dirty="0"/>
              <a:t> </a:t>
            </a:r>
            <a:r>
              <a:rPr sz="5003" spc="-15" dirty="0"/>
              <a:t>of </a:t>
            </a:r>
            <a:r>
              <a:rPr sz="5003" spc="-164" dirty="0"/>
              <a:t>sociology</a:t>
            </a:r>
            <a:endParaRPr sz="5003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270" y="1045386"/>
            <a:ext cx="4495851" cy="2991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706" y="2188394"/>
            <a:ext cx="10823395" cy="4406317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1949">
              <a:spcBef>
                <a:spcPts val="82"/>
              </a:spcBef>
            </a:pPr>
            <a:r>
              <a:rPr sz="2729" i="1" spc="-79" dirty="0">
                <a:latin typeface="Arial"/>
                <a:cs typeface="Arial"/>
              </a:rPr>
              <a:t>Les</a:t>
            </a:r>
            <a:r>
              <a:rPr sz="2729" i="1" spc="-45" dirty="0">
                <a:latin typeface="Arial"/>
                <a:cs typeface="Arial"/>
              </a:rPr>
              <a:t> </a:t>
            </a:r>
            <a:r>
              <a:rPr sz="2729" i="1" spc="-33" dirty="0">
                <a:latin typeface="Arial"/>
                <a:cs typeface="Arial"/>
              </a:rPr>
              <a:t>Règles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dirty="0">
                <a:latin typeface="Arial"/>
                <a:cs typeface="Arial"/>
              </a:rPr>
              <a:t>la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méthode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49" dirty="0">
                <a:latin typeface="Arial"/>
                <a:cs typeface="Arial"/>
              </a:rPr>
              <a:t>sociologique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spc="-6" dirty="0">
                <a:latin typeface="Arial MT"/>
                <a:cs typeface="Arial MT"/>
              </a:rPr>
              <a:t>(1894)</a:t>
            </a:r>
            <a:endParaRPr sz="2729">
              <a:latin typeface="Arial MT"/>
              <a:cs typeface="Arial MT"/>
            </a:endParaRPr>
          </a:p>
          <a:p>
            <a:pPr>
              <a:spcBef>
                <a:spcPts val="594"/>
              </a:spcBef>
            </a:pPr>
            <a:endParaRPr sz="2729">
              <a:latin typeface="Arial MT"/>
              <a:cs typeface="Arial MT"/>
            </a:endParaRPr>
          </a:p>
          <a:p>
            <a:pPr marL="355799" marR="5156777" indent="-348483">
              <a:lnSpc>
                <a:spcPct val="114500"/>
              </a:lnSpc>
              <a:buSzPct val="123333"/>
              <a:buChar char="•"/>
              <a:tabLst>
                <a:tab pos="356569" algn="l"/>
              </a:tabLst>
            </a:pPr>
            <a:r>
              <a:rPr sz="2729" dirty="0">
                <a:latin typeface="Arial MT"/>
                <a:cs typeface="Arial MT"/>
              </a:rPr>
              <a:t>Sociology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is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science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79" dirty="0">
                <a:latin typeface="Arial MT"/>
                <a:cs typeface="Arial MT"/>
              </a:rPr>
              <a:t>of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b="1" spc="-73" dirty="0">
                <a:solidFill>
                  <a:srgbClr val="D31876"/>
                </a:solidFill>
                <a:latin typeface="Arial"/>
                <a:cs typeface="Arial"/>
              </a:rPr>
              <a:t>“social 	</a:t>
            </a:r>
            <a:r>
              <a:rPr sz="2729" b="1" spc="-6" dirty="0">
                <a:solidFill>
                  <a:srgbClr val="D31876"/>
                </a:solidFill>
                <a:latin typeface="Arial"/>
                <a:cs typeface="Arial"/>
              </a:rPr>
              <a:t>facts”</a:t>
            </a:r>
            <a:r>
              <a:rPr sz="2729" spc="-6" dirty="0">
                <a:latin typeface="Arial MT"/>
                <a:cs typeface="Arial MT"/>
              </a:rPr>
              <a:t>:</a:t>
            </a:r>
            <a:endParaRPr sz="2729">
              <a:latin typeface="Arial MT"/>
              <a:cs typeface="Arial MT"/>
            </a:endParaRPr>
          </a:p>
          <a:p>
            <a:pPr marL="653839" marR="3081" algn="ctr">
              <a:lnSpc>
                <a:spcPct val="114500"/>
              </a:lnSpc>
              <a:spcBef>
                <a:spcPts val="1983"/>
              </a:spcBef>
            </a:pPr>
            <a:r>
              <a:rPr sz="2729" spc="-6" dirty="0">
                <a:latin typeface="Arial MT"/>
                <a:cs typeface="Arial MT"/>
              </a:rPr>
              <a:t>Social</a:t>
            </a:r>
            <a:r>
              <a:rPr sz="2729" spc="-4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facts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spc="236" dirty="0">
                <a:latin typeface="Arial MT"/>
                <a:cs typeface="Arial MT"/>
              </a:rPr>
              <a:t>=</a:t>
            </a:r>
            <a:r>
              <a:rPr sz="2729" spc="670" dirty="0">
                <a:latin typeface="Arial MT"/>
                <a:cs typeface="Arial MT"/>
              </a:rPr>
              <a:t> 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“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manières d’agir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,</a:t>
            </a:r>
            <a:r>
              <a:rPr sz="2729" i="1" spc="-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6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2729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-6" dirty="0">
                <a:solidFill>
                  <a:srgbClr val="0076BA"/>
                </a:solidFill>
                <a:latin typeface="Arial"/>
                <a:cs typeface="Arial"/>
              </a:rPr>
              <a:t>penser</a:t>
            </a:r>
            <a:r>
              <a:rPr sz="2729" b="1" i="1" spc="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9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2729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6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2729" i="1" spc="-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-6" dirty="0">
                <a:solidFill>
                  <a:srgbClr val="0076BA"/>
                </a:solidFill>
                <a:latin typeface="Arial"/>
                <a:cs typeface="Arial"/>
              </a:rPr>
              <a:t>sentir</a:t>
            </a:r>
            <a:r>
              <a:rPr sz="2729" i="1" spc="-6" dirty="0">
                <a:solidFill>
                  <a:srgbClr val="0076BA"/>
                </a:solidFill>
                <a:latin typeface="Arial"/>
                <a:cs typeface="Arial"/>
              </a:rPr>
              <a:t>,</a:t>
            </a:r>
            <a:r>
              <a:rPr sz="2729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3" dirty="0">
                <a:solidFill>
                  <a:srgbClr val="0076BA"/>
                </a:solidFill>
                <a:latin typeface="Arial"/>
                <a:cs typeface="Arial"/>
              </a:rPr>
              <a:t>qui</a:t>
            </a:r>
            <a:r>
              <a:rPr sz="2729" i="1" spc="-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-12" dirty="0">
                <a:solidFill>
                  <a:srgbClr val="0076BA"/>
                </a:solidFill>
                <a:latin typeface="Arial"/>
                <a:cs typeface="Arial"/>
              </a:rPr>
              <a:t>sont 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extérieures</a:t>
            </a:r>
            <a:r>
              <a:rPr sz="2729" b="1" i="1" spc="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à</a:t>
            </a:r>
            <a:r>
              <a:rPr sz="2729" b="1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-18" dirty="0">
                <a:solidFill>
                  <a:srgbClr val="0076BA"/>
                </a:solidFill>
                <a:latin typeface="Arial"/>
                <a:cs typeface="Arial"/>
              </a:rPr>
              <a:t>l’individu</a:t>
            </a:r>
            <a:r>
              <a:rPr sz="2729" i="1" spc="-18" dirty="0">
                <a:solidFill>
                  <a:srgbClr val="0076BA"/>
                </a:solidFill>
                <a:latin typeface="Arial"/>
                <a:cs typeface="Arial"/>
              </a:rPr>
              <a:t>,</a:t>
            </a:r>
            <a:r>
              <a:rPr sz="2729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9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2729" i="1" spc="-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3" dirty="0">
                <a:solidFill>
                  <a:srgbClr val="0076BA"/>
                </a:solidFill>
                <a:latin typeface="Arial"/>
                <a:cs typeface="Arial"/>
              </a:rPr>
              <a:t>qui</a:t>
            </a:r>
            <a:r>
              <a:rPr sz="2729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sont</a:t>
            </a:r>
            <a:r>
              <a:rPr sz="2729" i="1" spc="-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39" dirty="0">
                <a:solidFill>
                  <a:srgbClr val="0076BA"/>
                </a:solidFill>
                <a:latin typeface="Arial"/>
                <a:cs typeface="Arial"/>
              </a:rPr>
              <a:t>dotées</a:t>
            </a:r>
            <a:r>
              <a:rPr sz="2729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64" dirty="0">
                <a:solidFill>
                  <a:srgbClr val="0076BA"/>
                </a:solidFill>
                <a:latin typeface="Arial"/>
                <a:cs typeface="Arial"/>
              </a:rPr>
              <a:t>d’un</a:t>
            </a:r>
            <a:r>
              <a:rPr sz="2729" i="1" spc="-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49" dirty="0">
                <a:solidFill>
                  <a:srgbClr val="0076BA"/>
                </a:solidFill>
                <a:latin typeface="Arial"/>
                <a:cs typeface="Arial"/>
              </a:rPr>
              <a:t>pouvoir</a:t>
            </a:r>
            <a:r>
              <a:rPr sz="2729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61" dirty="0">
                <a:solidFill>
                  <a:srgbClr val="0076BA"/>
                </a:solidFill>
                <a:latin typeface="Arial"/>
                <a:cs typeface="Arial"/>
              </a:rPr>
              <a:t>de </a:t>
            </a:r>
            <a:r>
              <a:rPr sz="2729" b="1" i="1" spc="-24" dirty="0">
                <a:solidFill>
                  <a:srgbClr val="0076BA"/>
                </a:solidFill>
                <a:latin typeface="Arial"/>
                <a:cs typeface="Arial"/>
              </a:rPr>
              <a:t>coercition</a:t>
            </a:r>
            <a:r>
              <a:rPr sz="2729" b="1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en</a:t>
            </a:r>
            <a:r>
              <a:rPr sz="2729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vertu</a:t>
            </a:r>
            <a:r>
              <a:rPr sz="2729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76" dirty="0">
                <a:solidFill>
                  <a:srgbClr val="0076BA"/>
                </a:solidFill>
                <a:latin typeface="Arial"/>
                <a:cs typeface="Arial"/>
              </a:rPr>
              <a:t>du</a:t>
            </a:r>
            <a:r>
              <a:rPr sz="2729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spc="52" dirty="0">
                <a:solidFill>
                  <a:srgbClr val="0076BA"/>
                </a:solidFill>
                <a:latin typeface="Arial"/>
                <a:cs typeface="Arial"/>
              </a:rPr>
              <a:t>quel</a:t>
            </a:r>
            <a:r>
              <a:rPr sz="2729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0076BA"/>
                </a:solidFill>
                <a:latin typeface="Arial"/>
                <a:cs typeface="Arial"/>
              </a:rPr>
              <a:t>elles</a:t>
            </a:r>
            <a:r>
              <a:rPr sz="2729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-24" dirty="0">
                <a:solidFill>
                  <a:srgbClr val="0076BA"/>
                </a:solidFill>
                <a:latin typeface="Arial"/>
                <a:cs typeface="Arial"/>
              </a:rPr>
              <a:t>s’imposent</a:t>
            </a:r>
            <a:r>
              <a:rPr sz="2729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à</a:t>
            </a:r>
            <a:r>
              <a:rPr sz="2729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67" dirty="0">
                <a:solidFill>
                  <a:srgbClr val="0076BA"/>
                </a:solidFill>
                <a:latin typeface="Arial"/>
                <a:cs typeface="Arial"/>
              </a:rPr>
              <a:t>lui</a:t>
            </a:r>
            <a:r>
              <a:rPr sz="2729" i="1" spc="67" dirty="0">
                <a:solidFill>
                  <a:srgbClr val="0076BA"/>
                </a:solidFill>
                <a:latin typeface="Arial"/>
                <a:cs typeface="Arial"/>
              </a:rPr>
              <a:t>”</a:t>
            </a:r>
            <a:endParaRPr sz="2729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729">
              <a:latin typeface="Arial"/>
              <a:cs typeface="Arial"/>
            </a:endParaRPr>
          </a:p>
          <a:p>
            <a:pPr marL="596464" algn="ctr"/>
            <a:r>
              <a:rPr sz="2517" dirty="0">
                <a:latin typeface="Arial MT"/>
                <a:cs typeface="Arial MT"/>
              </a:rPr>
              <a:t>Example:</a:t>
            </a:r>
            <a:r>
              <a:rPr sz="2517" spc="-9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Eating</a:t>
            </a:r>
            <a:r>
              <a:rPr sz="2517" spc="-6" dirty="0">
                <a:latin typeface="Arial MT"/>
                <a:cs typeface="Arial MT"/>
              </a:rPr>
              <a:t> </a:t>
            </a:r>
            <a:r>
              <a:rPr sz="2517" spc="42" dirty="0">
                <a:latin typeface="Arial MT"/>
                <a:cs typeface="Arial MT"/>
              </a:rPr>
              <a:t>with</a:t>
            </a:r>
            <a:r>
              <a:rPr sz="2517" spc="-6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a</a:t>
            </a:r>
            <a:r>
              <a:rPr sz="2517" spc="-9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fork</a:t>
            </a:r>
            <a:r>
              <a:rPr sz="2517" spc="-6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instead</a:t>
            </a:r>
            <a:r>
              <a:rPr sz="2517" spc="-6" dirty="0">
                <a:latin typeface="Arial MT"/>
                <a:cs typeface="Arial MT"/>
              </a:rPr>
              <a:t> </a:t>
            </a:r>
            <a:r>
              <a:rPr sz="2517" spc="61" dirty="0">
                <a:latin typeface="Arial MT"/>
                <a:cs typeface="Arial MT"/>
              </a:rPr>
              <a:t>of</a:t>
            </a:r>
            <a:r>
              <a:rPr sz="2517" spc="-9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your</a:t>
            </a:r>
            <a:r>
              <a:rPr sz="2517" spc="-6" dirty="0">
                <a:latin typeface="Arial MT"/>
                <a:cs typeface="Arial MT"/>
              </a:rPr>
              <a:t> hands</a:t>
            </a:r>
            <a:endParaRPr sz="251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713" y="-149515"/>
            <a:ext cx="6376669" cy="1545676"/>
          </a:xfrm>
          <a:prstGeom prst="rect">
            <a:avLst/>
          </a:prstGeom>
        </p:spPr>
        <p:txBody>
          <a:bodyPr vert="horz" wrap="square" lIns="0" tIns="132393" rIns="0" bIns="0" rtlCol="0" anchor="ctr">
            <a:spAutoFit/>
          </a:bodyPr>
          <a:lstStyle/>
          <a:p>
            <a:pPr marL="37736" marR="3081">
              <a:lnSpc>
                <a:spcPts val="5482"/>
              </a:lnSpc>
              <a:spcBef>
                <a:spcPts val="637"/>
              </a:spcBef>
            </a:pPr>
            <a:r>
              <a:rPr sz="5003" spc="-30" dirty="0"/>
              <a:t>Emile</a:t>
            </a:r>
            <a:r>
              <a:rPr sz="5003" spc="-118" dirty="0"/>
              <a:t> </a:t>
            </a:r>
            <a:r>
              <a:rPr sz="5003" spc="-6" dirty="0"/>
              <a:t>Durkheim</a:t>
            </a:r>
            <a:r>
              <a:rPr sz="5003" spc="-115" dirty="0"/>
              <a:t> </a:t>
            </a:r>
            <a:r>
              <a:rPr sz="5003" dirty="0"/>
              <a:t>and</a:t>
            </a:r>
            <a:r>
              <a:rPr sz="5003" spc="-118" dirty="0"/>
              <a:t> </a:t>
            </a:r>
            <a:r>
              <a:rPr sz="5003" spc="49" dirty="0"/>
              <a:t>the</a:t>
            </a:r>
            <a:r>
              <a:rPr sz="5003" spc="-115" dirty="0"/>
              <a:t> </a:t>
            </a:r>
            <a:r>
              <a:rPr sz="5003" dirty="0"/>
              <a:t>birth</a:t>
            </a:r>
            <a:r>
              <a:rPr sz="5003" spc="-118" dirty="0"/>
              <a:t> </a:t>
            </a:r>
            <a:r>
              <a:rPr sz="5003" spc="-15" dirty="0"/>
              <a:t>of </a:t>
            </a:r>
            <a:r>
              <a:rPr sz="5003" spc="-164" dirty="0"/>
              <a:t>sociology</a:t>
            </a:r>
            <a:endParaRPr sz="5003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7862" y="1484108"/>
            <a:ext cx="4495851" cy="2991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0706" y="2188394"/>
            <a:ext cx="9090604" cy="430564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1949">
              <a:spcBef>
                <a:spcPts val="82"/>
              </a:spcBef>
            </a:pPr>
            <a:r>
              <a:rPr sz="2729" i="1" spc="-79" dirty="0">
                <a:latin typeface="Arial"/>
                <a:cs typeface="Arial"/>
              </a:rPr>
              <a:t>Les</a:t>
            </a:r>
            <a:r>
              <a:rPr sz="2729" i="1" spc="-45" dirty="0">
                <a:latin typeface="Arial"/>
                <a:cs typeface="Arial"/>
              </a:rPr>
              <a:t> </a:t>
            </a:r>
            <a:r>
              <a:rPr sz="2729" i="1" spc="-33" dirty="0">
                <a:latin typeface="Arial"/>
                <a:cs typeface="Arial"/>
              </a:rPr>
              <a:t>Règles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dirty="0">
                <a:latin typeface="Arial"/>
                <a:cs typeface="Arial"/>
              </a:rPr>
              <a:t>la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méthode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49" dirty="0">
                <a:latin typeface="Arial"/>
                <a:cs typeface="Arial"/>
              </a:rPr>
              <a:t>sociologique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spc="-6" dirty="0">
                <a:latin typeface="Arial MT"/>
                <a:cs typeface="Arial MT"/>
              </a:rPr>
              <a:t>(1894)</a:t>
            </a:r>
            <a:endParaRPr sz="2729">
              <a:latin typeface="Arial MT"/>
              <a:cs typeface="Arial MT"/>
            </a:endParaRPr>
          </a:p>
          <a:p>
            <a:pPr>
              <a:spcBef>
                <a:spcPts val="594"/>
              </a:spcBef>
            </a:pPr>
            <a:endParaRPr sz="2729">
              <a:latin typeface="Arial MT"/>
              <a:cs typeface="Arial MT"/>
            </a:endParaRPr>
          </a:p>
          <a:p>
            <a:pPr marL="355799" marR="3424374" indent="-348483">
              <a:lnSpc>
                <a:spcPct val="114500"/>
              </a:lnSpc>
              <a:buSzPct val="123333"/>
              <a:buChar char="•"/>
              <a:tabLst>
                <a:tab pos="356569" algn="l"/>
              </a:tabLst>
            </a:pPr>
            <a:r>
              <a:rPr sz="2729" dirty="0">
                <a:latin typeface="Arial MT"/>
                <a:cs typeface="Arial MT"/>
              </a:rPr>
              <a:t>Sociology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is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science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79" dirty="0">
                <a:latin typeface="Arial MT"/>
                <a:cs typeface="Arial MT"/>
              </a:rPr>
              <a:t>of</a:t>
            </a:r>
            <a:r>
              <a:rPr sz="2729" spc="-15" dirty="0">
                <a:latin typeface="Arial MT"/>
                <a:cs typeface="Arial MT"/>
              </a:rPr>
              <a:t> </a:t>
            </a:r>
            <a:r>
              <a:rPr sz="2729" b="1" spc="-73" dirty="0">
                <a:solidFill>
                  <a:srgbClr val="D31876"/>
                </a:solidFill>
                <a:latin typeface="Arial"/>
                <a:cs typeface="Arial"/>
              </a:rPr>
              <a:t>“social 	</a:t>
            </a:r>
            <a:r>
              <a:rPr sz="2729" b="1" spc="-6" dirty="0">
                <a:solidFill>
                  <a:srgbClr val="D31876"/>
                </a:solidFill>
                <a:latin typeface="Arial"/>
                <a:cs typeface="Arial"/>
              </a:rPr>
              <a:t>facts”</a:t>
            </a:r>
            <a:r>
              <a:rPr sz="2729" spc="-6" dirty="0">
                <a:latin typeface="Arial MT"/>
                <a:cs typeface="Arial MT"/>
              </a:rPr>
              <a:t>:</a:t>
            </a:r>
            <a:endParaRPr sz="2729">
              <a:latin typeface="Arial MT"/>
              <a:cs typeface="Arial MT"/>
            </a:endParaRPr>
          </a:p>
          <a:p>
            <a:pPr marL="355799" marR="3025448" indent="-348483">
              <a:lnSpc>
                <a:spcPct val="114500"/>
              </a:lnSpc>
              <a:spcBef>
                <a:spcPts val="1856"/>
              </a:spcBef>
              <a:buSzPct val="123333"/>
              <a:buChar char="•"/>
              <a:tabLst>
                <a:tab pos="356569" algn="l"/>
              </a:tabLst>
            </a:pPr>
            <a:r>
              <a:rPr sz="2729" spc="-6" dirty="0">
                <a:latin typeface="Arial MT"/>
                <a:cs typeface="Arial MT"/>
              </a:rPr>
              <a:t>Social</a:t>
            </a:r>
            <a:r>
              <a:rPr sz="2729" spc="-33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facts</a:t>
            </a:r>
            <a:r>
              <a:rPr sz="2729" spc="-30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are</a:t>
            </a:r>
            <a:r>
              <a:rPr sz="2729" spc="-33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internalized</a:t>
            </a:r>
            <a:r>
              <a:rPr sz="2729" spc="-30" dirty="0">
                <a:latin typeface="Arial MT"/>
                <a:cs typeface="Arial MT"/>
              </a:rPr>
              <a:t> </a:t>
            </a:r>
            <a:r>
              <a:rPr sz="2729" spc="58" dirty="0">
                <a:latin typeface="Arial MT"/>
                <a:cs typeface="Arial MT"/>
              </a:rPr>
              <a:t>by</a:t>
            </a:r>
            <a:r>
              <a:rPr sz="2729" spc="-33" dirty="0">
                <a:latin typeface="Arial MT"/>
                <a:cs typeface="Arial MT"/>
              </a:rPr>
              <a:t> </a:t>
            </a:r>
            <a:r>
              <a:rPr sz="2729" b="1" spc="-88" dirty="0">
                <a:solidFill>
                  <a:srgbClr val="D31876"/>
                </a:solidFill>
                <a:latin typeface="Arial"/>
                <a:cs typeface="Arial"/>
              </a:rPr>
              <a:t>social 	</a:t>
            </a:r>
            <a:r>
              <a:rPr sz="2729" b="1" spc="-6" dirty="0">
                <a:solidFill>
                  <a:srgbClr val="D31876"/>
                </a:solidFill>
                <a:latin typeface="Arial"/>
                <a:cs typeface="Arial"/>
              </a:rPr>
              <a:t>control</a:t>
            </a:r>
            <a:endParaRPr sz="2729">
              <a:latin typeface="Arial"/>
              <a:cs typeface="Arial"/>
            </a:endParaRPr>
          </a:p>
          <a:p>
            <a:pPr marL="695811">
              <a:spcBef>
                <a:spcPts val="682"/>
              </a:spcBef>
            </a:pPr>
            <a:r>
              <a:rPr sz="5048" spc="-2774" baseline="-3503" dirty="0">
                <a:latin typeface="Segoe UI Emoji"/>
                <a:cs typeface="Segoe UI Emoji"/>
              </a:rPr>
              <a:t>➡</a:t>
            </a:r>
            <a:r>
              <a:rPr sz="5048" spc="-236" baseline="-3503" dirty="0">
                <a:latin typeface="Segoe UI Emoji"/>
                <a:cs typeface="Segoe UI Emoji"/>
              </a:rPr>
              <a:t> </a:t>
            </a:r>
            <a:r>
              <a:rPr sz="2729" b="1" dirty="0">
                <a:latin typeface="Arial"/>
                <a:cs typeface="Arial"/>
              </a:rPr>
              <a:t>formal</a:t>
            </a:r>
            <a:r>
              <a:rPr sz="2729" b="1" spc="-3" dirty="0">
                <a:latin typeface="Arial"/>
                <a:cs typeface="Arial"/>
              </a:rPr>
              <a:t> </a:t>
            </a:r>
            <a:r>
              <a:rPr sz="2729" dirty="0">
                <a:latin typeface="Arial MT"/>
                <a:cs typeface="Arial MT"/>
              </a:rPr>
              <a:t>social </a:t>
            </a:r>
            <a:r>
              <a:rPr sz="2729" spc="45" dirty="0">
                <a:latin typeface="Arial MT"/>
                <a:cs typeface="Arial MT"/>
              </a:rPr>
              <a:t>control.</a:t>
            </a:r>
            <a:r>
              <a:rPr sz="2729" spc="3" dirty="0">
                <a:latin typeface="Arial MT"/>
                <a:cs typeface="Arial MT"/>
              </a:rPr>
              <a:t> </a:t>
            </a:r>
            <a:r>
              <a:rPr sz="2729" spc="-24" dirty="0">
                <a:latin typeface="Arial MT"/>
                <a:cs typeface="Arial MT"/>
              </a:rPr>
              <a:t>Ex:</a:t>
            </a:r>
            <a:r>
              <a:rPr sz="2729" dirty="0">
                <a:latin typeface="Arial MT"/>
                <a:cs typeface="Arial MT"/>
              </a:rPr>
              <a:t> punishment</a:t>
            </a:r>
            <a:r>
              <a:rPr sz="2729" spc="3" dirty="0">
                <a:latin typeface="Arial MT"/>
                <a:cs typeface="Arial MT"/>
              </a:rPr>
              <a:t> </a:t>
            </a:r>
            <a:r>
              <a:rPr sz="2729" spc="58" dirty="0">
                <a:latin typeface="Arial MT"/>
                <a:cs typeface="Arial MT"/>
              </a:rPr>
              <a:t>by</a:t>
            </a:r>
            <a:r>
              <a:rPr sz="2729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3" dirty="0">
                <a:latin typeface="Arial MT"/>
                <a:cs typeface="Arial MT"/>
              </a:rPr>
              <a:t> </a:t>
            </a:r>
            <a:r>
              <a:rPr sz="2729" spc="-15" dirty="0">
                <a:latin typeface="Arial MT"/>
                <a:cs typeface="Arial MT"/>
              </a:rPr>
              <a:t>law</a:t>
            </a:r>
            <a:endParaRPr sz="2729">
              <a:latin typeface="Arial MT"/>
              <a:cs typeface="Arial MT"/>
            </a:endParaRPr>
          </a:p>
          <a:p>
            <a:pPr marL="669241">
              <a:spcBef>
                <a:spcPts val="552"/>
              </a:spcBef>
            </a:pPr>
            <a:r>
              <a:rPr sz="5048" spc="-2774" baseline="-3503" dirty="0">
                <a:latin typeface="Segoe UI Emoji"/>
                <a:cs typeface="Segoe UI Emoji"/>
              </a:rPr>
              <a:t>➡</a:t>
            </a:r>
            <a:r>
              <a:rPr sz="5048" spc="-236" baseline="-3503" dirty="0">
                <a:latin typeface="Segoe UI Emoji"/>
                <a:cs typeface="Segoe UI Emoji"/>
              </a:rPr>
              <a:t> </a:t>
            </a:r>
            <a:r>
              <a:rPr sz="2729" b="1" dirty="0">
                <a:latin typeface="Arial"/>
                <a:cs typeface="Arial"/>
              </a:rPr>
              <a:t>informal</a:t>
            </a:r>
            <a:r>
              <a:rPr sz="2729" b="1" spc="-88" dirty="0">
                <a:latin typeface="Arial"/>
                <a:cs typeface="Arial"/>
              </a:rPr>
              <a:t> </a:t>
            </a:r>
            <a:r>
              <a:rPr sz="2729" dirty="0">
                <a:latin typeface="Arial MT"/>
                <a:cs typeface="Arial MT"/>
              </a:rPr>
              <a:t>social</a:t>
            </a:r>
            <a:r>
              <a:rPr sz="2729" spc="-39" dirty="0">
                <a:latin typeface="Arial MT"/>
                <a:cs typeface="Arial MT"/>
              </a:rPr>
              <a:t> </a:t>
            </a:r>
            <a:r>
              <a:rPr sz="2729" spc="45" dirty="0">
                <a:latin typeface="Arial MT"/>
                <a:cs typeface="Arial MT"/>
              </a:rPr>
              <a:t>control.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spc="-24" dirty="0">
                <a:latin typeface="Arial MT"/>
                <a:cs typeface="Arial MT"/>
              </a:rPr>
              <a:t>Ex:</a:t>
            </a:r>
            <a:r>
              <a:rPr sz="2729" spc="-39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disapproval</a:t>
            </a:r>
            <a:r>
              <a:rPr sz="2729" spc="-39" dirty="0">
                <a:latin typeface="Arial MT"/>
                <a:cs typeface="Arial MT"/>
              </a:rPr>
              <a:t> </a:t>
            </a:r>
            <a:r>
              <a:rPr sz="2729" spc="36" dirty="0">
                <a:latin typeface="Arial MT"/>
                <a:cs typeface="Arial MT"/>
              </a:rPr>
              <a:t>from</a:t>
            </a:r>
            <a:r>
              <a:rPr sz="2729" spc="-39" dirty="0">
                <a:latin typeface="Arial MT"/>
                <a:cs typeface="Arial MT"/>
              </a:rPr>
              <a:t> </a:t>
            </a:r>
            <a:r>
              <a:rPr sz="2729" spc="-6" dirty="0">
                <a:latin typeface="Arial MT"/>
                <a:cs typeface="Arial MT"/>
              </a:rPr>
              <a:t>others</a:t>
            </a:r>
            <a:endParaRPr sz="272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713" y="-149515"/>
            <a:ext cx="6376669" cy="1545676"/>
          </a:xfrm>
          <a:prstGeom prst="rect">
            <a:avLst/>
          </a:prstGeom>
        </p:spPr>
        <p:txBody>
          <a:bodyPr vert="horz" wrap="square" lIns="0" tIns="132393" rIns="0" bIns="0" rtlCol="0" anchor="ctr">
            <a:spAutoFit/>
          </a:bodyPr>
          <a:lstStyle/>
          <a:p>
            <a:pPr marL="37736" marR="3081">
              <a:lnSpc>
                <a:spcPts val="5482"/>
              </a:lnSpc>
              <a:spcBef>
                <a:spcPts val="637"/>
              </a:spcBef>
            </a:pPr>
            <a:r>
              <a:rPr sz="5003" spc="-30" dirty="0"/>
              <a:t>Emile</a:t>
            </a:r>
            <a:r>
              <a:rPr sz="5003" spc="-118" dirty="0"/>
              <a:t> </a:t>
            </a:r>
            <a:r>
              <a:rPr sz="5003" spc="-6" dirty="0"/>
              <a:t>Durkheim</a:t>
            </a:r>
            <a:r>
              <a:rPr sz="5003" spc="-115" dirty="0"/>
              <a:t> </a:t>
            </a:r>
            <a:r>
              <a:rPr sz="5003" dirty="0"/>
              <a:t>and</a:t>
            </a:r>
            <a:r>
              <a:rPr sz="5003" spc="-118" dirty="0"/>
              <a:t> </a:t>
            </a:r>
            <a:r>
              <a:rPr sz="5003" spc="49" dirty="0"/>
              <a:t>the</a:t>
            </a:r>
            <a:r>
              <a:rPr sz="5003" spc="-115" dirty="0"/>
              <a:t> </a:t>
            </a:r>
            <a:r>
              <a:rPr sz="5003" dirty="0"/>
              <a:t>birth</a:t>
            </a:r>
            <a:r>
              <a:rPr sz="5003" spc="-118" dirty="0"/>
              <a:t> </a:t>
            </a:r>
            <a:r>
              <a:rPr sz="5003" spc="-15" dirty="0"/>
              <a:t>of </a:t>
            </a:r>
            <a:r>
              <a:rPr sz="5003" spc="-164" dirty="0"/>
              <a:t>sociology</a:t>
            </a:r>
            <a:endParaRPr sz="5003"/>
          </a:p>
        </p:txBody>
      </p:sp>
      <p:sp>
        <p:nvSpPr>
          <p:cNvPr id="3" name="object 3"/>
          <p:cNvSpPr txBox="1"/>
          <p:nvPr/>
        </p:nvSpPr>
        <p:spPr>
          <a:xfrm>
            <a:off x="7395889" y="2196096"/>
            <a:ext cx="187912" cy="422708"/>
          </a:xfrm>
          <a:prstGeom prst="rect">
            <a:avLst/>
          </a:prstGeom>
        </p:spPr>
        <p:txBody>
          <a:bodyPr vert="horz" wrap="square" lIns="0" tIns="2695" rIns="0" bIns="0" rtlCol="0">
            <a:spAutoFit/>
          </a:bodyPr>
          <a:lstStyle/>
          <a:p>
            <a:pPr>
              <a:spcBef>
                <a:spcPts val="21"/>
              </a:spcBef>
            </a:pPr>
            <a:r>
              <a:rPr sz="2729" spc="-109" dirty="0">
                <a:latin typeface="Arial MT"/>
                <a:cs typeface="Arial MT"/>
              </a:rPr>
              <a:t>):</a:t>
            </a:r>
            <a:endParaRPr sz="2729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233" y="2188394"/>
            <a:ext cx="8851094" cy="3959336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88565" algn="just">
              <a:spcBef>
                <a:spcPts val="82"/>
              </a:spcBef>
            </a:pPr>
            <a:r>
              <a:rPr sz="2729" i="1" spc="-79" dirty="0">
                <a:latin typeface="Arial"/>
                <a:cs typeface="Arial"/>
              </a:rPr>
              <a:t>Les</a:t>
            </a:r>
            <a:r>
              <a:rPr sz="2729" i="1" spc="-45" dirty="0">
                <a:latin typeface="Arial"/>
                <a:cs typeface="Arial"/>
              </a:rPr>
              <a:t> </a:t>
            </a:r>
            <a:r>
              <a:rPr sz="2729" i="1" spc="-33" dirty="0">
                <a:latin typeface="Arial"/>
                <a:cs typeface="Arial"/>
              </a:rPr>
              <a:t>Règles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dirty="0">
                <a:latin typeface="Arial"/>
                <a:cs typeface="Arial"/>
              </a:rPr>
              <a:t>la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76" dirty="0">
                <a:latin typeface="Arial"/>
                <a:cs typeface="Arial"/>
              </a:rPr>
              <a:t>méthode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i="1" spc="49" dirty="0">
                <a:latin typeface="Arial"/>
                <a:cs typeface="Arial"/>
              </a:rPr>
              <a:t>sociologique</a:t>
            </a:r>
            <a:r>
              <a:rPr sz="2729" i="1" spc="-39" dirty="0">
                <a:latin typeface="Arial"/>
                <a:cs typeface="Arial"/>
              </a:rPr>
              <a:t> </a:t>
            </a:r>
            <a:r>
              <a:rPr sz="2729" spc="-6" dirty="0">
                <a:latin typeface="Arial MT"/>
                <a:cs typeface="Arial MT"/>
              </a:rPr>
              <a:t>(1894</a:t>
            </a:r>
            <a:endParaRPr sz="2729">
              <a:latin typeface="Arial MT"/>
              <a:cs typeface="Arial MT"/>
            </a:endParaRPr>
          </a:p>
          <a:p>
            <a:pPr marL="355799" marR="2822519" indent="-348483" algn="just">
              <a:lnSpc>
                <a:spcPct val="114500"/>
              </a:lnSpc>
              <a:spcBef>
                <a:spcPts val="324"/>
              </a:spcBef>
              <a:buSzPct val="123333"/>
              <a:buChar char="•"/>
              <a:tabLst>
                <a:tab pos="356569" algn="l"/>
              </a:tabLst>
            </a:pPr>
            <a:r>
              <a:rPr sz="2729" spc="-6" dirty="0">
                <a:latin typeface="Arial MT"/>
                <a:cs typeface="Arial MT"/>
              </a:rPr>
              <a:t>Social</a:t>
            </a:r>
            <a:r>
              <a:rPr sz="2729" spc="-97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facts</a:t>
            </a:r>
            <a:r>
              <a:rPr sz="2729" spc="-97" dirty="0">
                <a:latin typeface="Arial MT"/>
                <a:cs typeface="Arial MT"/>
              </a:rPr>
              <a:t> </a:t>
            </a:r>
            <a:r>
              <a:rPr sz="2729" b="1" spc="-6" dirty="0">
                <a:latin typeface="Arial"/>
                <a:cs typeface="Arial"/>
              </a:rPr>
              <a:t>cannot</a:t>
            </a:r>
            <a:r>
              <a:rPr sz="2729" b="1" spc="-52" dirty="0">
                <a:latin typeface="Arial"/>
                <a:cs typeface="Arial"/>
              </a:rPr>
              <a:t> </a:t>
            </a:r>
            <a:r>
              <a:rPr sz="2729" b="1" spc="45" dirty="0">
                <a:latin typeface="Arial"/>
                <a:cs typeface="Arial"/>
              </a:rPr>
              <a:t>be</a:t>
            </a:r>
            <a:r>
              <a:rPr sz="2729" b="1" spc="-55" dirty="0">
                <a:latin typeface="Arial"/>
                <a:cs typeface="Arial"/>
              </a:rPr>
              <a:t> </a:t>
            </a:r>
            <a:r>
              <a:rPr sz="2729" b="1" dirty="0">
                <a:latin typeface="Arial"/>
                <a:cs typeface="Arial"/>
              </a:rPr>
              <a:t>explained</a:t>
            </a:r>
            <a:r>
              <a:rPr sz="2729" b="1" spc="-55" dirty="0">
                <a:latin typeface="Arial"/>
                <a:cs typeface="Arial"/>
              </a:rPr>
              <a:t> </a:t>
            </a:r>
            <a:r>
              <a:rPr sz="2729" b="1" spc="-15" dirty="0">
                <a:latin typeface="Arial"/>
                <a:cs typeface="Arial"/>
              </a:rPr>
              <a:t>by 	</a:t>
            </a:r>
            <a:r>
              <a:rPr sz="2729" b="1" spc="-61" dirty="0">
                <a:solidFill>
                  <a:srgbClr val="D31876"/>
                </a:solidFill>
                <a:latin typeface="Arial"/>
                <a:cs typeface="Arial"/>
              </a:rPr>
              <a:t>psychology</a:t>
            </a:r>
            <a:r>
              <a:rPr sz="2729" spc="-61" dirty="0">
                <a:latin typeface="Arial MT"/>
                <a:cs typeface="Arial MT"/>
              </a:rPr>
              <a:t>.</a:t>
            </a:r>
            <a:r>
              <a:rPr sz="2729" spc="-45" dirty="0">
                <a:latin typeface="Arial MT"/>
                <a:cs typeface="Arial MT"/>
              </a:rPr>
              <a:t> </a:t>
            </a:r>
            <a:r>
              <a:rPr sz="2729" spc="52" dirty="0">
                <a:latin typeface="Arial MT"/>
                <a:cs typeface="Arial MT"/>
              </a:rPr>
              <a:t>One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must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“explain</a:t>
            </a:r>
            <a:r>
              <a:rPr sz="2729" b="1" i="1" spc="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24" dirty="0">
                <a:solidFill>
                  <a:srgbClr val="0076BA"/>
                </a:solidFill>
                <a:latin typeface="Arial"/>
                <a:cs typeface="Arial"/>
              </a:rPr>
              <a:t>the 	</a:t>
            </a:r>
            <a:r>
              <a:rPr sz="2729" b="1" i="1" spc="-76" dirty="0">
                <a:solidFill>
                  <a:srgbClr val="0076BA"/>
                </a:solidFill>
                <a:latin typeface="Arial"/>
                <a:cs typeface="Arial"/>
              </a:rPr>
              <a:t>social</a:t>
            </a:r>
            <a:r>
              <a:rPr sz="2729" b="1" i="1" spc="-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dirty="0">
                <a:solidFill>
                  <a:srgbClr val="0076BA"/>
                </a:solidFill>
                <a:latin typeface="Arial"/>
                <a:cs typeface="Arial"/>
              </a:rPr>
              <a:t>by</a:t>
            </a:r>
            <a:r>
              <a:rPr sz="2729" b="1" i="1" spc="-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39" dirty="0">
                <a:solidFill>
                  <a:srgbClr val="0076BA"/>
                </a:solidFill>
                <a:latin typeface="Arial"/>
                <a:cs typeface="Arial"/>
              </a:rPr>
              <a:t>the</a:t>
            </a:r>
            <a:r>
              <a:rPr sz="2729" b="1" i="1" spc="-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i="1" spc="-6" dirty="0">
                <a:solidFill>
                  <a:srgbClr val="0076BA"/>
                </a:solidFill>
                <a:latin typeface="Arial"/>
                <a:cs typeface="Arial"/>
              </a:rPr>
              <a:t>social”</a:t>
            </a:r>
            <a:endParaRPr sz="2729">
              <a:latin typeface="Arial"/>
              <a:cs typeface="Arial"/>
            </a:endParaRPr>
          </a:p>
          <a:p>
            <a:pPr>
              <a:spcBef>
                <a:spcPts val="2644"/>
              </a:spcBef>
            </a:pPr>
            <a:endParaRPr sz="2729">
              <a:latin typeface="Arial"/>
              <a:cs typeface="Arial"/>
            </a:endParaRPr>
          </a:p>
          <a:p>
            <a:pPr marL="423570" marR="3081" algn="ctr">
              <a:lnSpc>
                <a:spcPct val="114199"/>
              </a:lnSpc>
            </a:pPr>
            <a:r>
              <a:rPr sz="2517" i="1" spc="73" dirty="0">
                <a:solidFill>
                  <a:srgbClr val="0076BA"/>
                </a:solidFill>
                <a:latin typeface="Arial"/>
                <a:cs typeface="Arial"/>
              </a:rPr>
              <a:t>“La</a:t>
            </a:r>
            <a:r>
              <a:rPr sz="2517" i="1" spc="1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-42" dirty="0">
                <a:solidFill>
                  <a:srgbClr val="0076BA"/>
                </a:solidFill>
                <a:latin typeface="Arial"/>
                <a:cs typeface="Arial"/>
              </a:rPr>
              <a:t>cause</a:t>
            </a:r>
            <a:r>
              <a:rPr sz="2517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dirty="0">
                <a:solidFill>
                  <a:srgbClr val="0076BA"/>
                </a:solidFill>
                <a:latin typeface="Arial"/>
                <a:cs typeface="Arial"/>
              </a:rPr>
              <a:t>déterminante</a:t>
            </a:r>
            <a:r>
              <a:rPr sz="2517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69" dirty="0">
                <a:solidFill>
                  <a:srgbClr val="0076BA"/>
                </a:solidFill>
                <a:latin typeface="Arial"/>
                <a:cs typeface="Arial"/>
              </a:rPr>
              <a:t>d'un</a:t>
            </a:r>
            <a:r>
              <a:rPr sz="2517" i="1" spc="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33" dirty="0">
                <a:solidFill>
                  <a:srgbClr val="0076BA"/>
                </a:solidFill>
                <a:latin typeface="Arial"/>
                <a:cs typeface="Arial"/>
              </a:rPr>
              <a:t>fait</a:t>
            </a:r>
            <a:r>
              <a:rPr sz="2517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-6" dirty="0">
                <a:solidFill>
                  <a:srgbClr val="0076BA"/>
                </a:solidFill>
                <a:latin typeface="Arial"/>
                <a:cs typeface="Arial"/>
              </a:rPr>
              <a:t>social</a:t>
            </a:r>
            <a:r>
              <a:rPr sz="2517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100" dirty="0">
                <a:solidFill>
                  <a:srgbClr val="0076BA"/>
                </a:solidFill>
                <a:latin typeface="Arial"/>
                <a:cs typeface="Arial"/>
              </a:rPr>
              <a:t>doit</a:t>
            </a:r>
            <a:r>
              <a:rPr sz="2517" i="1" spc="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dirty="0">
                <a:solidFill>
                  <a:srgbClr val="0076BA"/>
                </a:solidFill>
                <a:latin typeface="Arial"/>
                <a:cs typeface="Arial"/>
              </a:rPr>
              <a:t>être</a:t>
            </a:r>
            <a:r>
              <a:rPr sz="2517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-6" dirty="0">
                <a:solidFill>
                  <a:srgbClr val="0076BA"/>
                </a:solidFill>
                <a:latin typeface="Arial"/>
                <a:cs typeface="Arial"/>
              </a:rPr>
              <a:t>cherchée </a:t>
            </a:r>
            <a:r>
              <a:rPr sz="2517" i="1" spc="30" dirty="0">
                <a:solidFill>
                  <a:srgbClr val="0076BA"/>
                </a:solidFill>
                <a:latin typeface="Arial"/>
                <a:cs typeface="Arial"/>
              </a:rPr>
              <a:t>parmi</a:t>
            </a:r>
            <a:r>
              <a:rPr sz="2517" i="1" spc="-8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dirty="0">
                <a:solidFill>
                  <a:srgbClr val="0076BA"/>
                </a:solidFill>
                <a:latin typeface="Arial"/>
                <a:cs typeface="Arial"/>
              </a:rPr>
              <a:t>les</a:t>
            </a:r>
            <a:r>
              <a:rPr sz="2517" i="1" spc="-8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dirty="0">
                <a:solidFill>
                  <a:srgbClr val="0076BA"/>
                </a:solidFill>
                <a:latin typeface="Arial"/>
                <a:cs typeface="Arial"/>
              </a:rPr>
              <a:t>faits</a:t>
            </a:r>
            <a:r>
              <a:rPr sz="2517" i="1" spc="-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spc="-15" dirty="0">
                <a:solidFill>
                  <a:srgbClr val="0076BA"/>
                </a:solidFill>
                <a:latin typeface="Arial"/>
                <a:cs typeface="Arial"/>
              </a:rPr>
              <a:t>sociaux</a:t>
            </a:r>
            <a:r>
              <a:rPr sz="2517" i="1" spc="-8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i="1" dirty="0">
                <a:solidFill>
                  <a:srgbClr val="0076BA"/>
                </a:solidFill>
                <a:latin typeface="Arial"/>
                <a:cs typeface="Arial"/>
              </a:rPr>
              <a:t>antécédents,</a:t>
            </a:r>
            <a:r>
              <a:rPr sz="2517" i="1" spc="-8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b="1" i="1" u="sng" spc="88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et</a:t>
            </a:r>
            <a:r>
              <a:rPr sz="2517" b="1" i="1" u="sng" spc="-4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non</a:t>
            </a:r>
            <a:r>
              <a:rPr sz="2517" b="1" i="1" u="sng" spc="-49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parmi</a:t>
            </a:r>
            <a:r>
              <a:rPr sz="2517" b="1" i="1" u="sng" spc="-45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spc="-42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les</a:t>
            </a:r>
            <a:r>
              <a:rPr sz="2517" b="1" i="1" u="sng" spc="-49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spc="-12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états</a:t>
            </a:r>
            <a:r>
              <a:rPr sz="2517" b="1" i="1" spc="-1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517" b="1" i="1" u="sng" spc="42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de</a:t>
            </a:r>
            <a:r>
              <a:rPr sz="2517" b="1" i="1" u="sng" spc="-21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la</a:t>
            </a:r>
            <a:r>
              <a:rPr sz="2517" b="1" i="1" u="sng" spc="-18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spc="-97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conscience</a:t>
            </a:r>
            <a:r>
              <a:rPr sz="2517" b="1" i="1" u="sng" spc="-18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 </a:t>
            </a:r>
            <a:r>
              <a:rPr sz="2517" b="1" i="1" u="sng" spc="-6" dirty="0">
                <a:solidFill>
                  <a:srgbClr val="0076BA"/>
                </a:solidFill>
                <a:uFill>
                  <a:solidFill>
                    <a:srgbClr val="0076BA"/>
                  </a:solidFill>
                </a:uFill>
                <a:latin typeface="Arial"/>
                <a:cs typeface="Arial"/>
              </a:rPr>
              <a:t>individuelle.</a:t>
            </a:r>
            <a:r>
              <a:rPr sz="2517" i="1" spc="-6" dirty="0">
                <a:solidFill>
                  <a:srgbClr val="0076BA"/>
                </a:solidFill>
                <a:latin typeface="Arial"/>
                <a:cs typeface="Arial"/>
              </a:rPr>
              <a:t>”</a:t>
            </a:r>
            <a:endParaRPr sz="251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7862" y="1484108"/>
            <a:ext cx="4495851" cy="299178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2710" y="152385"/>
            <a:ext cx="8920021" cy="83871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4"/>
              </a:spcBef>
            </a:pPr>
            <a:r>
              <a:rPr sz="5397" spc="-103" dirty="0"/>
              <a:t>Culturalism</a:t>
            </a:r>
            <a:r>
              <a:rPr sz="5397" spc="-69" dirty="0"/>
              <a:t> </a:t>
            </a:r>
            <a:r>
              <a:rPr sz="5397" spc="-170" dirty="0"/>
              <a:t>in</a:t>
            </a:r>
            <a:r>
              <a:rPr sz="5397" spc="-69" dirty="0"/>
              <a:t> </a:t>
            </a:r>
            <a:r>
              <a:rPr sz="5397" spc="-21" dirty="0"/>
              <a:t>anthropology</a:t>
            </a:r>
            <a:endParaRPr sz="539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2" y="2155234"/>
            <a:ext cx="2200145" cy="32040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1181" y="2235461"/>
            <a:ext cx="2459262" cy="30436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472" y="988397"/>
            <a:ext cx="11747165" cy="488089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105508" marR="312286">
              <a:lnSpc>
                <a:spcPct val="114500"/>
              </a:lnSpc>
              <a:spcBef>
                <a:spcPts val="55"/>
              </a:spcBef>
            </a:pPr>
            <a:r>
              <a:rPr sz="2729" spc="33" dirty="0">
                <a:latin typeface="Arial MT"/>
                <a:cs typeface="Arial MT"/>
              </a:rPr>
              <a:t>An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61" dirty="0">
                <a:latin typeface="Arial MT"/>
                <a:cs typeface="Arial MT"/>
              </a:rPr>
              <a:t>important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73" dirty="0">
                <a:latin typeface="Arial MT"/>
                <a:cs typeface="Arial MT"/>
              </a:rPr>
              <a:t>“school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79" dirty="0">
                <a:latin typeface="Arial MT"/>
                <a:cs typeface="Arial MT"/>
              </a:rPr>
              <a:t>of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136" dirty="0">
                <a:latin typeface="Arial MT"/>
                <a:cs typeface="Arial MT"/>
              </a:rPr>
              <a:t>thought”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30" dirty="0">
                <a:latin typeface="Arial MT"/>
                <a:cs typeface="Arial MT"/>
              </a:rPr>
              <a:t>in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55" dirty="0">
                <a:latin typeface="Arial MT"/>
                <a:cs typeface="Arial MT"/>
              </a:rPr>
              <a:t>anthropology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30" dirty="0">
                <a:latin typeface="Arial MT"/>
                <a:cs typeface="Arial MT"/>
              </a:rPr>
              <a:t>in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b="1" dirty="0">
                <a:latin typeface="Arial"/>
                <a:cs typeface="Arial"/>
              </a:rPr>
              <a:t>first</a:t>
            </a:r>
            <a:r>
              <a:rPr sz="2729" b="1" spc="36" dirty="0">
                <a:latin typeface="Arial"/>
                <a:cs typeface="Arial"/>
              </a:rPr>
              <a:t> </a:t>
            </a:r>
            <a:r>
              <a:rPr sz="2729" b="1" dirty="0">
                <a:latin typeface="Arial"/>
                <a:cs typeface="Arial"/>
              </a:rPr>
              <a:t>half</a:t>
            </a:r>
            <a:r>
              <a:rPr sz="2729" b="1" spc="39" dirty="0">
                <a:latin typeface="Arial"/>
                <a:cs typeface="Arial"/>
              </a:rPr>
              <a:t> </a:t>
            </a:r>
            <a:r>
              <a:rPr sz="2729" b="1" dirty="0">
                <a:latin typeface="Arial"/>
                <a:cs typeface="Arial"/>
              </a:rPr>
              <a:t>of</a:t>
            </a:r>
            <a:r>
              <a:rPr sz="2729" b="1" spc="36" dirty="0">
                <a:latin typeface="Arial"/>
                <a:cs typeface="Arial"/>
              </a:rPr>
              <a:t> </a:t>
            </a:r>
            <a:r>
              <a:rPr sz="2729" b="1" spc="24" dirty="0">
                <a:latin typeface="Arial"/>
                <a:cs typeface="Arial"/>
              </a:rPr>
              <a:t>the </a:t>
            </a:r>
            <a:r>
              <a:rPr sz="2729" b="1" spc="64" dirty="0">
                <a:latin typeface="Arial"/>
                <a:cs typeface="Arial"/>
              </a:rPr>
              <a:t>20th</a:t>
            </a:r>
            <a:r>
              <a:rPr sz="2729" b="1" spc="49" dirty="0">
                <a:latin typeface="Arial"/>
                <a:cs typeface="Arial"/>
              </a:rPr>
              <a:t> </a:t>
            </a:r>
            <a:r>
              <a:rPr sz="2729" b="1" spc="-6" dirty="0">
                <a:latin typeface="Arial"/>
                <a:cs typeface="Arial"/>
              </a:rPr>
              <a:t>century</a:t>
            </a:r>
            <a:endParaRPr sz="2729">
              <a:latin typeface="Arial"/>
              <a:cs typeface="Arial"/>
            </a:endParaRPr>
          </a:p>
          <a:p>
            <a:pPr marL="5335062" indent="-349638">
              <a:spcBef>
                <a:spcPts val="1092"/>
              </a:spcBef>
              <a:buSzPct val="123376"/>
              <a:buChar char="•"/>
              <a:tabLst>
                <a:tab pos="5335062" algn="l"/>
              </a:tabLst>
            </a:pPr>
            <a:r>
              <a:rPr sz="2335" dirty="0">
                <a:latin typeface="Arial MT"/>
                <a:cs typeface="Arial MT"/>
              </a:rPr>
              <a:t>Culture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and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socialization shape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spc="42" dirty="0">
                <a:latin typeface="Arial MT"/>
                <a:cs typeface="Arial MT"/>
              </a:rPr>
              <a:t>the</a:t>
            </a:r>
            <a:r>
              <a:rPr sz="2335" dirty="0">
                <a:latin typeface="Arial MT"/>
                <a:cs typeface="Arial MT"/>
              </a:rPr>
              <a:t> </a:t>
            </a:r>
            <a:r>
              <a:rPr sz="2335" b="1" spc="-6" dirty="0">
                <a:solidFill>
                  <a:srgbClr val="0076BA"/>
                </a:solidFill>
                <a:latin typeface="Arial"/>
                <a:cs typeface="Arial"/>
              </a:rPr>
              <a:t>personality</a:t>
            </a:r>
            <a:endParaRPr sz="2335">
              <a:latin typeface="Arial"/>
              <a:cs typeface="Arial"/>
            </a:endParaRPr>
          </a:p>
          <a:p>
            <a:pPr marL="5334677">
              <a:spcBef>
                <a:spcPts val="397"/>
              </a:spcBef>
            </a:pPr>
            <a:r>
              <a:rPr sz="2335" spc="67" dirty="0">
                <a:latin typeface="Arial MT"/>
                <a:cs typeface="Arial MT"/>
              </a:rPr>
              <a:t>of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individuals</a:t>
            </a:r>
            <a:endParaRPr sz="2335">
              <a:latin typeface="Arial MT"/>
              <a:cs typeface="Arial MT"/>
            </a:endParaRPr>
          </a:p>
          <a:p>
            <a:pPr marL="5370488" marR="311902" lvl="1" indent="-349253">
              <a:lnSpc>
                <a:spcPct val="114199"/>
              </a:lnSpc>
              <a:spcBef>
                <a:spcPts val="625"/>
              </a:spcBef>
              <a:buSzPct val="123376"/>
              <a:buChar char="•"/>
              <a:tabLst>
                <a:tab pos="5370488" algn="l"/>
              </a:tabLst>
            </a:pPr>
            <a:r>
              <a:rPr sz="2335" dirty="0">
                <a:latin typeface="Arial MT"/>
                <a:cs typeface="Arial MT"/>
              </a:rPr>
              <a:t>Individuals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spc="67" dirty="0">
                <a:latin typeface="Arial MT"/>
                <a:cs typeface="Arial MT"/>
              </a:rPr>
              <a:t>of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spc="-21" dirty="0">
                <a:latin typeface="Arial MT"/>
                <a:cs typeface="Arial MT"/>
              </a:rPr>
              <a:t>same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culture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spc="-39" dirty="0">
                <a:latin typeface="Arial MT"/>
                <a:cs typeface="Arial MT"/>
              </a:rPr>
              <a:t>share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spc="27" dirty="0">
                <a:latin typeface="Arial MT"/>
                <a:cs typeface="Arial MT"/>
              </a:rPr>
              <a:t>common </a:t>
            </a:r>
            <a:r>
              <a:rPr sz="2335" b="1" spc="-49" dirty="0">
                <a:solidFill>
                  <a:srgbClr val="0076BA"/>
                </a:solidFill>
                <a:latin typeface="Arial"/>
                <a:cs typeface="Arial"/>
              </a:rPr>
              <a:t>“basic</a:t>
            </a:r>
            <a:r>
              <a:rPr sz="2335" b="1" spc="-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335" b="1" spc="-12" dirty="0">
                <a:solidFill>
                  <a:srgbClr val="0076BA"/>
                </a:solidFill>
                <a:latin typeface="Arial"/>
                <a:cs typeface="Arial"/>
              </a:rPr>
              <a:t>personality”</a:t>
            </a:r>
            <a:r>
              <a:rPr sz="2335" spc="-12" dirty="0">
                <a:latin typeface="Arial MT"/>
                <a:cs typeface="Arial MT"/>
              </a:rPr>
              <a:t>,</a:t>
            </a:r>
            <a:r>
              <a:rPr sz="2335" spc="-67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because</a:t>
            </a:r>
            <a:r>
              <a:rPr sz="2335" spc="-67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they</a:t>
            </a:r>
            <a:r>
              <a:rPr sz="2335" spc="-64" dirty="0">
                <a:latin typeface="Arial MT"/>
                <a:cs typeface="Arial MT"/>
              </a:rPr>
              <a:t> </a:t>
            </a:r>
            <a:r>
              <a:rPr sz="2335" spc="-15" dirty="0">
                <a:latin typeface="Arial MT"/>
                <a:cs typeface="Arial MT"/>
              </a:rPr>
              <a:t>are </a:t>
            </a:r>
            <a:r>
              <a:rPr sz="2335" b="1" spc="-36" dirty="0">
                <a:latin typeface="Arial"/>
                <a:cs typeface="Arial"/>
              </a:rPr>
              <a:t>socialized</a:t>
            </a:r>
            <a:r>
              <a:rPr sz="2335" b="1" spc="6" dirty="0">
                <a:latin typeface="Arial"/>
                <a:cs typeface="Arial"/>
              </a:rPr>
              <a:t> </a:t>
            </a:r>
            <a:r>
              <a:rPr sz="2335" spc="106" dirty="0">
                <a:latin typeface="Arial MT"/>
                <a:cs typeface="Arial MT"/>
              </a:rPr>
              <a:t>to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spc="45" dirty="0">
                <a:latin typeface="Arial MT"/>
                <a:cs typeface="Arial MT"/>
              </a:rPr>
              <a:t>exhibit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this</a:t>
            </a:r>
            <a:r>
              <a:rPr sz="2335" spc="-30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behavior</a:t>
            </a:r>
            <a:endParaRPr sz="2335">
              <a:latin typeface="Arial MT"/>
              <a:cs typeface="Arial MT"/>
            </a:endParaRPr>
          </a:p>
          <a:p>
            <a:pPr marL="5370488" marR="3081" lvl="1" indent="-349253">
              <a:lnSpc>
                <a:spcPct val="114199"/>
              </a:lnSpc>
              <a:spcBef>
                <a:spcPts val="103"/>
              </a:spcBef>
              <a:buSzPct val="123376"/>
              <a:buChar char="•"/>
              <a:tabLst>
                <a:tab pos="5370488" algn="l"/>
              </a:tabLst>
            </a:pPr>
            <a:r>
              <a:rPr sz="2335" dirty="0">
                <a:latin typeface="Arial MT"/>
                <a:cs typeface="Arial MT"/>
              </a:rPr>
              <a:t>Different</a:t>
            </a:r>
            <a:r>
              <a:rPr sz="2335" spc="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culture</a:t>
            </a:r>
            <a:r>
              <a:rPr sz="2335" spc="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have</a:t>
            </a:r>
            <a:r>
              <a:rPr sz="2335" spc="55" dirty="0">
                <a:latin typeface="Arial MT"/>
                <a:cs typeface="Arial MT"/>
              </a:rPr>
              <a:t> </a:t>
            </a:r>
            <a:r>
              <a:rPr sz="2335" spc="30" dirty="0">
                <a:latin typeface="Arial MT"/>
                <a:cs typeface="Arial MT"/>
              </a:rPr>
              <a:t>different</a:t>
            </a:r>
            <a:r>
              <a:rPr sz="2335" spc="55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cultural </a:t>
            </a:r>
            <a:r>
              <a:rPr sz="2335" b="1" spc="-24" dirty="0">
                <a:latin typeface="Arial"/>
                <a:cs typeface="Arial"/>
              </a:rPr>
              <a:t>“personalities”</a:t>
            </a:r>
            <a:r>
              <a:rPr sz="2335" spc="-24" dirty="0">
                <a:latin typeface="Arial MT"/>
                <a:cs typeface="Arial MT"/>
              </a:rPr>
              <a:t>,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because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spc="67" dirty="0">
                <a:latin typeface="Arial MT"/>
                <a:cs typeface="Arial MT"/>
              </a:rPr>
              <a:t>of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these</a:t>
            </a:r>
            <a:r>
              <a:rPr sz="2335" spc="-5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differences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spc="-15" dirty="0">
                <a:latin typeface="Arial MT"/>
                <a:cs typeface="Arial MT"/>
              </a:rPr>
              <a:t>in </a:t>
            </a:r>
            <a:r>
              <a:rPr sz="2335" spc="-6" dirty="0">
                <a:latin typeface="Arial MT"/>
                <a:cs typeface="Arial MT"/>
              </a:rPr>
              <a:t>socialization</a:t>
            </a:r>
            <a:endParaRPr sz="2335">
              <a:latin typeface="Arial MT"/>
              <a:cs typeface="Arial MT"/>
            </a:endParaRPr>
          </a:p>
          <a:p>
            <a:pPr marL="7701">
              <a:spcBef>
                <a:spcPts val="673"/>
              </a:spcBef>
              <a:tabLst>
                <a:tab pos="2601877" algn="l"/>
              </a:tabLst>
            </a:pPr>
            <a:r>
              <a:rPr sz="2335" i="1" dirty="0">
                <a:latin typeface="Arial"/>
                <a:cs typeface="Arial"/>
              </a:rPr>
              <a:t>Ruth</a:t>
            </a:r>
            <a:r>
              <a:rPr sz="2335" i="1" spc="-146" dirty="0">
                <a:latin typeface="Arial"/>
                <a:cs typeface="Arial"/>
              </a:rPr>
              <a:t> </a:t>
            </a:r>
            <a:r>
              <a:rPr sz="2335" i="1" spc="-6" dirty="0">
                <a:latin typeface="Arial"/>
                <a:cs typeface="Arial"/>
              </a:rPr>
              <a:t>Benedict</a:t>
            </a:r>
            <a:r>
              <a:rPr sz="2335" i="1" dirty="0">
                <a:latin typeface="Arial"/>
                <a:cs typeface="Arial"/>
              </a:rPr>
              <a:t>	Margaret</a:t>
            </a:r>
            <a:r>
              <a:rPr sz="2335" i="1" spc="127" dirty="0">
                <a:latin typeface="Arial"/>
                <a:cs typeface="Arial"/>
              </a:rPr>
              <a:t> </a:t>
            </a:r>
            <a:r>
              <a:rPr sz="2335" i="1" spc="30" dirty="0">
                <a:latin typeface="Arial"/>
                <a:cs typeface="Arial"/>
              </a:rPr>
              <a:t>Mead</a:t>
            </a:r>
            <a:endParaRPr sz="233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2710" y="152385"/>
            <a:ext cx="8920021" cy="838713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4"/>
              </a:spcBef>
            </a:pPr>
            <a:r>
              <a:rPr sz="5397" spc="-103" dirty="0"/>
              <a:t>Culturalism</a:t>
            </a:r>
            <a:r>
              <a:rPr sz="5397" spc="-69" dirty="0"/>
              <a:t> </a:t>
            </a:r>
            <a:r>
              <a:rPr sz="5397" spc="-170" dirty="0"/>
              <a:t>in</a:t>
            </a:r>
            <a:r>
              <a:rPr sz="5397" spc="-69" dirty="0"/>
              <a:t> </a:t>
            </a:r>
            <a:r>
              <a:rPr sz="5397" spc="-21" dirty="0"/>
              <a:t>anthropology</a:t>
            </a:r>
            <a:endParaRPr sz="539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2" y="2155234"/>
            <a:ext cx="2200145" cy="32040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1181" y="2235461"/>
            <a:ext cx="2459262" cy="30436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472" y="5454746"/>
            <a:ext cx="4671988" cy="36905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  <a:tabLst>
                <a:tab pos="2601877" algn="l"/>
              </a:tabLst>
            </a:pPr>
            <a:r>
              <a:rPr sz="2335" i="1" dirty="0">
                <a:latin typeface="Arial"/>
                <a:cs typeface="Arial"/>
              </a:rPr>
              <a:t>Ruth</a:t>
            </a:r>
            <a:r>
              <a:rPr sz="2335" i="1" spc="-146" dirty="0">
                <a:latin typeface="Arial"/>
                <a:cs typeface="Arial"/>
              </a:rPr>
              <a:t> </a:t>
            </a:r>
            <a:r>
              <a:rPr sz="2335" i="1" spc="-6" dirty="0">
                <a:latin typeface="Arial"/>
                <a:cs typeface="Arial"/>
              </a:rPr>
              <a:t>Benedict</a:t>
            </a:r>
            <a:r>
              <a:rPr sz="2335" i="1" dirty="0">
                <a:latin typeface="Arial"/>
                <a:cs typeface="Arial"/>
              </a:rPr>
              <a:t>	Margaret</a:t>
            </a:r>
            <a:r>
              <a:rPr sz="2335" i="1" spc="127" dirty="0">
                <a:latin typeface="Arial"/>
                <a:cs typeface="Arial"/>
              </a:rPr>
              <a:t> </a:t>
            </a:r>
            <a:r>
              <a:rPr sz="2335" i="1" spc="30" dirty="0">
                <a:latin typeface="Arial"/>
                <a:cs typeface="Arial"/>
              </a:rPr>
              <a:t>Mead</a:t>
            </a:r>
            <a:endParaRPr sz="233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5471" y="5513454"/>
            <a:ext cx="5305805" cy="1165442"/>
          </a:xfrm>
          <a:prstGeom prst="rect">
            <a:avLst/>
          </a:prstGeom>
        </p:spPr>
        <p:txBody>
          <a:bodyPr vert="horz" wrap="square" lIns="0" tIns="41587" rIns="0" bIns="0" rtlCol="0">
            <a:spAutoFit/>
          </a:bodyPr>
          <a:lstStyle/>
          <a:p>
            <a:pPr marL="7701" marR="3081">
              <a:lnSpc>
                <a:spcPct val="113599"/>
              </a:lnSpc>
              <a:spcBef>
                <a:spcPts val="327"/>
              </a:spcBef>
            </a:pPr>
            <a:r>
              <a:rPr sz="2335" dirty="0">
                <a:latin typeface="Arial MT"/>
                <a:cs typeface="Arial MT"/>
              </a:rPr>
              <a:t>boundaries:</a:t>
            </a:r>
            <a:r>
              <a:rPr sz="2335" spc="121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"They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valued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all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violent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experience,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all</a:t>
            </a:r>
            <a:r>
              <a:rPr sz="1395" spc="69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means </a:t>
            </a:r>
            <a:r>
              <a:rPr sz="1395" dirty="0">
                <a:latin typeface="Arial MT"/>
                <a:cs typeface="Arial MT"/>
              </a:rPr>
              <a:t>by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which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human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beings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may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break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through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the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spc="-12" dirty="0">
                <a:latin typeface="Arial MT"/>
                <a:cs typeface="Arial MT"/>
              </a:rPr>
              <a:t>usual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sensory </a:t>
            </a:r>
            <a:r>
              <a:rPr sz="1395" dirty="0">
                <a:latin typeface="Arial MT"/>
                <a:cs typeface="Arial MT"/>
              </a:rPr>
              <a:t>routine,</a:t>
            </a:r>
            <a:r>
              <a:rPr sz="1395" spc="15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and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spc="64" dirty="0">
                <a:latin typeface="Arial MT"/>
                <a:cs typeface="Arial MT"/>
              </a:rPr>
              <a:t>to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all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spc="-12" dirty="0">
                <a:latin typeface="Arial MT"/>
                <a:cs typeface="Arial MT"/>
              </a:rPr>
              <a:t>such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experiences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they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spc="33" dirty="0">
                <a:latin typeface="Arial MT"/>
                <a:cs typeface="Arial MT"/>
              </a:rPr>
              <a:t>attributed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the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highest value".</a:t>
            </a:r>
            <a:endParaRPr sz="139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512" y="988396"/>
            <a:ext cx="11339767" cy="456869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>
              <a:lnSpc>
                <a:spcPct val="114500"/>
              </a:lnSpc>
              <a:spcBef>
                <a:spcPts val="55"/>
              </a:spcBef>
            </a:pPr>
            <a:r>
              <a:rPr sz="2729" spc="33" dirty="0">
                <a:latin typeface="Arial MT"/>
                <a:cs typeface="Arial MT"/>
              </a:rPr>
              <a:t>An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61" dirty="0">
                <a:latin typeface="Arial MT"/>
                <a:cs typeface="Arial MT"/>
              </a:rPr>
              <a:t>important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73" dirty="0">
                <a:latin typeface="Arial MT"/>
                <a:cs typeface="Arial MT"/>
              </a:rPr>
              <a:t>“school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79" dirty="0">
                <a:latin typeface="Arial MT"/>
                <a:cs typeface="Arial MT"/>
              </a:rPr>
              <a:t>of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136" dirty="0">
                <a:latin typeface="Arial MT"/>
                <a:cs typeface="Arial MT"/>
              </a:rPr>
              <a:t>thought”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30" dirty="0">
                <a:latin typeface="Arial MT"/>
                <a:cs typeface="Arial MT"/>
              </a:rPr>
              <a:t>in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55" dirty="0">
                <a:latin typeface="Arial MT"/>
                <a:cs typeface="Arial MT"/>
              </a:rPr>
              <a:t>anthropology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30" dirty="0">
                <a:latin typeface="Arial MT"/>
                <a:cs typeface="Arial MT"/>
              </a:rPr>
              <a:t>in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b="1" dirty="0">
                <a:latin typeface="Arial"/>
                <a:cs typeface="Arial"/>
              </a:rPr>
              <a:t>first</a:t>
            </a:r>
            <a:r>
              <a:rPr sz="2729" b="1" spc="36" dirty="0">
                <a:latin typeface="Arial"/>
                <a:cs typeface="Arial"/>
              </a:rPr>
              <a:t> </a:t>
            </a:r>
            <a:r>
              <a:rPr sz="2729" b="1" dirty="0">
                <a:latin typeface="Arial"/>
                <a:cs typeface="Arial"/>
              </a:rPr>
              <a:t>half</a:t>
            </a:r>
            <a:r>
              <a:rPr sz="2729" b="1" spc="39" dirty="0">
                <a:latin typeface="Arial"/>
                <a:cs typeface="Arial"/>
              </a:rPr>
              <a:t> </a:t>
            </a:r>
            <a:r>
              <a:rPr sz="2729" b="1" dirty="0">
                <a:latin typeface="Arial"/>
                <a:cs typeface="Arial"/>
              </a:rPr>
              <a:t>of</a:t>
            </a:r>
            <a:r>
              <a:rPr sz="2729" b="1" spc="36" dirty="0">
                <a:latin typeface="Arial"/>
                <a:cs typeface="Arial"/>
              </a:rPr>
              <a:t> </a:t>
            </a:r>
            <a:r>
              <a:rPr sz="2729" b="1" spc="24" dirty="0">
                <a:latin typeface="Arial"/>
                <a:cs typeface="Arial"/>
              </a:rPr>
              <a:t>the </a:t>
            </a:r>
            <a:r>
              <a:rPr sz="2729" b="1" spc="64" dirty="0">
                <a:latin typeface="Arial"/>
                <a:cs typeface="Arial"/>
              </a:rPr>
              <a:t>20th</a:t>
            </a:r>
            <a:r>
              <a:rPr sz="2729" b="1" spc="49" dirty="0">
                <a:latin typeface="Arial"/>
                <a:cs typeface="Arial"/>
              </a:rPr>
              <a:t> </a:t>
            </a:r>
            <a:r>
              <a:rPr sz="2729" b="1" spc="-6" dirty="0">
                <a:latin typeface="Arial"/>
                <a:cs typeface="Arial"/>
              </a:rPr>
              <a:t>century</a:t>
            </a:r>
            <a:endParaRPr sz="2729">
              <a:latin typeface="Arial"/>
              <a:cs typeface="Arial"/>
            </a:endParaRPr>
          </a:p>
          <a:p>
            <a:pPr marL="5037407" indent="-349638">
              <a:spcBef>
                <a:spcPts val="3"/>
              </a:spcBef>
              <a:buSzPct val="123376"/>
              <a:buChar char="•"/>
              <a:tabLst>
                <a:tab pos="5037407" algn="l"/>
              </a:tabLst>
            </a:pPr>
            <a:r>
              <a:rPr sz="2335" dirty="0">
                <a:latin typeface="Arial MT"/>
                <a:cs typeface="Arial MT"/>
              </a:rPr>
              <a:t>Example: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Benedict,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i="1" spc="-6" dirty="0">
                <a:latin typeface="Arial"/>
                <a:cs typeface="Arial"/>
              </a:rPr>
              <a:t>Patterns</a:t>
            </a:r>
            <a:r>
              <a:rPr sz="2335" i="1" spc="6" dirty="0">
                <a:latin typeface="Arial"/>
                <a:cs typeface="Arial"/>
              </a:rPr>
              <a:t> </a:t>
            </a:r>
            <a:r>
              <a:rPr sz="2335" i="1" spc="67" dirty="0">
                <a:latin typeface="Arial"/>
                <a:cs typeface="Arial"/>
              </a:rPr>
              <a:t>of</a:t>
            </a:r>
            <a:r>
              <a:rPr sz="2335" i="1" spc="9" dirty="0">
                <a:latin typeface="Arial"/>
                <a:cs typeface="Arial"/>
              </a:rPr>
              <a:t> </a:t>
            </a:r>
            <a:r>
              <a:rPr sz="2335" i="1" dirty="0">
                <a:latin typeface="Arial"/>
                <a:cs typeface="Arial"/>
              </a:rPr>
              <a:t>culture</a:t>
            </a:r>
            <a:r>
              <a:rPr sz="2335" i="1" spc="9" dirty="0">
                <a:latin typeface="Arial"/>
                <a:cs typeface="Arial"/>
              </a:rPr>
              <a:t> </a:t>
            </a:r>
            <a:r>
              <a:rPr sz="2335" spc="-6" dirty="0">
                <a:latin typeface="Arial MT"/>
                <a:cs typeface="Arial MT"/>
              </a:rPr>
              <a:t>(1934):</a:t>
            </a:r>
            <a:endParaRPr sz="2335">
              <a:latin typeface="Arial MT"/>
              <a:cs typeface="Arial MT"/>
            </a:endParaRPr>
          </a:p>
          <a:p>
            <a:pPr marL="5562635" marR="422800" indent="-349253">
              <a:lnSpc>
                <a:spcPct val="112799"/>
              </a:lnSpc>
              <a:spcBef>
                <a:spcPts val="979"/>
              </a:spcBef>
            </a:pPr>
            <a:r>
              <a:rPr sz="4321" spc="-2374" baseline="-3508" dirty="0">
                <a:latin typeface="Segoe UI Emoji"/>
                <a:cs typeface="Segoe UI Emoji"/>
              </a:rPr>
              <a:t>➡</a:t>
            </a:r>
            <a:r>
              <a:rPr sz="4321" spc="-650" baseline="-3508" dirty="0">
                <a:latin typeface="Segoe UI Emoji"/>
                <a:cs typeface="Segoe UI Emoji"/>
              </a:rPr>
              <a:t> </a:t>
            </a:r>
            <a:r>
              <a:rPr sz="2335" dirty="0">
                <a:latin typeface="Arial MT"/>
                <a:cs typeface="Arial MT"/>
              </a:rPr>
              <a:t>The</a:t>
            </a:r>
            <a:r>
              <a:rPr sz="2335" spc="-94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Zuni</a:t>
            </a:r>
            <a:r>
              <a:rPr sz="2335" spc="-61" dirty="0">
                <a:latin typeface="Arial MT"/>
                <a:cs typeface="Arial MT"/>
              </a:rPr>
              <a:t> </a:t>
            </a:r>
            <a:r>
              <a:rPr sz="2335" spc="69" dirty="0">
                <a:latin typeface="Arial MT"/>
                <a:cs typeface="Arial MT"/>
              </a:rPr>
              <a:t>people</a:t>
            </a:r>
            <a:r>
              <a:rPr sz="2335" spc="-61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have</a:t>
            </a:r>
            <a:r>
              <a:rPr sz="2335" spc="-61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an</a:t>
            </a:r>
            <a:r>
              <a:rPr sz="2335" spc="-58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Apollonian </a:t>
            </a:r>
            <a:r>
              <a:rPr sz="2335" dirty="0">
                <a:latin typeface="Arial MT"/>
                <a:cs typeface="Arial MT"/>
              </a:rPr>
              <a:t>personality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i.e.</a:t>
            </a:r>
            <a:r>
              <a:rPr sz="2335" spc="1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they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are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calm,</a:t>
            </a:r>
            <a:r>
              <a:rPr sz="2335" spc="15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reserved </a:t>
            </a:r>
            <a:r>
              <a:rPr sz="2335" dirty="0">
                <a:latin typeface="Arial MT"/>
                <a:cs typeface="Arial MT"/>
              </a:rPr>
              <a:t>and</a:t>
            </a:r>
            <a:r>
              <a:rPr sz="2335" spc="30" dirty="0">
                <a:latin typeface="Arial MT"/>
                <a:cs typeface="Arial MT"/>
              </a:rPr>
              <a:t> </a:t>
            </a:r>
            <a:r>
              <a:rPr sz="2335" spc="39" dirty="0">
                <a:latin typeface="Arial MT"/>
                <a:cs typeface="Arial MT"/>
              </a:rPr>
              <a:t>controlled:</a:t>
            </a:r>
            <a:r>
              <a:rPr sz="2335" spc="33" dirty="0">
                <a:latin typeface="Arial MT"/>
                <a:cs typeface="Arial MT"/>
              </a:rPr>
              <a:t> </a:t>
            </a:r>
            <a:r>
              <a:rPr sz="1395" spc="33" dirty="0">
                <a:latin typeface="Arial MT"/>
                <a:cs typeface="Arial MT"/>
              </a:rPr>
              <a:t>"Whether</a:t>
            </a:r>
            <a:r>
              <a:rPr sz="1395" spc="15" dirty="0">
                <a:latin typeface="Arial MT"/>
                <a:cs typeface="Arial MT"/>
              </a:rPr>
              <a:t> </a:t>
            </a:r>
            <a:r>
              <a:rPr sz="1395" spc="49" dirty="0">
                <a:latin typeface="Arial MT"/>
                <a:cs typeface="Arial MT"/>
              </a:rPr>
              <a:t>it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is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anger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or</a:t>
            </a:r>
            <a:r>
              <a:rPr sz="1395" spc="15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love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or</a:t>
            </a:r>
            <a:r>
              <a:rPr sz="1395" spc="18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jealousy </a:t>
            </a:r>
            <a:r>
              <a:rPr sz="1395" dirty="0">
                <a:latin typeface="Arial MT"/>
                <a:cs typeface="Arial MT"/>
              </a:rPr>
              <a:t>or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grief,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moderation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is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the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first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virtue.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The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fundamental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tabu</a:t>
            </a:r>
            <a:r>
              <a:rPr sz="1395" spc="76" dirty="0">
                <a:latin typeface="Arial MT"/>
                <a:cs typeface="Arial MT"/>
              </a:rPr>
              <a:t> </a:t>
            </a:r>
            <a:r>
              <a:rPr sz="1395" spc="18" dirty="0">
                <a:latin typeface="Arial MT"/>
                <a:cs typeface="Arial MT"/>
              </a:rPr>
              <a:t>upon </a:t>
            </a:r>
            <a:r>
              <a:rPr sz="1395" dirty="0">
                <a:latin typeface="Arial MT"/>
                <a:cs typeface="Arial MT"/>
              </a:rPr>
              <a:t>their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holy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men</a:t>
            </a:r>
            <a:r>
              <a:rPr sz="1395" spc="30" dirty="0">
                <a:latin typeface="Arial MT"/>
                <a:cs typeface="Arial MT"/>
              </a:rPr>
              <a:t> during </a:t>
            </a:r>
            <a:r>
              <a:rPr sz="1395" dirty="0">
                <a:latin typeface="Arial MT"/>
                <a:cs typeface="Arial MT"/>
              </a:rPr>
              <a:t>their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periods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spc="39" dirty="0">
                <a:latin typeface="Arial MT"/>
                <a:cs typeface="Arial MT"/>
              </a:rPr>
              <a:t>of</a:t>
            </a:r>
            <a:r>
              <a:rPr sz="1395" spc="27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office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is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against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any</a:t>
            </a:r>
            <a:r>
              <a:rPr sz="1395" spc="30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suspicion </a:t>
            </a:r>
            <a:r>
              <a:rPr sz="1395" spc="39" dirty="0">
                <a:latin typeface="Arial MT"/>
                <a:cs typeface="Arial MT"/>
              </a:rPr>
              <a:t>of</a:t>
            </a:r>
            <a:r>
              <a:rPr sz="1395" spc="-3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anger.</a:t>
            </a:r>
            <a:r>
              <a:rPr sz="1395" dirty="0">
                <a:latin typeface="Arial MT"/>
                <a:cs typeface="Arial MT"/>
              </a:rPr>
              <a:t> Controversies </a:t>
            </a:r>
            <a:r>
              <a:rPr sz="1395" spc="-33" dirty="0">
                <a:latin typeface="Arial MT"/>
                <a:cs typeface="Arial MT"/>
              </a:rPr>
              <a:t>(...)</a:t>
            </a:r>
            <a:r>
              <a:rPr sz="1395" dirty="0">
                <a:latin typeface="Arial MT"/>
                <a:cs typeface="Arial MT"/>
              </a:rPr>
              <a:t> are carried </a:t>
            </a:r>
            <a:r>
              <a:rPr sz="1395" spc="42" dirty="0">
                <a:latin typeface="Arial MT"/>
                <a:cs typeface="Arial MT"/>
              </a:rPr>
              <a:t>out</a:t>
            </a:r>
            <a:r>
              <a:rPr sz="1395" spc="-3" dirty="0">
                <a:latin typeface="Arial MT"/>
                <a:cs typeface="Arial MT"/>
              </a:rPr>
              <a:t> </a:t>
            </a:r>
            <a:r>
              <a:rPr sz="1395" dirty="0">
                <a:latin typeface="Arial MT"/>
                <a:cs typeface="Arial MT"/>
              </a:rPr>
              <a:t>with an unparalleled </a:t>
            </a:r>
            <a:r>
              <a:rPr sz="1395" spc="-12" dirty="0">
                <a:latin typeface="Arial MT"/>
                <a:cs typeface="Arial MT"/>
              </a:rPr>
              <a:t>lack </a:t>
            </a:r>
            <a:r>
              <a:rPr sz="1395" spc="39" dirty="0">
                <a:latin typeface="Arial MT"/>
                <a:cs typeface="Arial MT"/>
              </a:rPr>
              <a:t>of</a:t>
            </a:r>
            <a:r>
              <a:rPr sz="1395" dirty="0">
                <a:latin typeface="Arial MT"/>
                <a:cs typeface="Arial MT"/>
              </a:rPr>
              <a:t> </a:t>
            </a:r>
            <a:r>
              <a:rPr sz="1395" spc="-6" dirty="0">
                <a:latin typeface="Arial MT"/>
                <a:cs typeface="Arial MT"/>
              </a:rPr>
              <a:t>vehemence."</a:t>
            </a:r>
            <a:endParaRPr sz="1395">
              <a:latin typeface="Arial MT"/>
              <a:cs typeface="Arial MT"/>
            </a:endParaRPr>
          </a:p>
          <a:p>
            <a:pPr marL="5562635" marR="1041212" indent="-349253">
              <a:lnSpc>
                <a:spcPts val="3202"/>
              </a:lnSpc>
              <a:spcBef>
                <a:spcPts val="315"/>
              </a:spcBef>
            </a:pPr>
            <a:r>
              <a:rPr sz="4321" spc="-2374" baseline="-3508" dirty="0">
                <a:latin typeface="Segoe UI Emoji"/>
                <a:cs typeface="Segoe UI Emoji"/>
              </a:rPr>
              <a:t>➡</a:t>
            </a:r>
            <a:r>
              <a:rPr sz="4321" spc="-650" baseline="-3508" dirty="0">
                <a:latin typeface="Segoe UI Emoji"/>
                <a:cs typeface="Segoe UI Emoji"/>
              </a:rPr>
              <a:t> </a:t>
            </a:r>
            <a:r>
              <a:rPr sz="2335" dirty="0">
                <a:latin typeface="Arial MT"/>
                <a:cs typeface="Arial MT"/>
              </a:rPr>
              <a:t>The</a:t>
            </a:r>
            <a:r>
              <a:rPr sz="2335" spc="-67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Kwakiutl</a:t>
            </a:r>
            <a:r>
              <a:rPr sz="2335" spc="-42" dirty="0">
                <a:latin typeface="Arial MT"/>
                <a:cs typeface="Arial MT"/>
              </a:rPr>
              <a:t> </a:t>
            </a:r>
            <a:r>
              <a:rPr sz="2335" spc="69" dirty="0">
                <a:latin typeface="Arial MT"/>
                <a:cs typeface="Arial MT"/>
              </a:rPr>
              <a:t>people</a:t>
            </a:r>
            <a:r>
              <a:rPr sz="2335" spc="-4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are</a:t>
            </a:r>
            <a:r>
              <a:rPr sz="2335" spc="-42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exuberant, </a:t>
            </a:r>
            <a:r>
              <a:rPr sz="2335" dirty="0">
                <a:latin typeface="Arial MT"/>
                <a:cs typeface="Arial MT"/>
              </a:rPr>
              <a:t>enjoy</a:t>
            </a:r>
            <a:r>
              <a:rPr sz="2335" spc="49" dirty="0">
                <a:latin typeface="Arial MT"/>
                <a:cs typeface="Arial MT"/>
              </a:rPr>
              <a:t> </a:t>
            </a:r>
            <a:r>
              <a:rPr sz="2335" spc="-58" dirty="0">
                <a:latin typeface="Arial MT"/>
                <a:cs typeface="Arial MT"/>
              </a:rPr>
              <a:t>excess</a:t>
            </a:r>
            <a:r>
              <a:rPr sz="2335" spc="5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and</a:t>
            </a:r>
            <a:r>
              <a:rPr sz="2335" spc="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breaking</a:t>
            </a:r>
            <a:r>
              <a:rPr sz="2335" spc="58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sensory</a:t>
            </a:r>
            <a:endParaRPr sz="233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9216-9743-A63B-9090-B0645CB7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0C51BA57-3280-FBA6-509F-83617F0AA7A5}"/>
              </a:ext>
            </a:extLst>
          </p:cNvPr>
          <p:cNvSpPr/>
          <p:nvPr/>
        </p:nvSpPr>
        <p:spPr>
          <a:xfrm>
            <a:off x="214" y="1082426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II) The Cultural and the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Agentic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5DED7765-4A64-F6D2-26EF-FA1D8AAABB61}"/>
              </a:ext>
            </a:extLst>
          </p:cNvPr>
          <p:cNvSpPr/>
          <p:nvPr/>
        </p:nvSpPr>
        <p:spPr>
          <a:xfrm>
            <a:off x="213" y="1631922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A) Workshop: Social class and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 The case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education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.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30B8B9A0-0807-EE20-DB5B-9D81B977A658}"/>
              </a:ext>
            </a:extLst>
          </p:cNvPr>
          <p:cNvSpPr/>
          <p:nvPr/>
        </p:nvSpPr>
        <p:spPr>
          <a:xfrm>
            <a:off x="214" y="2123294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dirty="0">
                <a:solidFill>
                  <a:schemeClr val="dk1"/>
                </a:solidFill>
                <a:latin typeface="Avenir Next LT Pro"/>
              </a:rPr>
              <a:t>B) « Cultural » and « 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 »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schools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thought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C08DD38C-B6AD-B26A-02C9-36079F4B57B9}"/>
              </a:ext>
            </a:extLst>
          </p:cNvPr>
          <p:cNvSpPr/>
          <p:nvPr/>
        </p:nvSpPr>
        <p:spPr>
          <a:xfrm>
            <a:off x="214" y="2672791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algn="just" defTabSz="1105875"/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C) Limitations of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both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approaches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60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29">
            <a:extLst>
              <a:ext uri="{FF2B5EF4-FFF2-40B4-BE49-F238E27FC236}">
                <a16:creationId xmlns:a16="http://schemas.microsoft.com/office/drawing/2014/main" id="{596A1DA4-C275-82A9-F754-159290059E20}"/>
              </a:ext>
            </a:extLst>
          </p:cNvPr>
          <p:cNvSpPr/>
          <p:nvPr/>
        </p:nvSpPr>
        <p:spPr>
          <a:xfrm>
            <a:off x="215" y="3429000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The cultural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: 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9">
            <a:extLst>
              <a:ext uri="{FF2B5EF4-FFF2-40B4-BE49-F238E27FC236}">
                <a16:creationId xmlns:a16="http://schemas.microsoft.com/office/drawing/2014/main" id="{8D9BCB48-4D4E-2C67-50AA-A396DF2C6201}"/>
              </a:ext>
            </a:extLst>
          </p:cNvPr>
          <p:cNvSpPr/>
          <p:nvPr/>
        </p:nvSpPr>
        <p:spPr>
          <a:xfrm>
            <a:off x="1013151" y="3911190"/>
            <a:ext cx="11178849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Explains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why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behavior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often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automatic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,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interiorized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, and « 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external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 » 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9">
            <a:extLst>
              <a:ext uri="{FF2B5EF4-FFF2-40B4-BE49-F238E27FC236}">
                <a16:creationId xmlns:a16="http://schemas.microsoft.com/office/drawing/2014/main" id="{3109E8BD-0DC9-7541-5956-7D80928FFD4D}"/>
              </a:ext>
            </a:extLst>
          </p:cNvPr>
          <p:cNvSpPr/>
          <p:nvPr/>
        </p:nvSpPr>
        <p:spPr>
          <a:xfrm>
            <a:off x="1012938" y="4393380"/>
            <a:ext cx="11178849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Very good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with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social reproduction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ZoneTexte 29">
            <a:extLst>
              <a:ext uri="{FF2B5EF4-FFF2-40B4-BE49-F238E27FC236}">
                <a16:creationId xmlns:a16="http://schemas.microsoft.com/office/drawing/2014/main" id="{21C0EB44-2A90-2AC0-C677-D5E394564772}"/>
              </a:ext>
            </a:extLst>
          </p:cNvPr>
          <p:cNvSpPr/>
          <p:nvPr/>
        </p:nvSpPr>
        <p:spPr>
          <a:xfrm>
            <a:off x="0" y="181423"/>
            <a:ext cx="12191572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The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agentic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approach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: </a:t>
            </a:r>
            <a:endParaRPr lang="fr-FR" sz="241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ZoneTexte 29">
            <a:extLst>
              <a:ext uri="{FF2B5EF4-FFF2-40B4-BE49-F238E27FC236}">
                <a16:creationId xmlns:a16="http://schemas.microsoft.com/office/drawing/2014/main" id="{F58E7DF9-7A9A-96F7-C57A-D172DAB81DE9}"/>
              </a:ext>
            </a:extLst>
          </p:cNvPr>
          <p:cNvSpPr/>
          <p:nvPr/>
        </p:nvSpPr>
        <p:spPr>
          <a:xfrm>
            <a:off x="1013151" y="583380"/>
            <a:ext cx="11178849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Explains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why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a lot of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behaviors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have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some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degree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of </a:t>
            </a:r>
            <a:r>
              <a:rPr lang="fr-MA" sz="2419" b="1" dirty="0" err="1">
                <a:solidFill>
                  <a:schemeClr val="dk1"/>
                </a:solidFill>
                <a:latin typeface="Avenir Next LT Pro"/>
              </a:rPr>
              <a:t>rationality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ZoneTexte 29">
            <a:extLst>
              <a:ext uri="{FF2B5EF4-FFF2-40B4-BE49-F238E27FC236}">
                <a16:creationId xmlns:a16="http://schemas.microsoft.com/office/drawing/2014/main" id="{B1C34DCE-3C62-0303-BFB2-465E0BFB2F57}"/>
              </a:ext>
            </a:extLst>
          </p:cNvPr>
          <p:cNvSpPr/>
          <p:nvPr/>
        </p:nvSpPr>
        <p:spPr>
          <a:xfrm>
            <a:off x="1012723" y="1122043"/>
            <a:ext cx="11178849" cy="8544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Very good at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explaining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rapid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changes (e.g.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why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people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rapidly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change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their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consumption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patterns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when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prices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change)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ZoneTexte 29">
            <a:extLst>
              <a:ext uri="{FF2B5EF4-FFF2-40B4-BE49-F238E27FC236}">
                <a16:creationId xmlns:a16="http://schemas.microsoft.com/office/drawing/2014/main" id="{14B3AC1E-8CC8-1CE6-29CF-DB63DCDFB5A2}"/>
              </a:ext>
            </a:extLst>
          </p:cNvPr>
          <p:cNvSpPr/>
          <p:nvPr/>
        </p:nvSpPr>
        <p:spPr>
          <a:xfrm>
            <a:off x="1013151" y="5116665"/>
            <a:ext cx="11178849" cy="48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8847" tIns="54423" rIns="108847" bIns="54423" anchor="t">
            <a:spAutoFit/>
          </a:bodyPr>
          <a:lstStyle/>
          <a:p>
            <a:pPr marL="342900" indent="-342900" algn="just" defTabSz="1105875">
              <a:buFont typeface="Arial" panose="020B0604020202020204" pitchFamily="34" charset="0"/>
              <a:buChar char="•"/>
            </a:pPr>
            <a:r>
              <a:rPr lang="fr-MA" sz="2419" dirty="0">
                <a:solidFill>
                  <a:schemeClr val="dk1"/>
                </a:solidFill>
                <a:latin typeface="Avenir Next LT Pro"/>
              </a:rPr>
              <a:t>But…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it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sometimes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raises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dirty="0" err="1">
                <a:solidFill>
                  <a:schemeClr val="dk1"/>
                </a:solidFill>
                <a:latin typeface="Avenir Next LT Pro"/>
              </a:rPr>
              <a:t>some</a:t>
            </a:r>
            <a:r>
              <a:rPr lang="fr-MA" sz="2419" dirty="0">
                <a:solidFill>
                  <a:schemeClr val="dk1"/>
                </a:solidFill>
                <a:latin typeface="Avenir Next LT Pro"/>
              </a:rPr>
              <a:t> </a:t>
            </a:r>
            <a:r>
              <a:rPr lang="fr-MA" sz="2419" b="1" dirty="0">
                <a:solidFill>
                  <a:schemeClr val="dk1"/>
                </a:solidFill>
                <a:latin typeface="Avenir Next LT Pro"/>
              </a:rPr>
              <a:t>new questions</a:t>
            </a:r>
            <a:endParaRPr lang="fr-FR" sz="2419" b="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98876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70" y="388404"/>
            <a:ext cx="11391365" cy="1603286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>
              <a:lnSpc>
                <a:spcPts val="5918"/>
              </a:lnSpc>
              <a:spcBef>
                <a:spcPts val="682"/>
              </a:spcBef>
            </a:pPr>
            <a:r>
              <a:rPr sz="5397" dirty="0"/>
              <a:t>1st</a:t>
            </a:r>
            <a:r>
              <a:rPr sz="5397" spc="-42" dirty="0"/>
              <a:t> </a:t>
            </a:r>
            <a:r>
              <a:rPr sz="5397" dirty="0"/>
              <a:t>problem:</a:t>
            </a:r>
            <a:r>
              <a:rPr sz="5397" spc="-39" dirty="0"/>
              <a:t> </a:t>
            </a:r>
            <a:r>
              <a:rPr sz="5397" dirty="0"/>
              <a:t>Why</a:t>
            </a:r>
            <a:r>
              <a:rPr sz="5397" spc="-42" dirty="0"/>
              <a:t> </a:t>
            </a:r>
            <a:r>
              <a:rPr sz="5397" spc="30" dirty="0"/>
              <a:t>do</a:t>
            </a:r>
            <a:r>
              <a:rPr sz="5397" spc="-39" dirty="0"/>
              <a:t> </a:t>
            </a:r>
            <a:r>
              <a:rPr sz="5397" spc="-191" dirty="0"/>
              <a:t>norms</a:t>
            </a:r>
            <a:r>
              <a:rPr sz="5397" spc="-42" dirty="0"/>
              <a:t> </a:t>
            </a:r>
            <a:r>
              <a:rPr sz="5397" spc="-6" dirty="0"/>
              <a:t>exhibit </a:t>
            </a:r>
            <a:r>
              <a:rPr sz="5397" spc="55" dirty="0"/>
              <a:t>the</a:t>
            </a:r>
            <a:r>
              <a:rPr sz="5397" spc="-39" dirty="0"/>
              <a:t> </a:t>
            </a:r>
            <a:r>
              <a:rPr sz="5397" spc="-6" dirty="0"/>
              <a:t>features</a:t>
            </a:r>
            <a:r>
              <a:rPr sz="5397" spc="-39" dirty="0"/>
              <a:t> </a:t>
            </a:r>
            <a:r>
              <a:rPr sz="5397" spc="69" dirty="0"/>
              <a:t>that</a:t>
            </a:r>
            <a:r>
              <a:rPr sz="5397" spc="-39" dirty="0"/>
              <a:t> </a:t>
            </a:r>
            <a:r>
              <a:rPr sz="5397" dirty="0"/>
              <a:t>they</a:t>
            </a:r>
            <a:r>
              <a:rPr sz="5397" spc="-36" dirty="0"/>
              <a:t> </a:t>
            </a:r>
            <a:r>
              <a:rPr sz="5397" spc="52" dirty="0"/>
              <a:t>do,</a:t>
            </a:r>
            <a:r>
              <a:rPr sz="5397" spc="-39" dirty="0"/>
              <a:t> </a:t>
            </a:r>
            <a:r>
              <a:rPr sz="5397" dirty="0"/>
              <a:t>and</a:t>
            </a:r>
            <a:r>
              <a:rPr sz="5397" spc="-39" dirty="0"/>
              <a:t> </a:t>
            </a:r>
            <a:r>
              <a:rPr sz="5397" spc="-15" dirty="0"/>
              <a:t>not </a:t>
            </a:r>
            <a:r>
              <a:rPr sz="5397" spc="-161" dirty="0"/>
              <a:t>others?</a:t>
            </a:r>
            <a:endParaRPr sz="5397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69" y="93934"/>
            <a:ext cx="10696324" cy="1603286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>
              <a:lnSpc>
                <a:spcPts val="5918"/>
              </a:lnSpc>
              <a:spcBef>
                <a:spcPts val="682"/>
              </a:spcBef>
            </a:pPr>
            <a:r>
              <a:rPr sz="5397" dirty="0"/>
              <a:t>A</a:t>
            </a:r>
            <a:r>
              <a:rPr sz="5397" spc="115" dirty="0"/>
              <a:t> </a:t>
            </a:r>
            <a:r>
              <a:rPr sz="5397" spc="-36" dirty="0"/>
              <a:t>cooperation-</a:t>
            </a:r>
            <a:r>
              <a:rPr sz="5397" spc="33" dirty="0"/>
              <a:t>related</a:t>
            </a:r>
            <a:r>
              <a:rPr sz="5397" spc="115" dirty="0"/>
              <a:t> </a:t>
            </a:r>
            <a:r>
              <a:rPr sz="5397" spc="-230" dirty="0"/>
              <a:t>social</a:t>
            </a:r>
            <a:r>
              <a:rPr sz="5397" spc="118" dirty="0"/>
              <a:t> </a:t>
            </a:r>
            <a:r>
              <a:rPr sz="5397" spc="-36" dirty="0"/>
              <a:t>fact: </a:t>
            </a:r>
            <a:r>
              <a:rPr sz="5397" spc="55" dirty="0"/>
              <a:t>the</a:t>
            </a:r>
            <a:r>
              <a:rPr sz="5397" spc="45" dirty="0"/>
              <a:t> </a:t>
            </a:r>
            <a:r>
              <a:rPr sz="5397" spc="67" dirty="0"/>
              <a:t>Gift</a:t>
            </a:r>
            <a:r>
              <a:rPr sz="5397" spc="45" dirty="0"/>
              <a:t> </a:t>
            </a:r>
            <a:r>
              <a:rPr sz="5397" spc="-170" dirty="0"/>
              <a:t>in</a:t>
            </a:r>
            <a:r>
              <a:rPr sz="5397" spc="45" dirty="0"/>
              <a:t> </a:t>
            </a:r>
            <a:r>
              <a:rPr sz="5397" dirty="0"/>
              <a:t>primitive</a:t>
            </a:r>
            <a:r>
              <a:rPr sz="5397" spc="45" dirty="0"/>
              <a:t> </a:t>
            </a:r>
            <a:r>
              <a:rPr sz="5397" spc="-170" dirty="0"/>
              <a:t>societies</a:t>
            </a:r>
            <a:endParaRPr sz="539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645" y="1861287"/>
            <a:ext cx="2159108" cy="2794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89491" y="4671908"/>
            <a:ext cx="2419746" cy="134031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-385" algn="ctr">
              <a:lnSpc>
                <a:spcPct val="113799"/>
              </a:lnSpc>
              <a:spcBef>
                <a:spcPts val="58"/>
              </a:spcBef>
            </a:pPr>
            <a:r>
              <a:rPr sz="1940" b="1" dirty="0">
                <a:latin typeface="Arial"/>
                <a:cs typeface="Arial"/>
              </a:rPr>
              <a:t>Marcel</a:t>
            </a:r>
            <a:r>
              <a:rPr sz="1940" b="1" spc="3" dirty="0">
                <a:latin typeface="Arial"/>
                <a:cs typeface="Arial"/>
              </a:rPr>
              <a:t> </a:t>
            </a:r>
            <a:r>
              <a:rPr sz="1940" b="1" spc="-12" dirty="0">
                <a:latin typeface="Arial"/>
                <a:cs typeface="Arial"/>
              </a:rPr>
              <a:t>Mauss </a:t>
            </a:r>
            <a:r>
              <a:rPr sz="1940" spc="-33" dirty="0">
                <a:latin typeface="Arial MT"/>
                <a:cs typeface="Arial MT"/>
              </a:rPr>
              <a:t>(French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6" dirty="0">
                <a:latin typeface="Arial MT"/>
                <a:cs typeface="Arial MT"/>
              </a:rPr>
              <a:t>‘Durkheimian’ </a:t>
            </a:r>
            <a:r>
              <a:rPr sz="1940" spc="24" dirty="0">
                <a:latin typeface="Arial MT"/>
                <a:cs typeface="Arial MT"/>
              </a:rPr>
              <a:t>sociologist/ </a:t>
            </a:r>
            <a:r>
              <a:rPr sz="1940" spc="-6" dirty="0">
                <a:latin typeface="Arial MT"/>
                <a:cs typeface="Arial MT"/>
              </a:rPr>
              <a:t>anthropologist)</a:t>
            </a:r>
            <a:endParaRPr sz="194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395" y="1864039"/>
            <a:ext cx="6869552" cy="2687706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4644">
              <a:spcBef>
                <a:spcPts val="82"/>
              </a:spcBef>
            </a:pPr>
            <a:r>
              <a:rPr sz="2729" i="1" spc="-118" dirty="0">
                <a:solidFill>
                  <a:srgbClr val="EE220C"/>
                </a:solidFill>
                <a:latin typeface="Arial"/>
                <a:cs typeface="Arial"/>
              </a:rPr>
              <a:t>Essai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EE220C"/>
                </a:solidFill>
                <a:latin typeface="Arial"/>
                <a:cs typeface="Arial"/>
              </a:rPr>
              <a:t>sur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spc="30" dirty="0">
                <a:solidFill>
                  <a:srgbClr val="EE220C"/>
                </a:solidFill>
                <a:latin typeface="Arial"/>
                <a:cs typeface="Arial"/>
              </a:rPr>
              <a:t>le</a:t>
            </a:r>
            <a:r>
              <a:rPr sz="2729" i="1" spc="-58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spc="91" dirty="0">
                <a:solidFill>
                  <a:srgbClr val="EE220C"/>
                </a:solidFill>
                <a:latin typeface="Arial"/>
                <a:cs typeface="Arial"/>
              </a:rPr>
              <a:t>don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spc="-6" dirty="0">
                <a:latin typeface="Arial MT"/>
                <a:cs typeface="Arial MT"/>
              </a:rPr>
              <a:t>(1924):</a:t>
            </a:r>
            <a:endParaRPr sz="2729" dirty="0">
              <a:latin typeface="Arial MT"/>
              <a:cs typeface="Arial MT"/>
            </a:endParaRPr>
          </a:p>
          <a:p>
            <a:pPr marL="189066" marR="3081" indent="-114364">
              <a:lnSpc>
                <a:spcPct val="114500"/>
              </a:lnSpc>
              <a:spcBef>
                <a:spcPts val="1540"/>
              </a:spcBef>
              <a:buSzPct val="97777"/>
              <a:buChar char="•"/>
              <a:tabLst>
                <a:tab pos="189066" algn="l"/>
                <a:tab pos="249136" algn="l"/>
              </a:tabLst>
            </a:pPr>
            <a:r>
              <a:rPr sz="2729" spc="-36" dirty="0">
                <a:latin typeface="Arial MT"/>
                <a:cs typeface="Arial MT"/>
              </a:rPr>
              <a:t>	Across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many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lang="fr-FR" sz="2729" spc="55" dirty="0" err="1">
                <a:latin typeface="Arial MT"/>
                <a:cs typeface="Arial MT"/>
              </a:rPr>
              <a:t>small-scale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societies,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there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is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spc="-30" dirty="0">
                <a:latin typeface="Arial MT"/>
                <a:cs typeface="Arial MT"/>
              </a:rPr>
              <a:t>a </a:t>
            </a:r>
            <a:r>
              <a:rPr sz="2729" dirty="0">
                <a:latin typeface="Arial MT"/>
                <a:cs typeface="Arial MT"/>
              </a:rPr>
              <a:t>strong social </a:t>
            </a:r>
            <a:r>
              <a:rPr sz="2729" spc="58" dirty="0">
                <a:latin typeface="Arial MT"/>
                <a:cs typeface="Arial MT"/>
              </a:rPr>
              <a:t>norm</a:t>
            </a:r>
            <a:r>
              <a:rPr sz="2729" dirty="0">
                <a:latin typeface="Arial MT"/>
                <a:cs typeface="Arial MT"/>
              </a:rPr>
              <a:t> </a:t>
            </a:r>
            <a:r>
              <a:rPr sz="2729" spc="55" dirty="0">
                <a:latin typeface="Arial MT"/>
                <a:cs typeface="Arial MT"/>
              </a:rPr>
              <a:t>that</a:t>
            </a:r>
            <a:r>
              <a:rPr sz="2729" dirty="0">
                <a:latin typeface="Arial MT"/>
                <a:cs typeface="Arial MT"/>
              </a:rPr>
              <a:t> requires</a:t>
            </a:r>
            <a:r>
              <a:rPr sz="2729" spc="3" dirty="0">
                <a:latin typeface="Arial MT"/>
                <a:cs typeface="Arial MT"/>
              </a:rPr>
              <a:t> </a:t>
            </a:r>
            <a:r>
              <a:rPr sz="2729" spc="-6" dirty="0">
                <a:latin typeface="Arial MT"/>
                <a:cs typeface="Arial MT"/>
              </a:rPr>
              <a:t>individuals </a:t>
            </a:r>
            <a:r>
              <a:rPr sz="2729" spc="124" dirty="0">
                <a:latin typeface="Arial MT"/>
                <a:cs typeface="Arial MT"/>
              </a:rPr>
              <a:t>to</a:t>
            </a:r>
            <a:r>
              <a:rPr sz="2729" spc="12" dirty="0">
                <a:latin typeface="Arial MT"/>
                <a:cs typeface="Arial MT"/>
              </a:rPr>
              <a:t> </a:t>
            </a:r>
            <a:r>
              <a:rPr sz="2729" b="1" dirty="0">
                <a:solidFill>
                  <a:srgbClr val="0076BA"/>
                </a:solidFill>
                <a:latin typeface="Arial"/>
                <a:cs typeface="Arial"/>
              </a:rPr>
              <a:t>“give,</a:t>
            </a:r>
            <a:r>
              <a:rPr sz="2729"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0076BA"/>
                </a:solidFill>
                <a:latin typeface="Arial"/>
                <a:cs typeface="Arial"/>
              </a:rPr>
              <a:t>receive,</a:t>
            </a:r>
            <a:r>
              <a:rPr sz="2729" b="1" spc="1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0076BA"/>
                </a:solidFill>
                <a:latin typeface="Arial"/>
                <a:cs typeface="Arial"/>
              </a:rPr>
              <a:t>and</a:t>
            </a:r>
            <a:r>
              <a:rPr sz="2729"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spc="-6" dirty="0">
                <a:solidFill>
                  <a:srgbClr val="0076BA"/>
                </a:solidFill>
                <a:latin typeface="Arial"/>
                <a:cs typeface="Arial"/>
              </a:rPr>
              <a:t>repay”</a:t>
            </a:r>
            <a:endParaRPr sz="2729" dirty="0">
              <a:latin typeface="Arial"/>
              <a:cs typeface="Arial"/>
            </a:endParaRPr>
          </a:p>
          <a:p>
            <a:pPr marL="357339" indent="-349638">
              <a:spcBef>
                <a:spcPts val="2004"/>
              </a:spcBef>
              <a:buSzPct val="123376"/>
              <a:buChar char="•"/>
              <a:tabLst>
                <a:tab pos="357339" algn="l"/>
              </a:tabLst>
            </a:pPr>
            <a:r>
              <a:rPr sz="2335" spc="-18" dirty="0">
                <a:latin typeface="Arial MT"/>
                <a:cs typeface="Arial MT"/>
              </a:rPr>
              <a:t>This</a:t>
            </a:r>
            <a:r>
              <a:rPr sz="2335" spc="-5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clearly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b="1" spc="-61" dirty="0">
                <a:latin typeface="Arial"/>
                <a:cs typeface="Arial"/>
              </a:rPr>
              <a:t>“social</a:t>
            </a:r>
            <a:r>
              <a:rPr sz="2335" b="1" spc="-18" dirty="0">
                <a:latin typeface="Arial"/>
                <a:cs typeface="Arial"/>
              </a:rPr>
              <a:t> </a:t>
            </a:r>
            <a:r>
              <a:rPr sz="2335" b="1" dirty="0">
                <a:latin typeface="Arial"/>
                <a:cs typeface="Arial"/>
              </a:rPr>
              <a:t>fact”</a:t>
            </a:r>
            <a:r>
              <a:rPr sz="2335" b="1" spc="-55" dirty="0">
                <a:latin typeface="Arial"/>
                <a:cs typeface="Arial"/>
              </a:rPr>
              <a:t> </a:t>
            </a:r>
            <a:r>
              <a:rPr sz="2335" dirty="0">
                <a:latin typeface="Arial MT"/>
                <a:cs typeface="Arial MT"/>
              </a:rPr>
              <a:t>in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spc="42" dirty="0">
                <a:latin typeface="Arial MT"/>
                <a:cs typeface="Arial MT"/>
              </a:rPr>
              <a:t>the</a:t>
            </a:r>
            <a:r>
              <a:rPr sz="2335" spc="-55" dirty="0">
                <a:latin typeface="Arial MT"/>
                <a:cs typeface="Arial MT"/>
              </a:rPr>
              <a:t> </a:t>
            </a:r>
            <a:r>
              <a:rPr sz="2335" b="1" spc="-6" dirty="0">
                <a:latin typeface="Arial"/>
                <a:cs typeface="Arial"/>
              </a:rPr>
              <a:t>Durkheimian</a:t>
            </a:r>
            <a:endParaRPr sz="2335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620" y="4509648"/>
            <a:ext cx="7723240" cy="1543175"/>
          </a:xfrm>
          <a:prstGeom prst="rect">
            <a:avLst/>
          </a:prstGeom>
        </p:spPr>
        <p:txBody>
          <a:bodyPr vert="horz" wrap="square" lIns="0" tIns="65846" rIns="0" bIns="0" rtlCol="0">
            <a:spAutoFit/>
          </a:bodyPr>
          <a:lstStyle/>
          <a:p>
            <a:pPr marL="75473">
              <a:spcBef>
                <a:spcPts val="518"/>
              </a:spcBef>
            </a:pPr>
            <a:r>
              <a:rPr sz="2335" spc="-39" dirty="0">
                <a:latin typeface="Arial MT"/>
                <a:cs typeface="Arial MT"/>
              </a:rPr>
              <a:t>sense,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i.e.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spc="42" dirty="0">
                <a:latin typeface="Arial MT"/>
                <a:cs typeface="Arial MT"/>
              </a:rPr>
              <a:t>norm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spc="30" dirty="0">
                <a:latin typeface="Arial MT"/>
                <a:cs typeface="Arial MT"/>
              </a:rPr>
              <a:t>that:</a:t>
            </a:r>
            <a:endParaRPr sz="2335">
              <a:latin typeface="Arial MT"/>
              <a:cs typeface="Arial MT"/>
            </a:endParaRPr>
          </a:p>
          <a:p>
            <a:pPr marL="7701">
              <a:spcBef>
                <a:spcPts val="557"/>
              </a:spcBef>
            </a:pPr>
            <a:r>
              <a:rPr sz="4321" spc="-2374" baseline="-3508" dirty="0">
                <a:latin typeface="Segoe UI Emoji"/>
                <a:cs typeface="Segoe UI Emoji"/>
              </a:rPr>
              <a:t>➡</a:t>
            </a:r>
            <a:r>
              <a:rPr sz="4321" spc="-650" baseline="-3508" dirty="0">
                <a:latin typeface="Segoe UI Emoji"/>
                <a:cs typeface="Segoe UI Emoji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-24" dirty="0">
                <a:latin typeface="Arial MT"/>
                <a:cs typeface="Arial MT"/>
              </a:rPr>
              <a:t> </a:t>
            </a:r>
            <a:r>
              <a:rPr sz="2335" b="1" dirty="0">
                <a:latin typeface="Arial"/>
                <a:cs typeface="Arial"/>
              </a:rPr>
              <a:t>external</a:t>
            </a:r>
            <a:r>
              <a:rPr sz="2335" b="1" spc="-12" dirty="0">
                <a:latin typeface="Arial"/>
                <a:cs typeface="Arial"/>
              </a:rPr>
              <a:t> </a:t>
            </a:r>
            <a:r>
              <a:rPr sz="2335" spc="106" dirty="0">
                <a:latin typeface="Arial MT"/>
                <a:cs typeface="Arial MT"/>
              </a:rPr>
              <a:t>to</a:t>
            </a:r>
            <a:r>
              <a:rPr sz="2335" spc="-15" dirty="0">
                <a:latin typeface="Arial MT"/>
                <a:cs typeface="Arial MT"/>
              </a:rPr>
              <a:t> </a:t>
            </a:r>
            <a:r>
              <a:rPr sz="2335" spc="42" dirty="0">
                <a:latin typeface="Arial MT"/>
                <a:cs typeface="Arial MT"/>
              </a:rPr>
              <a:t>the</a:t>
            </a:r>
            <a:r>
              <a:rPr sz="2335" spc="-12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individual</a:t>
            </a:r>
            <a:endParaRPr sz="2335">
              <a:latin typeface="Arial MT"/>
              <a:cs typeface="Arial MT"/>
            </a:endParaRPr>
          </a:p>
          <a:p>
            <a:pPr marL="47363">
              <a:spcBef>
                <a:spcPts val="1182"/>
              </a:spcBef>
            </a:pPr>
            <a:r>
              <a:rPr sz="4321" spc="-2374" baseline="-3508" dirty="0">
                <a:latin typeface="Segoe UI Emoji"/>
                <a:cs typeface="Segoe UI Emoji"/>
              </a:rPr>
              <a:t>➡</a:t>
            </a:r>
            <a:r>
              <a:rPr sz="4321" spc="-650" baseline="-3508" dirty="0">
                <a:latin typeface="Segoe UI Emoji"/>
                <a:cs typeface="Segoe UI Emoji"/>
              </a:rPr>
              <a:t> </a:t>
            </a:r>
            <a:r>
              <a:rPr sz="2335" spc="-85" dirty="0">
                <a:latin typeface="Arial MT"/>
                <a:cs typeface="Arial MT"/>
              </a:rPr>
              <a:t>as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spc="45" dirty="0">
                <a:latin typeface="Arial MT"/>
                <a:cs typeface="Arial MT"/>
              </a:rPr>
              <a:t>“</a:t>
            </a:r>
            <a:r>
              <a:rPr sz="2335" b="1" spc="45" dirty="0">
                <a:latin typeface="Arial"/>
                <a:cs typeface="Arial"/>
              </a:rPr>
              <a:t>coercive</a:t>
            </a:r>
            <a:r>
              <a:rPr sz="2335" spc="45" dirty="0">
                <a:latin typeface="Arial MT"/>
                <a:cs typeface="Arial MT"/>
              </a:rPr>
              <a:t>”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force</a:t>
            </a:r>
            <a:r>
              <a:rPr sz="2335" spc="-12" dirty="0">
                <a:latin typeface="Arial MT"/>
                <a:cs typeface="Arial MT"/>
              </a:rPr>
              <a:t> </a:t>
            </a:r>
            <a:r>
              <a:rPr sz="2335" spc="52" dirty="0">
                <a:latin typeface="Arial MT"/>
                <a:cs typeface="Arial MT"/>
              </a:rPr>
              <a:t>on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them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(not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spc="79" dirty="0">
                <a:latin typeface="Arial MT"/>
                <a:cs typeface="Arial MT"/>
              </a:rPr>
              <a:t>doing</a:t>
            </a:r>
            <a:r>
              <a:rPr sz="2335" spc="-12" dirty="0">
                <a:latin typeface="Arial MT"/>
                <a:cs typeface="Arial MT"/>
              </a:rPr>
              <a:t> </a:t>
            </a:r>
            <a:r>
              <a:rPr sz="2335" spc="85" dirty="0">
                <a:latin typeface="Arial MT"/>
                <a:cs typeface="Arial MT"/>
              </a:rPr>
              <a:t>it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spc="100" dirty="0">
                <a:latin typeface="Arial MT"/>
                <a:cs typeface="Arial MT"/>
              </a:rPr>
              <a:t>“wrong”)</a:t>
            </a:r>
            <a:endParaRPr sz="233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209" y="6171867"/>
            <a:ext cx="10421773" cy="811534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spcBef>
                <a:spcPts val="69"/>
              </a:spcBef>
            </a:pPr>
            <a:r>
              <a:rPr sz="4321" spc="-2374" baseline="-3508" dirty="0">
                <a:latin typeface="Segoe UI Emoji"/>
                <a:cs typeface="Segoe UI Emoji"/>
              </a:rPr>
              <a:t>➡</a:t>
            </a:r>
            <a:r>
              <a:rPr sz="4321" spc="-650" baseline="-3508" dirty="0">
                <a:latin typeface="Segoe UI Emoji"/>
                <a:cs typeface="Segoe UI Emoji"/>
              </a:rPr>
              <a:t> </a:t>
            </a:r>
            <a:r>
              <a:rPr sz="2335" spc="36" dirty="0">
                <a:latin typeface="Arial MT"/>
                <a:cs typeface="Arial MT"/>
              </a:rPr>
              <a:t>that</a:t>
            </a:r>
            <a:r>
              <a:rPr sz="2335" spc="-3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sanctioned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spc="49" dirty="0">
                <a:latin typeface="Arial MT"/>
                <a:cs typeface="Arial MT"/>
              </a:rPr>
              <a:t>by</a:t>
            </a:r>
            <a:r>
              <a:rPr sz="2335" spc="-21" dirty="0">
                <a:latin typeface="Arial MT"/>
                <a:cs typeface="Arial MT"/>
              </a:rPr>
              <a:t> </a:t>
            </a:r>
            <a:r>
              <a:rPr sz="2335" b="1" spc="-67" dirty="0">
                <a:latin typeface="Arial"/>
                <a:cs typeface="Arial"/>
              </a:rPr>
              <a:t>social</a:t>
            </a:r>
            <a:r>
              <a:rPr sz="2335" b="1" spc="24" dirty="0">
                <a:latin typeface="Arial"/>
                <a:cs typeface="Arial"/>
              </a:rPr>
              <a:t> </a:t>
            </a:r>
            <a:r>
              <a:rPr sz="2335" b="1" spc="-6" dirty="0">
                <a:latin typeface="Arial"/>
                <a:cs typeface="Arial"/>
              </a:rPr>
              <a:t>control</a:t>
            </a:r>
            <a:r>
              <a:rPr sz="2335" b="1" spc="-21" dirty="0">
                <a:latin typeface="Arial"/>
                <a:cs typeface="Arial"/>
              </a:rPr>
              <a:t> </a:t>
            </a:r>
            <a:r>
              <a:rPr sz="2335" dirty="0">
                <a:latin typeface="Arial MT"/>
                <a:cs typeface="Arial MT"/>
              </a:rPr>
              <a:t>(not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spc="79" dirty="0">
                <a:latin typeface="Arial MT"/>
                <a:cs typeface="Arial MT"/>
              </a:rPr>
              <a:t>doing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spc="85" dirty="0">
                <a:latin typeface="Arial MT"/>
                <a:cs typeface="Arial MT"/>
              </a:rPr>
              <a:t>it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leads</a:t>
            </a:r>
            <a:r>
              <a:rPr sz="2335" spc="-21" dirty="0">
                <a:latin typeface="Arial MT"/>
                <a:cs typeface="Arial MT"/>
              </a:rPr>
              <a:t> </a:t>
            </a:r>
            <a:r>
              <a:rPr sz="2335" spc="106" dirty="0">
                <a:latin typeface="Arial MT"/>
                <a:cs typeface="Arial MT"/>
              </a:rPr>
              <a:t>to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spc="33" dirty="0">
                <a:latin typeface="Arial MT"/>
                <a:cs typeface="Arial MT"/>
              </a:rPr>
              <a:t>reputational</a:t>
            </a:r>
            <a:r>
              <a:rPr sz="2335" spc="-18" dirty="0">
                <a:latin typeface="Arial MT"/>
                <a:cs typeface="Arial MT"/>
              </a:rPr>
              <a:t> </a:t>
            </a:r>
            <a:r>
              <a:rPr sz="2335" spc="-12" dirty="0">
                <a:latin typeface="Arial MT"/>
                <a:cs typeface="Arial MT"/>
              </a:rPr>
              <a:t>costs)</a:t>
            </a:r>
            <a:endParaRPr sz="233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69" y="93934"/>
            <a:ext cx="10696324" cy="1603286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>
              <a:lnSpc>
                <a:spcPts val="5918"/>
              </a:lnSpc>
              <a:spcBef>
                <a:spcPts val="682"/>
              </a:spcBef>
            </a:pPr>
            <a:r>
              <a:rPr sz="5397" dirty="0"/>
              <a:t>A</a:t>
            </a:r>
            <a:r>
              <a:rPr sz="5397" spc="115" dirty="0"/>
              <a:t> </a:t>
            </a:r>
            <a:r>
              <a:rPr sz="5397" spc="-36" dirty="0"/>
              <a:t>cooperation-</a:t>
            </a:r>
            <a:r>
              <a:rPr sz="5397" spc="33" dirty="0"/>
              <a:t>related</a:t>
            </a:r>
            <a:r>
              <a:rPr sz="5397" spc="115" dirty="0"/>
              <a:t> </a:t>
            </a:r>
            <a:r>
              <a:rPr sz="5397" spc="-230" dirty="0"/>
              <a:t>social</a:t>
            </a:r>
            <a:r>
              <a:rPr sz="5397" spc="118" dirty="0"/>
              <a:t> </a:t>
            </a:r>
            <a:r>
              <a:rPr sz="5397" spc="-36" dirty="0"/>
              <a:t>fact: </a:t>
            </a:r>
            <a:r>
              <a:rPr sz="5397" spc="55" dirty="0"/>
              <a:t>the</a:t>
            </a:r>
            <a:r>
              <a:rPr sz="5397" spc="45" dirty="0"/>
              <a:t> </a:t>
            </a:r>
            <a:r>
              <a:rPr sz="5397" spc="67" dirty="0"/>
              <a:t>Gift</a:t>
            </a:r>
            <a:r>
              <a:rPr sz="5397" spc="45" dirty="0"/>
              <a:t> </a:t>
            </a:r>
            <a:r>
              <a:rPr sz="5397" spc="-170" dirty="0"/>
              <a:t>in</a:t>
            </a:r>
            <a:r>
              <a:rPr sz="5397" spc="45" dirty="0"/>
              <a:t> </a:t>
            </a:r>
            <a:r>
              <a:rPr sz="5397" dirty="0"/>
              <a:t>primitive</a:t>
            </a:r>
            <a:r>
              <a:rPr sz="5397" spc="45" dirty="0"/>
              <a:t> </a:t>
            </a:r>
            <a:r>
              <a:rPr sz="5397" spc="-170" dirty="0"/>
              <a:t>societies</a:t>
            </a:r>
            <a:endParaRPr sz="539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645" y="1861287"/>
            <a:ext cx="2159108" cy="2794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89491" y="4671908"/>
            <a:ext cx="2419746" cy="134031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-385" algn="ctr">
              <a:lnSpc>
                <a:spcPct val="113799"/>
              </a:lnSpc>
              <a:spcBef>
                <a:spcPts val="58"/>
              </a:spcBef>
            </a:pPr>
            <a:r>
              <a:rPr sz="1940" b="1" dirty="0">
                <a:latin typeface="Arial"/>
                <a:cs typeface="Arial"/>
              </a:rPr>
              <a:t>Marcel</a:t>
            </a:r>
            <a:r>
              <a:rPr sz="1940" b="1" spc="3" dirty="0">
                <a:latin typeface="Arial"/>
                <a:cs typeface="Arial"/>
              </a:rPr>
              <a:t> </a:t>
            </a:r>
            <a:r>
              <a:rPr sz="1940" b="1" spc="-12" dirty="0">
                <a:latin typeface="Arial"/>
                <a:cs typeface="Arial"/>
              </a:rPr>
              <a:t>Mauss </a:t>
            </a:r>
            <a:r>
              <a:rPr sz="1940" spc="-33" dirty="0">
                <a:latin typeface="Arial MT"/>
                <a:cs typeface="Arial MT"/>
              </a:rPr>
              <a:t>(French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6" dirty="0">
                <a:latin typeface="Arial MT"/>
                <a:cs typeface="Arial MT"/>
              </a:rPr>
              <a:t>‘Durkheimian’ </a:t>
            </a:r>
            <a:r>
              <a:rPr sz="1940" spc="24" dirty="0">
                <a:latin typeface="Arial MT"/>
                <a:cs typeface="Arial MT"/>
              </a:rPr>
              <a:t>sociologist/ </a:t>
            </a:r>
            <a:r>
              <a:rPr sz="1940" spc="-6" dirty="0">
                <a:latin typeface="Arial MT"/>
                <a:cs typeface="Arial MT"/>
              </a:rPr>
              <a:t>anthropologist)</a:t>
            </a:r>
            <a:endParaRPr sz="194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511" y="1864039"/>
            <a:ext cx="6914990" cy="2513876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2729" i="1" spc="-118" dirty="0">
                <a:solidFill>
                  <a:srgbClr val="EE220C"/>
                </a:solidFill>
                <a:latin typeface="Arial"/>
                <a:cs typeface="Arial"/>
              </a:rPr>
              <a:t>Essai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dirty="0">
                <a:solidFill>
                  <a:srgbClr val="EE220C"/>
                </a:solidFill>
                <a:latin typeface="Arial"/>
                <a:cs typeface="Arial"/>
              </a:rPr>
              <a:t>sur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spc="30" dirty="0">
                <a:solidFill>
                  <a:srgbClr val="EE220C"/>
                </a:solidFill>
                <a:latin typeface="Arial"/>
                <a:cs typeface="Arial"/>
              </a:rPr>
              <a:t>le</a:t>
            </a:r>
            <a:r>
              <a:rPr sz="2729" i="1" spc="-58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i="1" spc="91" dirty="0">
                <a:solidFill>
                  <a:srgbClr val="EE220C"/>
                </a:solidFill>
                <a:latin typeface="Arial"/>
                <a:cs typeface="Arial"/>
              </a:rPr>
              <a:t>don</a:t>
            </a:r>
            <a:r>
              <a:rPr sz="2729" i="1" spc="-61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729" spc="-6" dirty="0">
                <a:latin typeface="Arial MT"/>
                <a:cs typeface="Arial MT"/>
              </a:rPr>
              <a:t>(1924):</a:t>
            </a:r>
            <a:endParaRPr sz="2729" dirty="0">
              <a:latin typeface="Arial MT"/>
              <a:cs typeface="Arial MT"/>
            </a:endParaRPr>
          </a:p>
          <a:p>
            <a:pPr marL="172124" marR="3081" indent="-114364">
              <a:lnSpc>
                <a:spcPct val="114500"/>
              </a:lnSpc>
              <a:spcBef>
                <a:spcPts val="1540"/>
              </a:spcBef>
              <a:buSzPct val="97777"/>
              <a:buChar char="•"/>
              <a:tabLst>
                <a:tab pos="172124" algn="l"/>
                <a:tab pos="232194" algn="l"/>
              </a:tabLst>
            </a:pPr>
            <a:r>
              <a:rPr sz="2729" spc="39" dirty="0">
                <a:latin typeface="Arial MT"/>
                <a:cs typeface="Arial MT"/>
              </a:rPr>
              <a:t>	According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124" dirty="0">
                <a:latin typeface="Arial MT"/>
                <a:cs typeface="Arial MT"/>
              </a:rPr>
              <a:t>to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-36" dirty="0">
                <a:latin typeface="Arial MT"/>
                <a:cs typeface="Arial MT"/>
              </a:rPr>
              <a:t>Mauss,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49" dirty="0">
                <a:latin typeface="Arial MT"/>
                <a:cs typeface="Arial MT"/>
              </a:rPr>
              <a:t>the</a:t>
            </a:r>
            <a:r>
              <a:rPr sz="2729" spc="-12" dirty="0">
                <a:latin typeface="Arial MT"/>
                <a:cs typeface="Arial MT"/>
              </a:rPr>
              <a:t> </a:t>
            </a:r>
            <a:r>
              <a:rPr sz="2729" spc="67" dirty="0">
                <a:latin typeface="Arial MT"/>
                <a:cs typeface="Arial MT"/>
              </a:rPr>
              <a:t>logic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79" dirty="0">
                <a:latin typeface="Arial MT"/>
                <a:cs typeface="Arial MT"/>
              </a:rPr>
              <a:t>of</a:t>
            </a:r>
            <a:r>
              <a:rPr sz="2729" spc="-9" dirty="0">
                <a:latin typeface="Arial MT"/>
                <a:cs typeface="Arial MT"/>
              </a:rPr>
              <a:t> </a:t>
            </a:r>
            <a:r>
              <a:rPr sz="2729" spc="-6" dirty="0">
                <a:latin typeface="Arial MT"/>
                <a:cs typeface="Arial MT"/>
              </a:rPr>
              <a:t>reciprocal </a:t>
            </a:r>
            <a:r>
              <a:rPr sz="2729" dirty="0">
                <a:latin typeface="Arial MT"/>
                <a:cs typeface="Arial MT"/>
              </a:rPr>
              <a:t>exchange</a:t>
            </a:r>
            <a:r>
              <a:rPr sz="2729" spc="-55" dirty="0">
                <a:latin typeface="Arial MT"/>
                <a:cs typeface="Arial MT"/>
              </a:rPr>
              <a:t> </a:t>
            </a:r>
            <a:r>
              <a:rPr sz="2729" b="1" spc="-6" dirty="0">
                <a:solidFill>
                  <a:srgbClr val="0076BA"/>
                </a:solidFill>
                <a:latin typeface="Arial"/>
                <a:cs typeface="Arial"/>
              </a:rPr>
              <a:t>cannot</a:t>
            </a:r>
            <a:r>
              <a:rPr sz="2729" b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spc="45" dirty="0">
                <a:solidFill>
                  <a:srgbClr val="0076BA"/>
                </a:solidFill>
                <a:latin typeface="Arial"/>
                <a:cs typeface="Arial"/>
              </a:rPr>
              <a:t>be</a:t>
            </a:r>
            <a:r>
              <a:rPr sz="2729" b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dirty="0">
                <a:solidFill>
                  <a:srgbClr val="0076BA"/>
                </a:solidFill>
                <a:latin typeface="Arial"/>
                <a:cs typeface="Arial"/>
              </a:rPr>
              <a:t>explained</a:t>
            </a:r>
            <a:r>
              <a:rPr sz="2729" b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spc="-15" dirty="0">
                <a:solidFill>
                  <a:srgbClr val="0076BA"/>
                </a:solidFill>
                <a:latin typeface="Arial"/>
                <a:cs typeface="Arial"/>
              </a:rPr>
              <a:t>by </a:t>
            </a:r>
            <a:r>
              <a:rPr lang="fr-FR" sz="2729" b="1" spc="-15" dirty="0" err="1">
                <a:solidFill>
                  <a:srgbClr val="0076BA"/>
                </a:solidFill>
                <a:latin typeface="Arial"/>
                <a:cs typeface="Arial"/>
              </a:rPr>
              <a:t>atomized</a:t>
            </a:r>
            <a:r>
              <a:rPr lang="fr-FR" sz="2729" b="1" spc="-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lang="fr-FR" sz="2729" b="1" spc="-15" dirty="0" err="1">
                <a:solidFill>
                  <a:srgbClr val="0076BA"/>
                </a:solidFill>
                <a:latin typeface="Arial"/>
                <a:cs typeface="Arial"/>
              </a:rPr>
              <a:t>individuals</a:t>
            </a:r>
            <a:r>
              <a:rPr lang="fr-FR" sz="2729" b="1" spc="-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lang="fr-FR" sz="2729" b="1" spc="-15" dirty="0" err="1">
                <a:solidFill>
                  <a:srgbClr val="0076BA"/>
                </a:solidFill>
                <a:latin typeface="Arial"/>
                <a:cs typeface="Arial"/>
              </a:rPr>
              <a:t>engaging</a:t>
            </a:r>
            <a:r>
              <a:rPr lang="fr-FR" sz="2729" b="1" spc="-15" dirty="0">
                <a:solidFill>
                  <a:srgbClr val="0076BA"/>
                </a:solidFill>
                <a:latin typeface="Arial"/>
                <a:cs typeface="Arial"/>
              </a:rPr>
              <a:t> in </a:t>
            </a:r>
            <a:r>
              <a:rPr sz="2729" b="1" dirty="0">
                <a:solidFill>
                  <a:srgbClr val="0076BA"/>
                </a:solidFill>
                <a:latin typeface="Arial"/>
                <a:cs typeface="Arial"/>
              </a:rPr>
              <a:t>"rational</a:t>
            </a:r>
            <a:r>
              <a:rPr sz="2729" b="1" spc="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729" b="1" spc="-24" dirty="0">
                <a:solidFill>
                  <a:srgbClr val="0076BA"/>
                </a:solidFill>
                <a:latin typeface="Arial"/>
                <a:cs typeface="Arial"/>
              </a:rPr>
              <a:t>calculus"</a:t>
            </a:r>
            <a:r>
              <a:rPr sz="2729" spc="-24" dirty="0">
                <a:latin typeface="Arial MT"/>
                <a:cs typeface="Arial MT"/>
              </a:rPr>
              <a:t>.</a:t>
            </a:r>
            <a:endParaRPr sz="2729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647" y="4517710"/>
            <a:ext cx="7435982" cy="161180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56569" marR="3081" indent="-349253">
              <a:lnSpc>
                <a:spcPct val="114199"/>
              </a:lnSpc>
              <a:spcBef>
                <a:spcPts val="58"/>
              </a:spcBef>
              <a:buSzPct val="123376"/>
              <a:buChar char="•"/>
              <a:tabLst>
                <a:tab pos="356569" algn="l"/>
              </a:tabLst>
            </a:pPr>
            <a:r>
              <a:rPr sz="2335" dirty="0">
                <a:latin typeface="Arial MT"/>
                <a:cs typeface="Arial MT"/>
              </a:rPr>
              <a:t>In</a:t>
            </a:r>
            <a:r>
              <a:rPr sz="2335" spc="-52" dirty="0">
                <a:latin typeface="Arial MT"/>
                <a:cs typeface="Arial MT"/>
              </a:rPr>
              <a:t> </a:t>
            </a:r>
            <a:r>
              <a:rPr sz="2335" spc="42" dirty="0">
                <a:latin typeface="Arial MT"/>
                <a:cs typeface="Arial MT"/>
              </a:rPr>
              <a:t>the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societies</a:t>
            </a:r>
            <a:r>
              <a:rPr sz="2335" spc="-5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he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studies,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spc="-12" dirty="0">
                <a:latin typeface="Arial MT"/>
                <a:cs typeface="Arial MT"/>
              </a:rPr>
              <a:t>exchanges</a:t>
            </a:r>
            <a:r>
              <a:rPr sz="2335" spc="-5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are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spc="55" dirty="0">
                <a:latin typeface="Arial MT"/>
                <a:cs typeface="Arial MT"/>
              </a:rPr>
              <a:t>embedded </a:t>
            </a:r>
            <a:r>
              <a:rPr sz="2335" dirty="0">
                <a:latin typeface="Arial MT"/>
                <a:cs typeface="Arial MT"/>
              </a:rPr>
              <a:t>in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symbols,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rituals,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spc="30" dirty="0">
                <a:latin typeface="Arial MT"/>
                <a:cs typeface="Arial MT"/>
              </a:rPr>
              <a:t>notions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spc="67" dirty="0">
                <a:latin typeface="Arial MT"/>
                <a:cs typeface="Arial MT"/>
              </a:rPr>
              <a:t>of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spc="33" dirty="0">
                <a:latin typeface="Arial MT"/>
                <a:cs typeface="Arial MT"/>
              </a:rPr>
              <a:t>honor</a:t>
            </a:r>
            <a:r>
              <a:rPr sz="2335" spc="-3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and </a:t>
            </a:r>
            <a:r>
              <a:rPr sz="2335" spc="42" dirty="0">
                <a:latin typeface="Arial MT"/>
                <a:cs typeface="Arial MT"/>
              </a:rPr>
              <a:t>pride, </a:t>
            </a:r>
            <a:r>
              <a:rPr sz="2335" dirty="0">
                <a:latin typeface="Arial MT"/>
                <a:cs typeface="Arial MT"/>
              </a:rPr>
              <a:t>religious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beliefs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etc...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that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are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also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"social</a:t>
            </a:r>
            <a:r>
              <a:rPr sz="2335" spc="12" dirty="0">
                <a:latin typeface="Arial MT"/>
                <a:cs typeface="Arial MT"/>
              </a:rPr>
              <a:t> </a:t>
            </a:r>
            <a:r>
              <a:rPr sz="2335" spc="36" dirty="0">
                <a:latin typeface="Arial MT"/>
                <a:cs typeface="Arial MT"/>
              </a:rPr>
              <a:t>facts"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spc="69" dirty="0">
                <a:latin typeface="Arial MT"/>
                <a:cs typeface="Arial MT"/>
              </a:rPr>
              <a:t>-</a:t>
            </a:r>
            <a:r>
              <a:rPr sz="2335" spc="91" dirty="0">
                <a:latin typeface="Arial MT"/>
                <a:cs typeface="Arial MT"/>
              </a:rPr>
              <a:t>&gt; </a:t>
            </a:r>
            <a:r>
              <a:rPr sz="2335" spc="42" dirty="0">
                <a:latin typeface="Arial MT"/>
                <a:cs typeface="Arial MT"/>
              </a:rPr>
              <a:t>the</a:t>
            </a:r>
            <a:r>
              <a:rPr sz="2335" spc="-52" dirty="0">
                <a:latin typeface="Arial MT"/>
                <a:cs typeface="Arial MT"/>
              </a:rPr>
              <a:t> </a:t>
            </a:r>
            <a:r>
              <a:rPr sz="2335" spc="55" dirty="0">
                <a:latin typeface="Arial MT"/>
                <a:cs typeface="Arial MT"/>
              </a:rPr>
              <a:t>Gift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</a:t>
            </a:r>
            <a:r>
              <a:rPr sz="2335" spc="-49" dirty="0">
                <a:latin typeface="Arial MT"/>
                <a:cs typeface="Arial MT"/>
              </a:rPr>
              <a:t> </a:t>
            </a:r>
            <a:r>
              <a:rPr sz="2335" spc="97" dirty="0">
                <a:latin typeface="Arial MT"/>
                <a:cs typeface="Arial MT"/>
              </a:rPr>
              <a:t>"</a:t>
            </a:r>
            <a:r>
              <a:rPr sz="2335" b="1" spc="97" dirty="0">
                <a:latin typeface="Arial"/>
                <a:cs typeface="Arial"/>
              </a:rPr>
              <a:t>total</a:t>
            </a:r>
            <a:r>
              <a:rPr sz="2335" b="1" spc="-9" dirty="0">
                <a:latin typeface="Arial"/>
                <a:cs typeface="Arial"/>
              </a:rPr>
              <a:t> </a:t>
            </a:r>
            <a:r>
              <a:rPr sz="2335" b="1" spc="-67" dirty="0">
                <a:latin typeface="Arial"/>
                <a:cs typeface="Arial"/>
              </a:rPr>
              <a:t>social</a:t>
            </a:r>
            <a:r>
              <a:rPr sz="2335" b="1" spc="-12" dirty="0">
                <a:latin typeface="Arial"/>
                <a:cs typeface="Arial"/>
              </a:rPr>
              <a:t> </a:t>
            </a:r>
            <a:r>
              <a:rPr sz="2335" b="1" spc="61" dirty="0">
                <a:latin typeface="Arial"/>
                <a:cs typeface="Arial"/>
              </a:rPr>
              <a:t>fact</a:t>
            </a:r>
            <a:r>
              <a:rPr sz="2335" spc="61" dirty="0">
                <a:latin typeface="Arial MT"/>
                <a:cs typeface="Arial MT"/>
              </a:rPr>
              <a:t>"</a:t>
            </a:r>
            <a:endParaRPr sz="2335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1467BF75-A6C8-39EC-7865-C808F4969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659954"/>
            <a:ext cx="12191999" cy="1010816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 algn="ctr">
              <a:lnSpc>
                <a:spcPct val="100000"/>
              </a:lnSpc>
              <a:spcBef>
                <a:spcPts val="682"/>
              </a:spcBef>
            </a:pPr>
            <a:r>
              <a:rPr lang="fr-FR" sz="2000" dirty="0"/>
              <a:t>« </a:t>
            </a:r>
            <a:r>
              <a:rPr lang="fr-FR" sz="2000" b="1" dirty="0" err="1"/>
              <a:t>Embededness</a:t>
            </a:r>
            <a:r>
              <a:rPr lang="fr-FR" sz="2000" dirty="0"/>
              <a:t> » (</a:t>
            </a:r>
            <a:r>
              <a:rPr lang="fr-FR" sz="2000" i="1" dirty="0"/>
              <a:t>encastrement</a:t>
            </a:r>
            <a:r>
              <a:rPr lang="fr-FR" sz="2000" dirty="0"/>
              <a:t>) of </a:t>
            </a:r>
            <a:r>
              <a:rPr lang="fr-FR" sz="2000" dirty="0" err="1"/>
              <a:t>economic</a:t>
            </a:r>
            <a:r>
              <a:rPr lang="fr-FR" sz="2000" dirty="0"/>
              <a:t> </a:t>
            </a:r>
            <a:r>
              <a:rPr lang="fr-FR" sz="2000" dirty="0" err="1"/>
              <a:t>activities</a:t>
            </a:r>
            <a:r>
              <a:rPr lang="fr-FR" sz="2000" dirty="0"/>
              <a:t>: the </a:t>
            </a:r>
            <a:r>
              <a:rPr lang="fr-FR" sz="2000" dirty="0" err="1"/>
              <a:t>idea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economic</a:t>
            </a:r>
            <a:r>
              <a:rPr lang="fr-FR" sz="2000" dirty="0"/>
              <a:t> exchange </a:t>
            </a:r>
            <a:r>
              <a:rPr lang="fr-FR" sz="2000" dirty="0" err="1"/>
              <a:t>is</a:t>
            </a:r>
            <a:r>
              <a:rPr lang="fr-FR" sz="2000" dirty="0"/>
              <a:t> not the </a:t>
            </a:r>
            <a:r>
              <a:rPr lang="fr-FR" sz="2000" dirty="0" err="1"/>
              <a:t>product</a:t>
            </a:r>
            <a:r>
              <a:rPr lang="fr-FR" sz="2000" dirty="0"/>
              <a:t> of </a:t>
            </a:r>
            <a:r>
              <a:rPr lang="fr-FR" sz="2000" dirty="0" err="1"/>
              <a:t>decontextualized</a:t>
            </a:r>
            <a:r>
              <a:rPr lang="fr-FR" sz="2000" dirty="0"/>
              <a:t>, </a:t>
            </a:r>
            <a:r>
              <a:rPr lang="fr-FR" sz="2000" dirty="0" err="1"/>
              <a:t>atomized</a:t>
            </a:r>
            <a:r>
              <a:rPr lang="fr-FR" sz="2000" dirty="0"/>
              <a:t> </a:t>
            </a:r>
            <a:r>
              <a:rPr lang="fr-FR" sz="2000" dirty="0" err="1"/>
              <a:t>individuals</a:t>
            </a:r>
            <a:r>
              <a:rPr lang="fr-FR" sz="2000" dirty="0"/>
              <a:t> </a:t>
            </a:r>
            <a:r>
              <a:rPr lang="fr-FR" sz="2000" dirty="0" err="1"/>
              <a:t>pursuing</a:t>
            </a:r>
            <a:r>
              <a:rPr lang="fr-FR" sz="2000" dirty="0"/>
              <a:t> self-</a:t>
            </a:r>
            <a:r>
              <a:rPr lang="fr-FR" sz="2000" dirty="0" err="1"/>
              <a:t>interest</a:t>
            </a:r>
            <a:r>
              <a:rPr lang="fr-FR" sz="2000" dirty="0"/>
              <a:t>, but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itself</a:t>
            </a:r>
            <a:r>
              <a:rPr lang="fr-FR" sz="2000" dirty="0"/>
              <a:t> </a:t>
            </a:r>
            <a:r>
              <a:rPr lang="fr-FR" sz="2000" dirty="0" err="1"/>
              <a:t>embedded</a:t>
            </a:r>
            <a:r>
              <a:rPr lang="fr-FR" sz="2000" dirty="0"/>
              <a:t> </a:t>
            </a:r>
            <a:r>
              <a:rPr lang="fr-FR" sz="2000" dirty="0" err="1"/>
              <a:t>into</a:t>
            </a:r>
            <a:r>
              <a:rPr lang="fr-FR" sz="2000" dirty="0"/>
              <a:t> </a:t>
            </a:r>
            <a:r>
              <a:rPr lang="fr-FR" sz="2000" dirty="0" err="1"/>
              <a:t>larger</a:t>
            </a:r>
            <a:r>
              <a:rPr lang="fr-FR" sz="2000" dirty="0"/>
              <a:t> social structures (power relations, </a:t>
            </a:r>
            <a:r>
              <a:rPr lang="fr-FR" sz="2000" dirty="0" err="1"/>
              <a:t>symbols</a:t>
            </a:r>
            <a:r>
              <a:rPr lang="fr-FR" sz="2000" dirty="0"/>
              <a:t>, </a:t>
            </a:r>
            <a:r>
              <a:rPr lang="fr-FR" sz="2000" dirty="0" err="1"/>
              <a:t>religious</a:t>
            </a:r>
            <a:r>
              <a:rPr lang="fr-FR" sz="2000" dirty="0"/>
              <a:t> </a:t>
            </a:r>
            <a:r>
              <a:rPr lang="fr-FR" sz="2000" dirty="0" err="1"/>
              <a:t>beliefs</a:t>
            </a:r>
            <a:r>
              <a:rPr lang="fr-FR" sz="2000" dirty="0"/>
              <a:t>…)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18910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ps From the Potlatch, Where Giving Knows No Slump - The New York Times">
            <a:extLst>
              <a:ext uri="{FF2B5EF4-FFF2-40B4-BE49-F238E27FC236}">
                <a16:creationId xmlns:a16="http://schemas.microsoft.com/office/drawing/2014/main" id="{DF811394-F2EB-3092-4295-CD3ADC6CD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52" y="3239344"/>
            <a:ext cx="4348085" cy="2036353"/>
          </a:xfrm>
          <a:prstGeom prst="rect">
            <a:avLst/>
          </a:prstGeom>
        </p:spPr>
      </p:pic>
      <p:pic>
        <p:nvPicPr>
          <p:cNvPr id="5" name="Picture 4" descr="Carte schématique de la côte nord-ouest du Pacifique : un halo coloré suit le littoral et les îles, de Cordova en Alaska à Cap Mendocino en Californie du Nord, indiquant l'aire où le potlatch est attesté historiquement avant le contact européen soutenu et la colonisation intensive.">
            <a:extLst>
              <a:ext uri="{FF2B5EF4-FFF2-40B4-BE49-F238E27FC236}">
                <a16:creationId xmlns:a16="http://schemas.microsoft.com/office/drawing/2014/main" id="{E2328440-DB32-432E-9EF2-9EBCF6657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369" y="593427"/>
            <a:ext cx="2381250" cy="2400300"/>
          </a:xfrm>
          <a:prstGeom prst="rect">
            <a:avLst/>
          </a:prstGeom>
        </p:spPr>
      </p:pic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D8546D76-B7B3-B4CB-BB81-F17C4C384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05" y="5546994"/>
            <a:ext cx="4701178" cy="703039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 algn="ctr">
              <a:lnSpc>
                <a:spcPct val="100000"/>
              </a:lnSpc>
              <a:spcBef>
                <a:spcPts val="682"/>
              </a:spcBef>
            </a:pPr>
            <a:r>
              <a:rPr lang="fr-FR" sz="2000" dirty="0"/>
              <a:t>Potlatch of </a:t>
            </a:r>
            <a:r>
              <a:rPr lang="fr-FR" sz="2000" dirty="0" err="1"/>
              <a:t>Northwestern</a:t>
            </a:r>
            <a:r>
              <a:rPr lang="fr-FR" sz="2000" dirty="0"/>
              <a:t> America: an « </a:t>
            </a:r>
            <a:r>
              <a:rPr lang="fr-FR" sz="2000" dirty="0" err="1"/>
              <a:t>agonistic</a:t>
            </a:r>
            <a:r>
              <a:rPr lang="fr-FR" sz="2000" dirty="0"/>
              <a:t> » social exchange</a:t>
            </a:r>
            <a:endParaRPr sz="2000" dirty="0"/>
          </a:p>
        </p:txBody>
      </p:sp>
      <p:pic>
        <p:nvPicPr>
          <p:cNvPr id="7" name="Picture 6" descr="Kula | Traditional, Pacific Islands, Ceremonial | Britannica">
            <a:extLst>
              <a:ext uri="{FF2B5EF4-FFF2-40B4-BE49-F238E27FC236}">
                <a16:creationId xmlns:a16="http://schemas.microsoft.com/office/drawing/2014/main" id="{94C1549C-E88D-2768-AA8D-5343F108E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329" y="2777099"/>
            <a:ext cx="4057870" cy="2670586"/>
          </a:xfrm>
          <a:prstGeom prst="rect">
            <a:avLst/>
          </a:prstGeom>
        </p:spPr>
      </p:pic>
      <p:pic>
        <p:nvPicPr>
          <p:cNvPr id="8" name="Picture 7" descr="Kula | Traditional, Pacific Islands, Ceremonial | Britannica">
            <a:extLst>
              <a:ext uri="{FF2B5EF4-FFF2-40B4-BE49-F238E27FC236}">
                <a16:creationId xmlns:a16="http://schemas.microsoft.com/office/drawing/2014/main" id="{08A0451F-2096-448E-BBF2-691DB4A2A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376" y="361832"/>
            <a:ext cx="2541776" cy="2096965"/>
          </a:xfrm>
          <a:prstGeom prst="rect">
            <a:avLst/>
          </a:prstGeom>
        </p:spPr>
      </p:pic>
      <p:sp>
        <p:nvSpPr>
          <p:cNvPr id="9" name="object 2" descr="$PPTXTitle">
            <a:extLst>
              <a:ext uri="{FF2B5EF4-FFF2-40B4-BE49-F238E27FC236}">
                <a16:creationId xmlns:a16="http://schemas.microsoft.com/office/drawing/2014/main" id="{149EA91B-6BD4-E78C-C9C5-888FDD59FC94}"/>
              </a:ext>
            </a:extLst>
          </p:cNvPr>
          <p:cNvSpPr txBox="1">
            <a:spLocks/>
          </p:cNvSpPr>
          <p:nvPr/>
        </p:nvSpPr>
        <p:spPr>
          <a:xfrm>
            <a:off x="6812675" y="5765987"/>
            <a:ext cx="4701178" cy="395263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marR="3081" algn="ctr">
              <a:lnSpc>
                <a:spcPct val="100000"/>
              </a:lnSpc>
              <a:spcBef>
                <a:spcPts val="682"/>
              </a:spcBef>
            </a:pPr>
            <a:r>
              <a:rPr lang="fr-FR" sz="2000" dirty="0"/>
              <a:t>Kula (Malinowski, 1922)</a:t>
            </a:r>
          </a:p>
        </p:txBody>
      </p:sp>
    </p:spTree>
    <p:extLst>
      <p:ext uri="{BB962C8B-B14F-4D97-AF65-F5344CB8AC3E}">
        <p14:creationId xmlns:p14="http://schemas.microsoft.com/office/powerpoint/2010/main" val="25006669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rgonauts of the Western Pacific: An Account of Native Enterprise and ...">
            <a:extLst>
              <a:ext uri="{FF2B5EF4-FFF2-40B4-BE49-F238E27FC236}">
                <a16:creationId xmlns:a16="http://schemas.microsoft.com/office/drawing/2014/main" id="{05899817-0A49-C09A-4B04-4812BB5B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036" y="855366"/>
            <a:ext cx="3431512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151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2B6171-C9C4-3452-4D41-8290150B7838}"/>
              </a:ext>
            </a:extLst>
          </p:cNvPr>
          <p:cNvSpPr txBox="1"/>
          <p:nvPr/>
        </p:nvSpPr>
        <p:spPr>
          <a:xfrm>
            <a:off x="0" y="2277296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venir Next LT Pro" panose="020B0504020202020204" pitchFamily="34" charset="0"/>
              </a:rPr>
              <a:t>Selon</a:t>
            </a:r>
            <a:r>
              <a:rPr lang="en-US" sz="2400" dirty="0">
                <a:latin typeface="Avenir Next LT Pro" panose="020B0504020202020204" pitchFamily="34" charset="0"/>
              </a:rPr>
              <a:t> Mauss, </a:t>
            </a:r>
            <a:r>
              <a:rPr lang="en-US" sz="2400" dirty="0" err="1">
                <a:latin typeface="Avenir Next LT Pro" panose="020B0504020202020204" pitchFamily="34" charset="0"/>
              </a:rPr>
              <a:t>l’échange</a:t>
            </a:r>
            <a:r>
              <a:rPr lang="en-US" sz="2400" dirty="0">
                <a:latin typeface="Avenir Next LT Pro" panose="020B0504020202020204" pitchFamily="34" charset="0"/>
              </a:rPr>
              <a:t> social </a:t>
            </a:r>
            <a:r>
              <a:rPr lang="en-US" sz="2400" dirty="0" err="1">
                <a:latin typeface="Avenir Next LT Pro" panose="020B0504020202020204" pitchFamily="34" charset="0"/>
              </a:rPr>
              <a:t>exprime</a:t>
            </a:r>
            <a:r>
              <a:rPr lang="en-US" sz="2400" dirty="0">
                <a:latin typeface="Avenir Next LT Pro" panose="020B0504020202020204" pitchFamily="34" charset="0"/>
              </a:rPr>
              <a:t> “</a:t>
            </a:r>
            <a:r>
              <a:rPr lang="en-US" sz="2400" i="1" dirty="0">
                <a:latin typeface="Avenir Next LT Pro" panose="020B0504020202020204" pitchFamily="34" charset="0"/>
              </a:rPr>
              <a:t>à la </a:t>
            </a:r>
            <a:r>
              <a:rPr lang="en-US" sz="2400" i="1" dirty="0" err="1">
                <a:latin typeface="Avenir Next LT Pro" panose="020B0504020202020204" pitchFamily="34" charset="0"/>
              </a:rPr>
              <a:t>fois</a:t>
            </a:r>
            <a:r>
              <a:rPr lang="en-US" sz="2400" i="1" dirty="0">
                <a:latin typeface="Avenir Next LT Pro" panose="020B0504020202020204" pitchFamily="34" charset="0"/>
              </a:rPr>
              <a:t> et d'un coup </a:t>
            </a:r>
            <a:r>
              <a:rPr lang="en-US" sz="2400" i="1" dirty="0" err="1">
                <a:latin typeface="Avenir Next LT Pro" panose="020B0504020202020204" pitchFamily="34" charset="0"/>
              </a:rPr>
              <a:t>toutes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sortes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d'institutions</a:t>
            </a:r>
            <a:r>
              <a:rPr lang="en-US" sz="2400" i="1" dirty="0">
                <a:latin typeface="Avenir Next LT Pro" panose="020B0504020202020204" pitchFamily="34" charset="0"/>
              </a:rPr>
              <a:t> : </a:t>
            </a:r>
            <a:r>
              <a:rPr lang="en-US" sz="2400" b="1" i="1" dirty="0">
                <a:latin typeface="Avenir Next LT Pro" panose="020B0504020202020204" pitchFamily="34" charset="0"/>
              </a:rPr>
              <a:t>religieuses, </a:t>
            </a:r>
            <a:r>
              <a:rPr lang="en-US" sz="2400" b="1" i="1" dirty="0" err="1">
                <a:latin typeface="Avenir Next LT Pro" panose="020B0504020202020204" pitchFamily="34" charset="0"/>
              </a:rPr>
              <a:t>juridiques</a:t>
            </a:r>
            <a:r>
              <a:rPr lang="en-US" sz="2400" b="1" i="1" dirty="0">
                <a:latin typeface="Avenir Next LT Pro" panose="020B0504020202020204" pitchFamily="34" charset="0"/>
              </a:rPr>
              <a:t> et morales </a:t>
            </a:r>
            <a:r>
              <a:rPr lang="en-US" sz="2400" i="1" dirty="0">
                <a:latin typeface="Avenir Next LT Pro" panose="020B0504020202020204" pitchFamily="34" charset="0"/>
              </a:rPr>
              <a:t>- et </a:t>
            </a:r>
            <a:r>
              <a:rPr lang="en-US" sz="2400" i="1" dirty="0" err="1">
                <a:latin typeface="Avenir Next LT Pro" panose="020B0504020202020204" pitchFamily="34" charset="0"/>
              </a:rPr>
              <a:t>celles</a:t>
            </a:r>
            <a:r>
              <a:rPr lang="en-US" sz="2400" i="1" dirty="0">
                <a:latin typeface="Avenir Next LT Pro" panose="020B0504020202020204" pitchFamily="34" charset="0"/>
              </a:rPr>
              <a:t>-ci </a:t>
            </a:r>
            <a:r>
              <a:rPr lang="en-US" sz="2400" b="1" i="1" dirty="0">
                <a:latin typeface="Avenir Next LT Pro" panose="020B0504020202020204" pitchFamily="34" charset="0"/>
              </a:rPr>
              <a:t>politiques et </a:t>
            </a:r>
            <a:r>
              <a:rPr lang="en-US" sz="2400" b="1" i="1" dirty="0" err="1">
                <a:latin typeface="Avenir Next LT Pro" panose="020B0504020202020204" pitchFamily="34" charset="0"/>
              </a:rPr>
              <a:t>familiales</a:t>
            </a:r>
            <a:r>
              <a:rPr lang="en-US" sz="2400" b="1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en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même</a:t>
            </a:r>
            <a:r>
              <a:rPr lang="en-US" sz="2400" i="1" dirty="0">
                <a:latin typeface="Avenir Next LT Pro" panose="020B0504020202020204" pitchFamily="34" charset="0"/>
              </a:rPr>
              <a:t> temps ; </a:t>
            </a:r>
            <a:r>
              <a:rPr lang="en-US" sz="2400" i="1" dirty="0" err="1">
                <a:latin typeface="Avenir Next LT Pro" panose="020B0504020202020204" pitchFamily="34" charset="0"/>
              </a:rPr>
              <a:t>économiques</a:t>
            </a:r>
            <a:r>
              <a:rPr lang="en-US" sz="2400" i="1" dirty="0">
                <a:latin typeface="Avenir Next LT Pro" panose="020B0504020202020204" pitchFamily="34" charset="0"/>
              </a:rPr>
              <a:t> - et </a:t>
            </a:r>
            <a:r>
              <a:rPr lang="en-US" sz="2400" i="1" dirty="0" err="1">
                <a:latin typeface="Avenir Next LT Pro" panose="020B0504020202020204" pitchFamily="34" charset="0"/>
              </a:rPr>
              <a:t>celles</a:t>
            </a:r>
            <a:r>
              <a:rPr lang="en-US" sz="2400" i="1" dirty="0">
                <a:latin typeface="Avenir Next LT Pro" panose="020B0504020202020204" pitchFamily="34" charset="0"/>
              </a:rPr>
              <a:t>-ci </a:t>
            </a:r>
            <a:r>
              <a:rPr lang="en-US" sz="2400" i="1" dirty="0" err="1">
                <a:latin typeface="Avenir Next LT Pro" panose="020B0504020202020204" pitchFamily="34" charset="0"/>
              </a:rPr>
              <a:t>supposent</a:t>
            </a:r>
            <a:r>
              <a:rPr lang="en-US" sz="2400" i="1" dirty="0">
                <a:latin typeface="Avenir Next LT Pro" panose="020B0504020202020204" pitchFamily="34" charset="0"/>
              </a:rPr>
              <a:t> des </a:t>
            </a:r>
            <a:r>
              <a:rPr lang="en-US" sz="2400" i="1" dirty="0" err="1">
                <a:latin typeface="Avenir Next LT Pro" panose="020B0504020202020204" pitchFamily="34" charset="0"/>
              </a:rPr>
              <a:t>formes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particulières</a:t>
            </a:r>
            <a:r>
              <a:rPr lang="en-US" sz="2400" i="1" dirty="0">
                <a:latin typeface="Avenir Next LT Pro" panose="020B0504020202020204" pitchFamily="34" charset="0"/>
              </a:rPr>
              <a:t> de la production et de la </a:t>
            </a:r>
            <a:r>
              <a:rPr lang="en-US" sz="2400" i="1" dirty="0" err="1">
                <a:latin typeface="Avenir Next LT Pro" panose="020B0504020202020204" pitchFamily="34" charset="0"/>
              </a:rPr>
              <a:t>consommation</a:t>
            </a:r>
            <a:r>
              <a:rPr lang="en-US" sz="2400" i="1" dirty="0">
                <a:latin typeface="Avenir Next LT Pro" panose="020B0504020202020204" pitchFamily="34" charset="0"/>
              </a:rPr>
              <a:t>, </a:t>
            </a:r>
            <a:r>
              <a:rPr lang="en-US" sz="2400" i="1" dirty="0" err="1">
                <a:latin typeface="Avenir Next LT Pro" panose="020B0504020202020204" pitchFamily="34" charset="0"/>
              </a:rPr>
              <a:t>ou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plutôt</a:t>
            </a:r>
            <a:r>
              <a:rPr lang="en-US" sz="2400" i="1" dirty="0">
                <a:latin typeface="Avenir Next LT Pro" panose="020B0504020202020204" pitchFamily="34" charset="0"/>
              </a:rPr>
              <a:t> de la prestation et de la distribution ; sans </a:t>
            </a:r>
            <a:r>
              <a:rPr lang="en-US" sz="2400" i="1" dirty="0" err="1">
                <a:latin typeface="Avenir Next LT Pro" panose="020B0504020202020204" pitchFamily="34" charset="0"/>
              </a:rPr>
              <a:t>compter</a:t>
            </a:r>
            <a:r>
              <a:rPr lang="en-US" sz="2400" i="1" dirty="0">
                <a:latin typeface="Avenir Next LT Pro" panose="020B0504020202020204" pitchFamily="34" charset="0"/>
              </a:rPr>
              <a:t> les </a:t>
            </a:r>
            <a:r>
              <a:rPr lang="en-US" sz="2400" i="1" dirty="0" err="1">
                <a:latin typeface="Avenir Next LT Pro" panose="020B0504020202020204" pitchFamily="34" charset="0"/>
              </a:rPr>
              <a:t>phénomènes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b="1" i="1" dirty="0" err="1">
                <a:latin typeface="Avenir Next LT Pro" panose="020B0504020202020204" pitchFamily="34" charset="0"/>
              </a:rPr>
              <a:t>esthétiques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auxquels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aboutissent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ces</a:t>
            </a:r>
            <a:r>
              <a:rPr lang="en-US" sz="2400" i="1" dirty="0">
                <a:latin typeface="Avenir Next LT Pro" panose="020B0504020202020204" pitchFamily="34" charset="0"/>
              </a:rPr>
              <a:t> faits et les </a:t>
            </a:r>
            <a:r>
              <a:rPr lang="en-US" sz="2400" i="1" dirty="0" err="1">
                <a:latin typeface="Avenir Next LT Pro" panose="020B0504020202020204" pitchFamily="34" charset="0"/>
              </a:rPr>
              <a:t>phénomènes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morphologiques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que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manifestent</a:t>
            </a:r>
            <a:r>
              <a:rPr lang="en-US" sz="2400" i="1" dirty="0">
                <a:latin typeface="Avenir Next LT Pro" panose="020B0504020202020204" pitchFamily="34" charset="0"/>
              </a:rPr>
              <a:t> </a:t>
            </a:r>
            <a:r>
              <a:rPr lang="en-US" sz="2400" i="1" dirty="0" err="1">
                <a:latin typeface="Avenir Next LT Pro" panose="020B0504020202020204" pitchFamily="34" charset="0"/>
              </a:rPr>
              <a:t>ces</a:t>
            </a:r>
            <a:r>
              <a:rPr lang="en-US" sz="2400" i="1" dirty="0">
                <a:latin typeface="Avenir Next LT Pro" panose="020B0504020202020204" pitchFamily="34" charset="0"/>
              </a:rPr>
              <a:t> institutions</a:t>
            </a:r>
            <a:r>
              <a:rPr lang="en-US" sz="2400" dirty="0">
                <a:latin typeface="Avenir Next LT Pro" panose="020B05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6644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69" y="93934"/>
            <a:ext cx="10696324" cy="1603286"/>
          </a:xfrm>
          <a:prstGeom prst="rect">
            <a:avLst/>
          </a:prstGeom>
        </p:spPr>
        <p:txBody>
          <a:bodyPr vert="horz" wrap="square" lIns="0" tIns="86640" rIns="0" bIns="0" rtlCol="0" anchor="ctr">
            <a:spAutoFit/>
          </a:bodyPr>
          <a:lstStyle/>
          <a:p>
            <a:pPr marL="7701" marR="3081">
              <a:lnSpc>
                <a:spcPts val="5918"/>
              </a:lnSpc>
              <a:spcBef>
                <a:spcPts val="682"/>
              </a:spcBef>
            </a:pPr>
            <a:r>
              <a:rPr sz="5397" dirty="0"/>
              <a:t>A</a:t>
            </a:r>
            <a:r>
              <a:rPr sz="5397" spc="115" dirty="0"/>
              <a:t> </a:t>
            </a:r>
            <a:r>
              <a:rPr sz="5397" spc="-36" dirty="0"/>
              <a:t>cooperation-</a:t>
            </a:r>
            <a:r>
              <a:rPr sz="5397" spc="33" dirty="0"/>
              <a:t>related</a:t>
            </a:r>
            <a:r>
              <a:rPr sz="5397" spc="115" dirty="0"/>
              <a:t> </a:t>
            </a:r>
            <a:r>
              <a:rPr sz="5397" spc="-230" dirty="0"/>
              <a:t>social</a:t>
            </a:r>
            <a:r>
              <a:rPr sz="5397" spc="118" dirty="0"/>
              <a:t> </a:t>
            </a:r>
            <a:r>
              <a:rPr sz="5397" spc="-36" dirty="0"/>
              <a:t>fact: </a:t>
            </a:r>
            <a:r>
              <a:rPr sz="5397" spc="55" dirty="0"/>
              <a:t>the</a:t>
            </a:r>
            <a:r>
              <a:rPr sz="5397" spc="45" dirty="0"/>
              <a:t> </a:t>
            </a:r>
            <a:r>
              <a:rPr sz="5397" spc="67" dirty="0"/>
              <a:t>Gift</a:t>
            </a:r>
            <a:r>
              <a:rPr sz="5397" spc="45" dirty="0"/>
              <a:t> </a:t>
            </a:r>
            <a:r>
              <a:rPr sz="5397" spc="-170" dirty="0"/>
              <a:t>in</a:t>
            </a:r>
            <a:r>
              <a:rPr sz="5397" spc="45" dirty="0"/>
              <a:t> </a:t>
            </a:r>
            <a:r>
              <a:rPr sz="5397" dirty="0"/>
              <a:t>primitive</a:t>
            </a:r>
            <a:r>
              <a:rPr sz="5397" spc="45" dirty="0"/>
              <a:t> </a:t>
            </a:r>
            <a:r>
              <a:rPr sz="5397" spc="-170" dirty="0"/>
              <a:t>societies</a:t>
            </a:r>
            <a:endParaRPr sz="5397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645" y="1861287"/>
            <a:ext cx="2159108" cy="2794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89491" y="4671908"/>
            <a:ext cx="2419746" cy="134031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-385" algn="ctr">
              <a:lnSpc>
                <a:spcPct val="113799"/>
              </a:lnSpc>
              <a:spcBef>
                <a:spcPts val="58"/>
              </a:spcBef>
            </a:pPr>
            <a:r>
              <a:rPr sz="1940" b="1" dirty="0">
                <a:latin typeface="Arial"/>
                <a:cs typeface="Arial"/>
              </a:rPr>
              <a:t>Marcel</a:t>
            </a:r>
            <a:r>
              <a:rPr sz="1940" b="1" spc="3" dirty="0">
                <a:latin typeface="Arial"/>
                <a:cs typeface="Arial"/>
              </a:rPr>
              <a:t> </a:t>
            </a:r>
            <a:r>
              <a:rPr sz="1940" b="1" spc="-12" dirty="0">
                <a:latin typeface="Arial"/>
                <a:cs typeface="Arial"/>
              </a:rPr>
              <a:t>Mauss </a:t>
            </a:r>
            <a:r>
              <a:rPr sz="1940" spc="-33" dirty="0">
                <a:latin typeface="Arial MT"/>
                <a:cs typeface="Arial MT"/>
              </a:rPr>
              <a:t>(French</a:t>
            </a:r>
            <a:r>
              <a:rPr sz="1940" spc="-94" dirty="0">
                <a:latin typeface="Arial MT"/>
                <a:cs typeface="Arial MT"/>
              </a:rPr>
              <a:t> </a:t>
            </a:r>
            <a:r>
              <a:rPr sz="1940" spc="-6" dirty="0">
                <a:latin typeface="Arial MT"/>
                <a:cs typeface="Arial MT"/>
              </a:rPr>
              <a:t>‘Durkheimian’ </a:t>
            </a:r>
            <a:r>
              <a:rPr sz="1940" spc="24" dirty="0">
                <a:latin typeface="Arial MT"/>
                <a:cs typeface="Arial MT"/>
              </a:rPr>
              <a:t>sociologist/ </a:t>
            </a:r>
            <a:r>
              <a:rPr sz="1940" spc="-6" dirty="0">
                <a:latin typeface="Arial MT"/>
                <a:cs typeface="Arial MT"/>
              </a:rPr>
              <a:t>anthropologist)</a:t>
            </a:r>
            <a:endParaRPr sz="194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652" y="3039719"/>
            <a:ext cx="8246927" cy="854098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indent="61995">
              <a:lnSpc>
                <a:spcPct val="114199"/>
              </a:lnSpc>
              <a:spcBef>
                <a:spcPts val="61"/>
              </a:spcBef>
            </a:pPr>
            <a:r>
              <a:rPr sz="2517" dirty="0">
                <a:latin typeface="Arial MT"/>
                <a:cs typeface="Arial MT"/>
              </a:rPr>
              <a:t>But</a:t>
            </a:r>
            <a:r>
              <a:rPr sz="2517" spc="-61" dirty="0">
                <a:latin typeface="Arial MT"/>
                <a:cs typeface="Arial MT"/>
              </a:rPr>
              <a:t> </a:t>
            </a:r>
            <a:r>
              <a:rPr sz="2517" spc="42" dirty="0">
                <a:latin typeface="Arial MT"/>
                <a:cs typeface="Arial MT"/>
              </a:rPr>
              <a:t>it's</a:t>
            </a:r>
            <a:r>
              <a:rPr sz="2517" spc="-61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unclear</a:t>
            </a:r>
            <a:r>
              <a:rPr sz="2517" spc="-58" dirty="0">
                <a:latin typeface="Arial MT"/>
                <a:cs typeface="Arial MT"/>
              </a:rPr>
              <a:t> </a:t>
            </a:r>
            <a:r>
              <a:rPr sz="2517" b="1" dirty="0">
                <a:latin typeface="Arial"/>
                <a:cs typeface="Arial"/>
              </a:rPr>
              <a:t>WHY</a:t>
            </a:r>
            <a:r>
              <a:rPr sz="2517" b="1" spc="-61" dirty="0">
                <a:latin typeface="Arial"/>
                <a:cs typeface="Arial"/>
              </a:rPr>
              <a:t> </a:t>
            </a:r>
            <a:r>
              <a:rPr sz="2517" dirty="0">
                <a:latin typeface="Arial MT"/>
                <a:cs typeface="Arial MT"/>
              </a:rPr>
              <a:t>reciprocal</a:t>
            </a:r>
            <a:r>
              <a:rPr sz="2517" spc="-58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exchange</a:t>
            </a:r>
            <a:r>
              <a:rPr sz="2517" spc="-61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is</a:t>
            </a:r>
            <a:r>
              <a:rPr sz="2517" spc="-61" dirty="0">
                <a:latin typeface="Arial MT"/>
                <a:cs typeface="Arial MT"/>
              </a:rPr>
              <a:t> </a:t>
            </a:r>
            <a:r>
              <a:rPr sz="2517" spc="-33" dirty="0">
                <a:latin typeface="Arial MT"/>
                <a:cs typeface="Arial MT"/>
              </a:rPr>
              <a:t>such</a:t>
            </a:r>
            <a:r>
              <a:rPr sz="2517" spc="-58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a</a:t>
            </a:r>
            <a:r>
              <a:rPr sz="2517" spc="-61" dirty="0">
                <a:latin typeface="Arial MT"/>
                <a:cs typeface="Arial MT"/>
              </a:rPr>
              <a:t> </a:t>
            </a:r>
            <a:r>
              <a:rPr sz="2517" spc="-6" dirty="0">
                <a:latin typeface="Arial MT"/>
                <a:cs typeface="Arial MT"/>
              </a:rPr>
              <a:t>major social</a:t>
            </a:r>
            <a:r>
              <a:rPr sz="2517" spc="-69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norms,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and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why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spc="88" dirty="0">
                <a:latin typeface="Arial MT"/>
                <a:cs typeface="Arial MT"/>
              </a:rPr>
              <a:t>it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is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spc="49" dirty="0">
                <a:latin typeface="Arial MT"/>
                <a:cs typeface="Arial MT"/>
              </a:rPr>
              <a:t>found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spc="-61" dirty="0">
                <a:latin typeface="Arial MT"/>
                <a:cs typeface="Arial MT"/>
              </a:rPr>
              <a:t>across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so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dirty="0">
                <a:latin typeface="Arial MT"/>
                <a:cs typeface="Arial MT"/>
              </a:rPr>
              <a:t>many</a:t>
            </a:r>
            <a:r>
              <a:rPr sz="2517" spc="-67" dirty="0">
                <a:latin typeface="Arial MT"/>
                <a:cs typeface="Arial MT"/>
              </a:rPr>
              <a:t> </a:t>
            </a:r>
            <a:r>
              <a:rPr sz="2517" spc="-6" dirty="0">
                <a:latin typeface="Arial MT"/>
                <a:cs typeface="Arial MT"/>
              </a:rPr>
              <a:t>societies</a:t>
            </a:r>
            <a:endParaRPr sz="251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70" y="86032"/>
            <a:ext cx="11343232" cy="1282057"/>
          </a:xfrm>
          <a:prstGeom prst="rect">
            <a:avLst/>
          </a:prstGeom>
        </p:spPr>
        <p:txBody>
          <a:bodyPr vert="horz" wrap="square" lIns="0" tIns="75858" rIns="0" bIns="0" rtlCol="0" anchor="ctr">
            <a:spAutoFit/>
          </a:bodyPr>
          <a:lstStyle/>
          <a:p>
            <a:pPr marL="7701" marR="3081">
              <a:lnSpc>
                <a:spcPts val="4681"/>
              </a:lnSpc>
              <a:spcBef>
                <a:spcPts val="597"/>
              </a:spcBef>
            </a:pPr>
            <a:r>
              <a:rPr sz="4305" spc="-21" dirty="0"/>
              <a:t>(i)</a:t>
            </a:r>
            <a:r>
              <a:rPr sz="4305" spc="-179" dirty="0"/>
              <a:t> </a:t>
            </a:r>
            <a:r>
              <a:rPr sz="4305" spc="-85" dirty="0"/>
              <a:t>Reciprocity</a:t>
            </a:r>
            <a:r>
              <a:rPr sz="4305" spc="-94" dirty="0"/>
              <a:t> </a:t>
            </a:r>
            <a:r>
              <a:rPr sz="4305" spc="-288" dirty="0"/>
              <a:t>is</a:t>
            </a:r>
            <a:r>
              <a:rPr sz="4305" spc="-12" dirty="0"/>
              <a:t> </a:t>
            </a:r>
            <a:r>
              <a:rPr sz="4305" spc="42" dirty="0"/>
              <a:t>the</a:t>
            </a:r>
            <a:r>
              <a:rPr sz="4305" spc="-97" dirty="0"/>
              <a:t> </a:t>
            </a:r>
            <a:r>
              <a:rPr sz="4305" spc="-185" dirty="0"/>
              <a:t>social</a:t>
            </a:r>
            <a:r>
              <a:rPr sz="4305" spc="-94" dirty="0"/>
              <a:t> </a:t>
            </a:r>
            <a:r>
              <a:rPr sz="4305" dirty="0"/>
              <a:t>norm</a:t>
            </a:r>
            <a:r>
              <a:rPr sz="4305" spc="-94" dirty="0"/>
              <a:t> </a:t>
            </a:r>
            <a:r>
              <a:rPr sz="4305" dirty="0"/>
              <a:t>in</a:t>
            </a:r>
            <a:r>
              <a:rPr sz="4305" spc="-94" dirty="0"/>
              <a:t> </a:t>
            </a:r>
            <a:r>
              <a:rPr sz="4305" i="1" dirty="0">
                <a:latin typeface="Arial"/>
                <a:cs typeface="Arial"/>
              </a:rPr>
              <a:t>all</a:t>
            </a:r>
            <a:r>
              <a:rPr sz="4305" i="1" spc="-97" dirty="0">
                <a:latin typeface="Arial"/>
                <a:cs typeface="Arial"/>
              </a:rPr>
              <a:t> </a:t>
            </a:r>
            <a:r>
              <a:rPr sz="4305" spc="-79" dirty="0"/>
              <a:t>human </a:t>
            </a:r>
            <a:r>
              <a:rPr sz="4305" spc="-61" dirty="0"/>
              <a:t>societies</a:t>
            </a:r>
            <a:endParaRPr sz="43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9599" y="5926409"/>
            <a:ext cx="3273049" cy="617509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L="7701" marR="3081" indent="109743" algn="r">
              <a:lnSpc>
                <a:spcPts val="1552"/>
              </a:lnSpc>
              <a:spcBef>
                <a:spcPts val="118"/>
              </a:spcBef>
            </a:pP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Curry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et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al.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(2019).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Is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it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good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6" dirty="0">
                <a:solidFill>
                  <a:srgbClr val="222222"/>
                </a:solidFill>
                <a:latin typeface="Arial MT"/>
                <a:cs typeface="Arial MT"/>
              </a:rPr>
              <a:t>cooperate? </a:t>
            </a:r>
            <a:r>
              <a:rPr sz="1304" spc="-18" dirty="0">
                <a:solidFill>
                  <a:srgbClr val="222222"/>
                </a:solidFill>
                <a:latin typeface="Arial MT"/>
                <a:cs typeface="Arial MT"/>
              </a:rPr>
              <a:t>Testing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theory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of</a:t>
            </a:r>
            <a:r>
              <a:rPr sz="1304" spc="-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12" dirty="0">
                <a:solidFill>
                  <a:srgbClr val="222222"/>
                </a:solidFill>
                <a:latin typeface="Arial MT"/>
                <a:cs typeface="Arial MT"/>
              </a:rPr>
              <a:t>morality-as-</a:t>
            </a:r>
            <a:r>
              <a:rPr sz="1304" spc="-6" dirty="0">
                <a:solidFill>
                  <a:srgbClr val="222222"/>
                </a:solidFill>
                <a:latin typeface="Arial MT"/>
                <a:cs typeface="Arial MT"/>
              </a:rPr>
              <a:t>cooperation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in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60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societies.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Current</a:t>
            </a:r>
            <a:r>
              <a:rPr sz="1304" i="1" spc="-73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Anthropology</a:t>
            </a:r>
            <a:endParaRPr sz="1304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896" y="1542942"/>
            <a:ext cx="7721058" cy="503091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6754" y="1783108"/>
            <a:ext cx="7203788" cy="4092466"/>
            <a:chOff x="4083645" y="2940477"/>
            <a:chExt cx="11879580" cy="674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4670" y="2940477"/>
              <a:ext cx="11698251" cy="67485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15057" y="6293002"/>
              <a:ext cx="11392535" cy="565785"/>
            </a:xfrm>
            <a:custGeom>
              <a:avLst/>
              <a:gdLst/>
              <a:ahLst/>
              <a:cxnLst/>
              <a:rect l="l" t="t" r="r" b="b"/>
              <a:pathLst>
                <a:path w="11392535" h="565784">
                  <a:moveTo>
                    <a:pt x="0" y="0"/>
                  </a:moveTo>
                  <a:lnTo>
                    <a:pt x="11392323" y="0"/>
                  </a:lnTo>
                  <a:lnTo>
                    <a:pt x="11392323" y="565427"/>
                  </a:lnTo>
                  <a:lnTo>
                    <a:pt x="0" y="565427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44896" y="6139120"/>
            <a:ext cx="4692782" cy="412325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L="212940" marR="3081" indent="-205624">
              <a:lnSpc>
                <a:spcPts val="1552"/>
              </a:lnSpc>
              <a:spcBef>
                <a:spcPts val="118"/>
              </a:spcBef>
            </a:pP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Curry</a:t>
            </a:r>
            <a:r>
              <a:rPr sz="1304" spc="-3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et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al.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(2019).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Is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it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good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6" dirty="0">
                <a:solidFill>
                  <a:srgbClr val="222222"/>
                </a:solidFill>
                <a:latin typeface="Arial MT"/>
                <a:cs typeface="Arial MT"/>
              </a:rPr>
              <a:t>cooperate?</a:t>
            </a:r>
            <a:r>
              <a:rPr sz="1304" spc="-52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18" dirty="0">
                <a:solidFill>
                  <a:srgbClr val="222222"/>
                </a:solidFill>
                <a:latin typeface="Arial MT"/>
                <a:cs typeface="Arial MT"/>
              </a:rPr>
              <a:t>Testing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theory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15" dirty="0">
                <a:solidFill>
                  <a:srgbClr val="222222"/>
                </a:solidFill>
                <a:latin typeface="Arial MT"/>
                <a:cs typeface="Arial MT"/>
              </a:rPr>
              <a:t>of </a:t>
            </a:r>
            <a:r>
              <a:rPr sz="1304" spc="-12" dirty="0">
                <a:solidFill>
                  <a:srgbClr val="222222"/>
                </a:solidFill>
                <a:latin typeface="Arial MT"/>
                <a:cs typeface="Arial MT"/>
              </a:rPr>
              <a:t>morality-as-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cooperation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in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60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societies.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Current</a:t>
            </a:r>
            <a:r>
              <a:rPr sz="1304" i="1" spc="-69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Anthropology</a:t>
            </a:r>
            <a:endParaRPr sz="1304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2370" y="86032"/>
            <a:ext cx="11343232" cy="1282057"/>
          </a:xfrm>
          <a:prstGeom prst="rect">
            <a:avLst/>
          </a:prstGeom>
        </p:spPr>
        <p:txBody>
          <a:bodyPr vert="horz" wrap="square" lIns="0" tIns="75858" rIns="0" bIns="0" rtlCol="0" anchor="ctr">
            <a:spAutoFit/>
          </a:bodyPr>
          <a:lstStyle/>
          <a:p>
            <a:pPr marL="7701" marR="3081">
              <a:lnSpc>
                <a:spcPts val="4681"/>
              </a:lnSpc>
              <a:spcBef>
                <a:spcPts val="597"/>
              </a:spcBef>
            </a:pPr>
            <a:r>
              <a:rPr sz="4305" spc="-21" dirty="0"/>
              <a:t>(i)</a:t>
            </a:r>
            <a:r>
              <a:rPr sz="4305" spc="-179" dirty="0"/>
              <a:t> </a:t>
            </a:r>
            <a:r>
              <a:rPr sz="4305" spc="-85" dirty="0"/>
              <a:t>Reciprocity</a:t>
            </a:r>
            <a:r>
              <a:rPr sz="4305" spc="-94" dirty="0"/>
              <a:t> </a:t>
            </a:r>
            <a:r>
              <a:rPr sz="4305" spc="-288" dirty="0"/>
              <a:t>is</a:t>
            </a:r>
            <a:r>
              <a:rPr sz="4305" spc="-12" dirty="0"/>
              <a:t> </a:t>
            </a:r>
            <a:r>
              <a:rPr sz="4305" spc="42" dirty="0"/>
              <a:t>the</a:t>
            </a:r>
            <a:r>
              <a:rPr sz="4305" spc="-97" dirty="0"/>
              <a:t> </a:t>
            </a:r>
            <a:r>
              <a:rPr sz="4305" spc="-185" dirty="0"/>
              <a:t>social</a:t>
            </a:r>
            <a:r>
              <a:rPr sz="4305" spc="-94" dirty="0"/>
              <a:t> </a:t>
            </a:r>
            <a:r>
              <a:rPr sz="4305" dirty="0"/>
              <a:t>norm</a:t>
            </a:r>
            <a:r>
              <a:rPr sz="4305" spc="-94" dirty="0"/>
              <a:t> </a:t>
            </a:r>
            <a:r>
              <a:rPr sz="4305" dirty="0"/>
              <a:t>in</a:t>
            </a:r>
            <a:r>
              <a:rPr sz="4305" spc="-94" dirty="0"/>
              <a:t> </a:t>
            </a:r>
            <a:r>
              <a:rPr sz="4305" i="1" dirty="0">
                <a:latin typeface="Arial"/>
                <a:cs typeface="Arial"/>
              </a:rPr>
              <a:t>all</a:t>
            </a:r>
            <a:r>
              <a:rPr sz="4305" i="1" spc="-97" dirty="0">
                <a:latin typeface="Arial"/>
                <a:cs typeface="Arial"/>
              </a:rPr>
              <a:t> </a:t>
            </a:r>
            <a:r>
              <a:rPr sz="4305" spc="-79" dirty="0"/>
              <a:t>human </a:t>
            </a:r>
            <a:r>
              <a:rPr sz="4305" spc="-61" dirty="0"/>
              <a:t>societies</a:t>
            </a:r>
            <a:endParaRPr sz="43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DCF4D8D8-1B36-DCAB-498D-5837ADBF68C1}"/>
              </a:ext>
            </a:extLst>
          </p:cNvPr>
          <p:cNvSpPr txBox="1"/>
          <p:nvPr/>
        </p:nvSpPr>
        <p:spPr>
          <a:xfrm>
            <a:off x="0" y="2528441"/>
            <a:ext cx="12192000" cy="129569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indent="61995">
              <a:lnSpc>
                <a:spcPct val="114199"/>
              </a:lnSpc>
              <a:spcBef>
                <a:spcPts val="61"/>
              </a:spcBef>
            </a:pPr>
            <a:r>
              <a:rPr lang="fr-FR" sz="2517" dirty="0">
                <a:latin typeface="Arial MT"/>
                <a:cs typeface="Arial MT"/>
              </a:rPr>
              <a:t>A </a:t>
            </a:r>
            <a:r>
              <a:rPr lang="fr-FR" sz="2517" dirty="0" err="1">
                <a:latin typeface="Arial MT"/>
                <a:cs typeface="Arial MT"/>
              </a:rPr>
              <a:t>culturalist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explanation</a:t>
            </a:r>
            <a:r>
              <a:rPr lang="fr-FR" sz="2517" dirty="0">
                <a:latin typeface="Arial MT"/>
                <a:cs typeface="Arial MT"/>
              </a:rPr>
              <a:t> of </a:t>
            </a:r>
            <a:r>
              <a:rPr lang="fr-FR" sz="2517" dirty="0" err="1">
                <a:latin typeface="Arial MT"/>
                <a:cs typeface="Arial MT"/>
              </a:rPr>
              <a:t>economic</a:t>
            </a:r>
            <a:r>
              <a:rPr lang="fr-FR" sz="2517" dirty="0">
                <a:latin typeface="Arial MT"/>
                <a:cs typeface="Arial MT"/>
              </a:rPr>
              <a:t> exchange </a:t>
            </a:r>
            <a:r>
              <a:rPr lang="fr-FR" sz="2517" dirty="0" err="1">
                <a:latin typeface="Arial MT"/>
                <a:cs typeface="Arial MT"/>
              </a:rPr>
              <a:t>needs</a:t>
            </a:r>
            <a:r>
              <a:rPr lang="fr-FR" sz="2517" dirty="0">
                <a:latin typeface="Arial MT"/>
                <a:cs typeface="Arial MT"/>
              </a:rPr>
              <a:t> to </a:t>
            </a:r>
            <a:r>
              <a:rPr lang="fr-FR" sz="2517" dirty="0" err="1">
                <a:latin typeface="Arial MT"/>
                <a:cs typeface="Arial MT"/>
              </a:rPr>
              <a:t>explain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why</a:t>
            </a:r>
            <a:r>
              <a:rPr lang="fr-FR" sz="2517" dirty="0">
                <a:latin typeface="Arial MT"/>
                <a:cs typeface="Arial MT"/>
              </a:rPr>
              <a:t> the </a:t>
            </a:r>
            <a:r>
              <a:rPr lang="fr-FR" sz="2517" dirty="0" err="1">
                <a:latin typeface="Arial MT"/>
                <a:cs typeface="Arial MT"/>
              </a:rPr>
              <a:t>reciprocal</a:t>
            </a:r>
            <a:r>
              <a:rPr lang="fr-FR" sz="2517" dirty="0">
                <a:latin typeface="Arial MT"/>
                <a:cs typeface="Arial MT"/>
              </a:rPr>
              <a:t> don-contre don </a:t>
            </a:r>
            <a:r>
              <a:rPr lang="fr-FR" sz="2517" dirty="0" err="1">
                <a:latin typeface="Arial MT"/>
                <a:cs typeface="Arial MT"/>
              </a:rPr>
              <a:t>norm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exists</a:t>
            </a:r>
            <a:r>
              <a:rPr lang="fr-FR" sz="2517" dirty="0">
                <a:latin typeface="Arial MT"/>
                <a:cs typeface="Arial MT"/>
              </a:rPr>
              <a:t> in the first place, </a:t>
            </a:r>
            <a:r>
              <a:rPr lang="fr-FR" sz="2517" dirty="0" err="1">
                <a:latin typeface="Arial MT"/>
                <a:cs typeface="Arial MT"/>
              </a:rPr>
              <a:t>why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this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norm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exists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instead</a:t>
            </a:r>
            <a:r>
              <a:rPr lang="fr-FR" sz="2517" dirty="0">
                <a:latin typeface="Arial MT"/>
                <a:cs typeface="Arial MT"/>
              </a:rPr>
              <a:t> of a </a:t>
            </a:r>
            <a:r>
              <a:rPr lang="fr-FR" sz="2517" dirty="0" err="1">
                <a:latin typeface="Arial MT"/>
                <a:cs typeface="Arial MT"/>
              </a:rPr>
              <a:t>different</a:t>
            </a:r>
            <a:r>
              <a:rPr lang="fr-FR" sz="2517" dirty="0">
                <a:latin typeface="Arial MT"/>
                <a:cs typeface="Arial MT"/>
              </a:rPr>
              <a:t> one, and </a:t>
            </a:r>
            <a:r>
              <a:rPr lang="fr-FR" sz="2517" dirty="0" err="1">
                <a:latin typeface="Arial MT"/>
                <a:cs typeface="Arial MT"/>
              </a:rPr>
              <a:t>why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it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stabilizes</a:t>
            </a:r>
            <a:r>
              <a:rPr lang="fr-FR" sz="2517" dirty="0">
                <a:latin typeface="Arial MT"/>
                <a:cs typeface="Arial MT"/>
              </a:rPr>
              <a:t>.</a:t>
            </a:r>
            <a:endParaRPr sz="2517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880274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A993E0B-BEFB-2727-CFB5-357638CF71C0}"/>
              </a:ext>
            </a:extLst>
          </p:cNvPr>
          <p:cNvSpPr txBox="1"/>
          <p:nvPr/>
        </p:nvSpPr>
        <p:spPr>
          <a:xfrm>
            <a:off x="0" y="2711245"/>
            <a:ext cx="12192000" cy="129569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marR="3081" indent="61995">
              <a:lnSpc>
                <a:spcPct val="114199"/>
              </a:lnSpc>
              <a:spcBef>
                <a:spcPts val="61"/>
              </a:spcBef>
            </a:pPr>
            <a:r>
              <a:rPr lang="fr-FR" sz="2517" dirty="0">
                <a:latin typeface="Arial MT"/>
                <a:cs typeface="Arial MT"/>
              </a:rPr>
              <a:t>In the case of </a:t>
            </a:r>
            <a:r>
              <a:rPr lang="fr-FR" sz="2517" dirty="0" err="1">
                <a:latin typeface="Arial MT"/>
                <a:cs typeface="Arial MT"/>
              </a:rPr>
              <a:t>economic</a:t>
            </a:r>
            <a:r>
              <a:rPr lang="fr-FR" sz="2517" dirty="0">
                <a:latin typeface="Arial MT"/>
                <a:cs typeface="Arial MT"/>
              </a:rPr>
              <a:t> exchange, </a:t>
            </a:r>
            <a:r>
              <a:rPr lang="fr-FR" sz="2517" dirty="0" err="1">
                <a:latin typeface="Arial MT"/>
                <a:cs typeface="Arial MT"/>
              </a:rPr>
              <a:t>it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also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begs</a:t>
            </a:r>
            <a:r>
              <a:rPr lang="fr-FR" sz="2517" dirty="0">
                <a:latin typeface="Arial MT"/>
                <a:cs typeface="Arial MT"/>
              </a:rPr>
              <a:t> the question of </a:t>
            </a:r>
            <a:r>
              <a:rPr lang="fr-FR" sz="2517" dirty="0" err="1">
                <a:latin typeface="Arial MT"/>
                <a:cs typeface="Arial MT"/>
              </a:rPr>
              <a:t>why</a:t>
            </a:r>
            <a:r>
              <a:rPr lang="fr-FR" sz="2517" dirty="0">
                <a:latin typeface="Arial MT"/>
                <a:cs typeface="Arial MT"/>
              </a:rPr>
              <a:t> the </a:t>
            </a:r>
            <a:r>
              <a:rPr lang="fr-FR" sz="2517" dirty="0" err="1">
                <a:latin typeface="Arial MT"/>
                <a:cs typeface="Arial MT"/>
              </a:rPr>
              <a:t>reciprocity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norm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so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closely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tracks</a:t>
            </a:r>
            <a:r>
              <a:rPr lang="fr-FR" sz="2517" dirty="0">
                <a:latin typeface="Arial MT"/>
                <a:cs typeface="Arial MT"/>
              </a:rPr>
              <a:t> one of the </a:t>
            </a:r>
            <a:r>
              <a:rPr lang="fr-FR" sz="2517" dirty="0" err="1">
                <a:latin typeface="Arial MT"/>
                <a:cs typeface="Arial MT"/>
              </a:rPr>
              <a:t>most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foundational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findings</a:t>
            </a:r>
            <a:r>
              <a:rPr lang="fr-FR" sz="2517" dirty="0">
                <a:latin typeface="Arial MT"/>
                <a:cs typeface="Arial MT"/>
              </a:rPr>
              <a:t> of a </a:t>
            </a:r>
            <a:r>
              <a:rPr lang="fr-FR" sz="2517" dirty="0" err="1">
                <a:latin typeface="Arial MT"/>
                <a:cs typeface="Arial MT"/>
              </a:rPr>
              <a:t>very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agentic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approach</a:t>
            </a:r>
            <a:r>
              <a:rPr lang="fr-FR" sz="2517" dirty="0">
                <a:latin typeface="Arial MT"/>
                <a:cs typeface="Arial MT"/>
              </a:rPr>
              <a:t>: </a:t>
            </a:r>
            <a:r>
              <a:rPr lang="fr-FR" sz="2517" dirty="0" err="1">
                <a:latin typeface="Arial MT"/>
                <a:cs typeface="Arial MT"/>
              </a:rPr>
              <a:t>game</a:t>
            </a:r>
            <a:r>
              <a:rPr lang="fr-FR" sz="2517" dirty="0">
                <a:latin typeface="Arial MT"/>
                <a:cs typeface="Arial MT"/>
              </a:rPr>
              <a:t> </a:t>
            </a:r>
            <a:r>
              <a:rPr lang="fr-FR" sz="2517" dirty="0" err="1">
                <a:latin typeface="Arial MT"/>
                <a:cs typeface="Arial MT"/>
              </a:rPr>
              <a:t>theory</a:t>
            </a:r>
            <a:r>
              <a:rPr lang="fr-FR" sz="2517" dirty="0">
                <a:latin typeface="Arial MT"/>
                <a:cs typeface="Arial MT"/>
              </a:rPr>
              <a:t>! </a:t>
            </a:r>
            <a:endParaRPr sz="2517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48200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6614"/>
          <a:ext cx="9144000" cy="6010114"/>
          <a:chOff x="0" y="866614"/>
          <a:chExt cx="9144000" cy="6010114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866614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3255F-1F92-B752-942A-F2B8D947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3" y="90435"/>
            <a:ext cx="12142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2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6614"/>
          <a:ext cx="9144000" cy="6010114"/>
          <a:chOff x="0" y="866614"/>
          <a:chExt cx="9144000" cy="6010114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866614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6614"/>
          <a:ext cx="9144000" cy="6010114"/>
          <a:chOff x="0" y="866614"/>
          <a:chExt cx="9144000" cy="6010114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866614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The prisoner’s dilemma"/>
          <p:cNvSpPr txBox="1">
            <a:spLocks noGrp="1"/>
          </p:cNvSpPr>
          <p:nvPr>
            <p:ph type="ctrTitle"/>
          </p:nvPr>
        </p:nvSpPr>
        <p:spPr>
          <a:xfrm>
            <a:off x="190308" y="329111"/>
            <a:ext cx="11113372" cy="1035068"/>
          </a:xfrm>
          <a:prstGeom prst="rect">
            <a:avLst/>
          </a:prstGeom>
        </p:spPr>
        <p:txBody>
          <a:bodyPr>
            <a:noAutofit/>
          </a:bodyPr>
          <a:lstStyle>
            <a:lvl1pPr defTabSz="1926287">
              <a:defRPr sz="11218" b="0" spc="-224"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6599" dirty="0"/>
              <a:t>The prisoner’s dilemma</a:t>
            </a:r>
          </a:p>
        </p:txBody>
      </p:sp>
      <p:sp>
        <p:nvSpPr>
          <p:cNvPr id="600" name="Standard result:…"/>
          <p:cNvSpPr txBox="1"/>
          <p:nvPr/>
        </p:nvSpPr>
        <p:spPr>
          <a:xfrm>
            <a:off x="1131413" y="2472825"/>
            <a:ext cx="9574156" cy="2421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>
              <a:defRPr sz="7700">
                <a:solidFill>
                  <a:srgbClr val="000000"/>
                </a:solidFill>
              </a:defRPr>
            </a:pPr>
            <a:r>
              <a:rPr sz="3850" u="sng"/>
              <a:t>Standard result</a:t>
            </a:r>
            <a:r>
              <a:rPr sz="3850"/>
              <a:t>: </a:t>
            </a:r>
          </a:p>
          <a:p>
            <a:pPr>
              <a:defRPr sz="7700">
                <a:solidFill>
                  <a:srgbClr val="000000"/>
                </a:solidFill>
              </a:defRPr>
            </a:pPr>
            <a:r>
              <a:rPr sz="3850"/>
              <a:t>When the game is </a:t>
            </a:r>
            <a:r>
              <a:rPr sz="3850" b="1"/>
              <a:t>one-shot </a:t>
            </a:r>
            <a:r>
              <a:rPr sz="3850"/>
              <a:t>(played only once),</a:t>
            </a:r>
            <a:r>
              <a:rPr sz="3850" b="1"/>
              <a:t> </a:t>
            </a:r>
            <a:r>
              <a:rPr sz="3850"/>
              <a:t>the </a:t>
            </a:r>
            <a:r>
              <a:rPr sz="3850" b="1">
                <a:solidFill>
                  <a:schemeClr val="accent6">
                    <a:satOff val="-20754"/>
                    <a:lumOff val="-16738"/>
                  </a:schemeClr>
                </a:solidFill>
              </a:rPr>
              <a:t>dominant strategy</a:t>
            </a:r>
            <a:r>
              <a:rPr sz="3850" b="1"/>
              <a:t> </a:t>
            </a:r>
            <a:r>
              <a:rPr sz="3850"/>
              <a:t>in the prisoner’s dilemma</a:t>
            </a:r>
            <a:r>
              <a:rPr sz="3850" b="1"/>
              <a:t> </a:t>
            </a:r>
            <a:r>
              <a:rPr sz="3850"/>
              <a:t>is</a:t>
            </a:r>
            <a:r>
              <a:rPr sz="3850" b="1"/>
              <a:t> </a:t>
            </a:r>
            <a:r>
              <a:rPr sz="3850"/>
              <a:t>to </a:t>
            </a:r>
            <a:r>
              <a:rPr sz="3850" b="1">
                <a:solidFill>
                  <a:schemeClr val="accent6">
                    <a:satOff val="-20754"/>
                    <a:lumOff val="-16738"/>
                  </a:schemeClr>
                </a:solidFill>
              </a:rPr>
              <a:t>defect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And when the game is repeated?"/>
          <p:cNvSpPr txBox="1">
            <a:spLocks noGrp="1"/>
          </p:cNvSpPr>
          <p:nvPr>
            <p:ph type="ctrTitle"/>
          </p:nvPr>
        </p:nvSpPr>
        <p:spPr>
          <a:xfrm>
            <a:off x="539534" y="132274"/>
            <a:ext cx="11113372" cy="1035068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963099">
              <a:defRPr sz="11218" b="0" spc="-224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sz="6000" dirty="0"/>
              <a:t>And when the game is </a:t>
            </a:r>
            <a:r>
              <a:rPr sz="6000" i="1" dirty="0"/>
              <a:t>repeated</a:t>
            </a:r>
            <a:r>
              <a:rPr sz="6000" dirty="0"/>
              <a:t>?</a:t>
            </a:r>
          </a:p>
        </p:txBody>
      </p:sp>
      <p:sp>
        <p:nvSpPr>
          <p:cNvPr id="605" name="Standard results (Axelrod, 1984):  In the iterated prisoner’s dilemma, the strategy that pays the more in the long run is:"/>
          <p:cNvSpPr txBox="1"/>
          <p:nvPr/>
        </p:nvSpPr>
        <p:spPr>
          <a:xfrm>
            <a:off x="-67094" y="1551219"/>
            <a:ext cx="8442071" cy="1137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>
            <a:normAutofit/>
          </a:bodyPr>
          <a:lstStyle/>
          <a:p>
            <a:pPr lvl="1" defTabSz="963099">
              <a:spcBef>
                <a:spcPts val="1800"/>
              </a:spcBef>
              <a:defRPr sz="4740">
                <a:solidFill>
                  <a:srgbClr val="000000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sz="2370" u="sng">
                <a:latin typeface="Avenir Heavy"/>
                <a:ea typeface="Avenir Heavy"/>
                <a:cs typeface="Avenir Heavy"/>
                <a:sym typeface="Avenir Heavy"/>
              </a:rPr>
              <a:t>Standard results (Axelrod, 1984)</a:t>
            </a:r>
            <a:r>
              <a:rPr sz="2370"/>
              <a:t>:  In the </a:t>
            </a:r>
            <a:r>
              <a:rPr sz="2370">
                <a:solidFill>
                  <a:schemeClr val="accent6">
                    <a:satOff val="-20754"/>
                    <a:lumOff val="-16738"/>
                  </a:schemeClr>
                </a:solidFill>
                <a:latin typeface="Avenir Heavy"/>
                <a:ea typeface="Avenir Heavy"/>
                <a:cs typeface="Avenir Heavy"/>
                <a:sym typeface="Avenir Heavy"/>
              </a:rPr>
              <a:t>iterated</a:t>
            </a:r>
            <a:r>
              <a:rPr sz="2370"/>
              <a:t> prisoner’s dilemma, the strategy that pays the more in the long run is:  </a:t>
            </a:r>
          </a:p>
        </p:txBody>
      </p:sp>
      <p:sp>
        <p:nvSpPr>
          <p:cNvPr id="606" name="Start by cooperating, and continue to cooperate as long as the other player cooperates"/>
          <p:cNvSpPr txBox="1"/>
          <p:nvPr/>
        </p:nvSpPr>
        <p:spPr>
          <a:xfrm>
            <a:off x="324900" y="3986079"/>
            <a:ext cx="8000961" cy="789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 marL="444480" indent="-444480" defTabSz="228589">
              <a:buSzPct val="100000"/>
              <a:buAutoNum type="arabicPeriod"/>
              <a:defRPr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b="1"/>
              <a:t>Start by cooperating</a:t>
            </a:r>
            <a:r>
              <a:rPr sz="2400"/>
              <a:t>, and continue to cooperate as long as the other player cooperates</a:t>
            </a:r>
          </a:p>
        </p:txBody>
      </p:sp>
      <p:pic>
        <p:nvPicPr>
          <p:cNvPr id="60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146" y="1576551"/>
            <a:ext cx="3511518" cy="5276872"/>
          </a:xfrm>
          <a:prstGeom prst="rect">
            <a:avLst/>
          </a:prstGeom>
          <a:ln w="12700">
            <a:miter lim="400000"/>
          </a:ln>
        </p:spPr>
      </p:pic>
      <p:sp>
        <p:nvSpPr>
          <p:cNvPr id="608" name="Defect if the other player has defected in the previous round"/>
          <p:cNvSpPr txBox="1"/>
          <p:nvPr/>
        </p:nvSpPr>
        <p:spPr>
          <a:xfrm>
            <a:off x="324519" y="4611647"/>
            <a:ext cx="7092102" cy="1238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 marL="444480" indent="-444480" defTabSz="228589">
              <a:lnSpc>
                <a:spcPct val="110000"/>
              </a:lnSpc>
              <a:buSzPct val="100000"/>
              <a:buAutoNum type="arabicPeriod"/>
              <a:defRPr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2400"/>
          </a:p>
          <a:p>
            <a:pPr marL="444480" indent="-444480" defTabSz="228589">
              <a:lnSpc>
                <a:spcPct val="110000"/>
              </a:lnSpc>
              <a:buSzPct val="100000"/>
              <a:buAutoNum type="arabicPeriod" startAt="2"/>
              <a:defRPr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b="1"/>
              <a:t>Defect if the other player has defected</a:t>
            </a:r>
            <a:r>
              <a:rPr sz="2400"/>
              <a:t> in the previous round</a:t>
            </a:r>
          </a:p>
        </p:txBody>
      </p:sp>
      <p:sp>
        <p:nvSpPr>
          <p:cNvPr id="609" name="“conditional cooperation”:"/>
          <p:cNvSpPr txBox="1"/>
          <p:nvPr/>
        </p:nvSpPr>
        <p:spPr>
          <a:xfrm>
            <a:off x="153285" y="2906811"/>
            <a:ext cx="7917895" cy="57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>
              <a:defRPr sz="6800">
                <a:solidFill>
                  <a:srgbClr val="000000"/>
                </a:solidFill>
              </a:defRPr>
            </a:pPr>
            <a:r>
              <a:rPr sz="3400">
                <a:solidFill>
                  <a:schemeClr val="accent6">
                    <a:satOff val="-20754"/>
                    <a:lumOff val="-16738"/>
                  </a:schemeClr>
                </a:solidFill>
              </a:rPr>
              <a:t>“</a:t>
            </a:r>
            <a:r>
              <a:rPr sz="3400" b="1">
                <a:solidFill>
                  <a:schemeClr val="accent6">
                    <a:satOff val="-20754"/>
                    <a:lumOff val="-16738"/>
                  </a:schemeClr>
                </a:solidFill>
              </a:rPr>
              <a:t>conditional cooperation”:</a:t>
            </a:r>
            <a:r>
              <a:rPr sz="3400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" grpId="0" animBg="1" advAuto="0"/>
      <p:bldP spid="606" grpId="0" animBg="1" advAuto="0"/>
      <p:bldP spid="607" grpId="0" animBg="1" advAuto="0"/>
      <p:bldP spid="608" grpId="0" animBg="1" advAuto="0"/>
      <p:bldP spid="609" grpId="0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Cooperation should take the form of a tit-for-tat strategy, or “conditional cooperation”"/>
          <p:cNvSpPr txBox="1"/>
          <p:nvPr/>
        </p:nvSpPr>
        <p:spPr>
          <a:xfrm>
            <a:off x="769192" y="2810885"/>
            <a:ext cx="10653619" cy="1236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>
              <a:defRPr sz="7700">
                <a:solidFill>
                  <a:srgbClr val="000000"/>
                </a:solidFill>
              </a:defRPr>
            </a:pPr>
            <a:r>
              <a:rPr sz="3850"/>
              <a:t>Cooperation should take the form of a </a:t>
            </a:r>
            <a:r>
              <a:rPr sz="3850" b="1">
                <a:solidFill>
                  <a:schemeClr val="accent6">
                    <a:satOff val="-20754"/>
                    <a:lumOff val="-16738"/>
                  </a:schemeClr>
                </a:solidFill>
              </a:rPr>
              <a:t>tit-for-tat</a:t>
            </a:r>
            <a:r>
              <a:rPr sz="3850" b="1"/>
              <a:t> </a:t>
            </a:r>
            <a:r>
              <a:rPr sz="3850"/>
              <a:t>strategy, or </a:t>
            </a:r>
            <a:r>
              <a:rPr sz="3850">
                <a:solidFill>
                  <a:schemeClr val="accent6">
                    <a:satOff val="-20754"/>
                    <a:lumOff val="-16738"/>
                  </a:schemeClr>
                </a:solidFill>
              </a:rPr>
              <a:t>“</a:t>
            </a:r>
            <a:r>
              <a:rPr sz="3850" b="1">
                <a:solidFill>
                  <a:schemeClr val="accent6">
                    <a:satOff val="-20754"/>
                    <a:lumOff val="-16738"/>
                  </a:schemeClr>
                </a:solidFill>
              </a:rPr>
              <a:t>conditional cooperation”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volution of Cooperation - Wikipedia">
            <a:extLst>
              <a:ext uri="{FF2B5EF4-FFF2-40B4-BE49-F238E27FC236}">
                <a16:creationId xmlns:a16="http://schemas.microsoft.com/office/drawing/2014/main" id="{0C93AF22-DB76-7B47-F525-06DD4B604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025" y="564120"/>
            <a:ext cx="3563773" cy="533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me Theory &amp; Axelrod's Tournament">
            <a:extLst>
              <a:ext uri="{FF2B5EF4-FFF2-40B4-BE49-F238E27FC236}">
                <a16:creationId xmlns:a16="http://schemas.microsoft.com/office/drawing/2014/main" id="{6CBCEAAE-5601-42E1-A475-1219202F3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14" y="979989"/>
            <a:ext cx="5253244" cy="295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0F1F71F-E9C5-CC1E-BDCC-ED311A88B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147" y="4861440"/>
            <a:ext cx="4609866" cy="18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00903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9DA813F-2A14-524D-F5E4-3EEB982E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5" y="326872"/>
            <a:ext cx="7206294" cy="403312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06D632-9AF3-C9ED-29D3-86A4057330E7}"/>
              </a:ext>
            </a:extLst>
          </p:cNvPr>
          <p:cNvSpPr txBox="1"/>
          <p:nvPr/>
        </p:nvSpPr>
        <p:spPr>
          <a:xfrm>
            <a:off x="8960880" y="1442067"/>
            <a:ext cx="2957296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0" b="1" dirty="0"/>
              <a:t>https://ncase.me/trust/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5D77A0-353D-7CF9-4A54-D48842D8006F}"/>
              </a:ext>
            </a:extLst>
          </p:cNvPr>
          <p:cNvSpPr txBox="1"/>
          <p:nvPr/>
        </p:nvSpPr>
        <p:spPr>
          <a:xfrm>
            <a:off x="1574848" y="5344062"/>
            <a:ext cx="6007007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0" b="1" dirty="0"/>
              <a:t>Next week’s short test will  be on this!!! </a:t>
            </a:r>
          </a:p>
        </p:txBody>
      </p:sp>
      <p:pic>
        <p:nvPicPr>
          <p:cNvPr id="11" name="Graphique 10" descr="Index pointant vers la droite vu du côté du dos de la main avec un remplissage uni">
            <a:extLst>
              <a:ext uri="{FF2B5EF4-FFF2-40B4-BE49-F238E27FC236}">
                <a16:creationId xmlns:a16="http://schemas.microsoft.com/office/drawing/2014/main" id="{1BCBB364-39EC-5B2F-5D1B-5DEA11B1A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340325" y="4772444"/>
            <a:ext cx="354608" cy="354608"/>
          </a:xfrm>
          <a:prstGeom prst="rect">
            <a:avLst/>
          </a:prstGeom>
        </p:spPr>
      </p:pic>
      <p:pic>
        <p:nvPicPr>
          <p:cNvPr id="12" name="Graphique 11" descr="Index pointant vers la droite vu du côté du dos de la main avec un remplissage uni">
            <a:extLst>
              <a:ext uri="{FF2B5EF4-FFF2-40B4-BE49-F238E27FC236}">
                <a16:creationId xmlns:a16="http://schemas.microsoft.com/office/drawing/2014/main" id="{8A045202-149B-6E42-3A35-BACC0706CC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779096" y="4772444"/>
            <a:ext cx="354608" cy="354608"/>
          </a:xfrm>
          <a:prstGeom prst="rect">
            <a:avLst/>
          </a:prstGeom>
        </p:spPr>
      </p:pic>
      <p:pic>
        <p:nvPicPr>
          <p:cNvPr id="13" name="Graphique 12" descr="Index pointant vers la droite vu du côté du dos de la main avec un remplissage uni">
            <a:extLst>
              <a:ext uri="{FF2B5EF4-FFF2-40B4-BE49-F238E27FC236}">
                <a16:creationId xmlns:a16="http://schemas.microsoft.com/office/drawing/2014/main" id="{DA93353B-2ED1-0B53-E531-32315F7C6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23744" y="4772443"/>
            <a:ext cx="354608" cy="35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6545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Reciprocity in nature"/>
          <p:cNvSpPr txBox="1"/>
          <p:nvPr/>
        </p:nvSpPr>
        <p:spPr>
          <a:xfrm>
            <a:off x="318133" y="166474"/>
            <a:ext cx="11622052" cy="120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b">
            <a:normAutofit/>
          </a:bodyPr>
          <a:lstStyle>
            <a:lvl1pPr algn="l" defTabSz="2340805">
              <a:lnSpc>
                <a:spcPct val="80000"/>
              </a:lnSpc>
              <a:defRPr sz="13344" spc="-266">
                <a:solidFill>
                  <a:srgbClr val="000000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6672"/>
              <a:t>Reciprocity in nature</a:t>
            </a:r>
          </a:p>
        </p:txBody>
      </p:sp>
      <p:pic>
        <p:nvPicPr>
          <p:cNvPr id="614" name="pasted-image.tiff" descr="pasted-image.tiff"/>
          <p:cNvPicPr>
            <a:picLocks noChangeAspect="1"/>
          </p:cNvPicPr>
          <p:nvPr/>
        </p:nvPicPr>
        <p:blipFill>
          <a:blip r:embed="rId3"/>
          <a:srcRect l="14544" r="16064"/>
          <a:stretch>
            <a:fillRect/>
          </a:stretch>
        </p:blipFill>
        <p:spPr>
          <a:xfrm>
            <a:off x="402742" y="1474219"/>
            <a:ext cx="5727299" cy="4231990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Carter, G. G., &amp; Wilkinson, G. S. (2013). Food sharing in vampire bats: reciprocal help predicts donations more than relatedness or harassment. Proceedings of the Royal Society B."/>
          <p:cNvSpPr txBox="1"/>
          <p:nvPr/>
        </p:nvSpPr>
        <p:spPr>
          <a:xfrm>
            <a:off x="5131390" y="6206715"/>
            <a:ext cx="6879991" cy="571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 algn="r" defTabSz="228589">
              <a:lnSpc>
                <a:spcPts val="2150"/>
              </a:lnSpc>
              <a:defRPr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900"/>
              <a:t>Carter, G. G., &amp; Wilkinson, G. S. (2013). Food sharing in vampire bats: reciprocal help predicts donations more than relatedness or harassment. </a:t>
            </a:r>
            <a:r>
              <a:rPr sz="900" i="1"/>
              <a:t>Proceedings of the Royal Society B.</a:t>
            </a:r>
          </a:p>
        </p:txBody>
      </p:sp>
      <p:pic>
        <p:nvPicPr>
          <p:cNvPr id="616" name="Capture d’écran 2022-02-09 à 13.25.15.png" descr="Capture d’écran 2022-02-09 à 13.25.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163" y="1563712"/>
            <a:ext cx="3873228" cy="48104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" grpId="0" animBg="1" advAuto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DE1841F-E27C-95AC-D1FA-1AADF560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6" y="541016"/>
            <a:ext cx="7198258" cy="563734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E523E39-B0C4-2A75-8DF2-5FE570CEE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74" y="1950352"/>
            <a:ext cx="4303097" cy="392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67693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Baumard &amp; Boyer (2013). Explaining moral religions.  Trends in Cognitive science."/>
          <p:cNvSpPr txBox="1"/>
          <p:nvPr/>
        </p:nvSpPr>
        <p:spPr>
          <a:xfrm>
            <a:off x="5156788" y="6020561"/>
            <a:ext cx="6879991" cy="829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ctr">
            <a:spAutoFit/>
          </a:bodyPr>
          <a:lstStyle/>
          <a:p>
            <a:pPr algn="r" defTabSz="228589">
              <a:lnSpc>
                <a:spcPts val="3200"/>
              </a:lnSpc>
              <a:defRPr sz="4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050"/>
              <a:t>Baumard &amp; Boyer (2013). Explaining moral religions.  </a:t>
            </a:r>
            <a:r>
              <a:rPr sz="2050" i="1"/>
              <a:t>Trends in Cognitive science. </a:t>
            </a:r>
          </a:p>
        </p:txBody>
      </p:sp>
      <p:sp>
        <p:nvSpPr>
          <p:cNvPr id="621" name="Reciprocity across cultures"/>
          <p:cNvSpPr txBox="1"/>
          <p:nvPr/>
        </p:nvSpPr>
        <p:spPr>
          <a:xfrm>
            <a:off x="292735" y="166475"/>
            <a:ext cx="10919016" cy="115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8" tIns="25398" rIns="25398" bIns="25398" anchor="b">
            <a:normAutofit/>
          </a:bodyPr>
          <a:lstStyle>
            <a:lvl1pPr algn="l" defTabSz="2243271">
              <a:lnSpc>
                <a:spcPct val="80000"/>
              </a:lnSpc>
              <a:defRPr sz="12788" spc="-255">
                <a:solidFill>
                  <a:srgbClr val="000000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sz="6394"/>
              <a:t>Reciprocity across cultures</a:t>
            </a:r>
          </a:p>
        </p:txBody>
      </p:sp>
      <p:pic>
        <p:nvPicPr>
          <p:cNvPr id="622" name="Capture d’écran 2021-09-21 à 09.12.11.png" descr="Capture d’écran 2021-09-21 à 09.12.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9" y="1747984"/>
            <a:ext cx="11892343" cy="37011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4896" y="6139120"/>
            <a:ext cx="4692782" cy="412325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L="212940" marR="3081" indent="-205624">
              <a:lnSpc>
                <a:spcPts val="1552"/>
              </a:lnSpc>
              <a:spcBef>
                <a:spcPts val="118"/>
              </a:spcBef>
            </a:pP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Curry</a:t>
            </a:r>
            <a:r>
              <a:rPr sz="1304" spc="-30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et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al.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(2019).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Is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it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good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to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6" dirty="0">
                <a:solidFill>
                  <a:srgbClr val="222222"/>
                </a:solidFill>
                <a:latin typeface="Arial MT"/>
                <a:cs typeface="Arial MT"/>
              </a:rPr>
              <a:t>cooperate?</a:t>
            </a:r>
            <a:r>
              <a:rPr sz="1304" spc="-52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18" dirty="0">
                <a:solidFill>
                  <a:srgbClr val="222222"/>
                </a:solidFill>
                <a:latin typeface="Arial MT"/>
                <a:cs typeface="Arial MT"/>
              </a:rPr>
              <a:t>Testing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theory</a:t>
            </a:r>
            <a:r>
              <a:rPr sz="1304" spc="-27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spc="-15" dirty="0">
                <a:solidFill>
                  <a:srgbClr val="222222"/>
                </a:solidFill>
                <a:latin typeface="Arial MT"/>
                <a:cs typeface="Arial MT"/>
              </a:rPr>
              <a:t>of </a:t>
            </a:r>
            <a:r>
              <a:rPr sz="1304" spc="-12" dirty="0">
                <a:solidFill>
                  <a:srgbClr val="222222"/>
                </a:solidFill>
                <a:latin typeface="Arial MT"/>
                <a:cs typeface="Arial MT"/>
              </a:rPr>
              <a:t>morality-as-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cooperation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in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60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dirty="0">
                <a:solidFill>
                  <a:srgbClr val="222222"/>
                </a:solidFill>
                <a:latin typeface="Arial MT"/>
                <a:cs typeface="Arial MT"/>
              </a:rPr>
              <a:t>societies.</a:t>
            </a:r>
            <a:r>
              <a:rPr sz="1304" spc="-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Current</a:t>
            </a:r>
            <a:r>
              <a:rPr sz="1304" i="1" spc="-69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304" i="1" spc="-6" dirty="0">
                <a:solidFill>
                  <a:srgbClr val="222222"/>
                </a:solidFill>
                <a:latin typeface="Arial"/>
                <a:cs typeface="Arial"/>
              </a:rPr>
              <a:t>Anthropology</a:t>
            </a:r>
            <a:endParaRPr sz="1304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370" y="86032"/>
            <a:ext cx="11343232" cy="1282057"/>
          </a:xfrm>
          <a:prstGeom prst="rect">
            <a:avLst/>
          </a:prstGeom>
        </p:spPr>
        <p:txBody>
          <a:bodyPr vert="horz" wrap="square" lIns="0" tIns="75858" rIns="0" bIns="0" rtlCol="0" anchor="ctr">
            <a:spAutoFit/>
          </a:bodyPr>
          <a:lstStyle/>
          <a:p>
            <a:pPr marL="7701" marR="3081">
              <a:lnSpc>
                <a:spcPts val="4681"/>
              </a:lnSpc>
              <a:spcBef>
                <a:spcPts val="597"/>
              </a:spcBef>
            </a:pPr>
            <a:r>
              <a:rPr sz="4305" spc="-21" dirty="0"/>
              <a:t>(i)</a:t>
            </a:r>
            <a:r>
              <a:rPr sz="4305" spc="-179" dirty="0"/>
              <a:t> </a:t>
            </a:r>
            <a:r>
              <a:rPr sz="4305" spc="-85" dirty="0"/>
              <a:t>Reciprocity</a:t>
            </a:r>
            <a:r>
              <a:rPr sz="4305" spc="-94" dirty="0"/>
              <a:t> </a:t>
            </a:r>
            <a:r>
              <a:rPr sz="4305" spc="-288" dirty="0"/>
              <a:t>is</a:t>
            </a:r>
            <a:r>
              <a:rPr sz="4305" spc="-12" dirty="0"/>
              <a:t> </a:t>
            </a:r>
            <a:r>
              <a:rPr sz="4305" spc="42" dirty="0"/>
              <a:t>the</a:t>
            </a:r>
            <a:r>
              <a:rPr sz="4305" spc="-97" dirty="0"/>
              <a:t> </a:t>
            </a:r>
            <a:r>
              <a:rPr sz="4305" spc="-185" dirty="0"/>
              <a:t>social</a:t>
            </a:r>
            <a:r>
              <a:rPr sz="4305" spc="-94" dirty="0"/>
              <a:t> </a:t>
            </a:r>
            <a:r>
              <a:rPr sz="4305" dirty="0"/>
              <a:t>norm</a:t>
            </a:r>
            <a:r>
              <a:rPr sz="4305" spc="-94" dirty="0"/>
              <a:t> </a:t>
            </a:r>
            <a:r>
              <a:rPr sz="4305" dirty="0"/>
              <a:t>in</a:t>
            </a:r>
            <a:r>
              <a:rPr sz="4305" spc="-94" dirty="0"/>
              <a:t> </a:t>
            </a:r>
            <a:r>
              <a:rPr sz="4305" i="1" dirty="0">
                <a:latin typeface="Arial"/>
                <a:cs typeface="Arial"/>
              </a:rPr>
              <a:t>all</a:t>
            </a:r>
            <a:r>
              <a:rPr sz="4305" i="1" spc="-97" dirty="0">
                <a:latin typeface="Arial"/>
                <a:cs typeface="Arial"/>
              </a:rPr>
              <a:t> </a:t>
            </a:r>
            <a:r>
              <a:rPr sz="4305" spc="-79" dirty="0"/>
              <a:t>human </a:t>
            </a:r>
            <a:r>
              <a:rPr sz="4305" spc="-61" dirty="0"/>
              <a:t>societies</a:t>
            </a:r>
            <a:endParaRPr sz="43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9962" y="2330719"/>
            <a:ext cx="7601560" cy="252080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392380">
              <a:spcBef>
                <a:spcPts val="82"/>
              </a:spcBef>
            </a:pPr>
            <a:r>
              <a:rPr sz="2729" dirty="0">
                <a:latin typeface="Arial MT"/>
                <a:cs typeface="Arial MT"/>
              </a:rPr>
              <a:t>If</a:t>
            </a:r>
            <a:r>
              <a:rPr sz="2729" spc="-3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a reciprocity</a:t>
            </a:r>
            <a:r>
              <a:rPr sz="2729" spc="-3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is </a:t>
            </a:r>
            <a:r>
              <a:rPr sz="2729" spc="67" dirty="0">
                <a:latin typeface="Arial MT"/>
                <a:cs typeface="Arial MT"/>
              </a:rPr>
              <a:t>found</a:t>
            </a:r>
            <a:r>
              <a:rPr sz="2729" spc="-3" dirty="0">
                <a:latin typeface="Arial MT"/>
                <a:cs typeface="Arial MT"/>
              </a:rPr>
              <a:t> </a:t>
            </a:r>
            <a:r>
              <a:rPr sz="2729" spc="30" dirty="0">
                <a:latin typeface="Arial MT"/>
                <a:cs typeface="Arial MT"/>
              </a:rPr>
              <a:t>in</a:t>
            </a:r>
            <a:r>
              <a:rPr sz="2729" dirty="0">
                <a:latin typeface="Arial MT"/>
                <a:cs typeface="Arial MT"/>
              </a:rPr>
              <a:t> </a:t>
            </a:r>
            <a:r>
              <a:rPr sz="2729" b="1" dirty="0">
                <a:latin typeface="Arial"/>
                <a:cs typeface="Arial"/>
              </a:rPr>
              <a:t>all</a:t>
            </a:r>
            <a:r>
              <a:rPr sz="2729" b="1" spc="-3" dirty="0">
                <a:latin typeface="Arial"/>
                <a:cs typeface="Arial"/>
              </a:rPr>
              <a:t> </a:t>
            </a:r>
            <a:r>
              <a:rPr sz="2729" dirty="0">
                <a:latin typeface="Arial MT"/>
                <a:cs typeface="Arial MT"/>
              </a:rPr>
              <a:t>human </a:t>
            </a:r>
            <a:r>
              <a:rPr sz="2729" spc="-6" dirty="0">
                <a:latin typeface="Arial MT"/>
                <a:cs typeface="Arial MT"/>
              </a:rPr>
              <a:t>societies</a:t>
            </a:r>
            <a:endParaRPr sz="2729" dirty="0">
              <a:latin typeface="Arial MT"/>
              <a:cs typeface="Arial MT"/>
            </a:endParaRPr>
          </a:p>
          <a:p>
            <a:pPr>
              <a:spcBef>
                <a:spcPts val="39"/>
              </a:spcBef>
            </a:pPr>
            <a:endParaRPr sz="2729" dirty="0">
              <a:latin typeface="Arial MT"/>
              <a:cs typeface="Arial MT"/>
            </a:endParaRPr>
          </a:p>
          <a:p>
            <a:pPr marR="3081" algn="r"/>
            <a:r>
              <a:rPr sz="2729" dirty="0">
                <a:latin typeface="Arial MT"/>
                <a:cs typeface="Arial MT"/>
              </a:rPr>
              <a:t>this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suggests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spc="55" dirty="0">
                <a:latin typeface="Arial MT"/>
                <a:cs typeface="Arial MT"/>
              </a:rPr>
              <a:t>that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spc="100" dirty="0">
                <a:latin typeface="Arial MT"/>
                <a:cs typeface="Arial MT"/>
              </a:rPr>
              <a:t>it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is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spc="88" dirty="0">
                <a:latin typeface="Arial MT"/>
                <a:cs typeface="Arial MT"/>
              </a:rPr>
              <a:t>not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only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a</a:t>
            </a:r>
            <a:r>
              <a:rPr sz="2729" spc="-42" dirty="0">
                <a:latin typeface="Arial MT"/>
                <a:cs typeface="Arial MT"/>
              </a:rPr>
              <a:t> </a:t>
            </a:r>
            <a:r>
              <a:rPr sz="2729" b="1" spc="-27" dirty="0">
                <a:latin typeface="Arial"/>
                <a:cs typeface="Arial"/>
              </a:rPr>
              <a:t>cultural</a:t>
            </a:r>
            <a:r>
              <a:rPr sz="2729" b="1" spc="3" dirty="0">
                <a:latin typeface="Arial"/>
                <a:cs typeface="Arial"/>
              </a:rPr>
              <a:t> </a:t>
            </a:r>
            <a:r>
              <a:rPr sz="2729" b="1" spc="-12" dirty="0">
                <a:latin typeface="Arial"/>
                <a:cs typeface="Arial"/>
              </a:rPr>
              <a:t>norm</a:t>
            </a:r>
            <a:endParaRPr sz="2729" dirty="0">
              <a:latin typeface="Arial"/>
              <a:cs typeface="Arial"/>
            </a:endParaRPr>
          </a:p>
          <a:p>
            <a:pPr marR="3081" algn="r">
              <a:spcBef>
                <a:spcPts val="2650"/>
              </a:spcBef>
            </a:pPr>
            <a:r>
              <a:rPr sz="2729" spc="100" dirty="0">
                <a:latin typeface="Arial MT"/>
                <a:cs typeface="Arial MT"/>
              </a:rPr>
              <a:t>but</a:t>
            </a:r>
            <a:r>
              <a:rPr sz="2729" spc="6" dirty="0">
                <a:latin typeface="Arial MT"/>
                <a:cs typeface="Arial MT"/>
              </a:rPr>
              <a:t> </a:t>
            </a:r>
            <a:r>
              <a:rPr sz="2729" spc="39" dirty="0">
                <a:latin typeface="Arial MT"/>
                <a:cs typeface="Arial MT"/>
              </a:rPr>
              <a:t>something</a:t>
            </a:r>
            <a:r>
              <a:rPr sz="2729" spc="6" dirty="0">
                <a:latin typeface="Arial MT"/>
                <a:cs typeface="Arial MT"/>
              </a:rPr>
              <a:t> </a:t>
            </a:r>
            <a:r>
              <a:rPr sz="2729" spc="55" dirty="0">
                <a:latin typeface="Arial MT"/>
                <a:cs typeface="Arial MT"/>
              </a:rPr>
              <a:t>that</a:t>
            </a:r>
            <a:r>
              <a:rPr sz="2729" spc="6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spontaneously</a:t>
            </a:r>
            <a:r>
              <a:rPr sz="2729" spc="6" dirty="0">
                <a:latin typeface="Arial MT"/>
                <a:cs typeface="Arial MT"/>
              </a:rPr>
              <a:t> </a:t>
            </a:r>
            <a:r>
              <a:rPr sz="2729" dirty="0">
                <a:latin typeface="Arial MT"/>
                <a:cs typeface="Arial MT"/>
              </a:rPr>
              <a:t>emerges</a:t>
            </a:r>
            <a:r>
              <a:rPr sz="2729" spc="6" dirty="0">
                <a:latin typeface="Arial MT"/>
                <a:cs typeface="Arial MT"/>
              </a:rPr>
              <a:t> </a:t>
            </a:r>
            <a:r>
              <a:rPr sz="2729" spc="24" dirty="0">
                <a:latin typeface="Arial MT"/>
                <a:cs typeface="Arial MT"/>
              </a:rPr>
              <a:t>from</a:t>
            </a:r>
            <a:endParaRPr sz="2729" dirty="0">
              <a:latin typeface="Arial MT"/>
              <a:cs typeface="Arial MT"/>
            </a:endParaRPr>
          </a:p>
          <a:p>
            <a:pPr algn="ctr">
              <a:spcBef>
                <a:spcPts val="476"/>
              </a:spcBef>
            </a:pPr>
            <a:r>
              <a:rPr sz="2729" b="1" spc="-15" dirty="0">
                <a:latin typeface="Arial"/>
                <a:cs typeface="Arial"/>
              </a:rPr>
              <a:t>"human</a:t>
            </a:r>
            <a:r>
              <a:rPr sz="2729" b="1" spc="-164" dirty="0">
                <a:latin typeface="Arial"/>
                <a:cs typeface="Arial"/>
              </a:rPr>
              <a:t> </a:t>
            </a:r>
            <a:r>
              <a:rPr sz="2729" b="1" spc="-6" dirty="0">
                <a:latin typeface="Arial"/>
                <a:cs typeface="Arial"/>
              </a:rPr>
              <a:t>nature"</a:t>
            </a:r>
            <a:endParaRPr sz="2729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58" rIns="0" bIns="0" rtlCol="0" anchor="ctr">
            <a:spAutoFit/>
          </a:bodyPr>
          <a:lstStyle/>
          <a:p>
            <a:pPr marL="7701" marR="3081">
              <a:lnSpc>
                <a:spcPts val="4681"/>
              </a:lnSpc>
              <a:spcBef>
                <a:spcPts val="597"/>
              </a:spcBef>
            </a:pPr>
            <a:r>
              <a:rPr sz="4305" spc="-52" dirty="0"/>
              <a:t>(ii)</a:t>
            </a:r>
            <a:r>
              <a:rPr sz="4305" spc="-112" dirty="0"/>
              <a:t> </a:t>
            </a:r>
            <a:r>
              <a:rPr sz="4305" spc="-42" dirty="0"/>
              <a:t>Children</a:t>
            </a:r>
            <a:r>
              <a:rPr sz="4305" spc="-112" dirty="0"/>
              <a:t> </a:t>
            </a:r>
            <a:r>
              <a:rPr sz="4305" dirty="0"/>
              <a:t>develop</a:t>
            </a:r>
            <a:r>
              <a:rPr sz="4305" spc="-112" dirty="0"/>
              <a:t> </a:t>
            </a:r>
            <a:r>
              <a:rPr sz="4305" spc="-85" dirty="0"/>
              <a:t>reciprocity-</a:t>
            </a:r>
            <a:r>
              <a:rPr sz="4305" spc="-6" dirty="0"/>
              <a:t>related </a:t>
            </a:r>
            <a:r>
              <a:rPr sz="4305" spc="-64" dirty="0"/>
              <a:t>intuitions</a:t>
            </a:r>
            <a:r>
              <a:rPr sz="4305" spc="-67" dirty="0"/>
              <a:t> </a:t>
            </a:r>
            <a:r>
              <a:rPr sz="4305" dirty="0"/>
              <a:t>even</a:t>
            </a:r>
            <a:r>
              <a:rPr sz="4305" spc="-64" dirty="0"/>
              <a:t> </a:t>
            </a:r>
            <a:r>
              <a:rPr sz="4305" dirty="0"/>
              <a:t>before</a:t>
            </a:r>
            <a:r>
              <a:rPr sz="4305" spc="-64" dirty="0"/>
              <a:t> </a:t>
            </a:r>
            <a:r>
              <a:rPr sz="4305" dirty="0"/>
              <a:t>they</a:t>
            </a:r>
            <a:r>
              <a:rPr sz="4305" spc="-64" dirty="0"/>
              <a:t> </a:t>
            </a:r>
            <a:r>
              <a:rPr sz="4305" dirty="0"/>
              <a:t>are</a:t>
            </a:r>
            <a:r>
              <a:rPr sz="4305" spc="-64" dirty="0"/>
              <a:t> </a:t>
            </a:r>
            <a:r>
              <a:rPr sz="4305" spc="-21" dirty="0"/>
              <a:t>fully</a:t>
            </a:r>
            <a:r>
              <a:rPr sz="4305" spc="-64" dirty="0"/>
              <a:t> </a:t>
            </a:r>
            <a:r>
              <a:rPr sz="4305" spc="-76" dirty="0"/>
              <a:t>socialized</a:t>
            </a:r>
            <a:endParaRPr sz="4305"/>
          </a:p>
        </p:txBody>
      </p:sp>
      <p:sp>
        <p:nvSpPr>
          <p:cNvPr id="3" name="object 3"/>
          <p:cNvSpPr txBox="1"/>
          <p:nvPr/>
        </p:nvSpPr>
        <p:spPr>
          <a:xfrm>
            <a:off x="6377318" y="6212952"/>
            <a:ext cx="5462911" cy="445349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R="3081" algn="r">
              <a:lnSpc>
                <a:spcPts val="1740"/>
              </a:lnSpc>
              <a:spcBef>
                <a:spcPts val="73"/>
              </a:spcBef>
            </a:pP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Hamlin, J.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K.,</a:t>
            </a:r>
            <a:r>
              <a:rPr sz="1486" spc="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Wynn,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K.,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&amp;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Bloom,</a:t>
            </a:r>
            <a:r>
              <a:rPr sz="1486" spc="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spc="-88" dirty="0">
                <a:solidFill>
                  <a:srgbClr val="222222"/>
                </a:solidFill>
                <a:latin typeface="Arial MT"/>
                <a:cs typeface="Arial MT"/>
              </a:rPr>
              <a:t>P.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(2007).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Social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evaluation</a:t>
            </a:r>
            <a:r>
              <a:rPr sz="1486" spc="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spc="-15" dirty="0">
                <a:solidFill>
                  <a:srgbClr val="222222"/>
                </a:solidFill>
                <a:latin typeface="Arial MT"/>
                <a:cs typeface="Arial MT"/>
              </a:rPr>
              <a:t>by</a:t>
            </a:r>
            <a:endParaRPr sz="1486">
              <a:latin typeface="Arial MT"/>
              <a:cs typeface="Arial MT"/>
            </a:endParaRPr>
          </a:p>
          <a:p>
            <a:pPr marR="3081" algn="r">
              <a:lnSpc>
                <a:spcPts val="1740"/>
              </a:lnSpc>
            </a:pP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preverbal</a:t>
            </a:r>
            <a:r>
              <a:rPr sz="1486" spc="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dirty="0">
                <a:solidFill>
                  <a:srgbClr val="222222"/>
                </a:solidFill>
                <a:latin typeface="Arial MT"/>
                <a:cs typeface="Arial MT"/>
              </a:rPr>
              <a:t>infants.</a:t>
            </a:r>
            <a:r>
              <a:rPr sz="1486" spc="15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486" i="1" spc="-6" dirty="0">
                <a:solidFill>
                  <a:srgbClr val="222222"/>
                </a:solidFill>
                <a:latin typeface="Arial"/>
                <a:cs typeface="Arial"/>
              </a:rPr>
              <a:t>Nature</a:t>
            </a:r>
            <a:r>
              <a:rPr sz="1486" spc="-6" dirty="0">
                <a:solidFill>
                  <a:srgbClr val="222222"/>
                </a:solidFill>
                <a:latin typeface="Arial MT"/>
                <a:cs typeface="Arial MT"/>
              </a:rPr>
              <a:t>.</a:t>
            </a:r>
            <a:endParaRPr sz="1486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7320" y="2985338"/>
            <a:ext cx="3732046" cy="120213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ctr">
              <a:lnSpc>
                <a:spcPct val="114199"/>
              </a:lnSpc>
              <a:spcBef>
                <a:spcPts val="58"/>
              </a:spcBef>
            </a:pPr>
            <a:r>
              <a:rPr sz="2335" dirty="0">
                <a:latin typeface="Arial MT"/>
                <a:cs typeface="Arial MT"/>
              </a:rPr>
              <a:t>6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spc="91" dirty="0">
                <a:latin typeface="Arial MT"/>
                <a:cs typeface="Arial MT"/>
              </a:rPr>
              <a:t>&amp;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10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52" dirty="0">
                <a:latin typeface="Arial MT"/>
                <a:cs typeface="Arial MT"/>
              </a:rPr>
              <a:t>month</a:t>
            </a:r>
            <a:r>
              <a:rPr sz="2335" spc="3" dirty="0">
                <a:latin typeface="Arial MT"/>
                <a:cs typeface="Arial MT"/>
              </a:rPr>
              <a:t> </a:t>
            </a:r>
            <a:r>
              <a:rPr sz="2335" spc="91" dirty="0">
                <a:latin typeface="Arial MT"/>
                <a:cs typeface="Arial MT"/>
              </a:rPr>
              <a:t>old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children </a:t>
            </a:r>
            <a:r>
              <a:rPr sz="2335" b="1" dirty="0">
                <a:solidFill>
                  <a:srgbClr val="EE220C"/>
                </a:solidFill>
                <a:latin typeface="Arial"/>
                <a:cs typeface="Arial"/>
              </a:rPr>
              <a:t>preferentially</a:t>
            </a:r>
            <a:r>
              <a:rPr sz="2335" b="1" spc="3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335" b="1" dirty="0">
                <a:solidFill>
                  <a:srgbClr val="EE220C"/>
                </a:solidFill>
                <a:latin typeface="Arial"/>
                <a:cs typeface="Arial"/>
              </a:rPr>
              <a:t>interact</a:t>
            </a:r>
            <a:r>
              <a:rPr sz="2335" b="1" spc="12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335" b="1" spc="-12" dirty="0">
                <a:solidFill>
                  <a:srgbClr val="EE220C"/>
                </a:solidFill>
                <a:latin typeface="Arial"/>
                <a:cs typeface="Arial"/>
              </a:rPr>
              <a:t>with </a:t>
            </a:r>
            <a:r>
              <a:rPr sz="2335" b="1" dirty="0">
                <a:solidFill>
                  <a:srgbClr val="EE220C"/>
                </a:solidFill>
                <a:latin typeface="Arial"/>
                <a:cs typeface="Arial"/>
              </a:rPr>
              <a:t>cooperative</a:t>
            </a:r>
            <a:r>
              <a:rPr sz="2335" b="1" spc="-5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2335" b="1" spc="-6" dirty="0">
                <a:solidFill>
                  <a:srgbClr val="EE220C"/>
                </a:solidFill>
                <a:latin typeface="Arial"/>
                <a:cs typeface="Arial"/>
              </a:rPr>
              <a:t>puppets</a:t>
            </a:r>
            <a:endParaRPr sz="2335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9386" y="1727078"/>
            <a:ext cx="3714489" cy="38160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2257" y="3312024"/>
            <a:ext cx="2741660" cy="559606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57375" marR="3081" indent="-50058">
              <a:spcBef>
                <a:spcPts val="69"/>
              </a:spcBef>
            </a:pPr>
            <a:r>
              <a:rPr sz="1789" u="sng" spc="2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 MT"/>
                <a:cs typeface="Arial MT"/>
                <a:hlinkClick r:id="rId3"/>
              </a:rPr>
              <a:t>https://www.youtube.com/</a:t>
            </a:r>
            <a:r>
              <a:rPr sz="1789" spc="27" dirty="0">
                <a:solidFill>
                  <a:srgbClr val="5E5E5E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789" u="sng" spc="-6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 MT"/>
                <a:cs typeface="Arial MT"/>
                <a:hlinkClick r:id="rId3"/>
              </a:rPr>
              <a:t>watch?v=anCaGBsBOxM</a:t>
            </a:r>
            <a:endParaRPr sz="1789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858" rIns="0" bIns="0" rtlCol="0" anchor="ctr">
            <a:spAutoFit/>
          </a:bodyPr>
          <a:lstStyle/>
          <a:p>
            <a:pPr marL="7701" marR="3081">
              <a:lnSpc>
                <a:spcPts val="4681"/>
              </a:lnSpc>
              <a:spcBef>
                <a:spcPts val="597"/>
              </a:spcBef>
            </a:pPr>
            <a:r>
              <a:rPr sz="4305" spc="-55" dirty="0"/>
              <a:t>(iii)</a:t>
            </a:r>
            <a:r>
              <a:rPr sz="4305" spc="-97" dirty="0"/>
              <a:t> </a:t>
            </a:r>
            <a:r>
              <a:rPr sz="4305" spc="-85" dirty="0"/>
              <a:t>Reciprocity</a:t>
            </a:r>
            <a:r>
              <a:rPr sz="4305" spc="-97" dirty="0"/>
              <a:t> exists</a:t>
            </a:r>
            <a:r>
              <a:rPr sz="4305" spc="-94" dirty="0"/>
              <a:t> </a:t>
            </a:r>
            <a:r>
              <a:rPr sz="4305" dirty="0"/>
              <a:t>in</a:t>
            </a:r>
            <a:r>
              <a:rPr sz="4305" spc="-97" dirty="0"/>
              <a:t> </a:t>
            </a:r>
            <a:r>
              <a:rPr sz="4305" dirty="0"/>
              <a:t>other</a:t>
            </a:r>
            <a:r>
              <a:rPr sz="4305" spc="-97" dirty="0"/>
              <a:t> </a:t>
            </a:r>
            <a:r>
              <a:rPr sz="4305" spc="-182" dirty="0"/>
              <a:t>species</a:t>
            </a:r>
            <a:r>
              <a:rPr sz="4305" spc="-94" dirty="0"/>
              <a:t> </a:t>
            </a:r>
            <a:r>
              <a:rPr sz="4305" spc="27" dirty="0"/>
              <a:t>that </a:t>
            </a:r>
            <a:r>
              <a:rPr sz="4305" spc="61" dirty="0"/>
              <a:t>don't</a:t>
            </a:r>
            <a:r>
              <a:rPr sz="4305" spc="-106" dirty="0"/>
              <a:t> </a:t>
            </a:r>
            <a:r>
              <a:rPr sz="4305" spc="-6" dirty="0"/>
              <a:t>have</a:t>
            </a:r>
            <a:r>
              <a:rPr sz="4305" spc="-106" dirty="0"/>
              <a:t> </a:t>
            </a:r>
            <a:r>
              <a:rPr sz="4305" spc="-6" dirty="0"/>
              <a:t>culture</a:t>
            </a:r>
            <a:endParaRPr sz="4305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513" y="1895135"/>
            <a:ext cx="4473393" cy="33079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3478" y="1654022"/>
            <a:ext cx="4838360" cy="37621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59846" y="6322538"/>
            <a:ext cx="3736282" cy="29247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850" spc="-82" dirty="0">
                <a:latin typeface="Arial MT"/>
                <a:cs typeface="Arial MT"/>
              </a:rPr>
              <a:t>Bshary,</a:t>
            </a:r>
            <a:r>
              <a:rPr sz="1850" spc="-45" dirty="0">
                <a:latin typeface="Arial MT"/>
                <a:cs typeface="Arial MT"/>
              </a:rPr>
              <a:t> </a:t>
            </a:r>
            <a:r>
              <a:rPr sz="1850" spc="-61" dirty="0">
                <a:latin typeface="Arial MT"/>
                <a:cs typeface="Arial MT"/>
              </a:rPr>
              <a:t>2002;</a:t>
            </a:r>
            <a:r>
              <a:rPr sz="1850" spc="-55" dirty="0">
                <a:latin typeface="Arial MT"/>
                <a:cs typeface="Arial MT"/>
              </a:rPr>
              <a:t> </a:t>
            </a:r>
            <a:r>
              <a:rPr sz="1850" spc="-64" dirty="0">
                <a:latin typeface="Arial MT"/>
                <a:cs typeface="Arial MT"/>
              </a:rPr>
              <a:t>Bshary</a:t>
            </a:r>
            <a:r>
              <a:rPr sz="1850" spc="-52" dirty="0">
                <a:latin typeface="Arial MT"/>
                <a:cs typeface="Arial MT"/>
              </a:rPr>
              <a:t> </a:t>
            </a:r>
            <a:r>
              <a:rPr sz="1850" spc="61" dirty="0">
                <a:latin typeface="Arial MT"/>
                <a:cs typeface="Arial MT"/>
              </a:rPr>
              <a:t>&amp;</a:t>
            </a:r>
            <a:r>
              <a:rPr sz="1850" spc="-52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Grutter,</a:t>
            </a:r>
            <a:r>
              <a:rPr sz="1850" spc="-52" dirty="0">
                <a:latin typeface="Arial MT"/>
                <a:cs typeface="Arial MT"/>
              </a:rPr>
              <a:t> </a:t>
            </a:r>
            <a:r>
              <a:rPr sz="1850" spc="-33" dirty="0">
                <a:latin typeface="Arial MT"/>
                <a:cs typeface="Arial MT"/>
              </a:rPr>
              <a:t>2006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271" y="6237222"/>
            <a:ext cx="6376284" cy="376958"/>
          </a:xfrm>
          <a:prstGeom prst="rect">
            <a:avLst/>
          </a:prstGeom>
        </p:spPr>
        <p:txBody>
          <a:bodyPr vert="horz" wrap="square" lIns="0" tIns="17712" rIns="0" bIns="0" rtlCol="0">
            <a:spAutoFit/>
          </a:bodyPr>
          <a:lstStyle/>
          <a:p>
            <a:pPr marL="7701" marR="3081">
              <a:lnSpc>
                <a:spcPts val="1401"/>
              </a:lnSpc>
              <a:spcBef>
                <a:spcPts val="139"/>
              </a:spcBef>
            </a:pP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Carter,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G.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G.,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&amp;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Wilkinson,</a:t>
            </a:r>
            <a:r>
              <a:rPr sz="1182" spc="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G.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S.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(2013).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Food</a:t>
            </a:r>
            <a:r>
              <a:rPr sz="1182" spc="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sharing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in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vampire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bats:</a:t>
            </a:r>
            <a:r>
              <a:rPr sz="1182" spc="24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reciprocal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help</a:t>
            </a:r>
            <a:r>
              <a:rPr sz="1182" spc="21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spc="-6" dirty="0">
                <a:solidFill>
                  <a:srgbClr val="222222"/>
                </a:solidFill>
                <a:latin typeface="Arial MT"/>
                <a:cs typeface="Arial MT"/>
              </a:rPr>
              <a:t>predicts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donations</a:t>
            </a:r>
            <a:r>
              <a:rPr sz="1182" spc="3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more</a:t>
            </a:r>
            <a:r>
              <a:rPr sz="1182" spc="3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than</a:t>
            </a:r>
            <a:r>
              <a:rPr sz="1182" spc="3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relatedness</a:t>
            </a:r>
            <a:r>
              <a:rPr sz="1182" spc="33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or</a:t>
            </a:r>
            <a:r>
              <a:rPr sz="1182" spc="3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dirty="0">
                <a:solidFill>
                  <a:srgbClr val="222222"/>
                </a:solidFill>
                <a:latin typeface="Arial MT"/>
                <a:cs typeface="Arial MT"/>
              </a:rPr>
              <a:t>harassment.</a:t>
            </a:r>
            <a:r>
              <a:rPr sz="1182" spc="36" dirty="0">
                <a:solidFill>
                  <a:srgbClr val="222222"/>
                </a:solidFill>
                <a:latin typeface="Arial MT"/>
                <a:cs typeface="Arial MT"/>
              </a:rPr>
              <a:t> </a:t>
            </a:r>
            <a:r>
              <a:rPr sz="1182" i="1" dirty="0">
                <a:solidFill>
                  <a:srgbClr val="222222"/>
                </a:solidFill>
                <a:latin typeface="Arial"/>
                <a:cs typeface="Arial"/>
              </a:rPr>
              <a:t>Proceedings</a:t>
            </a:r>
            <a:r>
              <a:rPr sz="1182" i="1" spc="36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82" i="1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182" i="1" spc="33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82" i="1" dirty="0">
                <a:solidFill>
                  <a:srgbClr val="222222"/>
                </a:solidFill>
                <a:latin typeface="Arial"/>
                <a:cs typeface="Arial"/>
              </a:rPr>
              <a:t>the</a:t>
            </a:r>
            <a:r>
              <a:rPr sz="1182" i="1" spc="36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82" i="1" dirty="0">
                <a:solidFill>
                  <a:srgbClr val="222222"/>
                </a:solidFill>
                <a:latin typeface="Arial"/>
                <a:cs typeface="Arial"/>
              </a:rPr>
              <a:t>Royal</a:t>
            </a:r>
            <a:r>
              <a:rPr sz="1182" i="1" spc="36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82" i="1" dirty="0">
                <a:solidFill>
                  <a:srgbClr val="222222"/>
                </a:solidFill>
                <a:latin typeface="Arial"/>
                <a:cs typeface="Arial"/>
              </a:rPr>
              <a:t>Society</a:t>
            </a:r>
            <a:r>
              <a:rPr sz="1182" i="1" spc="33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182" i="1" spc="-15" dirty="0">
                <a:solidFill>
                  <a:srgbClr val="222222"/>
                </a:solidFill>
                <a:latin typeface="Arial"/>
                <a:cs typeface="Arial"/>
              </a:rPr>
              <a:t>B.</a:t>
            </a:r>
            <a:endParaRPr sz="118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69" y="1820"/>
            <a:ext cx="10173406" cy="2042289"/>
          </a:xfrm>
          <a:prstGeom prst="rect">
            <a:avLst/>
          </a:prstGeom>
        </p:spPr>
        <p:txBody>
          <a:bodyPr vert="horz" wrap="square" lIns="0" tIns="78168" rIns="0" bIns="0" rtlCol="0" anchor="ctr">
            <a:spAutoFit/>
          </a:bodyPr>
          <a:lstStyle/>
          <a:p>
            <a:pPr marL="7701" marR="3081">
              <a:lnSpc>
                <a:spcPts val="5082"/>
              </a:lnSpc>
              <a:spcBef>
                <a:spcPts val="615"/>
              </a:spcBef>
            </a:pPr>
            <a:r>
              <a:rPr sz="4639" dirty="0"/>
              <a:t>2nd</a:t>
            </a:r>
            <a:r>
              <a:rPr sz="4639" spc="-49" dirty="0"/>
              <a:t> </a:t>
            </a:r>
            <a:r>
              <a:rPr sz="4639" dirty="0"/>
              <a:t>problem:</a:t>
            </a:r>
            <a:r>
              <a:rPr sz="4639" spc="-49" dirty="0"/>
              <a:t> </a:t>
            </a:r>
            <a:r>
              <a:rPr sz="4639" dirty="0"/>
              <a:t>Why</a:t>
            </a:r>
            <a:r>
              <a:rPr sz="4639" spc="-49" dirty="0"/>
              <a:t> </a:t>
            </a:r>
            <a:r>
              <a:rPr sz="4639" dirty="0"/>
              <a:t>do</a:t>
            </a:r>
            <a:r>
              <a:rPr sz="4639" spc="-49" dirty="0"/>
              <a:t> </a:t>
            </a:r>
            <a:r>
              <a:rPr sz="4639" spc="-42" dirty="0"/>
              <a:t>cultural</a:t>
            </a:r>
            <a:r>
              <a:rPr sz="4639" spc="-49" dirty="0"/>
              <a:t> </a:t>
            </a:r>
            <a:r>
              <a:rPr sz="4639" spc="-82" dirty="0"/>
              <a:t>norms </a:t>
            </a:r>
            <a:r>
              <a:rPr sz="4639" dirty="0"/>
              <a:t>exhibit</a:t>
            </a:r>
            <a:r>
              <a:rPr sz="4639" spc="-130" dirty="0"/>
              <a:t> </a:t>
            </a:r>
            <a:r>
              <a:rPr sz="4639" spc="-94" dirty="0"/>
              <a:t>systematic</a:t>
            </a:r>
            <a:r>
              <a:rPr sz="4639" spc="-130" dirty="0"/>
              <a:t> </a:t>
            </a:r>
            <a:r>
              <a:rPr sz="4639" spc="-49" dirty="0"/>
              <a:t>relationship</a:t>
            </a:r>
            <a:r>
              <a:rPr sz="4639" spc="-130" dirty="0"/>
              <a:t> </a:t>
            </a:r>
            <a:r>
              <a:rPr sz="4639" spc="-12" dirty="0"/>
              <a:t>with </a:t>
            </a:r>
            <a:r>
              <a:rPr sz="4639" dirty="0"/>
              <a:t>certain</a:t>
            </a:r>
            <a:r>
              <a:rPr sz="4639" spc="-221" dirty="0"/>
              <a:t> </a:t>
            </a:r>
            <a:r>
              <a:rPr sz="4639" spc="-67" dirty="0"/>
              <a:t>environments?</a:t>
            </a:r>
            <a:endParaRPr sz="463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9362" y="2688066"/>
            <a:ext cx="2134059" cy="41251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" y="2235360"/>
            <a:ext cx="4863758" cy="43046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9005" y="2552997"/>
            <a:ext cx="4912567" cy="422197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429" y="1301658"/>
            <a:ext cx="2990612" cy="43176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62608" y="5727304"/>
            <a:ext cx="4470984" cy="64797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algn="ctr">
              <a:spcBef>
                <a:spcPts val="79"/>
              </a:spcBef>
            </a:pPr>
            <a:r>
              <a:rPr sz="2031" dirty="0">
                <a:latin typeface="Arial MT"/>
                <a:cs typeface="Arial MT"/>
              </a:rPr>
              <a:t>The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Emperor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spc="39" dirty="0">
                <a:latin typeface="Arial MT"/>
                <a:cs typeface="Arial MT"/>
              </a:rPr>
              <a:t>of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French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social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spc="-6" dirty="0">
                <a:latin typeface="Arial MT"/>
                <a:cs typeface="Arial MT"/>
              </a:rPr>
              <a:t>science:</a:t>
            </a:r>
            <a:endParaRPr sz="2031">
              <a:latin typeface="Arial MT"/>
              <a:cs typeface="Arial MT"/>
            </a:endParaRPr>
          </a:p>
          <a:p>
            <a:pPr algn="ctr">
              <a:spcBef>
                <a:spcPts val="52"/>
              </a:spcBef>
            </a:pPr>
            <a:r>
              <a:rPr sz="2031" b="1" dirty="0">
                <a:latin typeface="Arial"/>
                <a:cs typeface="Arial"/>
              </a:rPr>
              <a:t>Pierre</a:t>
            </a:r>
            <a:r>
              <a:rPr sz="2031" b="1" spc="3" dirty="0">
                <a:latin typeface="Arial"/>
                <a:cs typeface="Arial"/>
              </a:rPr>
              <a:t> </a:t>
            </a:r>
            <a:r>
              <a:rPr sz="2031" b="1" spc="-6" dirty="0">
                <a:latin typeface="Arial"/>
                <a:cs typeface="Arial"/>
              </a:rPr>
              <a:t>Bourdieu</a:t>
            </a:r>
            <a:endParaRPr sz="203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340" y="4235007"/>
            <a:ext cx="6415176" cy="244818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>
              <a:lnSpc>
                <a:spcPct val="115700"/>
              </a:lnSpc>
              <a:spcBef>
                <a:spcPts val="55"/>
              </a:spcBef>
            </a:pPr>
            <a:r>
              <a:rPr sz="1728" i="1" dirty="0">
                <a:solidFill>
                  <a:srgbClr val="5E5E5E"/>
                </a:solidFill>
                <a:latin typeface="Arial"/>
                <a:cs typeface="Arial"/>
              </a:rPr>
              <a:t>"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principes</a:t>
            </a:r>
            <a:r>
              <a:rPr sz="1728" b="1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générateurs </a:t>
            </a:r>
            <a:r>
              <a:rPr sz="1728" b="1" i="1" spc="67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8" dirty="0">
                <a:solidFill>
                  <a:srgbClr val="0076BA"/>
                </a:solidFill>
                <a:latin typeface="Arial"/>
                <a:cs typeface="Arial"/>
              </a:rPr>
              <a:t>organisateurs</a:t>
            </a:r>
            <a:r>
              <a:rPr sz="1728" b="1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39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 pratiques </a:t>
            </a:r>
            <a:r>
              <a:rPr sz="1728" b="1" i="1" spc="67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1728" b="1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24" dirty="0">
                <a:solidFill>
                  <a:srgbClr val="0076BA"/>
                </a:solidFill>
                <a:latin typeface="Arial"/>
                <a:cs typeface="Arial"/>
              </a:rPr>
              <a:t>de </a:t>
            </a:r>
            <a:r>
              <a:rPr sz="1728" b="1" i="1" spc="-12" dirty="0">
                <a:solidFill>
                  <a:srgbClr val="0076BA"/>
                </a:solidFill>
                <a:latin typeface="Arial"/>
                <a:cs typeface="Arial"/>
              </a:rPr>
              <a:t>représentations</a:t>
            </a:r>
            <a:r>
              <a:rPr sz="1728" b="1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45" dirty="0">
                <a:solidFill>
                  <a:srgbClr val="0076BA"/>
                </a:solidFill>
                <a:latin typeface="Arial"/>
                <a:cs typeface="Arial"/>
              </a:rPr>
              <a:t>qui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peuvent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être</a:t>
            </a:r>
            <a:r>
              <a:rPr sz="1728" i="1" spc="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30" dirty="0">
                <a:solidFill>
                  <a:srgbClr val="0076BA"/>
                </a:solidFill>
                <a:latin typeface="Arial"/>
                <a:cs typeface="Arial"/>
              </a:rPr>
              <a:t>obįectivement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adaptées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à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-12" dirty="0">
                <a:solidFill>
                  <a:srgbClr val="0076BA"/>
                </a:solidFill>
                <a:latin typeface="Arial"/>
                <a:cs typeface="Arial"/>
              </a:rPr>
              <a:t>leur </a:t>
            </a:r>
            <a:r>
              <a:rPr sz="1728" i="1" spc="69" dirty="0">
                <a:solidFill>
                  <a:srgbClr val="0076BA"/>
                </a:solidFill>
                <a:latin typeface="Arial"/>
                <a:cs typeface="Arial"/>
              </a:rPr>
              <a:t>but</a:t>
            </a:r>
            <a:r>
              <a:rPr sz="1728" i="1" spc="-8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09" dirty="0">
                <a:solidFill>
                  <a:srgbClr val="0076BA"/>
                </a:solidFill>
                <a:latin typeface="Arial"/>
                <a:cs typeface="Arial"/>
              </a:rPr>
              <a:t>sans</a:t>
            </a:r>
            <a:r>
              <a:rPr sz="1728" b="1" i="1" spc="-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24" dirty="0">
                <a:solidFill>
                  <a:srgbClr val="0076BA"/>
                </a:solidFill>
                <a:latin typeface="Arial"/>
                <a:cs typeface="Arial"/>
              </a:rPr>
              <a:t>supposer</a:t>
            </a:r>
            <a:r>
              <a:rPr sz="1728" b="1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la</a:t>
            </a:r>
            <a:r>
              <a:rPr sz="1728" b="1" i="1" spc="-30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8" dirty="0">
                <a:solidFill>
                  <a:srgbClr val="0076BA"/>
                </a:solidFill>
                <a:latin typeface="Arial"/>
                <a:cs typeface="Arial"/>
              </a:rPr>
              <a:t>visée</a:t>
            </a:r>
            <a:r>
              <a:rPr sz="1728" b="1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24" dirty="0">
                <a:solidFill>
                  <a:srgbClr val="0076BA"/>
                </a:solidFill>
                <a:latin typeface="Arial"/>
                <a:cs typeface="Arial"/>
              </a:rPr>
              <a:t>consciente</a:t>
            </a:r>
            <a:r>
              <a:rPr sz="1728" b="1" i="1" spc="-30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des</a:t>
            </a:r>
            <a:r>
              <a:rPr sz="1728" b="1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42" dirty="0">
                <a:solidFill>
                  <a:srgbClr val="0076BA"/>
                </a:solidFill>
                <a:latin typeface="Arial"/>
                <a:cs typeface="Arial"/>
              </a:rPr>
              <a:t>fins</a:t>
            </a:r>
            <a:r>
              <a:rPr sz="1728" b="1" i="1" spc="-5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49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1728" i="1" spc="-5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la</a:t>
            </a:r>
            <a:r>
              <a:rPr sz="1728" i="1" spc="-5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-6" dirty="0">
                <a:solidFill>
                  <a:srgbClr val="0076BA"/>
                </a:solidFill>
                <a:latin typeface="Arial"/>
                <a:cs typeface="Arial"/>
              </a:rPr>
              <a:t>maîtrise expresse</a:t>
            </a:r>
            <a:r>
              <a:rPr sz="1728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des</a:t>
            </a:r>
            <a:r>
              <a:rPr sz="1728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opérations </a:t>
            </a:r>
            <a:r>
              <a:rPr sz="1728" i="1" spc="-33" dirty="0">
                <a:solidFill>
                  <a:srgbClr val="0076BA"/>
                </a:solidFill>
                <a:latin typeface="Arial"/>
                <a:cs typeface="Arial"/>
              </a:rPr>
              <a:t>nécessaires</a:t>
            </a:r>
            <a:r>
              <a:rPr sz="1728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42" dirty="0">
                <a:solidFill>
                  <a:srgbClr val="0076BA"/>
                </a:solidFill>
                <a:latin typeface="Arial"/>
                <a:cs typeface="Arial"/>
              </a:rPr>
              <a:t>pour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 les</a:t>
            </a:r>
            <a:r>
              <a:rPr sz="1728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-6" dirty="0">
                <a:solidFill>
                  <a:srgbClr val="0076BA"/>
                </a:solidFill>
                <a:latin typeface="Arial"/>
                <a:cs typeface="Arial"/>
              </a:rPr>
              <a:t>atteindre, </a:t>
            </a:r>
            <a:r>
              <a:rPr sz="1728" i="1" spc="30" dirty="0">
                <a:solidFill>
                  <a:srgbClr val="0076BA"/>
                </a:solidFill>
                <a:latin typeface="Arial"/>
                <a:cs typeface="Arial"/>
              </a:rPr>
              <a:t>obįectivement</a:t>
            </a:r>
            <a:r>
              <a:rPr sz="1728" i="1" spc="-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«</a:t>
            </a:r>
            <a:r>
              <a:rPr sz="1728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réglées</a:t>
            </a:r>
            <a:r>
              <a:rPr sz="1728" i="1" spc="-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»</a:t>
            </a:r>
            <a:r>
              <a:rPr sz="1728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49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1728" i="1" spc="-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«</a:t>
            </a:r>
            <a:r>
              <a:rPr sz="1728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régulières</a:t>
            </a:r>
            <a:r>
              <a:rPr sz="1728" i="1" spc="-3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»</a:t>
            </a:r>
            <a:r>
              <a:rPr sz="1728" i="1" spc="-3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09" dirty="0">
                <a:solidFill>
                  <a:srgbClr val="0076BA"/>
                </a:solidFill>
                <a:latin typeface="Arial"/>
                <a:cs typeface="Arial"/>
              </a:rPr>
              <a:t>sans</a:t>
            </a:r>
            <a:r>
              <a:rPr sz="1728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33" dirty="0">
                <a:solidFill>
                  <a:srgbClr val="0076BA"/>
                </a:solidFill>
                <a:latin typeface="Arial"/>
                <a:cs typeface="Arial"/>
              </a:rPr>
              <a:t>être</a:t>
            </a:r>
            <a:r>
              <a:rPr sz="1728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en</a:t>
            </a:r>
            <a:r>
              <a:rPr sz="1728" b="1" i="1" spc="-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rien</a:t>
            </a:r>
            <a:r>
              <a:rPr sz="1728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5" dirty="0">
                <a:solidFill>
                  <a:srgbClr val="0076BA"/>
                </a:solidFill>
                <a:latin typeface="Arial"/>
                <a:cs typeface="Arial"/>
              </a:rPr>
              <a:t>le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produit</a:t>
            </a:r>
            <a:r>
              <a:rPr sz="1728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39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1728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33" dirty="0">
                <a:solidFill>
                  <a:srgbClr val="0076BA"/>
                </a:solidFill>
                <a:latin typeface="Arial"/>
                <a:cs typeface="Arial"/>
              </a:rPr>
              <a:t>l’obéissance</a:t>
            </a:r>
            <a:r>
              <a:rPr sz="1728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à</a:t>
            </a:r>
            <a:r>
              <a:rPr sz="1728" b="1" i="1" spc="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des</a:t>
            </a:r>
            <a:r>
              <a:rPr sz="1728" b="1" i="1" spc="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règles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,</a:t>
            </a:r>
            <a:r>
              <a:rPr sz="1728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36" dirty="0">
                <a:solidFill>
                  <a:srgbClr val="0076BA"/>
                </a:solidFill>
                <a:latin typeface="Arial"/>
                <a:cs typeface="Arial"/>
              </a:rPr>
              <a:t>et,</a:t>
            </a:r>
            <a:r>
              <a:rPr sz="1728" i="1" spc="-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30" dirty="0">
                <a:solidFill>
                  <a:srgbClr val="0076BA"/>
                </a:solidFill>
                <a:latin typeface="Arial"/>
                <a:cs typeface="Arial"/>
              </a:rPr>
              <a:t>étant</a:t>
            </a:r>
            <a:r>
              <a:rPr sz="1728" i="1" spc="-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69" dirty="0">
                <a:solidFill>
                  <a:srgbClr val="0076BA"/>
                </a:solidFill>
                <a:latin typeface="Arial"/>
                <a:cs typeface="Arial"/>
              </a:rPr>
              <a:t>tout</a:t>
            </a:r>
            <a:r>
              <a:rPr sz="1728" i="1" spc="-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-6" dirty="0">
                <a:solidFill>
                  <a:srgbClr val="0076BA"/>
                </a:solidFill>
                <a:latin typeface="Arial"/>
                <a:cs typeface="Arial"/>
              </a:rPr>
              <a:t>cela, </a:t>
            </a:r>
            <a:r>
              <a:rPr sz="1728" i="1" dirty="0">
                <a:solidFill>
                  <a:srgbClr val="0076BA"/>
                </a:solidFill>
                <a:latin typeface="Arial"/>
                <a:cs typeface="Arial"/>
              </a:rPr>
              <a:t>collectivement</a:t>
            </a:r>
            <a:r>
              <a:rPr sz="1728" i="1" spc="5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i="1" spc="-6" dirty="0">
                <a:solidFill>
                  <a:srgbClr val="0076BA"/>
                </a:solidFill>
                <a:latin typeface="Arial"/>
                <a:cs typeface="Arial"/>
              </a:rPr>
              <a:t>orchestrées</a:t>
            </a:r>
            <a:r>
              <a:rPr sz="1728" i="1" spc="5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109" dirty="0">
                <a:solidFill>
                  <a:srgbClr val="0076BA"/>
                </a:solidFill>
                <a:latin typeface="Arial"/>
                <a:cs typeface="Arial"/>
              </a:rPr>
              <a:t>sans</a:t>
            </a:r>
            <a:r>
              <a:rPr sz="1728" b="1" i="1" spc="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33" dirty="0">
                <a:solidFill>
                  <a:srgbClr val="0076BA"/>
                </a:solidFill>
                <a:latin typeface="Arial"/>
                <a:cs typeface="Arial"/>
              </a:rPr>
              <a:t>être</a:t>
            </a:r>
            <a:r>
              <a:rPr sz="1728" b="1" i="1" spc="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le</a:t>
            </a:r>
            <a:r>
              <a:rPr sz="1728" b="1" i="1" spc="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produit</a:t>
            </a:r>
            <a:r>
              <a:rPr sz="1728" b="1" i="1" spc="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39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1728" b="1" i="1" spc="8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6" dirty="0">
                <a:solidFill>
                  <a:srgbClr val="0076BA"/>
                </a:solidFill>
                <a:latin typeface="Arial"/>
                <a:cs typeface="Arial"/>
              </a:rPr>
              <a:t>l’action </a:t>
            </a:r>
            <a:r>
              <a:rPr sz="1728" b="1" i="1" spc="-18" dirty="0">
                <a:solidFill>
                  <a:srgbClr val="0076BA"/>
                </a:solidFill>
                <a:latin typeface="Arial"/>
                <a:cs typeface="Arial"/>
              </a:rPr>
              <a:t>organisatrice</a:t>
            </a:r>
            <a:r>
              <a:rPr sz="1728" b="1" i="1" spc="-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d’un</a:t>
            </a:r>
            <a:r>
              <a:rPr sz="1728" b="1" i="1" spc="-39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dirty="0">
                <a:solidFill>
                  <a:srgbClr val="0076BA"/>
                </a:solidFill>
                <a:latin typeface="Arial"/>
                <a:cs typeface="Arial"/>
              </a:rPr>
              <a:t>chef</a:t>
            </a:r>
            <a:r>
              <a:rPr sz="1728" b="1" i="1" spc="-42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28" b="1" i="1" spc="-6" dirty="0">
                <a:solidFill>
                  <a:srgbClr val="0076BA"/>
                </a:solidFill>
                <a:latin typeface="Arial"/>
                <a:cs typeface="Arial"/>
              </a:rPr>
              <a:t>d'orchestre</a:t>
            </a:r>
            <a:r>
              <a:rPr sz="1728" i="1" spc="-6" dirty="0">
                <a:solidFill>
                  <a:srgbClr val="5E5E5E"/>
                </a:solidFill>
                <a:latin typeface="Arial"/>
                <a:cs typeface="Arial"/>
              </a:rPr>
              <a:t>"</a:t>
            </a:r>
            <a:endParaRPr sz="172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602" y="1789651"/>
            <a:ext cx="7018572" cy="1823954"/>
          </a:xfrm>
          <a:prstGeom prst="rect">
            <a:avLst/>
          </a:prstGeom>
        </p:spPr>
        <p:txBody>
          <a:bodyPr vert="horz" wrap="square" lIns="0" tIns="179825" rIns="0" bIns="0" rtlCol="0">
            <a:spAutoFit/>
          </a:bodyPr>
          <a:lstStyle/>
          <a:p>
            <a:pPr marL="7701">
              <a:spcBef>
                <a:spcPts val="1416"/>
              </a:spcBef>
            </a:pPr>
            <a:r>
              <a:rPr sz="2244" dirty="0">
                <a:latin typeface="Arial MT"/>
                <a:cs typeface="Arial MT"/>
              </a:rPr>
              <a:t>Bourdieu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is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known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for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spc="42" dirty="0">
                <a:latin typeface="Arial MT"/>
                <a:cs typeface="Arial MT"/>
              </a:rPr>
              <a:t>concept</a:t>
            </a:r>
            <a:r>
              <a:rPr sz="2244" spc="36" dirty="0">
                <a:latin typeface="Arial MT"/>
                <a:cs typeface="Arial MT"/>
              </a:rPr>
              <a:t> of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b="1" i="1" spc="-6" dirty="0">
                <a:solidFill>
                  <a:srgbClr val="D31876"/>
                </a:solidFill>
                <a:latin typeface="Arial"/>
                <a:cs typeface="Arial"/>
              </a:rPr>
              <a:t>habitus</a:t>
            </a:r>
            <a:r>
              <a:rPr sz="2244" i="1" spc="-6" dirty="0">
                <a:latin typeface="Arial"/>
                <a:cs typeface="Arial"/>
              </a:rPr>
              <a:t>:</a:t>
            </a:r>
            <a:endParaRPr sz="2244">
              <a:latin typeface="Arial"/>
              <a:cs typeface="Arial"/>
            </a:endParaRPr>
          </a:p>
          <a:p>
            <a:pPr marL="731237" marR="3081" indent="-266849">
              <a:lnSpc>
                <a:spcPct val="99800"/>
              </a:lnSpc>
              <a:spcBef>
                <a:spcPts val="2049"/>
              </a:spcBef>
            </a:pPr>
            <a:r>
              <a:rPr sz="3866" baseline="-3267" dirty="0">
                <a:latin typeface="Arial MT"/>
                <a:cs typeface="Arial MT"/>
              </a:rPr>
              <a:t>•</a:t>
            </a:r>
            <a:r>
              <a:rPr sz="3866" spc="677" baseline="-3267" dirty="0">
                <a:latin typeface="Arial MT"/>
                <a:cs typeface="Arial MT"/>
              </a:rPr>
              <a:t> </a:t>
            </a:r>
            <a:r>
              <a:rPr sz="2092" spc="36" dirty="0">
                <a:latin typeface="Arial MT"/>
                <a:cs typeface="Arial MT"/>
              </a:rPr>
              <a:t>=</a:t>
            </a:r>
            <a:r>
              <a:rPr sz="2092" spc="-1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a</a:t>
            </a:r>
            <a:r>
              <a:rPr sz="2092" spc="-12" dirty="0">
                <a:latin typeface="Arial MT"/>
                <a:cs typeface="Arial MT"/>
              </a:rPr>
              <a:t> </a:t>
            </a:r>
            <a:r>
              <a:rPr sz="2092" b="1" dirty="0">
                <a:latin typeface="Arial"/>
                <a:cs typeface="Arial"/>
              </a:rPr>
              <a:t>deeply</a:t>
            </a:r>
            <a:r>
              <a:rPr sz="2092" b="1" spc="-12" dirty="0">
                <a:latin typeface="Arial"/>
                <a:cs typeface="Arial"/>
              </a:rPr>
              <a:t> </a:t>
            </a:r>
            <a:r>
              <a:rPr sz="2092" b="1" dirty="0">
                <a:latin typeface="Arial"/>
                <a:cs typeface="Arial"/>
              </a:rPr>
              <a:t>internalized</a:t>
            </a:r>
            <a:r>
              <a:rPr sz="2092" b="1" spc="-12" dirty="0">
                <a:latin typeface="Arial"/>
                <a:cs typeface="Arial"/>
              </a:rPr>
              <a:t> </a:t>
            </a:r>
            <a:r>
              <a:rPr sz="2092" dirty="0">
                <a:latin typeface="Arial MT"/>
                <a:cs typeface="Arial MT"/>
              </a:rPr>
              <a:t>and</a:t>
            </a:r>
            <a:r>
              <a:rPr sz="2092" spc="-12" dirty="0">
                <a:latin typeface="Arial MT"/>
                <a:cs typeface="Arial MT"/>
              </a:rPr>
              <a:t> </a:t>
            </a:r>
            <a:r>
              <a:rPr sz="2092" b="1" spc="-15" dirty="0">
                <a:latin typeface="Arial"/>
                <a:cs typeface="Arial"/>
              </a:rPr>
              <a:t>unconscious </a:t>
            </a:r>
            <a:r>
              <a:rPr sz="2092" spc="42" dirty="0">
                <a:latin typeface="Arial MT"/>
                <a:cs typeface="Arial MT"/>
              </a:rPr>
              <a:t>"way</a:t>
            </a:r>
            <a:r>
              <a:rPr sz="2092" spc="-12" dirty="0">
                <a:latin typeface="Arial MT"/>
                <a:cs typeface="Arial MT"/>
              </a:rPr>
              <a:t> </a:t>
            </a:r>
            <a:r>
              <a:rPr sz="2092" spc="18" dirty="0">
                <a:latin typeface="Arial MT"/>
                <a:cs typeface="Arial MT"/>
              </a:rPr>
              <a:t>of </a:t>
            </a:r>
            <a:r>
              <a:rPr sz="2092" spc="36" dirty="0">
                <a:latin typeface="Arial MT"/>
                <a:cs typeface="Arial MT"/>
              </a:rPr>
              <a:t>being"</a:t>
            </a:r>
            <a:r>
              <a:rPr sz="2092" spc="100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that</a:t>
            </a:r>
            <a:r>
              <a:rPr sz="2092" spc="97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determines</a:t>
            </a:r>
            <a:r>
              <a:rPr sz="2092" spc="100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our</a:t>
            </a:r>
            <a:r>
              <a:rPr sz="2092" spc="100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perceptions,</a:t>
            </a:r>
            <a:r>
              <a:rPr sz="2092" spc="97" dirty="0">
                <a:latin typeface="Arial MT"/>
                <a:cs typeface="Arial MT"/>
              </a:rPr>
              <a:t> </a:t>
            </a:r>
            <a:r>
              <a:rPr sz="2092" spc="-6" dirty="0">
                <a:latin typeface="Arial MT"/>
                <a:cs typeface="Arial MT"/>
              </a:rPr>
              <a:t>judgements, </a:t>
            </a:r>
            <a:r>
              <a:rPr sz="2092" dirty="0">
                <a:latin typeface="Arial MT"/>
                <a:cs typeface="Arial MT"/>
              </a:rPr>
              <a:t>behaviors,</a:t>
            </a:r>
            <a:r>
              <a:rPr sz="2092" spc="-24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values,</a:t>
            </a:r>
            <a:r>
              <a:rPr sz="2092" spc="-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and</a:t>
            </a:r>
            <a:r>
              <a:rPr sz="2092" spc="-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even</a:t>
            </a:r>
            <a:r>
              <a:rPr sz="2092" spc="-24" dirty="0">
                <a:latin typeface="Arial MT"/>
                <a:cs typeface="Arial MT"/>
              </a:rPr>
              <a:t> </a:t>
            </a:r>
            <a:r>
              <a:rPr sz="2092" spc="42" dirty="0">
                <a:latin typeface="Arial MT"/>
                <a:cs typeface="Arial MT"/>
              </a:rPr>
              <a:t>body</a:t>
            </a:r>
            <a:r>
              <a:rPr sz="2092" spc="-21" dirty="0">
                <a:latin typeface="Arial MT"/>
                <a:cs typeface="Arial MT"/>
              </a:rPr>
              <a:t> </a:t>
            </a:r>
            <a:r>
              <a:rPr sz="2092" spc="-6" dirty="0">
                <a:latin typeface="Arial MT"/>
                <a:cs typeface="Arial MT"/>
              </a:rPr>
              <a:t>attitude</a:t>
            </a:r>
            <a:endParaRPr sz="2092">
              <a:latin typeface="Arial MT"/>
              <a:cs typeface="Arial MT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08713" y="-123481"/>
            <a:ext cx="6376669" cy="1493610"/>
          </a:xfrm>
          <a:prstGeom prst="rect">
            <a:avLst/>
          </a:prstGeom>
        </p:spPr>
        <p:txBody>
          <a:bodyPr vert="horz" wrap="square" lIns="0" tIns="108136" rIns="0" bIns="0" rtlCol="0" anchor="ctr">
            <a:spAutoFit/>
          </a:bodyPr>
          <a:lstStyle/>
          <a:p>
            <a:pPr marL="7701" marR="3081">
              <a:lnSpc>
                <a:spcPts val="5518"/>
              </a:lnSpc>
              <a:spcBef>
                <a:spcPts val="664"/>
              </a:spcBef>
            </a:pPr>
            <a:r>
              <a:rPr dirty="0"/>
              <a:t>Pierre</a:t>
            </a:r>
            <a:r>
              <a:rPr spc="-152" dirty="0"/>
              <a:t> </a:t>
            </a:r>
            <a:r>
              <a:rPr spc="-30" dirty="0"/>
              <a:t>Bourdieu,</a:t>
            </a:r>
            <a:r>
              <a:rPr spc="-152" dirty="0"/>
              <a:t> </a:t>
            </a:r>
            <a:r>
              <a:rPr spc="55" dirty="0"/>
              <a:t>the</a:t>
            </a:r>
            <a:r>
              <a:rPr spc="-149" dirty="0"/>
              <a:t> </a:t>
            </a:r>
            <a:r>
              <a:rPr i="1" spc="-52" dirty="0">
                <a:latin typeface="Arial"/>
                <a:cs typeface="Arial"/>
              </a:rPr>
              <a:t>habitus,</a:t>
            </a:r>
            <a:r>
              <a:rPr i="1" spc="-152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49" dirty="0"/>
              <a:t> </a:t>
            </a:r>
            <a:r>
              <a:rPr spc="-221" dirty="0"/>
              <a:t>social </a:t>
            </a:r>
            <a:r>
              <a:rPr spc="-318" dirty="0"/>
              <a:t>classes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429" y="1301658"/>
            <a:ext cx="2990612" cy="43176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62608" y="5727304"/>
            <a:ext cx="4470984" cy="647977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algn="ctr">
              <a:spcBef>
                <a:spcPts val="79"/>
              </a:spcBef>
            </a:pPr>
            <a:r>
              <a:rPr sz="2031" dirty="0">
                <a:latin typeface="Arial MT"/>
                <a:cs typeface="Arial MT"/>
              </a:rPr>
              <a:t>The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Emperor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spc="39" dirty="0">
                <a:latin typeface="Arial MT"/>
                <a:cs typeface="Arial MT"/>
              </a:rPr>
              <a:t>of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French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social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spc="-6" dirty="0">
                <a:latin typeface="Arial MT"/>
                <a:cs typeface="Arial MT"/>
              </a:rPr>
              <a:t>science:</a:t>
            </a:r>
            <a:endParaRPr sz="2031">
              <a:latin typeface="Arial MT"/>
              <a:cs typeface="Arial MT"/>
            </a:endParaRPr>
          </a:p>
          <a:p>
            <a:pPr algn="ctr">
              <a:spcBef>
                <a:spcPts val="52"/>
              </a:spcBef>
            </a:pPr>
            <a:r>
              <a:rPr sz="2031" b="1" dirty="0">
                <a:latin typeface="Arial"/>
                <a:cs typeface="Arial"/>
              </a:rPr>
              <a:t>Pierre</a:t>
            </a:r>
            <a:r>
              <a:rPr sz="2031" b="1" spc="3" dirty="0">
                <a:latin typeface="Arial"/>
                <a:cs typeface="Arial"/>
              </a:rPr>
              <a:t> </a:t>
            </a:r>
            <a:r>
              <a:rPr sz="2031" b="1" spc="-6" dirty="0">
                <a:latin typeface="Arial"/>
                <a:cs typeface="Arial"/>
              </a:rPr>
              <a:t>Bourdieu</a:t>
            </a:r>
            <a:endParaRPr sz="2031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8713" y="-123481"/>
            <a:ext cx="6376669" cy="1493610"/>
          </a:xfrm>
          <a:prstGeom prst="rect">
            <a:avLst/>
          </a:prstGeom>
        </p:spPr>
        <p:txBody>
          <a:bodyPr vert="horz" wrap="square" lIns="0" tIns="108136" rIns="0" bIns="0" rtlCol="0" anchor="ctr">
            <a:spAutoFit/>
          </a:bodyPr>
          <a:lstStyle/>
          <a:p>
            <a:pPr marL="7701" marR="3081">
              <a:lnSpc>
                <a:spcPts val="5518"/>
              </a:lnSpc>
              <a:spcBef>
                <a:spcPts val="664"/>
              </a:spcBef>
            </a:pPr>
            <a:r>
              <a:rPr dirty="0"/>
              <a:t>Pierre</a:t>
            </a:r>
            <a:r>
              <a:rPr spc="-152" dirty="0"/>
              <a:t> </a:t>
            </a:r>
            <a:r>
              <a:rPr spc="-30" dirty="0"/>
              <a:t>Bourdieu,</a:t>
            </a:r>
            <a:r>
              <a:rPr spc="-152" dirty="0"/>
              <a:t> </a:t>
            </a:r>
            <a:r>
              <a:rPr spc="55" dirty="0"/>
              <a:t>the</a:t>
            </a:r>
            <a:r>
              <a:rPr spc="-149" dirty="0"/>
              <a:t> </a:t>
            </a:r>
            <a:r>
              <a:rPr i="1" spc="-52" dirty="0">
                <a:latin typeface="Arial"/>
                <a:cs typeface="Arial"/>
              </a:rPr>
              <a:t>habitus,</a:t>
            </a:r>
            <a:r>
              <a:rPr i="1" spc="-152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49" dirty="0"/>
              <a:t> </a:t>
            </a:r>
            <a:r>
              <a:rPr spc="-221" dirty="0"/>
              <a:t>social </a:t>
            </a:r>
            <a:r>
              <a:rPr spc="-318" dirty="0"/>
              <a:t>classes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5602" y="1905801"/>
            <a:ext cx="6945795" cy="3189311"/>
          </a:xfrm>
          <a:prstGeom prst="rect">
            <a:avLst/>
          </a:prstGeom>
        </p:spPr>
        <p:txBody>
          <a:bodyPr vert="horz" wrap="square" lIns="0" tIns="63921" rIns="0" bIns="0" rtlCol="0">
            <a:spAutoFit/>
          </a:bodyPr>
          <a:lstStyle/>
          <a:p>
            <a:pPr marL="7701">
              <a:spcBef>
                <a:spcPts val="503"/>
              </a:spcBef>
            </a:pPr>
            <a:r>
              <a:rPr sz="2244" dirty="0">
                <a:latin typeface="Arial MT"/>
                <a:cs typeface="Arial MT"/>
              </a:rPr>
              <a:t>The</a:t>
            </a:r>
            <a:r>
              <a:rPr sz="2244" spc="-52" dirty="0">
                <a:latin typeface="Arial MT"/>
                <a:cs typeface="Arial MT"/>
              </a:rPr>
              <a:t> </a:t>
            </a:r>
            <a:r>
              <a:rPr sz="2244" b="1" i="1" dirty="0">
                <a:solidFill>
                  <a:srgbClr val="D31876"/>
                </a:solidFill>
                <a:latin typeface="Arial"/>
                <a:cs typeface="Arial"/>
              </a:rPr>
              <a:t>habitus</a:t>
            </a:r>
            <a:r>
              <a:rPr sz="2244" b="1" i="1" spc="-45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244" dirty="0">
                <a:latin typeface="Arial MT"/>
                <a:cs typeface="Arial MT"/>
              </a:rPr>
              <a:t>has</a:t>
            </a:r>
            <a:r>
              <a:rPr sz="2244" spc="-45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3</a:t>
            </a:r>
            <a:r>
              <a:rPr sz="2244" spc="-45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main</a:t>
            </a:r>
            <a:r>
              <a:rPr sz="2244" spc="-45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characteristics</a:t>
            </a:r>
            <a:r>
              <a:rPr sz="2244" i="1" spc="-6" dirty="0">
                <a:latin typeface="Arial"/>
                <a:cs typeface="Arial"/>
              </a:rPr>
              <a:t>:</a:t>
            </a:r>
            <a:endParaRPr sz="2244">
              <a:latin typeface="Arial"/>
              <a:cs typeface="Arial"/>
            </a:endParaRPr>
          </a:p>
          <a:p>
            <a:pPr marL="806324" marR="606476" indent="-265694">
              <a:spcBef>
                <a:spcPts val="991"/>
              </a:spcBef>
              <a:buSzPct val="123188"/>
              <a:buChar char="•"/>
              <a:tabLst>
                <a:tab pos="807479" algn="l"/>
              </a:tabLst>
            </a:pPr>
            <a:r>
              <a:rPr sz="2092" dirty="0">
                <a:latin typeface="Arial MT"/>
                <a:cs typeface="Arial MT"/>
              </a:rPr>
              <a:t>It</a:t>
            </a:r>
            <a:r>
              <a:rPr sz="2092" spc="36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is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b="1" dirty="0">
                <a:latin typeface="Arial"/>
                <a:cs typeface="Arial"/>
              </a:rPr>
              <a:t>acquired</a:t>
            </a:r>
            <a:r>
              <a:rPr sz="2092" b="1" spc="42" dirty="0">
                <a:latin typeface="Arial"/>
                <a:cs typeface="Arial"/>
              </a:rPr>
              <a:t> </a:t>
            </a:r>
            <a:r>
              <a:rPr sz="2092" dirty="0">
                <a:latin typeface="Arial MT"/>
                <a:cs typeface="Arial MT"/>
              </a:rPr>
              <a:t>through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socialization,</a:t>
            </a:r>
            <a:r>
              <a:rPr sz="2092" spc="42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esp.</a:t>
            </a:r>
            <a:r>
              <a:rPr sz="2092" spc="42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in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spc="-15" dirty="0">
                <a:latin typeface="Arial MT"/>
                <a:cs typeface="Arial MT"/>
              </a:rPr>
              <a:t>the 	</a:t>
            </a:r>
            <a:r>
              <a:rPr sz="2092" spc="-6" dirty="0">
                <a:latin typeface="Arial MT"/>
                <a:cs typeface="Arial MT"/>
              </a:rPr>
              <a:t>family</a:t>
            </a:r>
            <a:endParaRPr sz="2092">
              <a:latin typeface="Arial MT"/>
              <a:cs typeface="Arial MT"/>
            </a:endParaRPr>
          </a:p>
          <a:p>
            <a:pPr marL="806709" indent="-265694">
              <a:spcBef>
                <a:spcPts val="979"/>
              </a:spcBef>
              <a:buSzPct val="123188"/>
              <a:buChar char="•"/>
              <a:tabLst>
                <a:tab pos="806709" algn="l"/>
              </a:tabLst>
            </a:pPr>
            <a:r>
              <a:rPr sz="2092" dirty="0">
                <a:latin typeface="Arial MT"/>
                <a:cs typeface="Arial MT"/>
              </a:rPr>
              <a:t>It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is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b="1" dirty="0">
                <a:latin typeface="Arial"/>
                <a:cs typeface="Arial"/>
              </a:rPr>
              <a:t>automatic</a:t>
            </a:r>
            <a:r>
              <a:rPr sz="2092" dirty="0">
                <a:latin typeface="Arial MT"/>
                <a:cs typeface="Arial MT"/>
              </a:rPr>
              <a:t>,</a:t>
            </a:r>
            <a:r>
              <a:rPr sz="2092" spc="49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outside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spc="33" dirty="0">
                <a:latin typeface="Arial MT"/>
                <a:cs typeface="Arial MT"/>
              </a:rPr>
              <a:t>of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spc="30" dirty="0">
                <a:latin typeface="Arial MT"/>
                <a:cs typeface="Arial MT"/>
              </a:rPr>
              <a:t>conscious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spc="-6" dirty="0">
                <a:latin typeface="Arial MT"/>
                <a:cs typeface="Arial MT"/>
              </a:rPr>
              <a:t>control</a:t>
            </a:r>
            <a:endParaRPr sz="2092">
              <a:latin typeface="Arial MT"/>
              <a:cs typeface="Arial MT"/>
            </a:endParaRPr>
          </a:p>
          <a:p>
            <a:pPr marL="806324" marR="3081" indent="-265694">
              <a:lnSpc>
                <a:spcPct val="99700"/>
              </a:lnSpc>
              <a:spcBef>
                <a:spcPts val="2095"/>
              </a:spcBef>
              <a:buSzPct val="123188"/>
              <a:buChar char="•"/>
              <a:tabLst>
                <a:tab pos="807479" algn="l"/>
              </a:tabLst>
            </a:pPr>
            <a:r>
              <a:rPr sz="2092" dirty="0">
                <a:latin typeface="Arial MT"/>
                <a:cs typeface="Arial MT"/>
              </a:rPr>
              <a:t>It</a:t>
            </a:r>
            <a:r>
              <a:rPr sz="2092" spc="39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is</a:t>
            </a:r>
            <a:r>
              <a:rPr sz="2092" spc="49" dirty="0">
                <a:latin typeface="Arial MT"/>
                <a:cs typeface="Arial MT"/>
              </a:rPr>
              <a:t> </a:t>
            </a:r>
            <a:r>
              <a:rPr sz="2092" spc="33" dirty="0">
                <a:latin typeface="Arial MT"/>
                <a:cs typeface="Arial MT"/>
              </a:rPr>
              <a:t>"</a:t>
            </a:r>
            <a:r>
              <a:rPr sz="2092" b="1" spc="33" dirty="0">
                <a:latin typeface="Arial"/>
                <a:cs typeface="Arial"/>
              </a:rPr>
              <a:t>embodied</a:t>
            </a:r>
            <a:r>
              <a:rPr sz="2092" spc="33" dirty="0">
                <a:latin typeface="Arial MT"/>
                <a:cs typeface="Arial MT"/>
              </a:rPr>
              <a:t>":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spc="36" dirty="0">
                <a:latin typeface="Arial MT"/>
                <a:cs typeface="Arial MT"/>
              </a:rPr>
              <a:t>it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manifests</a:t>
            </a:r>
            <a:r>
              <a:rPr sz="2092" spc="4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through</a:t>
            </a:r>
            <a:r>
              <a:rPr sz="2092" spc="49" dirty="0">
                <a:latin typeface="Arial MT"/>
                <a:cs typeface="Arial MT"/>
              </a:rPr>
              <a:t> </a:t>
            </a:r>
            <a:r>
              <a:rPr sz="2092" spc="-6" dirty="0">
                <a:latin typeface="Arial MT"/>
                <a:cs typeface="Arial MT"/>
              </a:rPr>
              <a:t>unconscious 	</a:t>
            </a:r>
            <a:r>
              <a:rPr sz="2092" dirty="0">
                <a:latin typeface="Arial MT"/>
                <a:cs typeface="Arial MT"/>
              </a:rPr>
              <a:t>use</a:t>
            </a:r>
            <a:r>
              <a:rPr sz="2092" spc="18" dirty="0">
                <a:latin typeface="Arial MT"/>
                <a:cs typeface="Arial MT"/>
              </a:rPr>
              <a:t> </a:t>
            </a:r>
            <a:r>
              <a:rPr sz="2092" spc="33" dirty="0">
                <a:latin typeface="Arial MT"/>
                <a:cs typeface="Arial MT"/>
              </a:rPr>
              <a:t>of</a:t>
            </a:r>
            <a:r>
              <a:rPr sz="2092" spc="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the</a:t>
            </a:r>
            <a:r>
              <a:rPr sz="2092" spc="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body.</a:t>
            </a:r>
            <a:r>
              <a:rPr sz="2092" spc="18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the</a:t>
            </a:r>
            <a:r>
              <a:rPr sz="2092" spc="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bourgeois</a:t>
            </a:r>
            <a:r>
              <a:rPr sz="2092" spc="21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learns</a:t>
            </a:r>
            <a:r>
              <a:rPr sz="2092" spc="18" dirty="0">
                <a:latin typeface="Arial MT"/>
                <a:cs typeface="Arial MT"/>
              </a:rPr>
              <a:t> </a:t>
            </a:r>
            <a:r>
              <a:rPr sz="2092" spc="61" dirty="0">
                <a:latin typeface="Arial MT"/>
                <a:cs typeface="Arial MT"/>
              </a:rPr>
              <a:t>to</a:t>
            </a:r>
            <a:r>
              <a:rPr sz="2092" spc="18" dirty="0">
                <a:latin typeface="Arial MT"/>
                <a:cs typeface="Arial MT"/>
              </a:rPr>
              <a:t> </a:t>
            </a:r>
            <a:r>
              <a:rPr sz="2092" spc="-15" dirty="0">
                <a:latin typeface="Arial MT"/>
                <a:cs typeface="Arial MT"/>
              </a:rPr>
              <a:t>eat 	</a:t>
            </a:r>
            <a:r>
              <a:rPr sz="2092" spc="-6" dirty="0">
                <a:latin typeface="Arial MT"/>
                <a:cs typeface="Arial MT"/>
              </a:rPr>
              <a:t>elegantly,</a:t>
            </a:r>
            <a:r>
              <a:rPr sz="2092" spc="12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the</a:t>
            </a:r>
            <a:r>
              <a:rPr sz="2092" spc="12" dirty="0">
                <a:latin typeface="Arial MT"/>
                <a:cs typeface="Arial MT"/>
              </a:rPr>
              <a:t> </a:t>
            </a:r>
            <a:r>
              <a:rPr sz="2092" spc="39" dirty="0">
                <a:latin typeface="Arial MT"/>
                <a:cs typeface="Arial MT"/>
              </a:rPr>
              <a:t>poor</a:t>
            </a:r>
            <a:r>
              <a:rPr sz="2092" spc="15" dirty="0">
                <a:latin typeface="Arial MT"/>
                <a:cs typeface="Arial MT"/>
              </a:rPr>
              <a:t> </a:t>
            </a:r>
            <a:r>
              <a:rPr sz="2092" spc="61" dirty="0">
                <a:latin typeface="Arial MT"/>
                <a:cs typeface="Arial MT"/>
              </a:rPr>
              <a:t>to</a:t>
            </a:r>
            <a:r>
              <a:rPr sz="2092" spc="12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speak</a:t>
            </a:r>
            <a:r>
              <a:rPr sz="2092" spc="1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loudly,</a:t>
            </a:r>
            <a:r>
              <a:rPr sz="2092" spc="15" dirty="0">
                <a:latin typeface="Arial MT"/>
                <a:cs typeface="Arial MT"/>
              </a:rPr>
              <a:t> </a:t>
            </a:r>
            <a:r>
              <a:rPr sz="2092" dirty="0">
                <a:latin typeface="Arial MT"/>
                <a:cs typeface="Arial MT"/>
              </a:rPr>
              <a:t>women</a:t>
            </a:r>
            <a:r>
              <a:rPr sz="2092" spc="12" dirty="0">
                <a:latin typeface="Arial MT"/>
                <a:cs typeface="Arial MT"/>
              </a:rPr>
              <a:t> </a:t>
            </a:r>
            <a:r>
              <a:rPr sz="2092" spc="61" dirty="0">
                <a:latin typeface="Arial MT"/>
                <a:cs typeface="Arial MT"/>
              </a:rPr>
              <a:t>to</a:t>
            </a:r>
            <a:r>
              <a:rPr sz="2092" spc="12" dirty="0">
                <a:latin typeface="Arial MT"/>
                <a:cs typeface="Arial MT"/>
              </a:rPr>
              <a:t> </a:t>
            </a:r>
            <a:r>
              <a:rPr sz="2092" spc="-12" dirty="0">
                <a:latin typeface="Arial MT"/>
                <a:cs typeface="Arial MT"/>
              </a:rPr>
              <a:t>move 	</a:t>
            </a:r>
            <a:r>
              <a:rPr sz="2092" dirty="0">
                <a:latin typeface="Arial MT"/>
                <a:cs typeface="Arial MT"/>
              </a:rPr>
              <a:t>delicately,</a:t>
            </a:r>
            <a:r>
              <a:rPr sz="2092" spc="-6" dirty="0">
                <a:latin typeface="Arial MT"/>
                <a:cs typeface="Arial MT"/>
              </a:rPr>
              <a:t> etc...</a:t>
            </a:r>
            <a:endParaRPr sz="2092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18" y="5326304"/>
            <a:ext cx="6631197" cy="1044607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2244" dirty="0">
                <a:latin typeface="Arial MT"/>
                <a:cs typeface="Arial MT"/>
              </a:rPr>
              <a:t>This</a:t>
            </a:r>
            <a:r>
              <a:rPr sz="2244" spc="-2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makes</a:t>
            </a:r>
            <a:r>
              <a:rPr sz="2244" spc="-21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</a:t>
            </a:r>
            <a:r>
              <a:rPr sz="2244" spc="-21" dirty="0">
                <a:latin typeface="Arial MT"/>
                <a:cs typeface="Arial MT"/>
              </a:rPr>
              <a:t> </a:t>
            </a:r>
            <a:r>
              <a:rPr sz="2244" b="1" i="1" dirty="0">
                <a:solidFill>
                  <a:srgbClr val="D31876"/>
                </a:solidFill>
                <a:latin typeface="Arial"/>
                <a:cs typeface="Arial"/>
              </a:rPr>
              <a:t>habitus</a:t>
            </a:r>
            <a:r>
              <a:rPr sz="2244" b="1" i="1" spc="-21" dirty="0">
                <a:solidFill>
                  <a:srgbClr val="D31876"/>
                </a:solidFill>
                <a:latin typeface="Arial"/>
                <a:cs typeface="Arial"/>
              </a:rPr>
              <a:t> </a:t>
            </a:r>
            <a:r>
              <a:rPr sz="2244" dirty="0">
                <a:latin typeface="Arial MT"/>
                <a:cs typeface="Arial MT"/>
              </a:rPr>
              <a:t>seem</a:t>
            </a:r>
            <a:r>
              <a:rPr sz="2244" spc="-21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perfectly</a:t>
            </a:r>
            <a:endParaRPr sz="2244">
              <a:latin typeface="Arial MT"/>
              <a:cs typeface="Arial MT"/>
            </a:endParaRPr>
          </a:p>
          <a:p>
            <a:pPr marL="7701" marR="3081">
              <a:lnSpc>
                <a:spcPct val="100299"/>
              </a:lnSpc>
              <a:spcBef>
                <a:spcPts val="9"/>
              </a:spcBef>
            </a:pPr>
            <a:r>
              <a:rPr sz="2244" dirty="0">
                <a:latin typeface="Arial MT"/>
                <a:cs typeface="Arial MT"/>
              </a:rPr>
              <a:t>"natural"</a:t>
            </a:r>
            <a:r>
              <a:rPr sz="2244" spc="67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("dans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l'ordre</a:t>
            </a:r>
            <a:r>
              <a:rPr sz="2244" spc="67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des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choses"),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even</a:t>
            </a:r>
            <a:r>
              <a:rPr sz="2244" spc="67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though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spc="21" dirty="0">
                <a:latin typeface="Arial MT"/>
                <a:cs typeface="Arial MT"/>
              </a:rPr>
              <a:t>it </a:t>
            </a:r>
            <a:r>
              <a:rPr sz="2244" dirty="0">
                <a:latin typeface="Arial MT"/>
                <a:cs typeface="Arial MT"/>
              </a:rPr>
              <a:t>is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socially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learned)</a:t>
            </a:r>
            <a:endParaRPr sz="224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562" y="2086287"/>
            <a:ext cx="7525702" cy="69808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latin typeface="Arial MT"/>
                <a:cs typeface="Arial MT"/>
              </a:rPr>
              <a:t>Importantly,</a:t>
            </a:r>
            <a:r>
              <a:rPr sz="2244" spc="21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</a:t>
            </a:r>
            <a:r>
              <a:rPr sz="2244" spc="2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habitus</a:t>
            </a:r>
            <a:r>
              <a:rPr sz="2244" spc="2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varies</a:t>
            </a:r>
            <a:r>
              <a:rPr sz="2244" spc="21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across</a:t>
            </a:r>
            <a:r>
              <a:rPr sz="2244" spc="2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social</a:t>
            </a:r>
            <a:r>
              <a:rPr sz="2244" spc="2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group,</a:t>
            </a:r>
            <a:r>
              <a:rPr sz="2244" spc="21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gender, </a:t>
            </a:r>
            <a:r>
              <a:rPr sz="2244" dirty="0">
                <a:latin typeface="Arial MT"/>
                <a:cs typeface="Arial MT"/>
              </a:rPr>
              <a:t>etc.</a:t>
            </a:r>
            <a:r>
              <a:rPr sz="2244" spc="30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Here</a:t>
            </a:r>
            <a:r>
              <a:rPr sz="2244" spc="30" dirty="0">
                <a:latin typeface="Arial MT"/>
                <a:cs typeface="Arial MT"/>
              </a:rPr>
              <a:t> </a:t>
            </a:r>
            <a:r>
              <a:rPr sz="2244" spc="42" dirty="0">
                <a:latin typeface="Arial MT"/>
                <a:cs typeface="Arial MT"/>
              </a:rPr>
              <a:t>we'll</a:t>
            </a:r>
            <a:r>
              <a:rPr sz="2244" spc="30" dirty="0">
                <a:latin typeface="Arial MT"/>
                <a:cs typeface="Arial MT"/>
              </a:rPr>
              <a:t> focus </a:t>
            </a:r>
            <a:r>
              <a:rPr sz="2244" dirty="0">
                <a:latin typeface="Arial MT"/>
                <a:cs typeface="Arial MT"/>
              </a:rPr>
              <a:t>on</a:t>
            </a:r>
            <a:r>
              <a:rPr sz="2244" spc="30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"class</a:t>
            </a:r>
            <a:r>
              <a:rPr sz="2244" spc="30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socialization".</a:t>
            </a:r>
            <a:endParaRPr sz="2244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429" y="1301658"/>
            <a:ext cx="2990612" cy="43176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9563" y="4154812"/>
            <a:ext cx="11774119" cy="2443758"/>
          </a:xfrm>
          <a:prstGeom prst="rect">
            <a:avLst/>
          </a:prstGeom>
        </p:spPr>
        <p:txBody>
          <a:bodyPr vert="horz" wrap="square" lIns="0" tIns="1155" rIns="0" bIns="0" rtlCol="0">
            <a:spAutoFit/>
          </a:bodyPr>
          <a:lstStyle/>
          <a:p>
            <a:pPr marL="7701" marR="3856801">
              <a:lnSpc>
                <a:spcPct val="102099"/>
              </a:lnSpc>
              <a:spcBef>
                <a:spcPts val="9"/>
              </a:spcBef>
            </a:pPr>
            <a:r>
              <a:rPr sz="2244" dirty="0">
                <a:latin typeface="Arial MT"/>
                <a:cs typeface="Arial MT"/>
              </a:rPr>
              <a:t>Indeed,</a:t>
            </a:r>
            <a:r>
              <a:rPr sz="2244" spc="-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a</a:t>
            </a:r>
            <a:r>
              <a:rPr sz="2244" spc="-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social</a:t>
            </a:r>
            <a:r>
              <a:rPr sz="2244" spc="-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class</a:t>
            </a:r>
            <a:r>
              <a:rPr sz="2244" spc="-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is</a:t>
            </a:r>
            <a:r>
              <a:rPr sz="2244" spc="-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a</a:t>
            </a:r>
            <a:r>
              <a:rPr sz="2244" spc="-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"</a:t>
            </a:r>
            <a:r>
              <a:rPr sz="2244" b="1" dirty="0">
                <a:latin typeface="Arial"/>
                <a:cs typeface="Arial"/>
              </a:rPr>
              <a:t>classe</a:t>
            </a:r>
            <a:r>
              <a:rPr sz="2244" b="1" spc="-6" dirty="0">
                <a:latin typeface="Arial"/>
                <a:cs typeface="Arial"/>
              </a:rPr>
              <a:t> </a:t>
            </a:r>
            <a:r>
              <a:rPr sz="2244" b="1" dirty="0">
                <a:latin typeface="Arial"/>
                <a:cs typeface="Arial"/>
              </a:rPr>
              <a:t>de</a:t>
            </a:r>
            <a:r>
              <a:rPr sz="2244" b="1" spc="-3" dirty="0">
                <a:latin typeface="Arial"/>
                <a:cs typeface="Arial"/>
              </a:rPr>
              <a:t> </a:t>
            </a:r>
            <a:r>
              <a:rPr sz="2244" b="1" dirty="0">
                <a:latin typeface="Arial"/>
                <a:cs typeface="Arial"/>
              </a:rPr>
              <a:t>conditions</a:t>
            </a:r>
            <a:r>
              <a:rPr sz="2244" b="1" spc="-6" dirty="0">
                <a:latin typeface="Arial"/>
                <a:cs typeface="Arial"/>
              </a:rPr>
              <a:t> d’existence </a:t>
            </a:r>
            <a:r>
              <a:rPr sz="2244" b="1" spc="39" dirty="0">
                <a:latin typeface="Arial"/>
                <a:cs typeface="Arial"/>
              </a:rPr>
              <a:t>et</a:t>
            </a:r>
            <a:r>
              <a:rPr sz="2244" b="1" spc="-49" dirty="0">
                <a:latin typeface="Arial"/>
                <a:cs typeface="Arial"/>
              </a:rPr>
              <a:t> </a:t>
            </a:r>
            <a:r>
              <a:rPr sz="2244" b="1" dirty="0">
                <a:latin typeface="Arial"/>
                <a:cs typeface="Arial"/>
              </a:rPr>
              <a:t>de</a:t>
            </a:r>
            <a:r>
              <a:rPr sz="2244" b="1" spc="-49" dirty="0">
                <a:latin typeface="Arial"/>
                <a:cs typeface="Arial"/>
              </a:rPr>
              <a:t> </a:t>
            </a:r>
            <a:r>
              <a:rPr sz="2244" b="1" spc="-6" dirty="0">
                <a:latin typeface="Arial"/>
                <a:cs typeface="Arial"/>
              </a:rPr>
              <a:t>conditionnements</a:t>
            </a:r>
            <a:r>
              <a:rPr sz="2244" b="1" spc="-45" dirty="0">
                <a:latin typeface="Arial"/>
                <a:cs typeface="Arial"/>
              </a:rPr>
              <a:t> </a:t>
            </a:r>
            <a:r>
              <a:rPr sz="2244" b="1" dirty="0">
                <a:latin typeface="Arial"/>
                <a:cs typeface="Arial"/>
              </a:rPr>
              <a:t>identiques</a:t>
            </a:r>
            <a:r>
              <a:rPr sz="2244" b="1" spc="-49" dirty="0">
                <a:latin typeface="Arial"/>
                <a:cs typeface="Arial"/>
              </a:rPr>
              <a:t> </a:t>
            </a:r>
            <a:r>
              <a:rPr sz="2244" b="1" dirty="0">
                <a:latin typeface="Arial"/>
                <a:cs typeface="Arial"/>
              </a:rPr>
              <a:t>ou</a:t>
            </a:r>
            <a:r>
              <a:rPr sz="2244" b="1" spc="-45" dirty="0">
                <a:latin typeface="Arial"/>
                <a:cs typeface="Arial"/>
              </a:rPr>
              <a:t> </a:t>
            </a:r>
            <a:r>
              <a:rPr sz="2244" b="1" spc="-6" dirty="0">
                <a:latin typeface="Arial"/>
                <a:cs typeface="Arial"/>
              </a:rPr>
              <a:t>semblables</a:t>
            </a:r>
            <a:r>
              <a:rPr sz="2244" spc="-6" dirty="0">
                <a:latin typeface="Arial MT"/>
                <a:cs typeface="Arial MT"/>
              </a:rPr>
              <a:t>".</a:t>
            </a:r>
            <a:endParaRPr sz="2244">
              <a:latin typeface="Arial MT"/>
              <a:cs typeface="Arial MT"/>
            </a:endParaRPr>
          </a:p>
          <a:p>
            <a:pPr marL="7701" marR="4056264">
              <a:lnSpc>
                <a:spcPct val="100299"/>
              </a:lnSpc>
              <a:spcBef>
                <a:spcPts val="12"/>
              </a:spcBef>
            </a:pPr>
            <a:r>
              <a:rPr sz="2244" spc="-12" dirty="0">
                <a:latin typeface="Arial MT"/>
                <a:cs typeface="Arial MT"/>
              </a:rPr>
              <a:t>Therefore,</a:t>
            </a:r>
            <a:r>
              <a:rPr sz="2244" spc="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we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should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spc="30" dirty="0">
                <a:latin typeface="Arial MT"/>
                <a:cs typeface="Arial MT"/>
              </a:rPr>
              <a:t>expect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individuals</a:t>
            </a:r>
            <a:r>
              <a:rPr sz="2244" spc="6" dirty="0">
                <a:latin typeface="Arial MT"/>
                <a:cs typeface="Arial MT"/>
              </a:rPr>
              <a:t> </a:t>
            </a:r>
            <a:r>
              <a:rPr sz="2244" spc="36" dirty="0">
                <a:latin typeface="Arial MT"/>
                <a:cs typeface="Arial MT"/>
              </a:rPr>
              <a:t>of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same</a:t>
            </a:r>
            <a:r>
              <a:rPr sz="2244" spc="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class</a:t>
            </a:r>
            <a:r>
              <a:rPr sz="2244" spc="6" dirty="0">
                <a:latin typeface="Arial MT"/>
                <a:cs typeface="Arial MT"/>
              </a:rPr>
              <a:t> </a:t>
            </a:r>
            <a:r>
              <a:rPr sz="2244" spc="39" dirty="0">
                <a:latin typeface="Arial MT"/>
                <a:cs typeface="Arial MT"/>
              </a:rPr>
              <a:t>to </a:t>
            </a:r>
            <a:r>
              <a:rPr sz="2244" dirty="0">
                <a:latin typeface="Arial MT"/>
                <a:cs typeface="Arial MT"/>
              </a:rPr>
              <a:t>have</a:t>
            </a:r>
            <a:r>
              <a:rPr sz="2244" spc="-4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very</a:t>
            </a:r>
            <a:r>
              <a:rPr sz="2244" spc="-45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similar</a:t>
            </a:r>
            <a:r>
              <a:rPr sz="2244" spc="-49" dirty="0">
                <a:latin typeface="Arial MT"/>
                <a:cs typeface="Arial MT"/>
              </a:rPr>
              <a:t> </a:t>
            </a:r>
            <a:r>
              <a:rPr sz="2244" spc="30" dirty="0">
                <a:latin typeface="Arial MT"/>
                <a:cs typeface="Arial MT"/>
              </a:rPr>
              <a:t>"habitus".</a:t>
            </a:r>
            <a:endParaRPr sz="2244">
              <a:latin typeface="Arial MT"/>
              <a:cs typeface="Arial MT"/>
            </a:endParaRPr>
          </a:p>
          <a:p>
            <a:pPr>
              <a:spcBef>
                <a:spcPts val="509"/>
              </a:spcBef>
            </a:pPr>
            <a:endParaRPr sz="2244">
              <a:latin typeface="Arial MT"/>
              <a:cs typeface="Arial MT"/>
            </a:endParaRPr>
          </a:p>
          <a:p>
            <a:pPr marL="7303124" algn="ctr"/>
            <a:r>
              <a:rPr sz="2031" dirty="0">
                <a:latin typeface="Arial MT"/>
                <a:cs typeface="Arial MT"/>
              </a:rPr>
              <a:t>The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Emperor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spc="39" dirty="0">
                <a:latin typeface="Arial MT"/>
                <a:cs typeface="Arial MT"/>
              </a:rPr>
              <a:t>of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French</a:t>
            </a:r>
            <a:r>
              <a:rPr sz="2031" spc="-6" dirty="0">
                <a:latin typeface="Arial MT"/>
                <a:cs typeface="Arial MT"/>
              </a:rPr>
              <a:t> </a:t>
            </a:r>
            <a:r>
              <a:rPr sz="2031" dirty="0">
                <a:latin typeface="Arial MT"/>
                <a:cs typeface="Arial MT"/>
              </a:rPr>
              <a:t>social</a:t>
            </a:r>
            <a:r>
              <a:rPr sz="2031" spc="-9" dirty="0">
                <a:latin typeface="Arial MT"/>
                <a:cs typeface="Arial MT"/>
              </a:rPr>
              <a:t> </a:t>
            </a:r>
            <a:r>
              <a:rPr sz="2031" spc="-6" dirty="0">
                <a:latin typeface="Arial MT"/>
                <a:cs typeface="Arial MT"/>
              </a:rPr>
              <a:t>science:</a:t>
            </a:r>
            <a:endParaRPr sz="2031">
              <a:latin typeface="Arial MT"/>
              <a:cs typeface="Arial MT"/>
            </a:endParaRPr>
          </a:p>
          <a:p>
            <a:pPr marL="7303124" algn="ctr">
              <a:spcBef>
                <a:spcPts val="52"/>
              </a:spcBef>
            </a:pPr>
            <a:r>
              <a:rPr sz="2031" b="1" dirty="0">
                <a:latin typeface="Arial"/>
                <a:cs typeface="Arial"/>
              </a:rPr>
              <a:t>Pierre</a:t>
            </a:r>
            <a:r>
              <a:rPr sz="2031" b="1" spc="3" dirty="0">
                <a:latin typeface="Arial"/>
                <a:cs typeface="Arial"/>
              </a:rPr>
              <a:t> </a:t>
            </a:r>
            <a:r>
              <a:rPr sz="2031" b="1" spc="-6" dirty="0">
                <a:latin typeface="Arial"/>
                <a:cs typeface="Arial"/>
              </a:rPr>
              <a:t>Bourdieu</a:t>
            </a:r>
            <a:endParaRPr sz="2031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8713" y="-123481"/>
            <a:ext cx="6376669" cy="1493610"/>
          </a:xfrm>
          <a:prstGeom prst="rect">
            <a:avLst/>
          </a:prstGeom>
        </p:spPr>
        <p:txBody>
          <a:bodyPr vert="horz" wrap="square" lIns="0" tIns="108136" rIns="0" bIns="0" rtlCol="0" anchor="ctr">
            <a:spAutoFit/>
          </a:bodyPr>
          <a:lstStyle/>
          <a:p>
            <a:pPr marL="7701" marR="3081">
              <a:lnSpc>
                <a:spcPts val="5518"/>
              </a:lnSpc>
              <a:spcBef>
                <a:spcPts val="664"/>
              </a:spcBef>
            </a:pPr>
            <a:r>
              <a:rPr dirty="0"/>
              <a:t>Pierre</a:t>
            </a:r>
            <a:r>
              <a:rPr spc="-152" dirty="0"/>
              <a:t> </a:t>
            </a:r>
            <a:r>
              <a:rPr spc="-30" dirty="0"/>
              <a:t>Bourdieu,</a:t>
            </a:r>
            <a:r>
              <a:rPr spc="-152" dirty="0"/>
              <a:t> </a:t>
            </a:r>
            <a:r>
              <a:rPr spc="55" dirty="0"/>
              <a:t>the</a:t>
            </a:r>
            <a:r>
              <a:rPr spc="-149" dirty="0"/>
              <a:t> </a:t>
            </a:r>
            <a:r>
              <a:rPr i="1" spc="-52" dirty="0">
                <a:latin typeface="Arial"/>
                <a:cs typeface="Arial"/>
              </a:rPr>
              <a:t>habitus,</a:t>
            </a:r>
            <a:r>
              <a:rPr i="1" spc="-152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49" dirty="0"/>
              <a:t> </a:t>
            </a:r>
            <a:r>
              <a:rPr spc="-221" dirty="0"/>
              <a:t>social </a:t>
            </a:r>
            <a:r>
              <a:rPr spc="-318" dirty="0"/>
              <a:t>classes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562" y="2022791"/>
            <a:ext cx="7786006" cy="293267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38471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latin typeface="Arial MT"/>
                <a:cs typeface="Arial MT"/>
              </a:rPr>
              <a:t>Following</a:t>
            </a:r>
            <a:r>
              <a:rPr sz="2244" spc="6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Bourdieu,</a:t>
            </a:r>
            <a:r>
              <a:rPr sz="2244" spc="6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sociologists</a:t>
            </a:r>
            <a:r>
              <a:rPr sz="2244" spc="6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have</a:t>
            </a:r>
            <a:r>
              <a:rPr sz="2244" spc="64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frequently</a:t>
            </a:r>
            <a:r>
              <a:rPr sz="2244" spc="64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observed </a:t>
            </a:r>
            <a:r>
              <a:rPr sz="2244" dirty="0">
                <a:latin typeface="Arial MT"/>
                <a:cs typeface="Arial MT"/>
              </a:rPr>
              <a:t>stark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differences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in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upper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class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vs.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working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class</a:t>
            </a:r>
            <a:r>
              <a:rPr sz="2244" spc="42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habitus:</a:t>
            </a:r>
            <a:endParaRPr sz="2244">
              <a:latin typeface="Arial MT"/>
              <a:cs typeface="Arial MT"/>
            </a:endParaRPr>
          </a:p>
          <a:p>
            <a:pPr marL="838669" marR="3081" indent="-221797">
              <a:lnSpc>
                <a:spcPct val="115700"/>
              </a:lnSpc>
              <a:spcBef>
                <a:spcPts val="1467"/>
              </a:spcBef>
              <a:buSzPct val="124561"/>
              <a:buChar char="•"/>
              <a:tabLst>
                <a:tab pos="839440" algn="l"/>
              </a:tabLst>
            </a:pPr>
            <a:r>
              <a:rPr sz="1728" spc="45" dirty="0">
                <a:latin typeface="Arial MT"/>
                <a:cs typeface="Arial MT"/>
              </a:rPr>
              <a:t>A</a:t>
            </a:r>
            <a:r>
              <a:rPr sz="1728" spc="15" dirty="0">
                <a:latin typeface="Arial MT"/>
                <a:cs typeface="Arial MT"/>
              </a:rPr>
              <a:t> </a:t>
            </a:r>
            <a:r>
              <a:rPr sz="1728" spc="52" dirty="0">
                <a:latin typeface="Arial MT"/>
                <a:cs typeface="Arial MT"/>
              </a:rPr>
              <a:t>"bourgeois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spc="36" dirty="0">
                <a:latin typeface="Arial MT"/>
                <a:cs typeface="Arial MT"/>
              </a:rPr>
              <a:t>habitus":</a:t>
            </a:r>
            <a:r>
              <a:rPr sz="1728" spc="21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values</a:t>
            </a:r>
            <a:r>
              <a:rPr sz="1728" spc="24" dirty="0">
                <a:latin typeface="Arial MT"/>
                <a:cs typeface="Arial MT"/>
              </a:rPr>
              <a:t> </a:t>
            </a:r>
            <a:r>
              <a:rPr sz="1728" i="1" dirty="0">
                <a:latin typeface="Arial"/>
                <a:cs typeface="Arial"/>
              </a:rPr>
              <a:t>self-control</a:t>
            </a:r>
            <a:r>
              <a:rPr sz="1728" i="1" spc="21" dirty="0">
                <a:latin typeface="Arial"/>
                <a:cs typeface="Arial"/>
              </a:rPr>
              <a:t> </a:t>
            </a:r>
            <a:r>
              <a:rPr sz="1728" dirty="0">
                <a:latin typeface="Arial MT"/>
                <a:cs typeface="Arial MT"/>
              </a:rPr>
              <a:t>and</a:t>
            </a:r>
            <a:r>
              <a:rPr sz="1728" spc="21" dirty="0">
                <a:latin typeface="Arial MT"/>
                <a:cs typeface="Arial MT"/>
              </a:rPr>
              <a:t> </a:t>
            </a:r>
            <a:r>
              <a:rPr sz="1728" i="1" dirty="0">
                <a:latin typeface="Arial"/>
                <a:cs typeface="Arial"/>
              </a:rPr>
              <a:t>restraint</a:t>
            </a:r>
            <a:r>
              <a:rPr sz="1728" i="1" spc="21" dirty="0">
                <a:latin typeface="Arial"/>
                <a:cs typeface="Arial"/>
              </a:rPr>
              <a:t> </a:t>
            </a:r>
            <a:r>
              <a:rPr sz="1728" spc="-39" dirty="0">
                <a:latin typeface="Arial MT"/>
                <a:cs typeface="Arial MT"/>
              </a:rPr>
              <a:t>(see</a:t>
            </a:r>
            <a:r>
              <a:rPr sz="1728" spc="21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Beatrix</a:t>
            </a:r>
            <a:r>
              <a:rPr sz="1728" spc="21" dirty="0">
                <a:latin typeface="Arial MT"/>
                <a:cs typeface="Arial MT"/>
              </a:rPr>
              <a:t> </a:t>
            </a:r>
            <a:r>
              <a:rPr sz="1728" spc="-15" dirty="0">
                <a:latin typeface="Arial MT"/>
                <a:cs typeface="Arial MT"/>
              </a:rPr>
              <a:t>Le 	</a:t>
            </a:r>
            <a:r>
              <a:rPr sz="1728" dirty="0">
                <a:latin typeface="Arial MT"/>
                <a:cs typeface="Arial MT"/>
              </a:rPr>
              <a:t>Wita,</a:t>
            </a:r>
            <a:r>
              <a:rPr sz="1728" spc="24" dirty="0">
                <a:latin typeface="Arial MT"/>
                <a:cs typeface="Arial MT"/>
              </a:rPr>
              <a:t> </a:t>
            </a:r>
            <a:r>
              <a:rPr sz="1728" i="1" spc="64" dirty="0">
                <a:latin typeface="Arial"/>
                <a:cs typeface="Arial"/>
              </a:rPr>
              <a:t>Ni</a:t>
            </a:r>
            <a:r>
              <a:rPr sz="1728" i="1" spc="33" dirty="0">
                <a:latin typeface="Arial"/>
                <a:cs typeface="Arial"/>
              </a:rPr>
              <a:t> </a:t>
            </a:r>
            <a:r>
              <a:rPr sz="1728" i="1" dirty="0">
                <a:latin typeface="Arial"/>
                <a:cs typeface="Arial"/>
              </a:rPr>
              <a:t>vue,</a:t>
            </a:r>
            <a:r>
              <a:rPr sz="1728" i="1" spc="33" dirty="0">
                <a:latin typeface="Arial"/>
                <a:cs typeface="Arial"/>
              </a:rPr>
              <a:t> </a:t>
            </a:r>
            <a:r>
              <a:rPr sz="1728" i="1" dirty="0">
                <a:latin typeface="Arial"/>
                <a:cs typeface="Arial"/>
              </a:rPr>
              <a:t>ni</a:t>
            </a:r>
            <a:r>
              <a:rPr sz="1728" i="1" spc="33" dirty="0">
                <a:latin typeface="Arial"/>
                <a:cs typeface="Arial"/>
              </a:rPr>
              <a:t> </a:t>
            </a:r>
            <a:r>
              <a:rPr sz="1728" i="1" dirty="0">
                <a:latin typeface="Arial"/>
                <a:cs typeface="Arial"/>
              </a:rPr>
              <a:t>connue.</a:t>
            </a:r>
            <a:r>
              <a:rPr sz="1728" i="1" spc="30" dirty="0">
                <a:latin typeface="Arial"/>
                <a:cs typeface="Arial"/>
              </a:rPr>
              <a:t> Approche </a:t>
            </a:r>
            <a:r>
              <a:rPr sz="1728" i="1" spc="33" dirty="0">
                <a:latin typeface="Arial"/>
                <a:cs typeface="Arial"/>
              </a:rPr>
              <a:t>ethnographique </a:t>
            </a:r>
            <a:r>
              <a:rPr sz="1728" i="1" spc="58" dirty="0">
                <a:latin typeface="Arial"/>
                <a:cs typeface="Arial"/>
              </a:rPr>
              <a:t>de</a:t>
            </a:r>
            <a:r>
              <a:rPr sz="1728" i="1" spc="33" dirty="0">
                <a:latin typeface="Arial"/>
                <a:cs typeface="Arial"/>
              </a:rPr>
              <a:t> </a:t>
            </a:r>
            <a:r>
              <a:rPr sz="1728" i="1" dirty="0">
                <a:latin typeface="Arial"/>
                <a:cs typeface="Arial"/>
              </a:rPr>
              <a:t>la</a:t>
            </a:r>
            <a:r>
              <a:rPr sz="1728" i="1" spc="33" dirty="0">
                <a:latin typeface="Arial"/>
                <a:cs typeface="Arial"/>
              </a:rPr>
              <a:t> </a:t>
            </a:r>
            <a:r>
              <a:rPr sz="1728" i="1" spc="-6" dirty="0">
                <a:latin typeface="Arial"/>
                <a:cs typeface="Arial"/>
              </a:rPr>
              <a:t>culture 	</a:t>
            </a:r>
            <a:r>
              <a:rPr sz="1728" i="1" dirty="0">
                <a:latin typeface="Arial"/>
                <a:cs typeface="Arial"/>
              </a:rPr>
              <a:t>bourgeoise</a:t>
            </a:r>
            <a:r>
              <a:rPr sz="1728" dirty="0">
                <a:latin typeface="Arial MT"/>
                <a:cs typeface="Arial MT"/>
              </a:rPr>
              <a:t>,</a:t>
            </a:r>
            <a:r>
              <a:rPr sz="1728" spc="252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1988)</a:t>
            </a:r>
            <a:endParaRPr sz="1728">
              <a:latin typeface="Arial MT"/>
              <a:cs typeface="Arial MT"/>
            </a:endParaRPr>
          </a:p>
          <a:p>
            <a:pPr marL="838669" marR="132462" indent="-221797">
              <a:lnSpc>
                <a:spcPct val="115700"/>
              </a:lnSpc>
              <a:spcBef>
                <a:spcPts val="1749"/>
              </a:spcBef>
              <a:buSzPct val="124561"/>
              <a:buChar char="•"/>
              <a:tabLst>
                <a:tab pos="839440" algn="l"/>
              </a:tabLst>
            </a:pPr>
            <a:r>
              <a:rPr sz="1728" spc="45" dirty="0">
                <a:latin typeface="Arial MT"/>
                <a:cs typeface="Arial MT"/>
              </a:rPr>
              <a:t>A</a:t>
            </a:r>
            <a:r>
              <a:rPr sz="1728" spc="-3" dirty="0">
                <a:latin typeface="Arial MT"/>
                <a:cs typeface="Arial MT"/>
              </a:rPr>
              <a:t> </a:t>
            </a:r>
            <a:r>
              <a:rPr sz="1728" spc="55" dirty="0">
                <a:latin typeface="Arial MT"/>
                <a:cs typeface="Arial MT"/>
              </a:rPr>
              <a:t>"working</a:t>
            </a:r>
            <a:r>
              <a:rPr sz="1728" dirty="0">
                <a:latin typeface="Arial MT"/>
                <a:cs typeface="Arial MT"/>
              </a:rPr>
              <a:t> </a:t>
            </a:r>
            <a:r>
              <a:rPr sz="1728" spc="-49" dirty="0">
                <a:latin typeface="Arial MT"/>
                <a:cs typeface="Arial MT"/>
              </a:rPr>
              <a:t>class</a:t>
            </a:r>
            <a:r>
              <a:rPr sz="1728" dirty="0">
                <a:latin typeface="Arial MT"/>
                <a:cs typeface="Arial MT"/>
              </a:rPr>
              <a:t> </a:t>
            </a:r>
            <a:r>
              <a:rPr sz="1728" spc="36" dirty="0">
                <a:latin typeface="Arial MT"/>
                <a:cs typeface="Arial MT"/>
              </a:rPr>
              <a:t>habitus":</a:t>
            </a:r>
            <a:r>
              <a:rPr sz="1728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values</a:t>
            </a:r>
            <a:r>
              <a:rPr sz="1728" dirty="0">
                <a:latin typeface="Arial MT"/>
                <a:cs typeface="Arial MT"/>
              </a:rPr>
              <a:t> </a:t>
            </a:r>
            <a:r>
              <a:rPr sz="1728" spc="39" dirty="0">
                <a:latin typeface="Arial MT"/>
                <a:cs typeface="Arial MT"/>
              </a:rPr>
              <a:t>the</a:t>
            </a:r>
            <a:r>
              <a:rPr sz="1728" spc="-3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defense </a:t>
            </a:r>
            <a:r>
              <a:rPr sz="1728" spc="58" dirty="0">
                <a:latin typeface="Arial MT"/>
                <a:cs typeface="Arial MT"/>
              </a:rPr>
              <a:t>of</a:t>
            </a:r>
            <a:r>
              <a:rPr sz="1728" dirty="0">
                <a:latin typeface="Arial MT"/>
                <a:cs typeface="Arial MT"/>
              </a:rPr>
              <a:t> one's honor, a</a:t>
            </a:r>
            <a:r>
              <a:rPr sz="1728" spc="-3" dirty="0">
                <a:latin typeface="Arial MT"/>
                <a:cs typeface="Arial MT"/>
              </a:rPr>
              <a:t> </a:t>
            </a:r>
            <a:r>
              <a:rPr sz="1728" spc="-12" dirty="0">
                <a:latin typeface="Arial MT"/>
                <a:cs typeface="Arial MT"/>
              </a:rPr>
              <a:t>more 	</a:t>
            </a:r>
            <a:r>
              <a:rPr sz="1728" dirty="0">
                <a:latin typeface="Arial MT"/>
                <a:cs typeface="Arial MT"/>
              </a:rPr>
              <a:t>normalized</a:t>
            </a:r>
            <a:r>
              <a:rPr sz="1728" spc="12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use</a:t>
            </a:r>
            <a:r>
              <a:rPr sz="1728" spc="15" dirty="0">
                <a:latin typeface="Arial MT"/>
                <a:cs typeface="Arial MT"/>
              </a:rPr>
              <a:t> </a:t>
            </a:r>
            <a:r>
              <a:rPr sz="1728" spc="58" dirty="0">
                <a:latin typeface="Arial MT"/>
                <a:cs typeface="Arial MT"/>
              </a:rPr>
              <a:t>of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physical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violence</a:t>
            </a:r>
            <a:r>
              <a:rPr sz="1728" spc="15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and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aggressivity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spc="-39" dirty="0">
                <a:latin typeface="Arial MT"/>
                <a:cs typeface="Arial MT"/>
              </a:rPr>
              <a:t>(see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David 	</a:t>
            </a:r>
            <a:r>
              <a:rPr sz="1728" dirty="0">
                <a:latin typeface="Arial MT"/>
                <a:cs typeface="Arial MT"/>
              </a:rPr>
              <a:t>Lepoutre,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i="1" dirty="0">
                <a:latin typeface="Arial"/>
                <a:cs typeface="Arial"/>
              </a:rPr>
              <a:t>Coeur</a:t>
            </a:r>
            <a:r>
              <a:rPr sz="1728" i="1" spc="94" dirty="0">
                <a:latin typeface="Arial"/>
                <a:cs typeface="Arial"/>
              </a:rPr>
              <a:t> </a:t>
            </a:r>
            <a:r>
              <a:rPr sz="1728" i="1" spc="58" dirty="0">
                <a:latin typeface="Arial"/>
                <a:cs typeface="Arial"/>
              </a:rPr>
              <a:t>de</a:t>
            </a:r>
            <a:r>
              <a:rPr sz="1728" i="1" spc="91" dirty="0">
                <a:latin typeface="Arial"/>
                <a:cs typeface="Arial"/>
              </a:rPr>
              <a:t> </a:t>
            </a:r>
            <a:r>
              <a:rPr sz="1728" i="1" dirty="0">
                <a:latin typeface="Arial"/>
                <a:cs typeface="Arial"/>
              </a:rPr>
              <a:t>banlieue,</a:t>
            </a:r>
            <a:r>
              <a:rPr sz="1728" i="1" spc="94" dirty="0">
                <a:latin typeface="Arial"/>
                <a:cs typeface="Arial"/>
              </a:rPr>
              <a:t> </a:t>
            </a:r>
            <a:r>
              <a:rPr sz="1728" spc="-6" dirty="0">
                <a:latin typeface="Arial MT"/>
                <a:cs typeface="Arial MT"/>
              </a:rPr>
              <a:t>1998).</a:t>
            </a:r>
            <a:endParaRPr sz="1728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563" y="5578542"/>
            <a:ext cx="7747884" cy="104344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>
              <a:lnSpc>
                <a:spcPct val="100299"/>
              </a:lnSpc>
              <a:spcBef>
                <a:spcPts val="58"/>
              </a:spcBef>
            </a:pPr>
            <a:r>
              <a:rPr sz="2244" dirty="0">
                <a:latin typeface="Arial MT"/>
                <a:cs typeface="Arial MT"/>
              </a:rPr>
              <a:t>In</a:t>
            </a:r>
            <a:r>
              <a:rPr sz="2244" spc="-3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a</a:t>
            </a:r>
            <a:r>
              <a:rPr sz="2244" spc="-3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cultural</a:t>
            </a:r>
            <a:r>
              <a:rPr sz="2244" spc="-30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view,</a:t>
            </a:r>
            <a:r>
              <a:rPr sz="2244" spc="-3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these</a:t>
            </a:r>
            <a:r>
              <a:rPr sz="2244" spc="-30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differences</a:t>
            </a:r>
            <a:r>
              <a:rPr sz="2244" spc="-3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in</a:t>
            </a:r>
            <a:r>
              <a:rPr sz="2244" spc="-30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behavior</a:t>
            </a:r>
            <a:r>
              <a:rPr sz="2244" spc="-33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are</a:t>
            </a:r>
            <a:r>
              <a:rPr sz="2244" spc="-30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explained </a:t>
            </a:r>
            <a:r>
              <a:rPr sz="2244" spc="33" dirty="0">
                <a:latin typeface="Arial MT"/>
                <a:cs typeface="Arial MT"/>
              </a:rPr>
              <a:t>by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the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spc="33" dirty="0">
                <a:latin typeface="Arial MT"/>
                <a:cs typeface="Arial MT"/>
              </a:rPr>
              <a:t>fact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that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people</a:t>
            </a:r>
            <a:r>
              <a:rPr sz="2244" spc="36" dirty="0">
                <a:latin typeface="Arial MT"/>
                <a:cs typeface="Arial MT"/>
              </a:rPr>
              <a:t> of </a:t>
            </a:r>
            <a:r>
              <a:rPr sz="2244" dirty="0">
                <a:latin typeface="Arial MT"/>
                <a:cs typeface="Arial MT"/>
              </a:rPr>
              <a:t>different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social</a:t>
            </a:r>
            <a:r>
              <a:rPr sz="2244" spc="3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classes</a:t>
            </a:r>
            <a:r>
              <a:rPr sz="2244" spc="36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internalize </a:t>
            </a:r>
            <a:r>
              <a:rPr sz="2244" dirty="0">
                <a:latin typeface="Arial MT"/>
                <a:cs typeface="Arial MT"/>
              </a:rPr>
              <a:t>different</a:t>
            </a:r>
            <a:r>
              <a:rPr sz="2244" spc="67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habitus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dirty="0">
                <a:latin typeface="Arial MT"/>
                <a:cs typeface="Arial MT"/>
              </a:rPr>
              <a:t>through</a:t>
            </a:r>
            <a:r>
              <a:rPr sz="2244" spc="69" dirty="0">
                <a:latin typeface="Arial MT"/>
                <a:cs typeface="Arial MT"/>
              </a:rPr>
              <a:t> </a:t>
            </a:r>
            <a:r>
              <a:rPr sz="2244" spc="-6" dirty="0">
                <a:latin typeface="Arial MT"/>
                <a:cs typeface="Arial MT"/>
              </a:rPr>
              <a:t>socialization</a:t>
            </a:r>
            <a:endParaRPr sz="2244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8713" y="-123481"/>
            <a:ext cx="6376669" cy="1493610"/>
          </a:xfrm>
          <a:prstGeom prst="rect">
            <a:avLst/>
          </a:prstGeom>
        </p:spPr>
        <p:txBody>
          <a:bodyPr vert="horz" wrap="square" lIns="0" tIns="108136" rIns="0" bIns="0" rtlCol="0" anchor="ctr">
            <a:spAutoFit/>
          </a:bodyPr>
          <a:lstStyle/>
          <a:p>
            <a:pPr marL="7701" marR="3081">
              <a:lnSpc>
                <a:spcPts val="5518"/>
              </a:lnSpc>
              <a:spcBef>
                <a:spcPts val="664"/>
              </a:spcBef>
            </a:pPr>
            <a:r>
              <a:rPr dirty="0"/>
              <a:t>Pierre</a:t>
            </a:r>
            <a:r>
              <a:rPr spc="-152" dirty="0"/>
              <a:t> </a:t>
            </a:r>
            <a:r>
              <a:rPr spc="-30" dirty="0"/>
              <a:t>Bourdieu,</a:t>
            </a:r>
            <a:r>
              <a:rPr spc="-152" dirty="0"/>
              <a:t> </a:t>
            </a:r>
            <a:r>
              <a:rPr spc="55" dirty="0"/>
              <a:t>the</a:t>
            </a:r>
            <a:r>
              <a:rPr spc="-149" dirty="0"/>
              <a:t> </a:t>
            </a:r>
            <a:r>
              <a:rPr i="1" spc="-52" dirty="0">
                <a:latin typeface="Arial"/>
                <a:cs typeface="Arial"/>
              </a:rPr>
              <a:t>habitus,</a:t>
            </a:r>
            <a:r>
              <a:rPr i="1" spc="-152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49" dirty="0"/>
              <a:t> </a:t>
            </a:r>
            <a:r>
              <a:rPr spc="-221" dirty="0"/>
              <a:t>social </a:t>
            </a:r>
            <a:r>
              <a:rPr spc="-318" dirty="0"/>
              <a:t>classes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5662" y="1155619"/>
            <a:ext cx="3022080" cy="41589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63054" y="5437099"/>
            <a:ext cx="2969233" cy="261261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1637" dirty="0">
                <a:latin typeface="Arial MT"/>
                <a:cs typeface="Arial MT"/>
              </a:rPr>
              <a:t>Muriel</a:t>
            </a:r>
            <a:r>
              <a:rPr sz="1637" spc="-3" dirty="0">
                <a:latin typeface="Arial MT"/>
                <a:cs typeface="Arial MT"/>
              </a:rPr>
              <a:t> </a:t>
            </a:r>
            <a:r>
              <a:rPr sz="1637" dirty="0">
                <a:latin typeface="Arial MT"/>
                <a:cs typeface="Arial MT"/>
              </a:rPr>
              <a:t>Darmon, </a:t>
            </a:r>
            <a:r>
              <a:rPr sz="1637" i="1" dirty="0">
                <a:latin typeface="Arial"/>
                <a:cs typeface="Arial"/>
              </a:rPr>
              <a:t>La </a:t>
            </a:r>
            <a:r>
              <a:rPr sz="1637" i="1" spc="-6" dirty="0">
                <a:latin typeface="Arial"/>
                <a:cs typeface="Arial"/>
              </a:rPr>
              <a:t>Socialisation</a:t>
            </a:r>
            <a:endParaRPr sz="163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53101" y="1491684"/>
            <a:ext cx="780526" cy="467083"/>
          </a:xfrm>
          <a:custGeom>
            <a:avLst/>
            <a:gdLst/>
            <a:ahLst/>
            <a:cxnLst/>
            <a:rect l="l" t="t" r="r" b="b"/>
            <a:pathLst>
              <a:path w="1287145" h="770255">
                <a:moveTo>
                  <a:pt x="1078686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9"/>
                </a:lnTo>
                <a:lnTo>
                  <a:pt x="22518" y="61148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561846"/>
                </a:lnTo>
                <a:lnTo>
                  <a:pt x="159" y="603307"/>
                </a:lnTo>
                <a:lnTo>
                  <a:pt x="4307" y="663302"/>
                </a:lnTo>
                <a:lnTo>
                  <a:pt x="22518" y="709050"/>
                </a:lnTo>
                <a:lnTo>
                  <a:pt x="61148" y="747679"/>
                </a:lnTo>
                <a:lnTo>
                  <a:pt x="106896" y="765891"/>
                </a:lnTo>
                <a:lnTo>
                  <a:pt x="166890" y="770039"/>
                </a:lnTo>
                <a:lnTo>
                  <a:pt x="208351" y="770198"/>
                </a:lnTo>
                <a:lnTo>
                  <a:pt x="1078686" y="770198"/>
                </a:lnTo>
                <a:lnTo>
                  <a:pt x="1120147" y="770039"/>
                </a:lnTo>
                <a:lnTo>
                  <a:pt x="1180146" y="765891"/>
                </a:lnTo>
                <a:lnTo>
                  <a:pt x="1225897" y="747679"/>
                </a:lnTo>
                <a:lnTo>
                  <a:pt x="1264521" y="709050"/>
                </a:lnTo>
                <a:lnTo>
                  <a:pt x="1282729" y="663302"/>
                </a:lnTo>
                <a:lnTo>
                  <a:pt x="1286876" y="603307"/>
                </a:lnTo>
                <a:lnTo>
                  <a:pt x="1287036" y="561846"/>
                </a:lnTo>
                <a:lnTo>
                  <a:pt x="1287036" y="208351"/>
                </a:lnTo>
                <a:lnTo>
                  <a:pt x="1286876" y="166890"/>
                </a:lnTo>
                <a:lnTo>
                  <a:pt x="1282729" y="106896"/>
                </a:lnTo>
                <a:lnTo>
                  <a:pt x="1264521" y="61148"/>
                </a:lnTo>
                <a:lnTo>
                  <a:pt x="1225897" y="22519"/>
                </a:lnTo>
                <a:lnTo>
                  <a:pt x="1180146" y="4307"/>
                </a:lnTo>
                <a:lnTo>
                  <a:pt x="1120147" y="159"/>
                </a:lnTo>
                <a:lnTo>
                  <a:pt x="1078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/>
          <p:nvPr/>
        </p:nvSpPr>
        <p:spPr>
          <a:xfrm>
            <a:off x="5832932" y="1524364"/>
            <a:ext cx="621109" cy="2287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4"/>
              </a:lnSpc>
            </a:pPr>
            <a:r>
              <a:rPr sz="1577" spc="45" dirty="0">
                <a:solidFill>
                  <a:srgbClr val="FFFFFF"/>
                </a:solidFill>
                <a:latin typeface="Arial MT"/>
                <a:cs typeface="Arial MT"/>
              </a:rPr>
              <a:t>Cognit</a:t>
            </a:r>
            <a:endParaRPr sz="1577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7571" y="702964"/>
            <a:ext cx="2479660" cy="24829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34716" y="1091968"/>
            <a:ext cx="2133643" cy="1708146"/>
          </a:xfrm>
          <a:custGeom>
            <a:avLst/>
            <a:gdLst/>
            <a:ahLst/>
            <a:cxnLst/>
            <a:rect l="l" t="t" r="r" b="b"/>
            <a:pathLst>
              <a:path w="3518535" h="2816860">
                <a:moveTo>
                  <a:pt x="3081224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3"/>
                </a:lnTo>
                <a:lnTo>
                  <a:pt x="138164" y="41197"/>
                </a:lnTo>
                <a:lnTo>
                  <a:pt x="100323" y="67750"/>
                </a:lnTo>
                <a:lnTo>
                  <a:pt x="67751" y="100323"/>
                </a:lnTo>
                <a:lnTo>
                  <a:pt x="41198" y="138163"/>
                </a:lnTo>
                <a:lnTo>
                  <a:pt x="21415" y="180522"/>
                </a:lnTo>
                <a:lnTo>
                  <a:pt x="4625" y="256026"/>
                </a:lnTo>
                <a:lnTo>
                  <a:pt x="1370" y="306089"/>
                </a:lnTo>
                <a:lnTo>
                  <a:pt x="171" y="366001"/>
                </a:lnTo>
                <a:lnTo>
                  <a:pt x="0" y="436992"/>
                </a:lnTo>
                <a:lnTo>
                  <a:pt x="0" y="2379674"/>
                </a:lnTo>
                <a:lnTo>
                  <a:pt x="171" y="2450665"/>
                </a:lnTo>
                <a:lnTo>
                  <a:pt x="1370" y="2510577"/>
                </a:lnTo>
                <a:lnTo>
                  <a:pt x="4625" y="2560640"/>
                </a:lnTo>
                <a:lnTo>
                  <a:pt x="10964" y="2602085"/>
                </a:lnTo>
                <a:lnTo>
                  <a:pt x="41198" y="2678503"/>
                </a:lnTo>
                <a:lnTo>
                  <a:pt x="67751" y="2716344"/>
                </a:lnTo>
                <a:lnTo>
                  <a:pt x="100323" y="2748916"/>
                </a:lnTo>
                <a:lnTo>
                  <a:pt x="138164" y="2775469"/>
                </a:lnTo>
                <a:lnTo>
                  <a:pt x="180522" y="2795253"/>
                </a:lnTo>
                <a:lnTo>
                  <a:pt x="256027" y="2812042"/>
                </a:lnTo>
                <a:lnTo>
                  <a:pt x="306090" y="2815297"/>
                </a:lnTo>
                <a:lnTo>
                  <a:pt x="366002" y="2816496"/>
                </a:lnTo>
                <a:lnTo>
                  <a:pt x="436992" y="2816668"/>
                </a:lnTo>
                <a:lnTo>
                  <a:pt x="3081224" y="2816668"/>
                </a:lnTo>
                <a:lnTo>
                  <a:pt x="3152215" y="2816496"/>
                </a:lnTo>
                <a:lnTo>
                  <a:pt x="3212126" y="2815297"/>
                </a:lnTo>
                <a:lnTo>
                  <a:pt x="3262189" y="2812042"/>
                </a:lnTo>
                <a:lnTo>
                  <a:pt x="3303635" y="2805703"/>
                </a:lnTo>
                <a:lnTo>
                  <a:pt x="3380053" y="2775469"/>
                </a:lnTo>
                <a:lnTo>
                  <a:pt x="3417893" y="2748916"/>
                </a:lnTo>
                <a:lnTo>
                  <a:pt x="3450466" y="2716344"/>
                </a:lnTo>
                <a:lnTo>
                  <a:pt x="3477019" y="2678503"/>
                </a:lnTo>
                <a:lnTo>
                  <a:pt x="3496802" y="2636144"/>
                </a:lnTo>
                <a:lnTo>
                  <a:pt x="3513591" y="2560640"/>
                </a:lnTo>
                <a:lnTo>
                  <a:pt x="3516846" y="2510577"/>
                </a:lnTo>
                <a:lnTo>
                  <a:pt x="3518046" y="2450665"/>
                </a:lnTo>
                <a:lnTo>
                  <a:pt x="3518217" y="2379674"/>
                </a:lnTo>
                <a:lnTo>
                  <a:pt x="3518217" y="436992"/>
                </a:lnTo>
                <a:lnTo>
                  <a:pt x="3518046" y="366001"/>
                </a:lnTo>
                <a:lnTo>
                  <a:pt x="3516846" y="306089"/>
                </a:lnTo>
                <a:lnTo>
                  <a:pt x="3513591" y="256026"/>
                </a:lnTo>
                <a:lnTo>
                  <a:pt x="3507252" y="214581"/>
                </a:lnTo>
                <a:lnTo>
                  <a:pt x="3477019" y="138163"/>
                </a:lnTo>
                <a:lnTo>
                  <a:pt x="3450466" y="100323"/>
                </a:lnTo>
                <a:lnTo>
                  <a:pt x="3417893" y="67750"/>
                </a:lnTo>
                <a:lnTo>
                  <a:pt x="3380053" y="41197"/>
                </a:lnTo>
                <a:lnTo>
                  <a:pt x="3337695" y="21414"/>
                </a:lnTo>
                <a:lnTo>
                  <a:pt x="3262189" y="4625"/>
                </a:lnTo>
                <a:lnTo>
                  <a:pt x="3212126" y="1370"/>
                </a:lnTo>
                <a:lnTo>
                  <a:pt x="3152215" y="171"/>
                </a:lnTo>
                <a:lnTo>
                  <a:pt x="3081224" y="0"/>
                </a:lnTo>
                <a:close/>
              </a:path>
            </a:pathLst>
          </a:custGeom>
          <a:solidFill>
            <a:srgbClr val="0076B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 txBox="1"/>
          <p:nvPr/>
        </p:nvSpPr>
        <p:spPr>
          <a:xfrm>
            <a:off x="878771" y="1613908"/>
            <a:ext cx="1645381" cy="619489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115904" marR="3081" indent="-108588">
              <a:lnSpc>
                <a:spcPct val="102499"/>
              </a:lnSpc>
              <a:spcBef>
                <a:spcPts val="18"/>
              </a:spcBef>
            </a:pPr>
            <a:r>
              <a:rPr sz="2031" spc="30" dirty="0">
                <a:solidFill>
                  <a:srgbClr val="FFFFFF"/>
                </a:solidFill>
                <a:latin typeface="Arial MT"/>
                <a:cs typeface="Arial MT"/>
              </a:rPr>
              <a:t>Culture</a:t>
            </a:r>
            <a:r>
              <a:rPr sz="2031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31" spc="82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31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31" spc="39" dirty="0">
                <a:solidFill>
                  <a:srgbClr val="FFFFFF"/>
                </a:solidFill>
                <a:latin typeface="Arial MT"/>
                <a:cs typeface="Arial MT"/>
              </a:rPr>
              <a:t>the bourgeoisie</a:t>
            </a:r>
            <a:endParaRPr sz="2031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67061" y="1836000"/>
            <a:ext cx="2208730" cy="266850"/>
            <a:chOff x="4892198" y="3027699"/>
            <a:chExt cx="3642360" cy="440055"/>
          </a:xfrm>
        </p:grpSpPr>
        <p:sp>
          <p:nvSpPr>
            <p:cNvPr id="8" name="object 8"/>
            <p:cNvSpPr/>
            <p:nvPr/>
          </p:nvSpPr>
          <p:spPr>
            <a:xfrm>
              <a:off x="4892198" y="3247588"/>
              <a:ext cx="3370579" cy="0"/>
            </a:xfrm>
            <a:custGeom>
              <a:avLst/>
              <a:gdLst/>
              <a:ahLst/>
              <a:cxnLst/>
              <a:rect l="l" t="t" r="r" b="b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ln w="115179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9" name="object 9"/>
            <p:cNvSpPr/>
            <p:nvPr/>
          </p:nvSpPr>
          <p:spPr>
            <a:xfrm>
              <a:off x="8094655" y="3027699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467504" y="1748376"/>
            <a:ext cx="1600328" cy="175589"/>
            <a:chOff x="12313761" y="2883201"/>
            <a:chExt cx="2639060" cy="289560"/>
          </a:xfrm>
        </p:grpSpPr>
        <p:sp>
          <p:nvSpPr>
            <p:cNvPr id="11" name="object 11"/>
            <p:cNvSpPr/>
            <p:nvPr/>
          </p:nvSpPr>
          <p:spPr>
            <a:xfrm>
              <a:off x="12313761" y="3027699"/>
              <a:ext cx="2458720" cy="0"/>
            </a:xfrm>
            <a:custGeom>
              <a:avLst/>
              <a:gdLst/>
              <a:ahLst/>
              <a:cxnLst/>
              <a:rect l="l" t="t" r="r" b="b"/>
              <a:pathLst>
                <a:path w="2458719">
                  <a:moveTo>
                    <a:pt x="0" y="0"/>
                  </a:moveTo>
                  <a:lnTo>
                    <a:pt x="2421915" y="0"/>
                  </a:lnTo>
                  <a:lnTo>
                    <a:pt x="2458563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663428" y="2883201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61635" y="1446984"/>
            <a:ext cx="1646151" cy="34564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183" b="1" spc="-39" dirty="0">
                <a:solidFill>
                  <a:srgbClr val="EE220C"/>
                </a:solidFill>
                <a:latin typeface="Arial"/>
                <a:cs typeface="Arial"/>
              </a:rPr>
              <a:t>Socialization</a:t>
            </a:r>
            <a:endParaRPr sz="2183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14655" y="1194493"/>
            <a:ext cx="1346186" cy="1194085"/>
          </a:xfrm>
          <a:custGeom>
            <a:avLst/>
            <a:gdLst/>
            <a:ahLst/>
            <a:cxnLst/>
            <a:rect l="l" t="t" r="r" b="b"/>
            <a:pathLst>
              <a:path w="2219959" h="1969135">
                <a:moveTo>
                  <a:pt x="1924994" y="0"/>
                </a:moveTo>
                <a:lnTo>
                  <a:pt x="294835" y="0"/>
                </a:lnTo>
                <a:lnTo>
                  <a:pt x="236164" y="225"/>
                </a:lnTo>
                <a:lnTo>
                  <a:pt x="188849" y="1806"/>
                </a:lnTo>
                <a:lnTo>
                  <a:pt x="121796" y="14448"/>
                </a:lnTo>
                <a:lnTo>
                  <a:pt x="86529" y="31866"/>
                </a:lnTo>
                <a:lnTo>
                  <a:pt x="56222" y="56223"/>
                </a:lnTo>
                <a:lnTo>
                  <a:pt x="31865" y="86529"/>
                </a:lnTo>
                <a:lnTo>
                  <a:pt x="14447" y="121797"/>
                </a:lnTo>
                <a:lnTo>
                  <a:pt x="1805" y="188849"/>
                </a:lnTo>
                <a:lnTo>
                  <a:pt x="225" y="236164"/>
                </a:lnTo>
                <a:lnTo>
                  <a:pt x="0" y="294835"/>
                </a:lnTo>
                <a:lnTo>
                  <a:pt x="0" y="1673691"/>
                </a:lnTo>
                <a:lnTo>
                  <a:pt x="225" y="1732362"/>
                </a:lnTo>
                <a:lnTo>
                  <a:pt x="1805" y="1779677"/>
                </a:lnTo>
                <a:lnTo>
                  <a:pt x="14447" y="1846730"/>
                </a:lnTo>
                <a:lnTo>
                  <a:pt x="31865" y="1881996"/>
                </a:lnTo>
                <a:lnTo>
                  <a:pt x="56222" y="1912303"/>
                </a:lnTo>
                <a:lnTo>
                  <a:pt x="86529" y="1936660"/>
                </a:lnTo>
                <a:lnTo>
                  <a:pt x="121796" y="1954078"/>
                </a:lnTo>
                <a:lnTo>
                  <a:pt x="188849" y="1966720"/>
                </a:lnTo>
                <a:lnTo>
                  <a:pt x="236164" y="1968300"/>
                </a:lnTo>
                <a:lnTo>
                  <a:pt x="294835" y="1968526"/>
                </a:lnTo>
                <a:lnTo>
                  <a:pt x="1924994" y="1968526"/>
                </a:lnTo>
                <a:lnTo>
                  <a:pt x="1983665" y="1968300"/>
                </a:lnTo>
                <a:lnTo>
                  <a:pt x="2030978" y="1966720"/>
                </a:lnTo>
                <a:lnTo>
                  <a:pt x="2098026" y="1954078"/>
                </a:lnTo>
                <a:lnTo>
                  <a:pt x="2133295" y="1936660"/>
                </a:lnTo>
                <a:lnTo>
                  <a:pt x="2163602" y="1912303"/>
                </a:lnTo>
                <a:lnTo>
                  <a:pt x="2187961" y="1881996"/>
                </a:lnTo>
                <a:lnTo>
                  <a:pt x="2205384" y="1846730"/>
                </a:lnTo>
                <a:lnTo>
                  <a:pt x="2218018" y="1779677"/>
                </a:lnTo>
                <a:lnTo>
                  <a:pt x="2219597" y="1732362"/>
                </a:lnTo>
                <a:lnTo>
                  <a:pt x="2219823" y="1673691"/>
                </a:lnTo>
                <a:lnTo>
                  <a:pt x="2219823" y="294835"/>
                </a:lnTo>
                <a:lnTo>
                  <a:pt x="2219597" y="236164"/>
                </a:lnTo>
                <a:lnTo>
                  <a:pt x="2218018" y="188849"/>
                </a:lnTo>
                <a:lnTo>
                  <a:pt x="2205384" y="121797"/>
                </a:lnTo>
                <a:lnTo>
                  <a:pt x="2187961" y="86529"/>
                </a:lnTo>
                <a:lnTo>
                  <a:pt x="2163602" y="56223"/>
                </a:lnTo>
                <a:lnTo>
                  <a:pt x="2133295" y="31866"/>
                </a:lnTo>
                <a:lnTo>
                  <a:pt x="2098026" y="14448"/>
                </a:lnTo>
                <a:lnTo>
                  <a:pt x="2030978" y="1806"/>
                </a:lnTo>
                <a:lnTo>
                  <a:pt x="1983665" y="225"/>
                </a:lnTo>
                <a:lnTo>
                  <a:pt x="1924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5724977" y="1487747"/>
            <a:ext cx="1125544" cy="57716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algn="ctr">
              <a:spcBef>
                <a:spcPts val="61"/>
              </a:spcBef>
            </a:pPr>
            <a:r>
              <a:rPr sz="1850" spc="30" dirty="0">
                <a:solidFill>
                  <a:srgbClr val="FFFFFF"/>
                </a:solidFill>
                <a:latin typeface="Arial MT"/>
                <a:cs typeface="Arial MT"/>
              </a:rPr>
              <a:t>Bourgeois</a:t>
            </a:r>
            <a:endParaRPr sz="1850">
              <a:latin typeface="Arial MT"/>
              <a:cs typeface="Arial MT"/>
            </a:endParaRPr>
          </a:p>
          <a:p>
            <a:pPr algn="ctr">
              <a:spcBef>
                <a:spcPts val="30"/>
              </a:spcBef>
            </a:pPr>
            <a:r>
              <a:rPr sz="1850" i="1" spc="27" dirty="0">
                <a:solidFill>
                  <a:srgbClr val="FFFFFF"/>
                </a:solidFill>
                <a:latin typeface="Arial"/>
                <a:cs typeface="Arial"/>
              </a:rPr>
              <a:t>habitus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5769796" y="263476"/>
            <a:ext cx="1308064" cy="353905"/>
          </a:xfrm>
          <a:prstGeom prst="rect">
            <a:avLst/>
          </a:prstGeom>
        </p:spPr>
        <p:txBody>
          <a:bodyPr vert="horz" wrap="square" lIns="0" tIns="8471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7"/>
              </a:spcBef>
            </a:pPr>
            <a:r>
              <a:rPr sz="2244" spc="-30" dirty="0"/>
              <a:t>Individual</a:t>
            </a:r>
            <a:endParaRPr sz="2244"/>
          </a:p>
        </p:txBody>
      </p:sp>
      <p:sp>
        <p:nvSpPr>
          <p:cNvPr id="17" name="object 17"/>
          <p:cNvSpPr/>
          <p:nvPr/>
        </p:nvSpPr>
        <p:spPr>
          <a:xfrm>
            <a:off x="5628064" y="5122965"/>
            <a:ext cx="716605" cy="428962"/>
          </a:xfrm>
          <a:custGeom>
            <a:avLst/>
            <a:gdLst/>
            <a:ahLst/>
            <a:cxnLst/>
            <a:rect l="l" t="t" r="r" b="b"/>
            <a:pathLst>
              <a:path w="1181734" h="707390">
                <a:moveTo>
                  <a:pt x="973227" y="0"/>
                </a:moveTo>
                <a:lnTo>
                  <a:pt x="208351" y="0"/>
                </a:lnTo>
                <a:lnTo>
                  <a:pt x="166890" y="159"/>
                </a:lnTo>
                <a:lnTo>
                  <a:pt x="106896" y="4307"/>
                </a:lnTo>
                <a:lnTo>
                  <a:pt x="61148" y="22518"/>
                </a:lnTo>
                <a:lnTo>
                  <a:pt x="22518" y="61147"/>
                </a:lnTo>
                <a:lnTo>
                  <a:pt x="4307" y="106896"/>
                </a:lnTo>
                <a:lnTo>
                  <a:pt x="159" y="166890"/>
                </a:lnTo>
                <a:lnTo>
                  <a:pt x="0" y="208351"/>
                </a:lnTo>
                <a:lnTo>
                  <a:pt x="0" y="498735"/>
                </a:lnTo>
                <a:lnTo>
                  <a:pt x="159" y="540196"/>
                </a:lnTo>
                <a:lnTo>
                  <a:pt x="4307" y="600190"/>
                </a:lnTo>
                <a:lnTo>
                  <a:pt x="22518" y="645938"/>
                </a:lnTo>
                <a:lnTo>
                  <a:pt x="61148" y="684568"/>
                </a:lnTo>
                <a:lnTo>
                  <a:pt x="106896" y="702779"/>
                </a:lnTo>
                <a:lnTo>
                  <a:pt x="166890" y="706927"/>
                </a:lnTo>
                <a:lnTo>
                  <a:pt x="208351" y="707087"/>
                </a:lnTo>
                <a:lnTo>
                  <a:pt x="973227" y="707087"/>
                </a:lnTo>
                <a:lnTo>
                  <a:pt x="1014688" y="706927"/>
                </a:lnTo>
                <a:lnTo>
                  <a:pt x="1074683" y="702779"/>
                </a:lnTo>
                <a:lnTo>
                  <a:pt x="1120431" y="684568"/>
                </a:lnTo>
                <a:lnTo>
                  <a:pt x="1159060" y="645938"/>
                </a:lnTo>
                <a:lnTo>
                  <a:pt x="1177272" y="600190"/>
                </a:lnTo>
                <a:lnTo>
                  <a:pt x="1181420" y="540196"/>
                </a:lnTo>
                <a:lnTo>
                  <a:pt x="1181579" y="498735"/>
                </a:lnTo>
                <a:lnTo>
                  <a:pt x="1181579" y="208351"/>
                </a:lnTo>
                <a:lnTo>
                  <a:pt x="1181420" y="166890"/>
                </a:lnTo>
                <a:lnTo>
                  <a:pt x="1177272" y="106896"/>
                </a:lnTo>
                <a:lnTo>
                  <a:pt x="1159060" y="61147"/>
                </a:lnTo>
                <a:lnTo>
                  <a:pt x="1120431" y="22518"/>
                </a:lnTo>
                <a:lnTo>
                  <a:pt x="1074683" y="4307"/>
                </a:lnTo>
                <a:lnTo>
                  <a:pt x="1014688" y="159"/>
                </a:lnTo>
                <a:lnTo>
                  <a:pt x="9732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 txBox="1"/>
          <p:nvPr/>
        </p:nvSpPr>
        <p:spPr>
          <a:xfrm>
            <a:off x="5709905" y="5160307"/>
            <a:ext cx="553337" cy="2287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4"/>
              </a:lnSpc>
            </a:pPr>
            <a:r>
              <a:rPr sz="1577" spc="33" dirty="0">
                <a:solidFill>
                  <a:srgbClr val="FFFFFF"/>
                </a:solidFill>
                <a:latin typeface="Arial MT"/>
                <a:cs typeface="Arial MT"/>
              </a:rPr>
              <a:t>Cogni</a:t>
            </a:r>
            <a:endParaRPr sz="1577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790" y="4527232"/>
            <a:ext cx="2133643" cy="1708146"/>
          </a:xfrm>
          <a:custGeom>
            <a:avLst/>
            <a:gdLst/>
            <a:ahLst/>
            <a:cxnLst/>
            <a:rect l="l" t="t" r="r" b="b"/>
            <a:pathLst>
              <a:path w="3518535" h="2816859">
                <a:moveTo>
                  <a:pt x="3081224" y="0"/>
                </a:moveTo>
                <a:lnTo>
                  <a:pt x="436992" y="0"/>
                </a:lnTo>
                <a:lnTo>
                  <a:pt x="366002" y="171"/>
                </a:lnTo>
                <a:lnTo>
                  <a:pt x="306090" y="1370"/>
                </a:lnTo>
                <a:lnTo>
                  <a:pt x="256027" y="4625"/>
                </a:lnTo>
                <a:lnTo>
                  <a:pt x="214581" y="10964"/>
                </a:lnTo>
                <a:lnTo>
                  <a:pt x="138164" y="41198"/>
                </a:lnTo>
                <a:lnTo>
                  <a:pt x="100323" y="67751"/>
                </a:lnTo>
                <a:lnTo>
                  <a:pt x="67751" y="100323"/>
                </a:lnTo>
                <a:lnTo>
                  <a:pt x="41198" y="138164"/>
                </a:lnTo>
                <a:lnTo>
                  <a:pt x="21414" y="180522"/>
                </a:lnTo>
                <a:lnTo>
                  <a:pt x="4625" y="256027"/>
                </a:lnTo>
                <a:lnTo>
                  <a:pt x="1370" y="306090"/>
                </a:lnTo>
                <a:lnTo>
                  <a:pt x="171" y="366002"/>
                </a:lnTo>
                <a:lnTo>
                  <a:pt x="0" y="436992"/>
                </a:lnTo>
                <a:lnTo>
                  <a:pt x="0" y="2379675"/>
                </a:lnTo>
                <a:lnTo>
                  <a:pt x="171" y="2450666"/>
                </a:lnTo>
                <a:lnTo>
                  <a:pt x="1370" y="2510577"/>
                </a:lnTo>
                <a:lnTo>
                  <a:pt x="4625" y="2560640"/>
                </a:lnTo>
                <a:lnTo>
                  <a:pt x="10964" y="2602086"/>
                </a:lnTo>
                <a:lnTo>
                  <a:pt x="41198" y="2678504"/>
                </a:lnTo>
                <a:lnTo>
                  <a:pt x="67751" y="2716344"/>
                </a:lnTo>
                <a:lnTo>
                  <a:pt x="100323" y="2748916"/>
                </a:lnTo>
                <a:lnTo>
                  <a:pt x="138164" y="2775469"/>
                </a:lnTo>
                <a:lnTo>
                  <a:pt x="180522" y="2795253"/>
                </a:lnTo>
                <a:lnTo>
                  <a:pt x="256027" y="2812042"/>
                </a:lnTo>
                <a:lnTo>
                  <a:pt x="306090" y="2815297"/>
                </a:lnTo>
                <a:lnTo>
                  <a:pt x="366002" y="2816496"/>
                </a:lnTo>
                <a:lnTo>
                  <a:pt x="436992" y="2816668"/>
                </a:lnTo>
                <a:lnTo>
                  <a:pt x="3081224" y="2816668"/>
                </a:lnTo>
                <a:lnTo>
                  <a:pt x="3152215" y="2816496"/>
                </a:lnTo>
                <a:lnTo>
                  <a:pt x="3212126" y="2815297"/>
                </a:lnTo>
                <a:lnTo>
                  <a:pt x="3262189" y="2812042"/>
                </a:lnTo>
                <a:lnTo>
                  <a:pt x="3303635" y="2805703"/>
                </a:lnTo>
                <a:lnTo>
                  <a:pt x="3380053" y="2775469"/>
                </a:lnTo>
                <a:lnTo>
                  <a:pt x="3417893" y="2748916"/>
                </a:lnTo>
                <a:lnTo>
                  <a:pt x="3450466" y="2716344"/>
                </a:lnTo>
                <a:lnTo>
                  <a:pt x="3477019" y="2678504"/>
                </a:lnTo>
                <a:lnTo>
                  <a:pt x="3496802" y="2636145"/>
                </a:lnTo>
                <a:lnTo>
                  <a:pt x="3513591" y="2560640"/>
                </a:lnTo>
                <a:lnTo>
                  <a:pt x="3516846" y="2510577"/>
                </a:lnTo>
                <a:lnTo>
                  <a:pt x="3518046" y="2450666"/>
                </a:lnTo>
                <a:lnTo>
                  <a:pt x="3518217" y="2379675"/>
                </a:lnTo>
                <a:lnTo>
                  <a:pt x="3518217" y="436992"/>
                </a:lnTo>
                <a:lnTo>
                  <a:pt x="3518046" y="366002"/>
                </a:lnTo>
                <a:lnTo>
                  <a:pt x="3516846" y="306090"/>
                </a:lnTo>
                <a:lnTo>
                  <a:pt x="3513591" y="256027"/>
                </a:lnTo>
                <a:lnTo>
                  <a:pt x="3507252" y="214581"/>
                </a:lnTo>
                <a:lnTo>
                  <a:pt x="3477019" y="138164"/>
                </a:lnTo>
                <a:lnTo>
                  <a:pt x="3450466" y="100323"/>
                </a:lnTo>
                <a:lnTo>
                  <a:pt x="3417893" y="67751"/>
                </a:lnTo>
                <a:lnTo>
                  <a:pt x="3380053" y="41198"/>
                </a:lnTo>
                <a:lnTo>
                  <a:pt x="3337695" y="21415"/>
                </a:lnTo>
                <a:lnTo>
                  <a:pt x="3262189" y="4625"/>
                </a:lnTo>
                <a:lnTo>
                  <a:pt x="3212126" y="1370"/>
                </a:lnTo>
                <a:lnTo>
                  <a:pt x="3152215" y="171"/>
                </a:lnTo>
                <a:lnTo>
                  <a:pt x="3081224" y="0"/>
                </a:lnTo>
                <a:close/>
              </a:path>
            </a:pathLst>
          </a:custGeom>
          <a:solidFill>
            <a:srgbClr val="0076B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20" name="object 20"/>
          <p:cNvGrpSpPr/>
          <p:nvPr/>
        </p:nvGrpSpPr>
        <p:grpSpPr>
          <a:xfrm>
            <a:off x="2829036" y="4398873"/>
            <a:ext cx="4437099" cy="2279582"/>
            <a:chOff x="4664584" y="7254067"/>
            <a:chExt cx="7317105" cy="37592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7393" y="7254067"/>
              <a:ext cx="3754075" cy="37590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22369" y="8910723"/>
              <a:ext cx="3370579" cy="0"/>
            </a:xfrm>
            <a:custGeom>
              <a:avLst/>
              <a:gdLst/>
              <a:ahLst/>
              <a:cxnLst/>
              <a:rect l="l" t="t" r="r" b="b"/>
              <a:pathLst>
                <a:path w="3370579">
                  <a:moveTo>
                    <a:pt x="0" y="0"/>
                  </a:moveTo>
                  <a:lnTo>
                    <a:pt x="3312399" y="0"/>
                  </a:lnTo>
                  <a:lnTo>
                    <a:pt x="3369989" y="0"/>
                  </a:lnTo>
                </a:path>
              </a:pathLst>
            </a:custGeom>
            <a:ln w="115179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4824" y="8690834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4" h="440054">
                  <a:moveTo>
                    <a:pt x="0" y="0"/>
                  </a:moveTo>
                  <a:lnTo>
                    <a:pt x="109944" y="219888"/>
                  </a:lnTo>
                  <a:lnTo>
                    <a:pt x="0" y="439777"/>
                  </a:lnTo>
                  <a:lnTo>
                    <a:pt x="439777" y="219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220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24" name="object 24"/>
            <p:cNvSpPr/>
            <p:nvPr/>
          </p:nvSpPr>
          <p:spPr>
            <a:xfrm>
              <a:off x="8963077" y="7821751"/>
              <a:ext cx="2282825" cy="2031364"/>
            </a:xfrm>
            <a:custGeom>
              <a:avLst/>
              <a:gdLst/>
              <a:ahLst/>
              <a:cxnLst/>
              <a:rect l="l" t="t" r="r" b="b"/>
              <a:pathLst>
                <a:path w="2282825" h="2031365">
                  <a:moveTo>
                    <a:pt x="1987813" y="0"/>
                  </a:moveTo>
                  <a:lnTo>
                    <a:pt x="294835" y="0"/>
                  </a:lnTo>
                  <a:lnTo>
                    <a:pt x="236164" y="225"/>
                  </a:lnTo>
                  <a:lnTo>
                    <a:pt x="188849" y="1805"/>
                  </a:lnTo>
                  <a:lnTo>
                    <a:pt x="121797" y="14447"/>
                  </a:lnTo>
                  <a:lnTo>
                    <a:pt x="86529" y="31865"/>
                  </a:lnTo>
                  <a:lnTo>
                    <a:pt x="56223" y="56223"/>
                  </a:lnTo>
                  <a:lnTo>
                    <a:pt x="31865" y="86529"/>
                  </a:lnTo>
                  <a:lnTo>
                    <a:pt x="14447" y="121797"/>
                  </a:lnTo>
                  <a:lnTo>
                    <a:pt x="1805" y="188849"/>
                  </a:lnTo>
                  <a:lnTo>
                    <a:pt x="225" y="236164"/>
                  </a:lnTo>
                  <a:lnTo>
                    <a:pt x="0" y="294835"/>
                  </a:lnTo>
                  <a:lnTo>
                    <a:pt x="0" y="1736516"/>
                  </a:lnTo>
                  <a:lnTo>
                    <a:pt x="225" y="1795187"/>
                  </a:lnTo>
                  <a:lnTo>
                    <a:pt x="1805" y="1842502"/>
                  </a:lnTo>
                  <a:lnTo>
                    <a:pt x="14447" y="1909554"/>
                  </a:lnTo>
                  <a:lnTo>
                    <a:pt x="31865" y="1944821"/>
                  </a:lnTo>
                  <a:lnTo>
                    <a:pt x="56223" y="1975128"/>
                  </a:lnTo>
                  <a:lnTo>
                    <a:pt x="86529" y="1999485"/>
                  </a:lnTo>
                  <a:lnTo>
                    <a:pt x="121797" y="2016904"/>
                  </a:lnTo>
                  <a:lnTo>
                    <a:pt x="188849" y="2029545"/>
                  </a:lnTo>
                  <a:lnTo>
                    <a:pt x="236164" y="2031126"/>
                  </a:lnTo>
                  <a:lnTo>
                    <a:pt x="294835" y="2031351"/>
                  </a:lnTo>
                  <a:lnTo>
                    <a:pt x="1987813" y="2031351"/>
                  </a:lnTo>
                  <a:lnTo>
                    <a:pt x="2046486" y="2031126"/>
                  </a:lnTo>
                  <a:lnTo>
                    <a:pt x="2093802" y="2029545"/>
                  </a:lnTo>
                  <a:lnTo>
                    <a:pt x="2160855" y="2016904"/>
                  </a:lnTo>
                  <a:lnTo>
                    <a:pt x="2196124" y="1999485"/>
                  </a:lnTo>
                  <a:lnTo>
                    <a:pt x="2226430" y="1975128"/>
                  </a:lnTo>
                  <a:lnTo>
                    <a:pt x="2250786" y="1944821"/>
                  </a:lnTo>
                  <a:lnTo>
                    <a:pt x="2268203" y="1909554"/>
                  </a:lnTo>
                  <a:lnTo>
                    <a:pt x="2280846" y="1842502"/>
                  </a:lnTo>
                  <a:lnTo>
                    <a:pt x="2282427" y="1795187"/>
                  </a:lnTo>
                  <a:lnTo>
                    <a:pt x="2282653" y="1736516"/>
                  </a:lnTo>
                  <a:lnTo>
                    <a:pt x="2282653" y="294835"/>
                  </a:lnTo>
                  <a:lnTo>
                    <a:pt x="2282427" y="236164"/>
                  </a:lnTo>
                  <a:lnTo>
                    <a:pt x="2280846" y="188849"/>
                  </a:lnTo>
                  <a:lnTo>
                    <a:pt x="2268203" y="121797"/>
                  </a:lnTo>
                  <a:lnTo>
                    <a:pt x="2250786" y="86529"/>
                  </a:lnTo>
                  <a:lnTo>
                    <a:pt x="2226430" y="56223"/>
                  </a:lnTo>
                  <a:lnTo>
                    <a:pt x="2196124" y="31865"/>
                  </a:lnTo>
                  <a:lnTo>
                    <a:pt x="2160855" y="14447"/>
                  </a:lnTo>
                  <a:lnTo>
                    <a:pt x="2093802" y="1805"/>
                  </a:lnTo>
                  <a:lnTo>
                    <a:pt x="2046486" y="225"/>
                  </a:lnTo>
                  <a:lnTo>
                    <a:pt x="19878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28309" y="5072906"/>
            <a:ext cx="1544494" cy="575588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/>
          <a:p>
            <a:pPr marL="7701" marR="3081" indent="8856">
              <a:lnSpc>
                <a:spcPct val="102000"/>
              </a:lnSpc>
              <a:spcBef>
                <a:spcPts val="33"/>
              </a:spcBef>
            </a:pPr>
            <a:r>
              <a:rPr sz="1880" spc="30" dirty="0">
                <a:solidFill>
                  <a:srgbClr val="FFFFFF"/>
                </a:solidFill>
                <a:latin typeface="Arial MT"/>
                <a:cs typeface="Arial MT"/>
              </a:rPr>
              <a:t>Culture</a:t>
            </a:r>
            <a:r>
              <a:rPr sz="1880" spc="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69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80" spc="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36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880" spc="64" dirty="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sz="1880" spc="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80" spc="42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endParaRPr sz="188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60615" y="4883806"/>
            <a:ext cx="1646151" cy="34564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183" b="1" spc="-39" dirty="0">
                <a:solidFill>
                  <a:srgbClr val="EE220C"/>
                </a:solidFill>
                <a:latin typeface="Arial"/>
                <a:cs typeface="Arial"/>
              </a:rPr>
              <a:t>Socialization</a:t>
            </a:r>
            <a:endParaRPr sz="2183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71794" y="4772865"/>
            <a:ext cx="912218" cy="848543"/>
          </a:xfrm>
          <a:prstGeom prst="rect">
            <a:avLst/>
          </a:prstGeom>
        </p:spPr>
        <p:txBody>
          <a:bodyPr vert="horz" wrap="square" lIns="0" tIns="3851" rIns="0" bIns="0" rtlCol="0">
            <a:spAutoFit/>
          </a:bodyPr>
          <a:lstStyle/>
          <a:p>
            <a:pPr marL="7316" marR="3081" algn="ctr">
              <a:lnSpc>
                <a:spcPct val="101400"/>
              </a:lnSpc>
              <a:spcBef>
                <a:spcPts val="30"/>
              </a:spcBef>
            </a:pPr>
            <a:r>
              <a:rPr sz="1850" spc="30" dirty="0">
                <a:solidFill>
                  <a:srgbClr val="FFFFFF"/>
                </a:solidFill>
                <a:latin typeface="Arial MT"/>
                <a:cs typeface="Arial MT"/>
              </a:rPr>
              <a:t>Working </a:t>
            </a:r>
            <a:r>
              <a:rPr sz="1850" spc="27" dirty="0">
                <a:solidFill>
                  <a:srgbClr val="FFFFFF"/>
                </a:solidFill>
                <a:latin typeface="Arial MT"/>
                <a:cs typeface="Arial MT"/>
              </a:rPr>
              <a:t>class </a:t>
            </a:r>
            <a:r>
              <a:rPr sz="1850" spc="36" dirty="0">
                <a:solidFill>
                  <a:srgbClr val="FFFFFF"/>
                </a:solidFill>
                <a:latin typeface="Arial MT"/>
                <a:cs typeface="Arial MT"/>
              </a:rPr>
              <a:t>habitus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42728" y="3921391"/>
            <a:ext cx="1365439" cy="36905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2335" b="1" spc="-27" dirty="0">
                <a:latin typeface="Arial"/>
                <a:cs typeface="Arial"/>
              </a:rPr>
              <a:t>Individual</a:t>
            </a:r>
            <a:endParaRPr sz="2335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19487" y="878226"/>
            <a:ext cx="2571076" cy="221664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647678" marR="827117" indent="-77783">
              <a:lnSpc>
                <a:spcPct val="113799"/>
              </a:lnSpc>
              <a:spcBef>
                <a:spcPts val="58"/>
              </a:spcBef>
            </a:pPr>
            <a:r>
              <a:rPr sz="1940" b="1" spc="-49" dirty="0">
                <a:latin typeface="Arial"/>
                <a:cs typeface="Arial"/>
              </a:rPr>
              <a:t>Bourgeois </a:t>
            </a:r>
            <a:r>
              <a:rPr sz="1940" b="1" spc="-6" dirty="0">
                <a:latin typeface="Arial"/>
                <a:cs typeface="Arial"/>
              </a:rPr>
              <a:t>behavior</a:t>
            </a:r>
            <a:endParaRPr sz="1940">
              <a:latin typeface="Arial"/>
              <a:cs typeface="Arial"/>
            </a:endParaRPr>
          </a:p>
          <a:p>
            <a:pPr marL="7701" marR="3081" algn="ctr">
              <a:lnSpc>
                <a:spcPct val="115700"/>
              </a:lnSpc>
              <a:spcBef>
                <a:spcPts val="82"/>
              </a:spcBef>
            </a:pPr>
            <a:r>
              <a:rPr sz="1728" dirty="0">
                <a:latin typeface="Arial MT"/>
                <a:cs typeface="Arial MT"/>
              </a:rPr>
              <a:t>(you act more </a:t>
            </a:r>
            <a:r>
              <a:rPr sz="1728" spc="-6" dirty="0">
                <a:latin typeface="Arial MT"/>
                <a:cs typeface="Arial MT"/>
              </a:rPr>
              <a:t>self-</a:t>
            </a:r>
            <a:r>
              <a:rPr sz="1728" spc="33" dirty="0">
                <a:latin typeface="Arial MT"/>
                <a:cs typeface="Arial MT"/>
              </a:rPr>
              <a:t>controlled,</a:t>
            </a:r>
            <a:r>
              <a:rPr sz="1728" spc="30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you</a:t>
            </a:r>
            <a:r>
              <a:rPr sz="1728" spc="33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value </a:t>
            </a:r>
            <a:r>
              <a:rPr sz="1728" dirty="0">
                <a:latin typeface="Arial MT"/>
                <a:cs typeface="Arial MT"/>
              </a:rPr>
              <a:t>restraint,</a:t>
            </a:r>
            <a:r>
              <a:rPr sz="1728" spc="27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you</a:t>
            </a:r>
            <a:r>
              <a:rPr sz="1728" spc="33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despise</a:t>
            </a:r>
            <a:r>
              <a:rPr sz="1728" spc="36" dirty="0">
                <a:latin typeface="Arial MT"/>
                <a:cs typeface="Arial MT"/>
              </a:rPr>
              <a:t> </a:t>
            </a:r>
            <a:r>
              <a:rPr sz="1728" spc="-12" dirty="0">
                <a:latin typeface="Arial MT"/>
                <a:cs typeface="Arial MT"/>
              </a:rPr>
              <a:t>lack </a:t>
            </a:r>
            <a:r>
              <a:rPr sz="1728" spc="58" dirty="0">
                <a:latin typeface="Arial MT"/>
                <a:cs typeface="Arial MT"/>
              </a:rPr>
              <a:t>of</a:t>
            </a:r>
            <a:r>
              <a:rPr sz="1728" spc="79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control,</a:t>
            </a:r>
            <a:r>
              <a:rPr sz="1728" spc="82" dirty="0">
                <a:latin typeface="Arial MT"/>
                <a:cs typeface="Arial MT"/>
              </a:rPr>
              <a:t> </a:t>
            </a:r>
            <a:r>
              <a:rPr sz="1728" spc="52" dirty="0">
                <a:latin typeface="Arial MT"/>
                <a:cs typeface="Arial MT"/>
              </a:rPr>
              <a:t>people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spc="15" dirty="0">
                <a:latin typeface="Arial MT"/>
                <a:cs typeface="Arial MT"/>
              </a:rPr>
              <a:t>who </a:t>
            </a:r>
            <a:r>
              <a:rPr sz="1728" dirty="0">
                <a:latin typeface="Arial MT"/>
                <a:cs typeface="Arial MT"/>
              </a:rPr>
              <a:t>laugh</a:t>
            </a:r>
            <a:r>
              <a:rPr sz="1728" spc="79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loudly,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etc.)</a:t>
            </a:r>
            <a:endParaRPr sz="1728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81774" y="5271400"/>
            <a:ext cx="1600328" cy="175589"/>
            <a:chOff x="11842571" y="8692929"/>
            <a:chExt cx="2639060" cy="289560"/>
          </a:xfrm>
        </p:grpSpPr>
        <p:sp>
          <p:nvSpPr>
            <p:cNvPr id="31" name="object 31"/>
            <p:cNvSpPr/>
            <p:nvPr/>
          </p:nvSpPr>
          <p:spPr>
            <a:xfrm>
              <a:off x="11842571" y="8837427"/>
              <a:ext cx="2458720" cy="0"/>
            </a:xfrm>
            <a:custGeom>
              <a:avLst/>
              <a:gdLst/>
              <a:ahLst/>
              <a:cxnLst/>
              <a:rect l="l" t="t" r="r" b="b"/>
              <a:pathLst>
                <a:path w="2458719">
                  <a:moveTo>
                    <a:pt x="0" y="0"/>
                  </a:moveTo>
                  <a:lnTo>
                    <a:pt x="2421915" y="0"/>
                  </a:lnTo>
                  <a:lnTo>
                    <a:pt x="2458563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32"/>
            <p:cNvSpPr/>
            <p:nvPr/>
          </p:nvSpPr>
          <p:spPr>
            <a:xfrm>
              <a:off x="14192238" y="8692929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72249" y="144498"/>
                  </a:ln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024707" y="4357784"/>
            <a:ext cx="2760528" cy="228076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93232" marR="680408" indent="-268390">
              <a:lnSpc>
                <a:spcPct val="113799"/>
              </a:lnSpc>
              <a:spcBef>
                <a:spcPts val="58"/>
              </a:spcBef>
            </a:pPr>
            <a:r>
              <a:rPr sz="1940" b="1" dirty="0">
                <a:latin typeface="Arial"/>
                <a:cs typeface="Arial"/>
              </a:rPr>
              <a:t>working</a:t>
            </a:r>
            <a:r>
              <a:rPr sz="1940" b="1" spc="-39" dirty="0">
                <a:latin typeface="Arial"/>
                <a:cs typeface="Arial"/>
              </a:rPr>
              <a:t> </a:t>
            </a:r>
            <a:r>
              <a:rPr sz="1940" b="1" spc="-121" dirty="0">
                <a:latin typeface="Arial"/>
                <a:cs typeface="Arial"/>
              </a:rPr>
              <a:t>class </a:t>
            </a:r>
            <a:r>
              <a:rPr sz="1940" b="1" spc="-6" dirty="0">
                <a:latin typeface="Arial"/>
                <a:cs typeface="Arial"/>
              </a:rPr>
              <a:t>behavior</a:t>
            </a:r>
            <a:endParaRPr sz="1940">
              <a:latin typeface="Arial"/>
              <a:cs typeface="Arial"/>
            </a:endParaRPr>
          </a:p>
          <a:p>
            <a:pPr marL="7701" marR="3081" algn="ctr">
              <a:lnSpc>
                <a:spcPct val="115700"/>
              </a:lnSpc>
              <a:spcBef>
                <a:spcPts val="582"/>
              </a:spcBef>
            </a:pPr>
            <a:r>
              <a:rPr sz="1728" dirty="0">
                <a:latin typeface="Arial MT"/>
                <a:cs typeface="Arial MT"/>
              </a:rPr>
              <a:t>(you</a:t>
            </a:r>
            <a:r>
              <a:rPr sz="1728" spc="-15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act</a:t>
            </a:r>
            <a:r>
              <a:rPr sz="1728" spc="-15" dirty="0">
                <a:latin typeface="Arial MT"/>
                <a:cs typeface="Arial MT"/>
              </a:rPr>
              <a:t> </a:t>
            </a:r>
            <a:r>
              <a:rPr sz="1728" spc="-33" dirty="0">
                <a:latin typeface="Arial MT"/>
                <a:cs typeface="Arial MT"/>
              </a:rPr>
              <a:t>less</a:t>
            </a:r>
            <a:r>
              <a:rPr sz="1728" spc="-15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self-</a:t>
            </a:r>
            <a:r>
              <a:rPr sz="1728" spc="-6" dirty="0">
                <a:latin typeface="Arial MT"/>
                <a:cs typeface="Arial MT"/>
              </a:rPr>
              <a:t>controlled, </a:t>
            </a:r>
            <a:r>
              <a:rPr sz="1728" dirty="0">
                <a:latin typeface="Arial MT"/>
                <a:cs typeface="Arial MT"/>
              </a:rPr>
              <a:t>you</a:t>
            </a:r>
            <a:r>
              <a:rPr sz="1728" spc="6" dirty="0">
                <a:latin typeface="Arial MT"/>
                <a:cs typeface="Arial MT"/>
              </a:rPr>
              <a:t> </a:t>
            </a:r>
            <a:r>
              <a:rPr sz="1728" spc="79" dirty="0">
                <a:latin typeface="Arial MT"/>
                <a:cs typeface="Arial MT"/>
              </a:rPr>
              <a:t>don't</a:t>
            </a:r>
            <a:r>
              <a:rPr sz="1728" spc="15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value</a:t>
            </a:r>
            <a:r>
              <a:rPr sz="1728" spc="18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restraint, </a:t>
            </a:r>
            <a:r>
              <a:rPr sz="1728" dirty="0">
                <a:latin typeface="Arial MT"/>
                <a:cs typeface="Arial MT"/>
              </a:rPr>
              <a:t>you</a:t>
            </a:r>
            <a:r>
              <a:rPr sz="1728" spc="33" dirty="0">
                <a:latin typeface="Arial MT"/>
                <a:cs typeface="Arial MT"/>
              </a:rPr>
              <a:t> </a:t>
            </a:r>
            <a:r>
              <a:rPr sz="1728" dirty="0">
                <a:latin typeface="Arial MT"/>
                <a:cs typeface="Arial MT"/>
              </a:rPr>
              <a:t>despise</a:t>
            </a:r>
            <a:r>
              <a:rPr sz="1728" spc="33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excessive </a:t>
            </a:r>
            <a:r>
              <a:rPr sz="1728" dirty="0">
                <a:latin typeface="Arial MT"/>
                <a:cs typeface="Arial MT"/>
              </a:rPr>
              <a:t>control,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spc="52" dirty="0">
                <a:latin typeface="Arial MT"/>
                <a:cs typeface="Arial MT"/>
              </a:rPr>
              <a:t>people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spc="30" dirty="0">
                <a:latin typeface="Arial MT"/>
                <a:cs typeface="Arial MT"/>
              </a:rPr>
              <a:t>who</a:t>
            </a:r>
            <a:r>
              <a:rPr sz="1728" spc="85" dirty="0">
                <a:latin typeface="Arial MT"/>
                <a:cs typeface="Arial MT"/>
              </a:rPr>
              <a:t> </a:t>
            </a:r>
            <a:r>
              <a:rPr sz="1728" spc="-15" dirty="0">
                <a:latin typeface="Arial MT"/>
                <a:cs typeface="Arial MT"/>
              </a:rPr>
              <a:t>are </a:t>
            </a:r>
            <a:r>
              <a:rPr sz="1728" spc="103" dirty="0">
                <a:latin typeface="Arial MT"/>
                <a:cs typeface="Arial MT"/>
              </a:rPr>
              <a:t>"uptight",</a:t>
            </a:r>
            <a:r>
              <a:rPr sz="1728" spc="9" dirty="0">
                <a:latin typeface="Arial MT"/>
                <a:cs typeface="Arial MT"/>
              </a:rPr>
              <a:t> </a:t>
            </a:r>
            <a:r>
              <a:rPr sz="1728" spc="-6" dirty="0">
                <a:latin typeface="Arial MT"/>
                <a:cs typeface="Arial MT"/>
              </a:rPr>
              <a:t>etc.)</a:t>
            </a:r>
            <a:endParaRPr sz="1728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682695F-5874-BC46-B2FE-DADB13A6E841}"/>
              </a:ext>
            </a:extLst>
          </p:cNvPr>
          <p:cNvSpPr txBox="1"/>
          <p:nvPr/>
        </p:nvSpPr>
        <p:spPr>
          <a:xfrm>
            <a:off x="2044014" y="3370492"/>
            <a:ext cx="8257710" cy="745290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dirty="0">
                <a:latin typeface="Arial MT"/>
                <a:cs typeface="Arial MT"/>
              </a:rPr>
              <a:t>Why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spc="52" dirty="0">
                <a:latin typeface="Arial MT"/>
                <a:cs typeface="Arial MT"/>
              </a:rPr>
              <a:t>do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we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also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observe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these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differences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b="1" dirty="0">
                <a:latin typeface="Arial"/>
                <a:cs typeface="Arial"/>
              </a:rPr>
              <a:t>across</a:t>
            </a:r>
            <a:r>
              <a:rPr sz="2395" b="1" spc="-9" dirty="0">
                <a:latin typeface="Arial"/>
                <a:cs typeface="Arial"/>
              </a:rPr>
              <a:t> </a:t>
            </a:r>
            <a:r>
              <a:rPr lang="fr-FR" sz="2395" b="1" spc="-9" dirty="0" err="1">
                <a:latin typeface="Arial"/>
                <a:cs typeface="Arial"/>
              </a:rPr>
              <a:t>different</a:t>
            </a:r>
            <a:r>
              <a:rPr lang="fr-FR" sz="2395" b="1" spc="-9" dirty="0">
                <a:latin typeface="Arial"/>
                <a:cs typeface="Arial"/>
              </a:rPr>
              <a:t> </a:t>
            </a:r>
            <a:r>
              <a:rPr sz="2395" b="1" spc="-6" dirty="0">
                <a:latin typeface="Arial"/>
                <a:cs typeface="Arial"/>
              </a:rPr>
              <a:t>cultures</a:t>
            </a:r>
            <a:r>
              <a:rPr sz="2395" spc="-6" dirty="0">
                <a:latin typeface="Arial MT"/>
                <a:cs typeface="Arial MT"/>
              </a:rPr>
              <a:t>?</a:t>
            </a:r>
            <a:endParaRPr sz="2395" dirty="0">
              <a:latin typeface="Arial MT"/>
              <a:cs typeface="Arial M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AC5F2968-FD4D-E280-07DC-1A3298C57095}"/>
              </a:ext>
            </a:extLst>
          </p:cNvPr>
          <p:cNvSpPr txBox="1"/>
          <p:nvPr/>
        </p:nvSpPr>
        <p:spPr>
          <a:xfrm>
            <a:off x="1967145" y="1250997"/>
            <a:ext cx="8257710" cy="745290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fr-FR" sz="2395" dirty="0">
                <a:latin typeface="Arial MT"/>
                <a:cs typeface="Arial MT"/>
              </a:rPr>
              <a:t>But once </a:t>
            </a:r>
            <a:r>
              <a:rPr lang="fr-FR" sz="2395" dirty="0" err="1">
                <a:latin typeface="Arial MT"/>
                <a:cs typeface="Arial MT"/>
              </a:rPr>
              <a:t>again</a:t>
            </a:r>
            <a:r>
              <a:rPr lang="fr-FR" sz="2395" dirty="0">
                <a:latin typeface="Arial MT"/>
                <a:cs typeface="Arial MT"/>
              </a:rPr>
              <a:t>: </a:t>
            </a:r>
            <a:r>
              <a:rPr lang="fr-FR" sz="2395" dirty="0" err="1">
                <a:latin typeface="Arial MT"/>
                <a:cs typeface="Arial MT"/>
              </a:rPr>
              <a:t>why</a:t>
            </a:r>
            <a:r>
              <a:rPr lang="fr-FR" sz="2395" dirty="0">
                <a:latin typeface="Arial MT"/>
                <a:cs typeface="Arial MT"/>
              </a:rPr>
              <a:t> are clusters of </a:t>
            </a:r>
            <a:r>
              <a:rPr lang="fr-FR" sz="2395" dirty="0" err="1">
                <a:latin typeface="Arial MT"/>
                <a:cs typeface="Arial MT"/>
              </a:rPr>
              <a:t>norms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associated</a:t>
            </a:r>
            <a:r>
              <a:rPr lang="fr-FR" sz="2395" dirty="0">
                <a:latin typeface="Arial MT"/>
                <a:cs typeface="Arial MT"/>
              </a:rPr>
              <a:t> in </a:t>
            </a:r>
            <a:r>
              <a:rPr lang="fr-FR" sz="2395" dirty="0" err="1">
                <a:latin typeface="Arial MT"/>
                <a:cs typeface="Arial MT"/>
              </a:rPr>
              <a:t>this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way</a:t>
            </a:r>
            <a:r>
              <a:rPr lang="fr-FR" sz="2395" dirty="0">
                <a:latin typeface="Arial MT"/>
                <a:cs typeface="Arial MT"/>
              </a:rPr>
              <a:t>? (</a:t>
            </a:r>
            <a:r>
              <a:rPr lang="fr-FR" sz="2395" dirty="0" err="1">
                <a:latin typeface="Arial MT"/>
                <a:cs typeface="Arial MT"/>
              </a:rPr>
              <a:t>why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is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it</a:t>
            </a:r>
            <a:r>
              <a:rPr lang="fr-FR" sz="2395" dirty="0">
                <a:latin typeface="Arial MT"/>
                <a:cs typeface="Arial MT"/>
              </a:rPr>
              <a:t> not the </a:t>
            </a:r>
            <a:r>
              <a:rPr lang="fr-FR" sz="2395" dirty="0" err="1">
                <a:latin typeface="Arial MT"/>
                <a:cs typeface="Arial MT"/>
              </a:rPr>
              <a:t>other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way</a:t>
            </a:r>
            <a:r>
              <a:rPr lang="fr-FR" sz="2395" dirty="0">
                <a:latin typeface="Arial MT"/>
                <a:cs typeface="Arial MT"/>
              </a:rPr>
              <a:t> </a:t>
            </a:r>
            <a:r>
              <a:rPr lang="fr-FR" sz="2395" dirty="0" err="1">
                <a:latin typeface="Arial MT"/>
                <a:cs typeface="Arial MT"/>
              </a:rPr>
              <a:t>around</a:t>
            </a:r>
            <a:r>
              <a:rPr lang="fr-FR" sz="2395" dirty="0">
                <a:latin typeface="Arial MT"/>
                <a:cs typeface="Arial MT"/>
              </a:rPr>
              <a:t>)</a:t>
            </a:r>
            <a:endParaRPr sz="2395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871792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A4D08E-698C-880D-593F-AB88259D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913" y="853217"/>
            <a:ext cx="5654530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060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26C493-9E87-8589-216B-B81B78C9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" y="274046"/>
            <a:ext cx="12093988" cy="6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60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9BAD64-8B13-5E19-1EBF-6888D980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47"/>
            <a:ext cx="12192000" cy="671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455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B822-0C97-1BDD-B022-BF146331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1409"/>
            <a:ext cx="10515600" cy="1325563"/>
          </a:xfrm>
        </p:spPr>
        <p:txBody>
          <a:bodyPr/>
          <a:lstStyle/>
          <a:p>
            <a:r>
              <a:rPr lang="fr-FR" dirty="0"/>
              <a:t>How to move </a:t>
            </a:r>
            <a:r>
              <a:rPr lang="fr-FR" dirty="0" err="1"/>
              <a:t>beyond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debate</a:t>
            </a:r>
            <a:r>
              <a:rPr lang="fr-FR" dirty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533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veiling the Human Mind: Harnessing Dual Thinking Systems for ...">
            <a:extLst>
              <a:ext uri="{FF2B5EF4-FFF2-40B4-BE49-F238E27FC236}">
                <a16:creationId xmlns:a16="http://schemas.microsoft.com/office/drawing/2014/main" id="{ED201EB0-35FA-E4C4-D437-1132EC9C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405" y="857878"/>
            <a:ext cx="7471841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553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4014" y="2042494"/>
            <a:ext cx="8257710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dirty="0">
                <a:latin typeface="Arial MT"/>
                <a:cs typeface="Arial MT"/>
              </a:rPr>
              <a:t>Why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spc="52" dirty="0">
                <a:latin typeface="Arial MT"/>
                <a:cs typeface="Arial MT"/>
              </a:rPr>
              <a:t>do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we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also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observe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these</a:t>
            </a:r>
            <a:r>
              <a:rPr sz="2395" spc="-9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differences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b="1" dirty="0">
                <a:latin typeface="Arial"/>
                <a:cs typeface="Arial"/>
              </a:rPr>
              <a:t>across</a:t>
            </a:r>
            <a:r>
              <a:rPr sz="2395" b="1" spc="-9" dirty="0">
                <a:latin typeface="Arial"/>
                <a:cs typeface="Arial"/>
              </a:rPr>
              <a:t> </a:t>
            </a:r>
            <a:r>
              <a:rPr sz="2395" b="1" spc="-6" dirty="0">
                <a:latin typeface="Arial"/>
                <a:cs typeface="Arial"/>
              </a:rPr>
              <a:t>cultures</a:t>
            </a:r>
            <a:r>
              <a:rPr sz="2395" spc="-6" dirty="0">
                <a:latin typeface="Arial MT"/>
                <a:cs typeface="Arial MT"/>
              </a:rPr>
              <a:t>?</a:t>
            </a:r>
            <a:endParaRPr sz="2395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16830" y="132138"/>
            <a:ext cx="11386912" cy="1254464"/>
          </a:xfrm>
          <a:prstGeom prst="rect">
            <a:avLst/>
          </a:prstGeom>
        </p:spPr>
        <p:txBody>
          <a:bodyPr vert="horz" wrap="square" lIns="0" tIns="73932" rIns="0" bIns="0" rtlCol="0" anchor="ctr">
            <a:spAutoFit/>
          </a:bodyPr>
          <a:lstStyle/>
          <a:p>
            <a:pPr marL="7701" marR="3081">
              <a:lnSpc>
                <a:spcPts val="4639"/>
              </a:lnSpc>
              <a:spcBef>
                <a:spcPts val="582"/>
              </a:spcBef>
            </a:pPr>
            <a:r>
              <a:rPr sz="4245" spc="-88" dirty="0"/>
              <a:t>Systematic</a:t>
            </a:r>
            <a:r>
              <a:rPr sz="4245" spc="-179" dirty="0"/>
              <a:t> </a:t>
            </a:r>
            <a:r>
              <a:rPr sz="4245" spc="-85" dirty="0"/>
              <a:t>relationships</a:t>
            </a:r>
            <a:r>
              <a:rPr sz="4245" spc="-179" dirty="0"/>
              <a:t> </a:t>
            </a:r>
            <a:r>
              <a:rPr sz="4245" spc="42" dirty="0"/>
              <a:t>between </a:t>
            </a:r>
            <a:r>
              <a:rPr sz="4245" spc="-24" dirty="0"/>
              <a:t>environment</a:t>
            </a:r>
            <a:r>
              <a:rPr sz="4245" spc="-154" dirty="0"/>
              <a:t> </a:t>
            </a:r>
            <a:r>
              <a:rPr sz="4245" dirty="0"/>
              <a:t>and</a:t>
            </a:r>
            <a:r>
              <a:rPr sz="4245" spc="-152" dirty="0"/>
              <a:t> </a:t>
            </a:r>
            <a:r>
              <a:rPr sz="4245" spc="-6" dirty="0"/>
              <a:t>behavior</a:t>
            </a:r>
            <a:endParaRPr sz="424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69" y="120752"/>
            <a:ext cx="8472961" cy="1257735"/>
          </a:xfrm>
          <a:prstGeom prst="rect">
            <a:avLst/>
          </a:prstGeom>
        </p:spPr>
        <p:txBody>
          <a:bodyPr vert="horz" wrap="square" lIns="0" tIns="73932" rIns="0" bIns="0" rtlCol="0" anchor="ctr">
            <a:spAutoFit/>
          </a:bodyPr>
          <a:lstStyle/>
          <a:p>
            <a:pPr marL="7701" marR="3081">
              <a:lnSpc>
                <a:spcPts val="4639"/>
              </a:lnSpc>
              <a:spcBef>
                <a:spcPts val="582"/>
              </a:spcBef>
            </a:pPr>
            <a:r>
              <a:rPr sz="4245" spc="-88" dirty="0"/>
              <a:t>Systematic</a:t>
            </a:r>
            <a:r>
              <a:rPr sz="4245" spc="-179" dirty="0"/>
              <a:t> </a:t>
            </a:r>
            <a:r>
              <a:rPr sz="4245" spc="-85" dirty="0"/>
              <a:t>relationships</a:t>
            </a:r>
            <a:r>
              <a:rPr sz="4245" spc="-179" dirty="0"/>
              <a:t> </a:t>
            </a:r>
            <a:r>
              <a:rPr sz="4245" spc="42" dirty="0"/>
              <a:t>between </a:t>
            </a:r>
            <a:r>
              <a:rPr sz="4245" spc="-24" dirty="0"/>
              <a:t>environment</a:t>
            </a:r>
            <a:r>
              <a:rPr sz="4245" spc="-154" dirty="0"/>
              <a:t> </a:t>
            </a:r>
            <a:r>
              <a:rPr sz="4245" dirty="0"/>
              <a:t>and</a:t>
            </a:r>
            <a:r>
              <a:rPr sz="4245" spc="-152" dirty="0"/>
              <a:t> </a:t>
            </a:r>
            <a:r>
              <a:rPr sz="4245" spc="-6" dirty="0"/>
              <a:t>behavior</a:t>
            </a:r>
            <a:endParaRPr sz="4245"/>
          </a:p>
        </p:txBody>
      </p:sp>
      <p:sp>
        <p:nvSpPr>
          <p:cNvPr id="3" name="object 3"/>
          <p:cNvSpPr txBox="1"/>
          <p:nvPr/>
        </p:nvSpPr>
        <p:spPr>
          <a:xfrm>
            <a:off x="2515198" y="3429510"/>
            <a:ext cx="6907673" cy="727866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algn="ctr">
              <a:lnSpc>
                <a:spcPts val="2802"/>
              </a:lnSpc>
              <a:spcBef>
                <a:spcPts val="76"/>
              </a:spcBef>
            </a:pPr>
            <a:r>
              <a:rPr sz="2335" spc="36" dirty="0">
                <a:latin typeface="Arial MT"/>
                <a:cs typeface="Arial MT"/>
              </a:rPr>
              <a:t>"Cultural"</a:t>
            </a:r>
            <a:r>
              <a:rPr sz="2335" spc="7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models</a:t>
            </a:r>
            <a:r>
              <a:rPr sz="2335" spc="7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struggle</a:t>
            </a:r>
            <a:r>
              <a:rPr sz="2335" spc="79" dirty="0">
                <a:latin typeface="Arial MT"/>
                <a:cs typeface="Arial MT"/>
              </a:rPr>
              <a:t> </a:t>
            </a:r>
            <a:r>
              <a:rPr sz="2335" spc="67" dirty="0">
                <a:latin typeface="Arial MT"/>
                <a:cs typeface="Arial MT"/>
              </a:rPr>
              <a:t>to</a:t>
            </a:r>
            <a:r>
              <a:rPr sz="2335" spc="7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explain</a:t>
            </a:r>
            <a:r>
              <a:rPr sz="2335" spc="7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</a:t>
            </a:r>
            <a:r>
              <a:rPr sz="2335" spc="79" dirty="0">
                <a:latin typeface="Arial MT"/>
                <a:cs typeface="Arial MT"/>
              </a:rPr>
              <a:t> </a:t>
            </a:r>
            <a:r>
              <a:rPr sz="2335" i="1" spc="-6" dirty="0">
                <a:latin typeface="Arial"/>
                <a:cs typeface="Arial"/>
              </a:rPr>
              <a:t>systematic</a:t>
            </a:r>
            <a:endParaRPr sz="2335">
              <a:latin typeface="Arial"/>
              <a:cs typeface="Arial"/>
            </a:endParaRPr>
          </a:p>
          <a:p>
            <a:pPr algn="ctr">
              <a:lnSpc>
                <a:spcPts val="2802"/>
              </a:lnSpc>
            </a:pPr>
            <a:r>
              <a:rPr sz="2335" dirty="0">
                <a:latin typeface="Arial MT"/>
                <a:cs typeface="Arial MT"/>
              </a:rPr>
              <a:t>relationship</a:t>
            </a:r>
            <a:r>
              <a:rPr sz="2335" spc="91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between</a:t>
            </a:r>
            <a:r>
              <a:rPr sz="2335" spc="88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environment</a:t>
            </a:r>
            <a:r>
              <a:rPr sz="2335" spc="91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and</a:t>
            </a:r>
            <a:r>
              <a:rPr sz="2335" spc="88" dirty="0">
                <a:latin typeface="Arial MT"/>
                <a:cs typeface="Arial MT"/>
              </a:rPr>
              <a:t> </a:t>
            </a:r>
            <a:r>
              <a:rPr sz="2335" spc="-6" dirty="0">
                <a:latin typeface="Arial MT"/>
                <a:cs typeface="Arial MT"/>
              </a:rPr>
              <a:t>behavior</a:t>
            </a:r>
            <a:endParaRPr sz="2335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0081" y="5047773"/>
            <a:ext cx="9958539" cy="769854"/>
          </a:xfrm>
          <a:prstGeom prst="rect">
            <a:avLst/>
          </a:prstGeom>
        </p:spPr>
        <p:txBody>
          <a:bodyPr vert="horz" wrap="square" lIns="0" tIns="2695" rIns="0" bIns="0" rtlCol="0">
            <a:spAutoFit/>
          </a:bodyPr>
          <a:lstStyle/>
          <a:p>
            <a:pPr marL="574515" marR="3081" indent="-567199">
              <a:lnSpc>
                <a:spcPct val="101400"/>
              </a:lnSpc>
              <a:spcBef>
                <a:spcPts val="21"/>
              </a:spcBef>
            </a:pPr>
            <a:r>
              <a:rPr sz="2547" i="1" spc="36" dirty="0">
                <a:latin typeface="Arial"/>
                <a:cs typeface="Arial"/>
              </a:rPr>
              <a:t>But</a:t>
            </a:r>
            <a:r>
              <a:rPr sz="2547" i="1" spc="30" dirty="0">
                <a:latin typeface="Arial"/>
                <a:cs typeface="Arial"/>
              </a:rPr>
              <a:t> </a:t>
            </a:r>
            <a:r>
              <a:rPr sz="2547" i="1" dirty="0">
                <a:latin typeface="Arial"/>
                <a:cs typeface="Arial"/>
              </a:rPr>
              <a:t>some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i="1" dirty="0">
                <a:latin typeface="Arial"/>
                <a:cs typeface="Arial"/>
              </a:rPr>
              <a:t>evolutionary/psychological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i="1" dirty="0">
                <a:latin typeface="Arial"/>
                <a:cs typeface="Arial"/>
              </a:rPr>
              <a:t>models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i="1" dirty="0">
                <a:latin typeface="Arial"/>
                <a:cs typeface="Arial"/>
              </a:rPr>
              <a:t>can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i="1" dirty="0">
                <a:latin typeface="Arial"/>
                <a:cs typeface="Arial"/>
              </a:rPr>
              <a:t>explain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i="1" spc="30" dirty="0">
                <a:latin typeface="Arial"/>
                <a:cs typeface="Arial"/>
              </a:rPr>
              <a:t>it:</a:t>
            </a:r>
            <a:r>
              <a:rPr sz="2547" i="1" spc="33" dirty="0">
                <a:latin typeface="Arial"/>
                <a:cs typeface="Arial"/>
              </a:rPr>
              <a:t> </a:t>
            </a:r>
            <a:r>
              <a:rPr sz="2547" b="1" i="1" spc="-6" dirty="0">
                <a:latin typeface="Arial"/>
                <a:cs typeface="Arial"/>
              </a:rPr>
              <a:t>deprived </a:t>
            </a:r>
            <a:r>
              <a:rPr sz="2547" b="1" i="1" dirty="0">
                <a:latin typeface="Arial"/>
                <a:cs typeface="Arial"/>
              </a:rPr>
              <a:t>environments</a:t>
            </a:r>
            <a:r>
              <a:rPr sz="2547" b="1" i="1" spc="15" dirty="0">
                <a:latin typeface="Arial"/>
                <a:cs typeface="Arial"/>
              </a:rPr>
              <a:t> </a:t>
            </a:r>
            <a:r>
              <a:rPr sz="2547" b="1" i="1" spc="30" dirty="0">
                <a:latin typeface="Arial"/>
                <a:cs typeface="Arial"/>
              </a:rPr>
              <a:t>make</a:t>
            </a:r>
            <a:r>
              <a:rPr sz="2547" b="1" i="1" spc="18" dirty="0">
                <a:latin typeface="Arial"/>
                <a:cs typeface="Arial"/>
              </a:rPr>
              <a:t> </a:t>
            </a:r>
            <a:r>
              <a:rPr sz="2547" b="1" i="1" dirty="0">
                <a:latin typeface="Arial"/>
                <a:cs typeface="Arial"/>
              </a:rPr>
              <a:t>short-term</a:t>
            </a:r>
            <a:r>
              <a:rPr sz="2547" b="1" i="1" spc="18" dirty="0">
                <a:latin typeface="Arial"/>
                <a:cs typeface="Arial"/>
              </a:rPr>
              <a:t> </a:t>
            </a:r>
            <a:r>
              <a:rPr sz="2547" b="1" i="1" dirty="0">
                <a:latin typeface="Arial"/>
                <a:cs typeface="Arial"/>
              </a:rPr>
              <a:t>strategies</a:t>
            </a:r>
            <a:r>
              <a:rPr sz="2547" b="1" i="1" spc="18" dirty="0">
                <a:latin typeface="Arial"/>
                <a:cs typeface="Arial"/>
              </a:rPr>
              <a:t> </a:t>
            </a:r>
            <a:r>
              <a:rPr sz="2547" b="1" i="1" dirty="0">
                <a:latin typeface="Arial"/>
                <a:cs typeface="Arial"/>
              </a:rPr>
              <a:t>more</a:t>
            </a:r>
            <a:r>
              <a:rPr sz="2547" b="1" i="1" spc="15" dirty="0">
                <a:latin typeface="Arial"/>
                <a:cs typeface="Arial"/>
              </a:rPr>
              <a:t> </a:t>
            </a:r>
            <a:r>
              <a:rPr sz="2547" b="1" i="1" spc="-6" dirty="0">
                <a:latin typeface="Arial"/>
                <a:cs typeface="Arial"/>
              </a:rPr>
              <a:t>adaptive</a:t>
            </a:r>
            <a:r>
              <a:rPr sz="2547" i="1" spc="-6" dirty="0">
                <a:latin typeface="Arial"/>
                <a:cs typeface="Arial"/>
              </a:rPr>
              <a:t>!</a:t>
            </a:r>
            <a:endParaRPr sz="254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4810" y="1966299"/>
            <a:ext cx="7614267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dirty="0">
                <a:latin typeface="Arial MT"/>
                <a:cs typeface="Arial MT"/>
              </a:rPr>
              <a:t>Why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spc="52" dirty="0">
                <a:latin typeface="Arial MT"/>
                <a:cs typeface="Arial MT"/>
              </a:rPr>
              <a:t>do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we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observe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these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differences</a:t>
            </a:r>
            <a:r>
              <a:rPr sz="2395" spc="-12" dirty="0">
                <a:latin typeface="Arial MT"/>
                <a:cs typeface="Arial MT"/>
              </a:rPr>
              <a:t> </a:t>
            </a:r>
            <a:r>
              <a:rPr sz="2395" b="1" dirty="0">
                <a:latin typeface="Arial"/>
                <a:cs typeface="Arial"/>
              </a:rPr>
              <a:t>across</a:t>
            </a:r>
            <a:r>
              <a:rPr sz="2395" b="1" spc="-12" dirty="0">
                <a:latin typeface="Arial"/>
                <a:cs typeface="Arial"/>
              </a:rPr>
              <a:t> </a:t>
            </a:r>
            <a:r>
              <a:rPr sz="2395" b="1" spc="-6" dirty="0">
                <a:latin typeface="Arial"/>
                <a:cs typeface="Arial"/>
              </a:rPr>
              <a:t>cultures</a:t>
            </a:r>
            <a:r>
              <a:rPr sz="2395" spc="-6" dirty="0">
                <a:latin typeface="Arial MT"/>
                <a:cs typeface="Arial MT"/>
              </a:rPr>
              <a:t>?</a:t>
            </a:r>
            <a:endParaRPr sz="239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383" y="402143"/>
            <a:ext cx="10754943" cy="597198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70" y="129345"/>
            <a:ext cx="9920419" cy="1475726"/>
          </a:xfrm>
          <a:prstGeom prst="rect">
            <a:avLst/>
          </a:prstGeom>
        </p:spPr>
        <p:txBody>
          <a:bodyPr vert="horz" wrap="square" lIns="0" tIns="84329" rIns="0" bIns="0" rtlCol="0" anchor="ctr">
            <a:spAutoFit/>
          </a:bodyPr>
          <a:lstStyle/>
          <a:p>
            <a:pPr marL="7701" marR="3081">
              <a:lnSpc>
                <a:spcPts val="5518"/>
              </a:lnSpc>
              <a:spcBef>
                <a:spcPts val="664"/>
              </a:spcBef>
            </a:pPr>
            <a:r>
              <a:rPr spc="-133" dirty="0"/>
              <a:t>Socio-</a:t>
            </a:r>
            <a:r>
              <a:rPr spc="-106" dirty="0"/>
              <a:t>economic</a:t>
            </a:r>
            <a:r>
              <a:rPr spc="-212" dirty="0"/>
              <a:t> </a:t>
            </a:r>
            <a:r>
              <a:rPr spc="-73" dirty="0"/>
              <a:t>conditions,</a:t>
            </a:r>
            <a:r>
              <a:rPr spc="-212" dirty="0"/>
              <a:t> </a:t>
            </a:r>
            <a:r>
              <a:rPr spc="-12" dirty="0"/>
              <a:t>time-</a:t>
            </a:r>
            <a:r>
              <a:rPr spc="-79" dirty="0"/>
              <a:t>discounting</a:t>
            </a:r>
            <a:r>
              <a:rPr spc="-164" dirty="0"/>
              <a:t> </a:t>
            </a:r>
            <a:r>
              <a:rPr dirty="0"/>
              <a:t>and</a:t>
            </a:r>
            <a:r>
              <a:rPr spc="-164" dirty="0"/>
              <a:t> </a:t>
            </a:r>
            <a:r>
              <a:rPr spc="-6" dirty="0"/>
              <a:t>cooperation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536" y="1861378"/>
            <a:ext cx="10614690" cy="728875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lnSpc>
                <a:spcPts val="2868"/>
              </a:lnSpc>
              <a:spcBef>
                <a:spcPts val="64"/>
              </a:spcBef>
            </a:pPr>
            <a:r>
              <a:rPr sz="2395" dirty="0">
                <a:latin typeface="Arial MT"/>
                <a:cs typeface="Arial MT"/>
              </a:rPr>
              <a:t>Because</a:t>
            </a:r>
            <a:r>
              <a:rPr sz="2395" spc="21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cooperation</a:t>
            </a:r>
            <a:r>
              <a:rPr sz="2395" spc="24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is</a:t>
            </a:r>
            <a:r>
              <a:rPr sz="2395" spc="27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a</a:t>
            </a:r>
            <a:r>
              <a:rPr sz="2395" spc="24" dirty="0">
                <a:latin typeface="Arial MT"/>
                <a:cs typeface="Arial MT"/>
              </a:rPr>
              <a:t> </a:t>
            </a:r>
            <a:r>
              <a:rPr sz="2395" i="1" spc="30" dirty="0">
                <a:latin typeface="Arial"/>
                <a:cs typeface="Arial"/>
              </a:rPr>
              <a:t>long-</a:t>
            </a:r>
            <a:r>
              <a:rPr sz="2395" i="1" spc="33" dirty="0">
                <a:latin typeface="Arial"/>
                <a:cs typeface="Arial"/>
              </a:rPr>
              <a:t>term</a:t>
            </a:r>
            <a:r>
              <a:rPr sz="2395" i="1" spc="27" dirty="0">
                <a:latin typeface="Arial"/>
                <a:cs typeface="Arial"/>
              </a:rPr>
              <a:t> </a:t>
            </a:r>
            <a:r>
              <a:rPr sz="2395" i="1" dirty="0">
                <a:latin typeface="Arial"/>
                <a:cs typeface="Arial"/>
              </a:rPr>
              <a:t>strategy</a:t>
            </a:r>
            <a:r>
              <a:rPr sz="2395" i="1" spc="27" dirty="0">
                <a:latin typeface="Arial"/>
                <a:cs typeface="Arial"/>
              </a:rPr>
              <a:t> </a:t>
            </a:r>
            <a:r>
              <a:rPr sz="2395" dirty="0">
                <a:latin typeface="Arial MT"/>
                <a:cs typeface="Arial MT"/>
              </a:rPr>
              <a:t>we</a:t>
            </a:r>
            <a:r>
              <a:rPr sz="2395" spc="27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should</a:t>
            </a:r>
            <a:r>
              <a:rPr sz="2395" spc="27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observe</a:t>
            </a:r>
            <a:r>
              <a:rPr sz="2395" spc="24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a</a:t>
            </a:r>
            <a:r>
              <a:rPr sz="2395" spc="27" dirty="0">
                <a:latin typeface="Arial MT"/>
                <a:cs typeface="Arial MT"/>
              </a:rPr>
              <a:t> </a:t>
            </a:r>
            <a:r>
              <a:rPr sz="2395" b="1" spc="-6" dirty="0">
                <a:latin typeface="Arial"/>
                <a:cs typeface="Arial"/>
              </a:rPr>
              <a:t>systematic</a:t>
            </a:r>
            <a:endParaRPr sz="2395">
              <a:latin typeface="Arial"/>
              <a:cs typeface="Arial"/>
            </a:endParaRPr>
          </a:p>
          <a:p>
            <a:pPr marL="7701">
              <a:lnSpc>
                <a:spcPts val="2868"/>
              </a:lnSpc>
            </a:pPr>
            <a:r>
              <a:rPr sz="2395" dirty="0">
                <a:latin typeface="Arial MT"/>
                <a:cs typeface="Arial MT"/>
              </a:rPr>
              <a:t>relationship</a:t>
            </a:r>
            <a:r>
              <a:rPr sz="2395" spc="94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between</a:t>
            </a:r>
            <a:r>
              <a:rPr sz="2395" spc="97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cooperation</a:t>
            </a:r>
            <a:r>
              <a:rPr sz="2395" spc="94" dirty="0">
                <a:latin typeface="Arial MT"/>
                <a:cs typeface="Arial MT"/>
              </a:rPr>
              <a:t> </a:t>
            </a:r>
            <a:r>
              <a:rPr sz="2395" dirty="0">
                <a:latin typeface="Arial MT"/>
                <a:cs typeface="Arial MT"/>
              </a:rPr>
              <a:t>and</a:t>
            </a:r>
            <a:r>
              <a:rPr sz="2395" spc="97" dirty="0">
                <a:latin typeface="Arial MT"/>
                <a:cs typeface="Arial MT"/>
              </a:rPr>
              <a:t> </a:t>
            </a:r>
            <a:r>
              <a:rPr sz="2395" spc="30" dirty="0">
                <a:latin typeface="Arial MT"/>
                <a:cs typeface="Arial MT"/>
              </a:rPr>
              <a:t>socio-</a:t>
            </a:r>
            <a:r>
              <a:rPr sz="2395" spc="36" dirty="0">
                <a:latin typeface="Arial MT"/>
                <a:cs typeface="Arial MT"/>
              </a:rPr>
              <a:t>economic</a:t>
            </a:r>
            <a:r>
              <a:rPr sz="2395" spc="94" dirty="0">
                <a:latin typeface="Arial MT"/>
                <a:cs typeface="Arial MT"/>
              </a:rPr>
              <a:t> </a:t>
            </a:r>
            <a:r>
              <a:rPr sz="2395" spc="24" dirty="0">
                <a:latin typeface="Arial MT"/>
                <a:cs typeface="Arial MT"/>
              </a:rPr>
              <a:t>conditions</a:t>
            </a:r>
            <a:endParaRPr sz="2395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5519" y="2940032"/>
            <a:ext cx="5582949" cy="35617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7859" y="3558234"/>
            <a:ext cx="4063201" cy="1111659"/>
          </a:xfrm>
          <a:prstGeom prst="rect">
            <a:avLst/>
          </a:prstGeom>
        </p:spPr>
        <p:txBody>
          <a:bodyPr vert="horz" wrap="square" lIns="0" tIns="18868" rIns="0" bIns="0" rtlCol="0">
            <a:spAutoFit/>
          </a:bodyPr>
          <a:lstStyle/>
          <a:p>
            <a:pPr marL="7701" marR="3081">
              <a:lnSpc>
                <a:spcPts val="2850"/>
              </a:lnSpc>
              <a:spcBef>
                <a:spcPts val="149"/>
              </a:spcBef>
            </a:pPr>
            <a:r>
              <a:rPr sz="2395" i="1" dirty="0">
                <a:latin typeface="Arial"/>
                <a:cs typeface="Arial"/>
              </a:rPr>
              <a:t>Again,</a:t>
            </a:r>
            <a:r>
              <a:rPr sz="2395" i="1" spc="18" dirty="0">
                <a:latin typeface="Arial"/>
                <a:cs typeface="Arial"/>
              </a:rPr>
              <a:t> </a:t>
            </a:r>
            <a:r>
              <a:rPr sz="2395" i="1" dirty="0">
                <a:latin typeface="Arial"/>
                <a:cs typeface="Arial"/>
              </a:rPr>
              <a:t>something</a:t>
            </a:r>
            <a:r>
              <a:rPr sz="2395" i="1" spc="18" dirty="0">
                <a:latin typeface="Arial"/>
                <a:cs typeface="Arial"/>
              </a:rPr>
              <a:t> </a:t>
            </a:r>
            <a:r>
              <a:rPr sz="2395" i="1" dirty="0">
                <a:latin typeface="Arial"/>
                <a:cs typeface="Arial"/>
              </a:rPr>
              <a:t>that</a:t>
            </a:r>
            <a:r>
              <a:rPr sz="2395" i="1" spc="18" dirty="0">
                <a:latin typeface="Arial"/>
                <a:cs typeface="Arial"/>
              </a:rPr>
              <a:t> </a:t>
            </a:r>
            <a:r>
              <a:rPr sz="2395" i="1" dirty="0">
                <a:latin typeface="Arial"/>
                <a:cs typeface="Arial"/>
              </a:rPr>
              <a:t>is</a:t>
            </a:r>
            <a:r>
              <a:rPr sz="2395" i="1" spc="15" dirty="0">
                <a:latin typeface="Arial"/>
                <a:cs typeface="Arial"/>
              </a:rPr>
              <a:t> </a:t>
            </a:r>
            <a:r>
              <a:rPr sz="2395" i="1" spc="-12" dirty="0">
                <a:latin typeface="Arial"/>
                <a:cs typeface="Arial"/>
              </a:rPr>
              <a:t>more </a:t>
            </a:r>
            <a:r>
              <a:rPr sz="2395" i="1" dirty="0">
                <a:latin typeface="Arial"/>
                <a:cs typeface="Arial"/>
              </a:rPr>
              <a:t>difficult</a:t>
            </a:r>
            <a:r>
              <a:rPr sz="2395" i="1" spc="30" dirty="0">
                <a:latin typeface="Arial"/>
                <a:cs typeface="Arial"/>
              </a:rPr>
              <a:t> </a:t>
            </a:r>
            <a:r>
              <a:rPr sz="2395" i="1" spc="58" dirty="0">
                <a:latin typeface="Arial"/>
                <a:cs typeface="Arial"/>
              </a:rPr>
              <a:t>to</a:t>
            </a:r>
            <a:r>
              <a:rPr sz="2395" i="1" spc="39" dirty="0">
                <a:latin typeface="Arial"/>
                <a:cs typeface="Arial"/>
              </a:rPr>
              <a:t> </a:t>
            </a:r>
            <a:r>
              <a:rPr sz="2395" i="1" dirty="0">
                <a:latin typeface="Arial"/>
                <a:cs typeface="Arial"/>
              </a:rPr>
              <a:t>explain</a:t>
            </a:r>
            <a:r>
              <a:rPr sz="2395" i="1" spc="39" dirty="0">
                <a:latin typeface="Arial"/>
                <a:cs typeface="Arial"/>
              </a:rPr>
              <a:t> </a:t>
            </a:r>
            <a:r>
              <a:rPr sz="2395" i="1" spc="30" dirty="0">
                <a:latin typeface="Arial"/>
                <a:cs typeface="Arial"/>
              </a:rPr>
              <a:t>with </a:t>
            </a:r>
            <a:r>
              <a:rPr sz="2395" i="1" dirty="0">
                <a:latin typeface="Arial"/>
                <a:cs typeface="Arial"/>
              </a:rPr>
              <a:t>cultural</a:t>
            </a:r>
            <a:r>
              <a:rPr sz="2395" i="1" spc="76" dirty="0">
                <a:latin typeface="Arial"/>
                <a:cs typeface="Arial"/>
              </a:rPr>
              <a:t> </a:t>
            </a:r>
            <a:r>
              <a:rPr sz="2395" i="1" spc="-6" dirty="0">
                <a:latin typeface="Arial"/>
                <a:cs typeface="Arial"/>
              </a:rPr>
              <a:t>approaches!</a:t>
            </a:r>
            <a:endParaRPr sz="239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370" y="120807"/>
            <a:ext cx="11641272" cy="1987349"/>
          </a:xfrm>
          <a:prstGeom prst="rect">
            <a:avLst/>
          </a:prstGeom>
        </p:spPr>
        <p:txBody>
          <a:bodyPr vert="horz" wrap="square" lIns="0" tIns="73162" rIns="0" bIns="0" rtlCol="0" anchor="ctr">
            <a:spAutoFit/>
          </a:bodyPr>
          <a:lstStyle/>
          <a:p>
            <a:pPr marL="7701" marR="3081">
              <a:lnSpc>
                <a:spcPts val="4603"/>
              </a:lnSpc>
              <a:spcBef>
                <a:spcPts val="576"/>
              </a:spcBef>
            </a:pPr>
            <a:r>
              <a:rPr sz="4184" spc="-45" dirty="0"/>
              <a:t>Boudieu</a:t>
            </a:r>
            <a:r>
              <a:rPr sz="4184" spc="-136" dirty="0"/>
              <a:t> </a:t>
            </a:r>
            <a:r>
              <a:rPr sz="4184" spc="-61" dirty="0"/>
              <a:t>himself</a:t>
            </a:r>
            <a:r>
              <a:rPr sz="4184" spc="-133" dirty="0"/>
              <a:t> </a:t>
            </a:r>
            <a:r>
              <a:rPr sz="4184" spc="-103" dirty="0"/>
              <a:t>switches</a:t>
            </a:r>
            <a:r>
              <a:rPr sz="4184" spc="-133" dirty="0"/>
              <a:t> </a:t>
            </a:r>
            <a:r>
              <a:rPr sz="4184" spc="118" dirty="0"/>
              <a:t>to</a:t>
            </a:r>
            <a:r>
              <a:rPr sz="4184" spc="-133" dirty="0"/>
              <a:t> </a:t>
            </a:r>
            <a:r>
              <a:rPr sz="4184" dirty="0"/>
              <a:t>an</a:t>
            </a:r>
            <a:r>
              <a:rPr sz="4184" spc="-133" dirty="0"/>
              <a:t> </a:t>
            </a:r>
            <a:r>
              <a:rPr sz="4184" spc="-6" dirty="0"/>
              <a:t>"agentic" explanation</a:t>
            </a:r>
            <a:r>
              <a:rPr sz="4184" spc="-73" dirty="0"/>
              <a:t> </a:t>
            </a:r>
            <a:r>
              <a:rPr sz="4184" dirty="0"/>
              <a:t>when</a:t>
            </a:r>
            <a:r>
              <a:rPr sz="4184" spc="-73" dirty="0"/>
              <a:t> </a:t>
            </a:r>
            <a:r>
              <a:rPr sz="4184" spc="76" dirty="0"/>
              <a:t>it</a:t>
            </a:r>
            <a:r>
              <a:rPr sz="4184" spc="-73" dirty="0"/>
              <a:t> </a:t>
            </a:r>
            <a:r>
              <a:rPr sz="4184" spc="-161" dirty="0"/>
              <a:t>comes</a:t>
            </a:r>
            <a:r>
              <a:rPr sz="4184" spc="-73" dirty="0"/>
              <a:t> </a:t>
            </a:r>
            <a:r>
              <a:rPr sz="4184" spc="118" dirty="0"/>
              <a:t>to</a:t>
            </a:r>
            <a:r>
              <a:rPr sz="4184" spc="-73" dirty="0"/>
              <a:t> </a:t>
            </a:r>
            <a:r>
              <a:rPr sz="4184" i="1" spc="-6" dirty="0">
                <a:latin typeface="Arial"/>
                <a:cs typeface="Arial"/>
              </a:rPr>
              <a:t>explaining</a:t>
            </a:r>
            <a:r>
              <a:rPr sz="4184" i="1" spc="-73" dirty="0">
                <a:latin typeface="Arial"/>
                <a:cs typeface="Arial"/>
              </a:rPr>
              <a:t> </a:t>
            </a:r>
            <a:r>
              <a:rPr sz="4184" spc="-6" dirty="0"/>
              <a:t>these</a:t>
            </a:r>
            <a:endParaRPr sz="4184">
              <a:latin typeface="Arial"/>
              <a:cs typeface="Arial"/>
            </a:endParaRPr>
          </a:p>
          <a:p>
            <a:pPr marL="7701">
              <a:lnSpc>
                <a:spcPct val="100000"/>
              </a:lnSpc>
              <a:spcBef>
                <a:spcPts val="703"/>
              </a:spcBef>
            </a:pPr>
            <a:r>
              <a:rPr sz="4184" spc="-21" dirty="0"/>
              <a:t>differences!</a:t>
            </a:r>
            <a:endParaRPr sz="4184"/>
          </a:p>
        </p:txBody>
      </p:sp>
      <p:sp>
        <p:nvSpPr>
          <p:cNvPr id="3" name="object 3"/>
          <p:cNvSpPr txBox="1"/>
          <p:nvPr/>
        </p:nvSpPr>
        <p:spPr>
          <a:xfrm>
            <a:off x="1888186" y="2292070"/>
            <a:ext cx="8288515" cy="4192055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 marR="3081" algn="ctr">
              <a:lnSpc>
                <a:spcPct val="114900"/>
              </a:lnSpc>
              <a:spcBef>
                <a:spcPts val="55"/>
              </a:spcBef>
            </a:pPr>
            <a:r>
              <a:rPr sz="2031" i="1" dirty="0">
                <a:latin typeface="Arial"/>
                <a:cs typeface="Arial"/>
              </a:rPr>
              <a:t>"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l'hédonisme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i="1" spc="52" dirty="0">
                <a:latin typeface="Arial"/>
                <a:cs typeface="Arial"/>
              </a:rPr>
              <a:t>qui</a:t>
            </a:r>
            <a:r>
              <a:rPr sz="2031" i="1" spc="-39" dirty="0">
                <a:latin typeface="Arial"/>
                <a:cs typeface="Arial"/>
              </a:rPr>
              <a:t> </a:t>
            </a:r>
            <a:r>
              <a:rPr sz="2031" i="1" spc="64" dirty="0">
                <a:latin typeface="Arial"/>
                <a:cs typeface="Arial"/>
              </a:rPr>
              <a:t>porte</a:t>
            </a:r>
            <a:r>
              <a:rPr sz="2031" i="1" spc="-39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à</a:t>
            </a:r>
            <a:r>
              <a:rPr sz="2031" i="1" spc="-39" dirty="0"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prendre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au</a:t>
            </a:r>
            <a:r>
              <a:rPr sz="2031" b="1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jour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le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jour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27" dirty="0">
                <a:solidFill>
                  <a:srgbClr val="0076BA"/>
                </a:solidFill>
                <a:latin typeface="Arial"/>
                <a:cs typeface="Arial"/>
              </a:rPr>
              <a:t>les</a:t>
            </a:r>
            <a:r>
              <a:rPr sz="2031" b="1" i="1" spc="-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rares </a:t>
            </a:r>
            <a:r>
              <a:rPr sz="2031" b="1" i="1" spc="-49" dirty="0">
                <a:solidFill>
                  <a:srgbClr val="0076BA"/>
                </a:solidFill>
                <a:latin typeface="Arial"/>
                <a:cs typeface="Arial"/>
              </a:rPr>
              <a:t>satisfactions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("les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21" dirty="0">
                <a:solidFill>
                  <a:srgbClr val="0076BA"/>
                </a:solidFill>
                <a:latin typeface="Arial"/>
                <a:cs typeface="Arial"/>
              </a:rPr>
              <a:t>bons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moments")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du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présent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immédiat</a:t>
            </a:r>
            <a:r>
              <a:rPr sz="2031" b="1" i="1" spc="-4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est</a:t>
            </a:r>
            <a:r>
              <a:rPr sz="2031" i="1" spc="-76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la</a:t>
            </a:r>
            <a:r>
              <a:rPr sz="2031" i="1" spc="-76" dirty="0">
                <a:latin typeface="Arial"/>
                <a:cs typeface="Arial"/>
              </a:rPr>
              <a:t> </a:t>
            </a:r>
            <a:r>
              <a:rPr sz="2031" i="1" spc="-6" dirty="0">
                <a:latin typeface="Arial"/>
                <a:cs typeface="Arial"/>
              </a:rPr>
              <a:t>seule </a:t>
            </a:r>
            <a:r>
              <a:rPr sz="2031" i="1" spc="36" dirty="0">
                <a:latin typeface="Arial"/>
                <a:cs typeface="Arial"/>
              </a:rPr>
              <a:t>philosophie</a:t>
            </a:r>
            <a:r>
              <a:rPr sz="2031" i="1" spc="27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concevable</a:t>
            </a:r>
            <a:r>
              <a:rPr sz="2031" i="1" spc="36" dirty="0">
                <a:latin typeface="Arial"/>
                <a:cs typeface="Arial"/>
              </a:rPr>
              <a:t> </a:t>
            </a:r>
            <a:r>
              <a:rPr sz="2031" i="1" spc="49" dirty="0">
                <a:latin typeface="Arial"/>
                <a:cs typeface="Arial"/>
              </a:rPr>
              <a:t>pour</a:t>
            </a:r>
            <a:r>
              <a:rPr sz="2031" i="1" spc="36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ceux</a:t>
            </a:r>
            <a:r>
              <a:rPr sz="2031" i="1" spc="33" dirty="0">
                <a:latin typeface="Arial"/>
                <a:cs typeface="Arial"/>
              </a:rPr>
              <a:t> </a:t>
            </a:r>
            <a:r>
              <a:rPr sz="2031" i="1" spc="39" dirty="0">
                <a:latin typeface="Arial"/>
                <a:cs typeface="Arial"/>
              </a:rPr>
              <a:t>qui,</a:t>
            </a:r>
            <a:r>
              <a:rPr sz="2031" i="1" spc="36" dirty="0">
                <a:latin typeface="Arial"/>
                <a:cs typeface="Arial"/>
              </a:rPr>
              <a:t>  </a:t>
            </a:r>
            <a:r>
              <a:rPr sz="2031" i="1" dirty="0">
                <a:latin typeface="Arial"/>
                <a:cs typeface="Arial"/>
              </a:rPr>
              <a:t>comme</a:t>
            </a:r>
            <a:r>
              <a:rPr sz="2031" i="1" spc="36" dirty="0">
                <a:latin typeface="Arial"/>
                <a:cs typeface="Arial"/>
              </a:rPr>
              <a:t> </a:t>
            </a:r>
            <a:r>
              <a:rPr sz="2031" i="1" spc="42" dirty="0">
                <a:latin typeface="Arial"/>
                <a:cs typeface="Arial"/>
              </a:rPr>
              <a:t>on</a:t>
            </a:r>
            <a:r>
              <a:rPr sz="2031" i="1" spc="36" dirty="0">
                <a:latin typeface="Arial"/>
                <a:cs typeface="Arial"/>
              </a:rPr>
              <a:t> </a:t>
            </a:r>
            <a:r>
              <a:rPr sz="2031" i="1" spc="67" dirty="0">
                <a:latin typeface="Arial"/>
                <a:cs typeface="Arial"/>
              </a:rPr>
              <a:t>dit,</a:t>
            </a:r>
            <a:r>
              <a:rPr sz="2031" i="1" spc="36" dirty="0"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n'ont</a:t>
            </a:r>
            <a:r>
              <a:rPr sz="2031" b="1" i="1" spc="7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15" dirty="0">
                <a:solidFill>
                  <a:srgbClr val="0076BA"/>
                </a:solidFill>
                <a:latin typeface="Arial"/>
                <a:cs typeface="Arial"/>
              </a:rPr>
              <a:t>pas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d'avenir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79" dirty="0">
                <a:solidFill>
                  <a:srgbClr val="0076BA"/>
                </a:solidFill>
                <a:latin typeface="Arial"/>
                <a:cs typeface="Arial"/>
              </a:rPr>
              <a:t>et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qui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ont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en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36" dirty="0">
                <a:solidFill>
                  <a:srgbClr val="0076BA"/>
                </a:solidFill>
                <a:latin typeface="Arial"/>
                <a:cs typeface="Arial"/>
              </a:rPr>
              <a:t>tout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118" dirty="0">
                <a:solidFill>
                  <a:srgbClr val="0076BA"/>
                </a:solidFill>
                <a:latin typeface="Arial"/>
                <a:cs typeface="Arial"/>
              </a:rPr>
              <a:t>cas</a:t>
            </a:r>
            <a:r>
              <a:rPr sz="2031" b="1" i="1" spc="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peu</a:t>
            </a:r>
            <a:r>
              <a:rPr sz="2031" b="1" i="1" spc="2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45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91" dirty="0">
                <a:solidFill>
                  <a:srgbClr val="0076BA"/>
                </a:solidFill>
                <a:latin typeface="Arial"/>
                <a:cs typeface="Arial"/>
              </a:rPr>
              <a:t>choses</a:t>
            </a:r>
            <a:r>
              <a:rPr sz="2031" b="1" i="1" spc="27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dirty="0">
                <a:solidFill>
                  <a:srgbClr val="0076BA"/>
                </a:solidFill>
                <a:latin typeface="Arial"/>
                <a:cs typeface="Arial"/>
              </a:rPr>
              <a:t>à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30" dirty="0">
                <a:solidFill>
                  <a:srgbClr val="0076BA"/>
                </a:solidFill>
                <a:latin typeface="Arial"/>
                <a:cs typeface="Arial"/>
              </a:rPr>
              <a:t>attendre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45" dirty="0">
                <a:solidFill>
                  <a:srgbClr val="0076BA"/>
                </a:solidFill>
                <a:latin typeface="Arial"/>
                <a:cs typeface="Arial"/>
              </a:rPr>
              <a:t>de</a:t>
            </a:r>
            <a:r>
              <a:rPr sz="2031" b="1" i="1" spc="24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31" b="1" i="1" spc="-6" dirty="0">
                <a:solidFill>
                  <a:srgbClr val="0076BA"/>
                </a:solidFill>
                <a:latin typeface="Arial"/>
                <a:cs typeface="Arial"/>
              </a:rPr>
              <a:t>l'avenir</a:t>
            </a:r>
            <a:r>
              <a:rPr sz="2031" i="1" spc="-6" dirty="0">
                <a:latin typeface="Arial"/>
                <a:cs typeface="Arial"/>
              </a:rPr>
              <a:t>.</a:t>
            </a:r>
            <a:endParaRPr sz="2031" dirty="0">
              <a:latin typeface="Arial"/>
              <a:cs typeface="Arial"/>
            </a:endParaRPr>
          </a:p>
          <a:p>
            <a:pPr marL="80478" marR="75858" algn="ctr">
              <a:lnSpc>
                <a:spcPts val="2802"/>
              </a:lnSpc>
              <a:spcBef>
                <a:spcPts val="152"/>
              </a:spcBef>
            </a:pPr>
            <a:r>
              <a:rPr sz="2031" i="1" spc="67" dirty="0">
                <a:latin typeface="Arial"/>
                <a:cs typeface="Arial"/>
              </a:rPr>
              <a:t>On</a:t>
            </a:r>
            <a:r>
              <a:rPr sz="2031" i="1" dirty="0">
                <a:latin typeface="Arial"/>
                <a:cs typeface="Arial"/>
              </a:rPr>
              <a:t> </a:t>
            </a:r>
            <a:r>
              <a:rPr sz="2031" i="1" spc="39" dirty="0">
                <a:latin typeface="Arial"/>
                <a:cs typeface="Arial"/>
              </a:rPr>
              <a:t>comprend</a:t>
            </a:r>
            <a:r>
              <a:rPr sz="2031" i="1" dirty="0">
                <a:latin typeface="Arial"/>
                <a:cs typeface="Arial"/>
              </a:rPr>
              <a:t> mieux</a:t>
            </a:r>
            <a:r>
              <a:rPr sz="2031" i="1" spc="3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le</a:t>
            </a:r>
            <a:r>
              <a:rPr sz="2031" i="1" spc="-3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matérialisme</a:t>
            </a:r>
            <a:r>
              <a:rPr sz="2031" i="1" spc="3" dirty="0">
                <a:latin typeface="Arial"/>
                <a:cs typeface="Arial"/>
              </a:rPr>
              <a:t> </a:t>
            </a:r>
            <a:r>
              <a:rPr sz="2031" i="1" spc="36" dirty="0">
                <a:latin typeface="Arial"/>
                <a:cs typeface="Arial"/>
              </a:rPr>
              <a:t>pratique</a:t>
            </a:r>
            <a:r>
              <a:rPr sz="2031" i="1" dirty="0">
                <a:latin typeface="Arial"/>
                <a:cs typeface="Arial"/>
              </a:rPr>
              <a:t> </a:t>
            </a:r>
            <a:r>
              <a:rPr sz="2031" i="1" spc="52" dirty="0">
                <a:latin typeface="Arial"/>
                <a:cs typeface="Arial"/>
              </a:rPr>
              <a:t>qui</a:t>
            </a:r>
            <a:r>
              <a:rPr sz="2031" i="1" dirty="0">
                <a:latin typeface="Arial"/>
                <a:cs typeface="Arial"/>
              </a:rPr>
              <a:t> </a:t>
            </a:r>
            <a:r>
              <a:rPr sz="2031" i="1" spc="-12" dirty="0">
                <a:latin typeface="Arial"/>
                <a:cs typeface="Arial"/>
              </a:rPr>
              <a:t>se</a:t>
            </a:r>
            <a:r>
              <a:rPr sz="2031" i="1" spc="3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manifeste </a:t>
            </a:r>
            <a:r>
              <a:rPr sz="2031" i="1" spc="-6" dirty="0">
                <a:latin typeface="Arial"/>
                <a:cs typeface="Arial"/>
              </a:rPr>
              <a:t>surtout </a:t>
            </a:r>
            <a:r>
              <a:rPr sz="2031" i="1" dirty="0">
                <a:latin typeface="Arial"/>
                <a:cs typeface="Arial"/>
              </a:rPr>
              <a:t>dans</a:t>
            </a:r>
            <a:r>
              <a:rPr sz="2031" i="1" spc="-15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le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spc="55" dirty="0">
                <a:latin typeface="Arial"/>
                <a:cs typeface="Arial"/>
              </a:rPr>
              <a:t>rapport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aux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nourritures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soit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une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des</a:t>
            </a:r>
            <a:r>
              <a:rPr sz="2031" i="1" spc="-15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composantes</a:t>
            </a:r>
            <a:r>
              <a:rPr sz="2031" i="1" spc="-1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les</a:t>
            </a:r>
            <a:r>
              <a:rPr sz="2031" i="1" spc="-12" dirty="0">
                <a:latin typeface="Arial"/>
                <a:cs typeface="Arial"/>
              </a:rPr>
              <a:t> plus </a:t>
            </a:r>
            <a:r>
              <a:rPr sz="2031" i="1" dirty="0">
                <a:latin typeface="Arial"/>
                <a:cs typeface="Arial"/>
              </a:rPr>
              <a:t>fondamentales</a:t>
            </a:r>
            <a:r>
              <a:rPr sz="2031" i="1" spc="39" dirty="0">
                <a:latin typeface="Arial"/>
                <a:cs typeface="Arial"/>
              </a:rPr>
              <a:t> </a:t>
            </a:r>
            <a:r>
              <a:rPr sz="2031" i="1" spc="55" dirty="0">
                <a:latin typeface="Arial"/>
                <a:cs typeface="Arial"/>
              </a:rPr>
              <a:t>de</a:t>
            </a:r>
            <a:r>
              <a:rPr sz="2031" i="1" spc="39" dirty="0">
                <a:latin typeface="Arial"/>
                <a:cs typeface="Arial"/>
              </a:rPr>
              <a:t> </a:t>
            </a:r>
            <a:r>
              <a:rPr sz="2031" i="1" spc="30" dirty="0">
                <a:latin typeface="Arial"/>
                <a:cs typeface="Arial"/>
              </a:rPr>
              <a:t>l'ethos,</a:t>
            </a:r>
            <a:r>
              <a:rPr sz="2031" i="1" spc="42" dirty="0">
                <a:latin typeface="Arial"/>
                <a:cs typeface="Arial"/>
              </a:rPr>
              <a:t> </a:t>
            </a:r>
            <a:r>
              <a:rPr sz="2031" i="1" dirty="0">
                <a:latin typeface="Arial"/>
                <a:cs typeface="Arial"/>
              </a:rPr>
              <a:t>voire</a:t>
            </a:r>
            <a:r>
              <a:rPr sz="2031" i="1" spc="39" dirty="0">
                <a:latin typeface="Arial"/>
                <a:cs typeface="Arial"/>
              </a:rPr>
              <a:t> </a:t>
            </a:r>
            <a:r>
              <a:rPr sz="2031" i="1" spc="55" dirty="0">
                <a:latin typeface="Arial"/>
                <a:cs typeface="Arial"/>
              </a:rPr>
              <a:t>de</a:t>
            </a:r>
            <a:r>
              <a:rPr sz="2031" i="1" spc="39" dirty="0">
                <a:latin typeface="Arial"/>
                <a:cs typeface="Arial"/>
              </a:rPr>
              <a:t> </a:t>
            </a:r>
            <a:r>
              <a:rPr sz="2031" i="1" spc="49" dirty="0">
                <a:latin typeface="Arial"/>
                <a:cs typeface="Arial"/>
              </a:rPr>
              <a:t>l'éthique</a:t>
            </a:r>
            <a:r>
              <a:rPr sz="2031" i="1" spc="42" dirty="0">
                <a:latin typeface="Arial"/>
                <a:cs typeface="Arial"/>
              </a:rPr>
              <a:t> </a:t>
            </a:r>
            <a:r>
              <a:rPr sz="2031" i="1" spc="24" dirty="0">
                <a:latin typeface="Arial"/>
                <a:cs typeface="Arial"/>
              </a:rPr>
              <a:t>populaire</a:t>
            </a:r>
            <a:r>
              <a:rPr sz="1728" b="1" i="1" spc="24" dirty="0">
                <a:latin typeface="Arial"/>
                <a:cs typeface="Arial"/>
              </a:rPr>
              <a:t>"</a:t>
            </a:r>
            <a:endParaRPr sz="1728" dirty="0">
              <a:latin typeface="Arial"/>
              <a:cs typeface="Arial"/>
            </a:endParaRPr>
          </a:p>
          <a:p>
            <a:pPr algn="ctr">
              <a:spcBef>
                <a:spcPts val="218"/>
              </a:spcBef>
            </a:pPr>
            <a:r>
              <a:rPr sz="1728" b="1" i="1" spc="-12" dirty="0">
                <a:latin typeface="Arial"/>
                <a:cs typeface="Arial"/>
              </a:rPr>
              <a:t>(Bourdieu,</a:t>
            </a:r>
            <a:r>
              <a:rPr sz="1728" b="1" i="1" spc="-69" dirty="0">
                <a:latin typeface="Arial"/>
                <a:cs typeface="Arial"/>
              </a:rPr>
              <a:t> </a:t>
            </a:r>
            <a:r>
              <a:rPr sz="1728" b="1" i="1" spc="-30" dirty="0">
                <a:latin typeface="Arial"/>
                <a:cs typeface="Arial"/>
              </a:rPr>
              <a:t>La</a:t>
            </a:r>
            <a:r>
              <a:rPr sz="1728" b="1" i="1" spc="-67" dirty="0">
                <a:latin typeface="Arial"/>
                <a:cs typeface="Arial"/>
              </a:rPr>
              <a:t> </a:t>
            </a:r>
            <a:r>
              <a:rPr sz="1728" b="1" i="1" spc="-6" dirty="0">
                <a:latin typeface="Arial"/>
                <a:cs typeface="Arial"/>
              </a:rPr>
              <a:t>Distinction</a:t>
            </a:r>
            <a:r>
              <a:rPr sz="1728" b="1" spc="-6" dirty="0">
                <a:latin typeface="Arial"/>
                <a:cs typeface="Arial"/>
              </a:rPr>
              <a:t>,</a:t>
            </a:r>
            <a:r>
              <a:rPr sz="1728" b="1" spc="-69" dirty="0">
                <a:latin typeface="Arial"/>
                <a:cs typeface="Arial"/>
              </a:rPr>
              <a:t> </a:t>
            </a:r>
            <a:r>
              <a:rPr sz="1728" b="1" spc="36" dirty="0">
                <a:latin typeface="Arial"/>
                <a:cs typeface="Arial"/>
              </a:rPr>
              <a:t>1964)</a:t>
            </a:r>
            <a:endParaRPr sz="1728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28" dirty="0">
              <a:latin typeface="Arial"/>
              <a:cs typeface="Arial"/>
            </a:endParaRPr>
          </a:p>
          <a:p>
            <a:pPr>
              <a:spcBef>
                <a:spcPts val="752"/>
              </a:spcBef>
            </a:pPr>
            <a:endParaRPr sz="1728" dirty="0">
              <a:latin typeface="Arial"/>
              <a:cs typeface="Arial"/>
            </a:endParaRPr>
          </a:p>
          <a:p>
            <a:pPr marL="2796720" marR="509825" indent="-1926860"/>
            <a:r>
              <a:rPr sz="2335" dirty="0">
                <a:latin typeface="Arial MT"/>
                <a:cs typeface="Arial MT"/>
              </a:rPr>
              <a:t>This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is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exactly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same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idea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as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the</a:t>
            </a:r>
            <a:r>
              <a:rPr sz="2335" spc="6" dirty="0">
                <a:latin typeface="Arial MT"/>
                <a:cs typeface="Arial MT"/>
              </a:rPr>
              <a:t> </a:t>
            </a:r>
            <a:r>
              <a:rPr sz="2335" spc="45" dirty="0">
                <a:latin typeface="Arial MT"/>
                <a:cs typeface="Arial MT"/>
              </a:rPr>
              <a:t>"collection</a:t>
            </a:r>
            <a:r>
              <a:rPr sz="2335" spc="9" dirty="0">
                <a:latin typeface="Arial MT"/>
                <a:cs typeface="Arial MT"/>
              </a:rPr>
              <a:t> </a:t>
            </a:r>
            <a:r>
              <a:rPr sz="2335" spc="27" dirty="0">
                <a:latin typeface="Arial MT"/>
                <a:cs typeface="Arial MT"/>
              </a:rPr>
              <a:t>risk" </a:t>
            </a:r>
            <a:r>
              <a:rPr sz="2335" dirty="0">
                <a:latin typeface="Arial MT"/>
                <a:cs typeface="Arial MT"/>
              </a:rPr>
              <a:t>rationale</a:t>
            </a:r>
            <a:r>
              <a:rPr sz="2335" spc="-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we</a:t>
            </a:r>
            <a:r>
              <a:rPr sz="2335" spc="-12" dirty="0">
                <a:latin typeface="Arial MT"/>
                <a:cs typeface="Arial MT"/>
              </a:rPr>
              <a:t> </a:t>
            </a:r>
            <a:r>
              <a:rPr sz="2335" dirty="0">
                <a:latin typeface="Arial MT"/>
                <a:cs typeface="Arial MT"/>
              </a:rPr>
              <a:t>have</a:t>
            </a:r>
            <a:r>
              <a:rPr sz="2335" spc="-9" dirty="0">
                <a:latin typeface="Arial MT"/>
                <a:cs typeface="Arial MT"/>
              </a:rPr>
              <a:t> </a:t>
            </a:r>
            <a:r>
              <a:rPr sz="2335" spc="-12" dirty="0">
                <a:latin typeface="Arial MT"/>
                <a:cs typeface="Arial MT"/>
              </a:rPr>
              <a:t>seen</a:t>
            </a:r>
            <a:endParaRPr sz="2335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3825</Words>
  <Application>Microsoft Office PowerPoint</Application>
  <PresentationFormat>Widescreen</PresentationFormat>
  <Paragraphs>291</Paragraphs>
  <Slides>88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100" baseType="lpstr">
      <vt:lpstr>Aptos</vt:lpstr>
      <vt:lpstr>Aptos Display</vt:lpstr>
      <vt:lpstr>Arial</vt:lpstr>
      <vt:lpstr>Arial MT</vt:lpstr>
      <vt:lpstr>Avenir Heavy</vt:lpstr>
      <vt:lpstr>Avenir Next LT Pro</vt:lpstr>
      <vt:lpstr>Calibri</vt:lpstr>
      <vt:lpstr>Segoe UI Emoji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typically holistic paradigm: Durkheimian social facts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typically holistic paradigm: Durkheimian social facts</vt:lpstr>
      <vt:lpstr>PowerPoint Presentation</vt:lpstr>
      <vt:lpstr>PowerPoint Presentation</vt:lpstr>
      <vt:lpstr>Organic &amp; Mechanical Solidarity</vt:lpstr>
      <vt:lpstr>Organic &amp; Mechanical Solidarity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common assumptions of “cultural” models</vt:lpstr>
      <vt:lpstr>Emile Durkheim and the birth of sociology</vt:lpstr>
      <vt:lpstr>Emile Durkheim and the birth of sociology</vt:lpstr>
      <vt:lpstr>Emile Durkheim and the birth of sociology</vt:lpstr>
      <vt:lpstr>Culturalism in anthropology</vt:lpstr>
      <vt:lpstr>Culturalism in anthropology</vt:lpstr>
      <vt:lpstr>PowerPoint Presentation</vt:lpstr>
      <vt:lpstr>PowerPoint Presentation</vt:lpstr>
      <vt:lpstr>1st problem: Why do norms exhibit the features that they do, and not others?</vt:lpstr>
      <vt:lpstr>A cooperation-related social fact: the Gift in primitive societies</vt:lpstr>
      <vt:lpstr>A cooperation-related social fact: the Gift in primitive societies</vt:lpstr>
      <vt:lpstr>« Embededness » (encastrement) of economic activities: the idea that economic exchange is not the product of decontextualized, atomized individuals pursuing self-interest, but is itself embedded into larger social structures (power relations, symbols, religious beliefs…)</vt:lpstr>
      <vt:lpstr>Potlatch of Northwestern America: an « agonistic » social exchange</vt:lpstr>
      <vt:lpstr>PowerPoint Presentation</vt:lpstr>
      <vt:lpstr>PowerPoint Presentation</vt:lpstr>
      <vt:lpstr>A cooperation-related social fact: the Gift in primitive societies</vt:lpstr>
      <vt:lpstr>(i) Reciprocity is the social norm in all human societies</vt:lpstr>
      <vt:lpstr>(i) Reciprocity is the social norm in all human societies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prisoner’s dilemma</vt:lpstr>
      <vt:lpstr>And when the game is repeated?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(i) Reciprocity is the social norm in all human societies</vt:lpstr>
      <vt:lpstr>(ii) Children develop reciprocity-related intuitions even before they are fully socialized</vt:lpstr>
      <vt:lpstr>(iii) Reciprocity exists in other species that don't have culture</vt:lpstr>
      <vt:lpstr>2nd problem: Why do cultural norms exhibit systematic relationship with certain environments?</vt:lpstr>
      <vt:lpstr>Pierre Bourdieu, the habitus, and social classes</vt:lpstr>
      <vt:lpstr>Pierre Bourdieu, the habitus, and social classes</vt:lpstr>
      <vt:lpstr>Pierre Bourdieu, the habitus, and social classes</vt:lpstr>
      <vt:lpstr>Pierre Bourdieu, the habitus, and social classes</vt:lpstr>
      <vt:lpstr>Individual</vt:lpstr>
      <vt:lpstr>PowerPoint Presentation</vt:lpstr>
      <vt:lpstr>PowerPoint Presentation</vt:lpstr>
      <vt:lpstr>PowerPoint Presentation</vt:lpstr>
      <vt:lpstr>PowerPoint Presentation</vt:lpstr>
      <vt:lpstr>How to move beyond this debate? </vt:lpstr>
      <vt:lpstr>PowerPoint Presentation</vt:lpstr>
      <vt:lpstr>Systematic relationships between environment and behavior</vt:lpstr>
      <vt:lpstr>Systematic relationships between environment and behavior</vt:lpstr>
      <vt:lpstr>PowerPoint Presentation</vt:lpstr>
      <vt:lpstr>Socio-economic conditions, time-discounting and cooperation</vt:lpstr>
      <vt:lpstr>Boudieu himself switches to an "agentic" explanation when it comes to explaining these differences!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SIJILMASSI</dc:creator>
  <cp:lastModifiedBy>Amine SIJILMASSI</cp:lastModifiedBy>
  <cp:revision>53</cp:revision>
  <dcterms:created xsi:type="dcterms:W3CDTF">2026-09-15T18:02:42Z</dcterms:created>
  <dcterms:modified xsi:type="dcterms:W3CDTF">2026-09-23T09:06:57Z</dcterms:modified>
</cp:coreProperties>
</file>