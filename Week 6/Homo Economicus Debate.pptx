
<file path=[Content_Types].xml><?xml version="1.0" encoding="utf-8"?>
<Types xmlns="http://schemas.openxmlformats.org/package/2006/content-types">
  <Default Extension="jpeg" ContentType="image/jpeg"/>
  <Default Extension="jpg" ContentType="image/jpg"/>
  <Default Extension="jpg&amp;f=1&amp;nofb=1&amp;ipt=04aa7fce8db99ad017279faa973836c7d4a0f9dc792aa799e84eff2749a74391&amp;ipo=images" ContentType="image/jpeg"/>
  <Default Extension="jpg&amp;f=1&amp;nofb=1&amp;ipt=3abf31d6462f3e65c8eaaf9c71d95543770ae91bd53cb13aacd08df26ab332ea&amp;ipo=images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9" r:id="rId3"/>
    <p:sldId id="310" r:id="rId4"/>
    <p:sldId id="258" r:id="rId5"/>
    <p:sldId id="259" r:id="rId6"/>
    <p:sldId id="260" r:id="rId7"/>
    <p:sldId id="338" r:id="rId8"/>
    <p:sldId id="558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337" r:id="rId17"/>
    <p:sldId id="314" r:id="rId18"/>
    <p:sldId id="313" r:id="rId19"/>
    <p:sldId id="269" r:id="rId20"/>
    <p:sldId id="271" r:id="rId21"/>
    <p:sldId id="317" r:id="rId22"/>
    <p:sldId id="273" r:id="rId23"/>
    <p:sldId id="274" r:id="rId24"/>
    <p:sldId id="275" r:id="rId25"/>
    <p:sldId id="276" r:id="rId26"/>
    <p:sldId id="315" r:id="rId27"/>
    <p:sldId id="277" r:id="rId28"/>
    <p:sldId id="318" r:id="rId29"/>
    <p:sldId id="319" r:id="rId30"/>
    <p:sldId id="320" r:id="rId31"/>
    <p:sldId id="321" r:id="rId32"/>
    <p:sldId id="289" r:id="rId33"/>
    <p:sldId id="281" r:id="rId34"/>
    <p:sldId id="291" r:id="rId35"/>
    <p:sldId id="292" r:id="rId36"/>
    <p:sldId id="293" r:id="rId37"/>
    <p:sldId id="294" r:id="rId38"/>
    <p:sldId id="326" r:id="rId39"/>
    <p:sldId id="327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30" r:id="rId53"/>
    <p:sldId id="26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C2F6-EE36-60AF-96B7-319AB2278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4C730-EB5F-B531-0774-0F23C161F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883CE-5283-0CF0-225A-98F9C31F4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C97EF-3579-D55B-5776-1B6018A5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B474-87AE-1718-E053-FF1825A9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7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FEA2-5304-089F-2012-A996C10C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4181A-68EB-2C0E-984B-6FADB73F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6F619-1794-D426-F5BA-B96F3283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828A2-0A08-F1E7-4B51-92E81DCC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C33B0-5264-16C5-8136-C7124BFE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1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21D-8E9E-7AA7-BCA8-8D6ABFA6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10B5B-7BC1-B00A-BB85-E2E0434BD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9FDD2-4723-9525-90AA-507DA102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527FC-5A6E-1373-3594-9FA742F7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1B81-0FB1-A0BE-DA56-F9683A4A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6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2DDF-DBFE-5151-5BE6-636D39A4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E51DB-04C3-7F4B-9E14-829AEFB60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FFB0-7989-1A5F-7827-14EBE4260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E7B63-1B9D-6EBA-5A4E-5DCFC414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9DCB-DB7D-D0E1-EC99-5353B799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EF43C-986D-6DA5-8DF2-2DD51735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3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5953-309A-1C3F-D293-0E025494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DC07-120D-CE25-C393-295DD3EB1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28CA3-A1B6-3689-F866-6B61883AB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6FB8E-5BB2-502B-B218-130E015F6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03048-7D56-A179-81A2-5A3751EF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3F6D8-B3CA-7841-EECE-0DA2CAEE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E888B-294C-C00A-72A3-00BBB8D4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8E018-ADAB-1F67-9FE2-7B6CA975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6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6CBA-B661-E61C-E99D-1B9BD739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B4A3A-13C6-0F5A-DDCA-E18F08C7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2845C-8BD0-BEE6-64B1-477E1979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045E1-97D3-89F8-705F-8FF609E0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0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5BB13-0276-0F5C-FD75-549C8188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6AD99-3095-F437-C2CE-36C6AC90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42BBB-05CF-B7EB-54C2-1C0563D7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3859-CA46-34F6-29E9-07CAEF67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8D02-F381-1A04-0396-AE21E0D2C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632B9-59A8-5454-07B1-091A4C221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CDFB0-558C-7F72-5E56-5FB5F5ED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ACD7A-8BC4-C6D4-54C2-879EEA68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82DDE-962A-F4D1-4CB4-36A57D4E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5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2396-AEEC-B53F-8A51-46C1CECA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121CD-0012-1D99-15F8-B2514E938C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9F305-5140-CF17-F8CC-1A3E182A1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AB255-04F4-5A1A-9F19-EE1C9EE2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5B503-0A4B-B707-0164-70B88818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5AA75-DF3D-3D83-F9FE-DC230A40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3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E6A4-8C55-C639-943A-EFD9A003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B6354-3E19-E162-A7AD-6733A12FF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78D8-DB4D-972E-D745-DC22D1A0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D5D49-4114-172A-9AD6-B875DABD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CB4BB-A11D-BC3C-9DEE-9EBEBA3B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5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00625-9D86-272E-54E4-39195B415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0C8D5-A671-23A3-A6A0-4AD57696B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886A0-258F-3283-897D-AA2B7C1F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0D9E-9BD4-945A-64E9-B2DE1996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50D3-ADB6-B223-BD1B-1621FB0C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16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837712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4037914" y="6355770"/>
            <a:ext cx="4114109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693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8609631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fld id="{AB19D96C-F57F-4CBA-B8E6-BFA21FFAB019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609127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1105875">
              <a:lnSpc>
                <a:spcPct val="90000"/>
              </a:lnSpc>
              <a:buNone/>
              <a:def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127" y="1603963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76469" indent="-276469" algn="l" defTabSz="1105875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1044922" lvl="1" indent="-391846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567382" lvl="2" indent="-348307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2089843" lvl="3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612304" lvl="4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3134765" lvl="5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657226" lvl="6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158756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150" y="83972"/>
            <a:ext cx="7762802" cy="398868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14650" y="1047676"/>
            <a:ext cx="2876634" cy="2946514"/>
          </a:xfrm>
          <a:custGeom>
            <a:avLst/>
            <a:gdLst/>
            <a:ahLst/>
            <a:cxnLst/>
            <a:rect l="l" t="t" r="r" b="b"/>
            <a:pathLst>
              <a:path w="4743450" h="4859020">
                <a:moveTo>
                  <a:pt x="0" y="0"/>
                </a:moveTo>
                <a:lnTo>
                  <a:pt x="4743311" y="0"/>
                </a:lnTo>
                <a:lnTo>
                  <a:pt x="4743311" y="4858490"/>
                </a:lnTo>
                <a:lnTo>
                  <a:pt x="0" y="4858490"/>
                </a:lnTo>
                <a:lnTo>
                  <a:pt x="0" y="0"/>
                </a:lnTo>
                <a:close/>
              </a:path>
            </a:pathLst>
          </a:custGeom>
          <a:ln w="104708">
            <a:solidFill>
              <a:srgbClr val="960E5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679" y="2054692"/>
            <a:ext cx="11190641" cy="613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24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5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6495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873" y="-872"/>
            <a:ext cx="12193807" cy="6858903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092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811" y="26197"/>
            <a:ext cx="10319533" cy="5668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409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409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5237" y="6377980"/>
            <a:ext cx="3901153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849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548" y="6377980"/>
            <a:ext cx="2803880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84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78196" y="6377980"/>
            <a:ext cx="2803880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84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DBBBDCA1-0229-4EB2-9585-2A5FAD024C04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550" y="1604756"/>
            <a:ext cx="10972527" cy="39772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22461" indent="-391846" algn="l">
              <a:spcBef>
                <a:spcPts val="17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68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51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34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523924" lvl="1" indent="-196472" algn="l">
              <a:spcBef>
                <a:spcPts val="68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785885" lvl="2" indent="-174641" algn="l">
              <a:spcBef>
                <a:spcPts val="51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047847" lvl="3" indent="-130980" algn="l">
              <a:spcBef>
                <a:spcPts val="34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309809" lvl="4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571771" lvl="5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833733" lvl="6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132967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A0586-77D4-187E-3C56-20829595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EB3A4-0EF1-2055-A2AA-2B8451A60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E5135-FBA2-7E82-F4BA-BECEF332C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33AE1-0110-4DEF-81E5-0E9D64C0056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40624-4183-C371-45CF-121ECD7F9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E346-98B6-E610-49A9-A8FBE161A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E37-FE26-4A31-BA08-68D45C8E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9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&amp;f=1&amp;nofb=1&amp;ipt=04aa7fce8db99ad017279faa973836c7d4a0f9dc792aa799e84eff2749a74391&amp;ipo=images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&amp;f=1&amp;nofb=1&amp;ipt=3abf31d6462f3e65c8eaaf9c71d95543770ae91bd53cb13aacd08df26ab332ea&amp;ipo=images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8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0.jpg"/><Relationship Id="rId4" Type="http://schemas.openxmlformats.org/officeDocument/2006/relationships/image" Target="../media/image18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3"/>
          <p:cNvSpPr/>
          <p:nvPr/>
        </p:nvSpPr>
        <p:spPr>
          <a:xfrm>
            <a:off x="2131866" y="1959239"/>
            <a:ext cx="7926208" cy="14500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4354" b="1" dirty="0">
                <a:solidFill>
                  <a:schemeClr val="dk1"/>
                </a:solidFill>
                <a:latin typeface="Avenir Next LT Pro"/>
              </a:rPr>
              <a:t>(SOC501) </a:t>
            </a:r>
            <a:r>
              <a:rPr lang="fr-MA" sz="4354" b="1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4354" b="1" dirty="0">
                <a:solidFill>
                  <a:schemeClr val="dk1"/>
                </a:solidFill>
                <a:latin typeface="Avenir Next LT Pro"/>
              </a:rPr>
              <a:t>: Theory and Methods</a:t>
            </a:r>
            <a:endParaRPr lang="fr-FR" sz="4354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2" descr="Université Mohammed VI Polytechnique — Wikipédia"/>
          <p:cNvPicPr/>
          <p:nvPr/>
        </p:nvPicPr>
        <p:blipFill>
          <a:blip r:embed="rId2"/>
          <a:stretch/>
        </p:blipFill>
        <p:spPr>
          <a:xfrm>
            <a:off x="9436778" y="0"/>
            <a:ext cx="2753383" cy="18791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ZoneTexte 5"/>
          <p:cNvSpPr/>
          <p:nvPr/>
        </p:nvSpPr>
        <p:spPr>
          <a:xfrm>
            <a:off x="2131866" y="5484127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 Sijilmassi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ZoneTexte 6"/>
          <p:cNvSpPr/>
          <p:nvPr/>
        </p:nvSpPr>
        <p:spPr>
          <a:xfrm>
            <a:off x="214" y="4391742"/>
            <a:ext cx="12190382" cy="5566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2903" dirty="0">
                <a:solidFill>
                  <a:schemeClr val="dk1"/>
                </a:solidFill>
                <a:latin typeface="Avenir Next LT Pro"/>
              </a:rPr>
              <a:t>The Homo </a:t>
            </a:r>
            <a:r>
              <a:rPr lang="fr-MA" sz="2903" dirty="0" err="1">
                <a:solidFill>
                  <a:schemeClr val="dk1"/>
                </a:solidFill>
                <a:latin typeface="Avenir Next LT Pro"/>
              </a:rPr>
              <a:t>Oeconomicus</a:t>
            </a:r>
            <a:r>
              <a:rPr lang="fr-MA" sz="2903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903" dirty="0" err="1">
                <a:solidFill>
                  <a:schemeClr val="dk1"/>
                </a:solidFill>
                <a:latin typeface="Avenir Next LT Pro"/>
              </a:rPr>
              <a:t>debate</a:t>
            </a:r>
            <a:endParaRPr lang="fr-FR" sz="290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ZoneTexte 7"/>
          <p:cNvSpPr/>
          <p:nvPr/>
        </p:nvSpPr>
        <p:spPr>
          <a:xfrm>
            <a:off x="2131866" y="5822422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amine.sijilmassi@um6p.ma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86188" y="143427"/>
            <a:ext cx="7453565" cy="1090510"/>
          </a:xfrm>
          <a:prstGeom prst="rect">
            <a:avLst/>
          </a:prstGeom>
          <a:noFill/>
          <a:ln w="0">
            <a:noFill/>
          </a:ln>
        </p:spPr>
        <p:txBody>
          <a:bodyPr vert="horz" lIns="0" tIns="63963" rIns="0" bIns="0" rtlCol="0" anchor="t">
            <a:spAutoFit/>
          </a:bodyPr>
          <a:lstStyle/>
          <a:p>
            <a:pPr marL="7641">
              <a:lnSpc>
                <a:spcPts val="4038"/>
              </a:lnSpc>
              <a:spcBef>
                <a:spcPts val="504"/>
              </a:spcBef>
            </a:pPr>
            <a:r>
              <a:rPr lang="fr-FR" sz="3668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668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 spc="-106">
                <a:solidFill>
                  <a:schemeClr val="dk1"/>
                </a:solidFill>
                <a:latin typeface="Arial"/>
              </a:rPr>
              <a:t>typical </a:t>
            </a:r>
            <a:r>
              <a:rPr lang="fr-FR" sz="3668" b="1" spc="-139">
                <a:solidFill>
                  <a:schemeClr val="dk1"/>
                </a:solidFill>
                <a:latin typeface="Arial"/>
              </a:rPr>
              <a:t>individualist</a:t>
            </a:r>
            <a:r>
              <a:rPr lang="fr-FR" sz="3668" b="1" spc="-106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>
                <a:solidFill>
                  <a:schemeClr val="dk1"/>
                </a:solidFill>
                <a:latin typeface="Arial"/>
              </a:rPr>
              <a:t>or</a:t>
            </a:r>
            <a:r>
              <a:rPr lang="fr-FR" sz="3668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 spc="-79">
                <a:solidFill>
                  <a:schemeClr val="dk1"/>
                </a:solidFill>
                <a:latin typeface="Arial"/>
              </a:rPr>
              <a:t>(“agentic”) </a:t>
            </a:r>
            <a:r>
              <a:rPr lang="fr-FR" sz="3668" b="1" spc="-85">
                <a:solidFill>
                  <a:schemeClr val="dk1"/>
                </a:solidFill>
                <a:latin typeface="Arial"/>
              </a:rPr>
              <a:t>paradigm:</a:t>
            </a:r>
            <a:r>
              <a:rPr lang="fr-FR" sz="3668" b="1" spc="-123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 spc="-13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3668" b="1" spc="-99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 spc="-167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3668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668" b="1" spc="-7">
                <a:solidFill>
                  <a:schemeClr val="dk1"/>
                </a:solidFill>
                <a:latin typeface="Arial"/>
              </a:rPr>
              <a:t>Theory</a:t>
            </a:r>
            <a:endParaRPr lang="fr-FR" sz="3668"/>
          </a:p>
        </p:txBody>
      </p:sp>
      <p:sp>
        <p:nvSpPr>
          <p:cNvPr id="249" name="object 3"/>
          <p:cNvSpPr/>
          <p:nvPr/>
        </p:nvSpPr>
        <p:spPr>
          <a:xfrm>
            <a:off x="335524" y="1553017"/>
            <a:ext cx="11338072" cy="46517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22" rIns="0" bIns="0" anchor="t">
            <a:spAutoFit/>
          </a:bodyPr>
          <a:lstStyle/>
          <a:p>
            <a:pPr marL="292306" indent="-284884">
              <a:lnSpc>
                <a:spcPct val="113000"/>
              </a:lnSpc>
              <a:spcBef>
                <a:spcPts val="5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3397" algn="l"/>
              </a:tabLst>
            </a:pPr>
            <a:r>
              <a:rPr lang="fr-FR" sz="2243" spc="44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>
                <a:solidFill>
                  <a:srgbClr val="000000"/>
                </a:solidFill>
                <a:latin typeface="Arial"/>
              </a:rPr>
              <a:t>popular</a:t>
            </a:r>
            <a:r>
              <a:rPr lang="fr-FR" sz="2243" b="1" spc="24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127">
                <a:solidFill>
                  <a:srgbClr val="000000"/>
                </a:solidFill>
                <a:latin typeface="Arial"/>
              </a:rPr>
              <a:t>successful</a:t>
            </a:r>
            <a:r>
              <a:rPr lang="fr-FR" sz="2243" b="1" spc="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paradigm: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3">
                <a:solidFill>
                  <a:srgbClr val="000000"/>
                </a:solidFill>
                <a:latin typeface="Arial MT"/>
              </a:rPr>
              <a:t>predominant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in 	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economics,</a:t>
            </a:r>
            <a:r>
              <a:rPr lang="fr-FR" sz="2243" spc="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influential</a:t>
            </a:r>
            <a:r>
              <a:rPr lang="fr-FR" sz="2243" spc="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1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2243" spc="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3" spc="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part</a:t>
            </a:r>
            <a:r>
              <a:rPr lang="fr-FR" sz="2243" spc="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43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sociology.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292306" indent="-284884">
              <a:lnSpc>
                <a:spcPct val="113000"/>
              </a:lnSpc>
              <a:spcBef>
                <a:spcPts val="1150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3397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2243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idea:</a:t>
            </a:r>
            <a:r>
              <a:rPr lang="fr-FR" sz="2243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i="1" spc="-56">
                <a:solidFill>
                  <a:srgbClr val="000000"/>
                </a:solidFill>
                <a:latin typeface="Arial"/>
              </a:rPr>
              <a:t>individuals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make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rational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 spc="-82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by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 spc="-28">
                <a:solidFill>
                  <a:srgbClr val="000000"/>
                </a:solidFill>
                <a:latin typeface="Arial"/>
              </a:rPr>
              <a:t>analyzing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the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 spc="-103">
                <a:solidFill>
                  <a:srgbClr val="EE220C"/>
                </a:solidFill>
                <a:latin typeface="Arial"/>
              </a:rPr>
              <a:t>costs</a:t>
            </a:r>
            <a:r>
              <a:rPr lang="fr-FR" sz="2243" b="1" i="1" spc="-16">
                <a:solidFill>
                  <a:srgbClr val="EE220C"/>
                </a:solidFill>
                <a:latin typeface="Arial"/>
              </a:rPr>
              <a:t> 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and 	</a:t>
            </a:r>
            <a:r>
              <a:rPr lang="fr-FR" sz="2243" b="1" i="1">
                <a:solidFill>
                  <a:srgbClr val="EE220C"/>
                </a:solidFill>
                <a:latin typeface="Arial"/>
              </a:rPr>
              <a:t>benefits</a:t>
            </a:r>
            <a:r>
              <a:rPr lang="fr-FR" sz="2243" b="1" i="1" spc="-44">
                <a:solidFill>
                  <a:srgbClr val="EE220C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of</a:t>
            </a:r>
            <a:r>
              <a:rPr lang="fr-FR" sz="2243" b="1" i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>
                <a:solidFill>
                  <a:srgbClr val="000000"/>
                </a:solidFill>
                <a:latin typeface="Arial"/>
              </a:rPr>
              <a:t>every</a:t>
            </a:r>
            <a:r>
              <a:rPr lang="fr-FR" sz="2243" b="1" i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 spc="-16">
                <a:solidFill>
                  <a:srgbClr val="000000"/>
                </a:solidFill>
                <a:latin typeface="Arial"/>
              </a:rPr>
              <a:t>available</a:t>
            </a:r>
            <a:r>
              <a:rPr lang="fr-FR" sz="2243" b="1" i="1" spc="-44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i="1" spc="-7">
                <a:solidFill>
                  <a:srgbClr val="000000"/>
                </a:solidFill>
                <a:latin typeface="Arial"/>
              </a:rPr>
              <a:t>option.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292743" indent="-284884">
              <a:spcBef>
                <a:spcPts val="175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2743" algn="l"/>
              </a:tabLst>
            </a:pPr>
            <a:r>
              <a:rPr lang="fr-FR" sz="2243" spc="-106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make rational decisions,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individuals/agents 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use: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946118" lvl="1" indent="-284884">
              <a:lnSpc>
                <a:spcPct val="113000"/>
              </a:lnSpc>
              <a:spcBef>
                <a:spcPts val="169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47211" algn="l"/>
              </a:tabLst>
            </a:pPr>
            <a:r>
              <a:rPr lang="fr-FR" sz="2243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>
                <a:solidFill>
                  <a:srgbClr val="0076BA"/>
                </a:solidFill>
                <a:latin typeface="Arial"/>
              </a:rPr>
              <a:t>information</a:t>
            </a:r>
            <a:r>
              <a:rPr lang="fr-FR" sz="2243" b="1" spc="28">
                <a:solidFill>
                  <a:srgbClr val="0076BA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224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—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4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0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24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their 	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respective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103">
                <a:solidFill>
                  <a:srgbClr val="000000"/>
                </a:solidFill>
                <a:latin typeface="Arial"/>
              </a:rPr>
              <a:t>costs</a:t>
            </a:r>
            <a:r>
              <a:rPr lang="fr-FR" sz="2243" b="1" spc="1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3" spc="-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7">
                <a:solidFill>
                  <a:srgbClr val="000000"/>
                </a:solidFill>
                <a:latin typeface="Arial"/>
              </a:rPr>
              <a:t>benefits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904860" indent="-284884">
              <a:lnSpc>
                <a:spcPct val="113000"/>
              </a:lnSpc>
              <a:spcBef>
                <a:spcPts val="1710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05952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21">
                <a:solidFill>
                  <a:srgbClr val="0076BA"/>
                </a:solidFill>
                <a:latin typeface="Arial"/>
              </a:rPr>
              <a:t>preferences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relative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24">
                <a:solidFill>
                  <a:srgbClr val="0076BA"/>
                </a:solidFill>
                <a:latin typeface="Arial"/>
              </a:rPr>
              <a:t>value</a:t>
            </a:r>
            <a:r>
              <a:rPr lang="fr-FR" sz="2243" b="1" spc="-4">
                <a:solidFill>
                  <a:srgbClr val="0076BA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ascribe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99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28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objects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</a:t>
            </a:r>
            <a:r>
              <a:rPr lang="fr-FR" sz="2243" spc="-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prefer 	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apples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99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33">
                <a:solidFill>
                  <a:srgbClr val="000000"/>
                </a:solidFill>
                <a:latin typeface="Arial MT"/>
              </a:rPr>
              <a:t>pears).</a:t>
            </a:r>
            <a:r>
              <a:rPr lang="fr-FR" sz="2243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preferred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0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2243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48">
                <a:solidFill>
                  <a:srgbClr val="000000"/>
                </a:solidFill>
                <a:latin typeface="Arial MT"/>
              </a:rPr>
              <a:t>bring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2243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>
                <a:solidFill>
                  <a:srgbClr val="EE220C"/>
                </a:solidFill>
                <a:latin typeface="Arial"/>
              </a:rPr>
              <a:t>utility</a:t>
            </a:r>
            <a:r>
              <a:rPr lang="fr-FR" sz="2243" b="1" spc="12">
                <a:solidFill>
                  <a:srgbClr val="EE220C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2243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satisfaction, 	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well-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being…)</a:t>
            </a:r>
            <a:endParaRPr lang="fr-FR" sz="2243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286190" y="139278"/>
            <a:ext cx="8815128" cy="1034150"/>
          </a:xfrm>
          <a:prstGeom prst="rect">
            <a:avLst/>
          </a:prstGeom>
          <a:noFill/>
          <a:ln w="0">
            <a:noFill/>
          </a:ln>
        </p:spPr>
        <p:txBody>
          <a:bodyPr vert="horz" lIns="0" tIns="7641" rIns="0" bIns="0" rtlCol="0" anchor="t">
            <a:spAutoFit/>
          </a:bodyPr>
          <a:lstStyle/>
          <a:p>
            <a:pPr marL="7641">
              <a:lnSpc>
                <a:spcPct val="100000"/>
              </a:lnSpc>
              <a:spcBef>
                <a:spcPts val="60"/>
              </a:spcBef>
            </a:pPr>
            <a:r>
              <a:rPr lang="fr-FR" sz="6670" b="1" spc="-248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6670" b="1" spc="-139">
                <a:solidFill>
                  <a:schemeClr val="dk1"/>
                </a:solidFill>
                <a:latin typeface="Arial"/>
              </a:rPr>
              <a:t> </a:t>
            </a:r>
            <a:r>
              <a:rPr lang="fr-FR" sz="6670" b="1" spc="-298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6670" b="1" spc="-139">
                <a:solidFill>
                  <a:schemeClr val="dk1"/>
                </a:solidFill>
                <a:latin typeface="Arial"/>
              </a:rPr>
              <a:t> </a:t>
            </a:r>
            <a:r>
              <a:rPr lang="fr-FR" sz="6670" b="1" spc="-252">
                <a:solidFill>
                  <a:schemeClr val="dk1"/>
                </a:solidFill>
                <a:latin typeface="Arial"/>
              </a:rPr>
              <a:t>Theory</a:t>
            </a:r>
            <a:endParaRPr lang="fr-FR" sz="6670"/>
          </a:p>
        </p:txBody>
      </p:sp>
      <p:sp>
        <p:nvSpPr>
          <p:cNvPr id="251" name="object 3"/>
          <p:cNvSpPr/>
          <p:nvPr/>
        </p:nvSpPr>
        <p:spPr>
          <a:xfrm>
            <a:off x="386391" y="1397585"/>
            <a:ext cx="11106887" cy="49985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583" rIns="0" bIns="0" anchor="t">
            <a:spAutoFit/>
          </a:bodyPr>
          <a:lstStyle/>
          <a:p>
            <a:pPr marL="7641">
              <a:spcBef>
                <a:spcPts val="525"/>
              </a:spcBef>
            </a:pPr>
            <a:r>
              <a:rPr lang="fr-FR" sz="2243" spc="-7">
                <a:solidFill>
                  <a:srgbClr val="000000"/>
                </a:solidFill>
                <a:latin typeface="Arial MT"/>
              </a:rPr>
              <a:t>Assumptions: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851813" indent="-279645">
              <a:lnSpc>
                <a:spcPct val="114000"/>
              </a:lnSpc>
              <a:spcBef>
                <a:spcPts val="706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852467" algn="l"/>
              </a:tabLst>
            </a:pPr>
            <a:r>
              <a:rPr lang="fr-FR" sz="2183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 b="1" spc="-19">
                <a:solidFill>
                  <a:srgbClr val="0076BA"/>
                </a:solidFill>
                <a:latin typeface="Arial"/>
              </a:rPr>
              <a:t>instrumentally</a:t>
            </a:r>
            <a:r>
              <a:rPr lang="fr-FR" sz="2183" b="1" spc="21">
                <a:solidFill>
                  <a:srgbClr val="0076BA"/>
                </a:solidFill>
                <a:latin typeface="Arial"/>
              </a:rPr>
              <a:t> </a:t>
            </a:r>
            <a:r>
              <a:rPr lang="fr-FR" sz="2183" b="1">
                <a:solidFill>
                  <a:srgbClr val="0076BA"/>
                </a:solidFill>
                <a:latin typeface="Arial"/>
              </a:rPr>
              <a:t>rational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2183" spc="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2183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 spc="45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2183" spc="-1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 b="1" spc="-19">
                <a:solidFill>
                  <a:srgbClr val="0076BA"/>
                </a:solidFill>
                <a:latin typeface="Arial"/>
              </a:rPr>
              <a:t>maximizes 	</a:t>
            </a:r>
            <a:r>
              <a:rPr lang="fr-FR" sz="2183" b="1">
                <a:solidFill>
                  <a:srgbClr val="0076BA"/>
                </a:solidFill>
                <a:latin typeface="Arial"/>
              </a:rPr>
              <a:t>their</a:t>
            </a:r>
            <a:r>
              <a:rPr lang="fr-FR" sz="2183" b="1" spc="40">
                <a:solidFill>
                  <a:srgbClr val="0076BA"/>
                </a:solidFill>
                <a:latin typeface="Arial"/>
              </a:rPr>
              <a:t> </a:t>
            </a:r>
            <a:r>
              <a:rPr lang="fr-FR" sz="2183" b="1" spc="-36">
                <a:solidFill>
                  <a:srgbClr val="0076BA"/>
                </a:solidFill>
                <a:latin typeface="Arial"/>
              </a:rPr>
              <a:t>satisfaction</a:t>
            </a:r>
            <a:r>
              <a:rPr lang="fr-FR" sz="2183" b="1">
                <a:solidFill>
                  <a:srgbClr val="0076BA"/>
                </a:solidFill>
                <a:latin typeface="Arial"/>
              </a:rPr>
              <a:t> </a:t>
            </a:r>
            <a:r>
              <a:rPr lang="fr-FR" sz="2183" spc="31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 spc="48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183" b="1">
                <a:solidFill>
                  <a:srgbClr val="000000"/>
                </a:solidFill>
                <a:latin typeface="Arial"/>
              </a:rPr>
              <a:t>information</a:t>
            </a:r>
            <a:r>
              <a:rPr lang="fr-FR" sz="2183" b="1" spc="4">
                <a:solidFill>
                  <a:srgbClr val="000000"/>
                </a:solidFill>
                <a:latin typeface="Arial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and </a:t>
            </a:r>
            <a:r>
              <a:rPr lang="fr-FR" sz="2183" b="1" spc="-12">
                <a:solidFill>
                  <a:srgbClr val="000000"/>
                </a:solidFill>
                <a:latin typeface="Arial"/>
              </a:rPr>
              <a:t>preferences</a:t>
            </a:r>
            <a:r>
              <a:rPr lang="fr-FR" sz="2183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2183">
                <a:solidFill>
                  <a:srgbClr val="000000"/>
                </a:solidFill>
                <a:latin typeface="Arial MT"/>
              </a:rPr>
              <a:t>they </a:t>
            </a:r>
            <a:r>
              <a:rPr lang="fr-FR" sz="2183" spc="-12">
                <a:solidFill>
                  <a:srgbClr val="000000"/>
                </a:solidFill>
                <a:latin typeface="Arial MT"/>
              </a:rPr>
              <a:t>have</a:t>
            </a:r>
            <a:endParaRPr lang="fr-FR" sz="2183">
              <a:solidFill>
                <a:srgbClr val="000000"/>
              </a:solidFill>
              <a:latin typeface="Arial"/>
            </a:endParaRPr>
          </a:p>
          <a:p>
            <a:pPr marL="904860" lvl="1" indent="-284884">
              <a:lnSpc>
                <a:spcPct val="113000"/>
              </a:lnSpc>
              <a:spcBef>
                <a:spcPts val="1242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05952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Individuals'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2243" spc="-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73">
                <a:solidFill>
                  <a:srgbClr val="0076BA"/>
                </a:solidFill>
                <a:latin typeface="Arial"/>
              </a:rPr>
              <a:t>selfish</a:t>
            </a:r>
            <a:r>
              <a:rPr lang="fr-FR" sz="2243" spc="-7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243" spc="-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2243" spc="-2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maximizes</a:t>
            </a:r>
            <a:r>
              <a:rPr lang="fr-FR" sz="2243" spc="-3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>
                <a:solidFill>
                  <a:srgbClr val="000000"/>
                </a:solidFill>
                <a:latin typeface="Arial"/>
              </a:rPr>
              <a:t>their</a:t>
            </a:r>
            <a:r>
              <a:rPr lang="fr-FR" sz="2243" b="1" spc="12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spc="-16">
                <a:solidFill>
                  <a:srgbClr val="000000"/>
                </a:solidFill>
                <a:latin typeface="Arial"/>
              </a:rPr>
              <a:t>own 	</a:t>
            </a:r>
            <a:r>
              <a:rPr lang="fr-FR" sz="2243" b="1" spc="-28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2243" b="1" spc="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3" b="1" spc="-45">
                <a:solidFill>
                  <a:srgbClr val="000000"/>
                </a:solidFill>
                <a:latin typeface="Arial"/>
              </a:rPr>
              <a:t>satisfaction</a:t>
            </a:r>
            <a:r>
              <a:rPr lang="fr-FR" sz="2243" spc="-45">
                <a:solidFill>
                  <a:srgbClr val="000000"/>
                </a:solidFill>
                <a:latin typeface="Arial MT"/>
              </a:rPr>
              <a:t>,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33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 have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27"/>
              </a:spcBef>
              <a:tabLst>
                <a:tab pos="905952" algn="l"/>
              </a:tabLst>
            </a:pP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7641">
              <a:tabLst>
                <a:tab pos="905952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2243" spc="-12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43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134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2243" spc="-6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successful?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868404" indent="-284884">
              <a:spcBef>
                <a:spcPts val="185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68404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2243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99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56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28">
                <a:solidFill>
                  <a:srgbClr val="0076BA"/>
                </a:solidFill>
                <a:latin typeface="Arial"/>
              </a:rPr>
              <a:t>models</a:t>
            </a:r>
            <a:r>
              <a:rPr lang="fr-FR" sz="2243" spc="-28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simplified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complex</a:t>
            </a:r>
            <a:r>
              <a:rPr lang="fr-FR" sz="2243" spc="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phenomena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868404" indent="-284884">
              <a:spcBef>
                <a:spcPts val="180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68404" algn="l"/>
              </a:tabLst>
            </a:pPr>
            <a:r>
              <a:rPr lang="fr-FR" sz="2243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2243" spc="-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12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99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2243" spc="-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b="1" spc="-24">
                <a:solidFill>
                  <a:srgbClr val="0076BA"/>
                </a:solidFill>
                <a:latin typeface="Arial"/>
              </a:rPr>
              <a:t>predictions</a:t>
            </a:r>
            <a:r>
              <a:rPr lang="fr-FR" sz="2243" b="1" spc="-21">
                <a:solidFill>
                  <a:srgbClr val="0076BA"/>
                </a:solidFill>
                <a:latin typeface="Arial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(if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happens,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209">
                <a:solidFill>
                  <a:srgbClr val="000000"/>
                </a:solidFill>
                <a:latin typeface="Arial MT"/>
              </a:rPr>
              <a:t>Y</a:t>
            </a:r>
            <a:r>
              <a:rPr lang="fr-FR" sz="2243">
                <a:solidFill>
                  <a:srgbClr val="000000"/>
                </a:solidFill>
                <a:latin typeface="Arial MT"/>
              </a:rPr>
              <a:t> will</a:t>
            </a:r>
            <a:r>
              <a:rPr lang="fr-FR" sz="2243" spc="-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3" spc="-7">
                <a:solidFill>
                  <a:srgbClr val="000000"/>
                </a:solidFill>
                <a:latin typeface="Arial MT"/>
              </a:rPr>
              <a:t>happen)</a:t>
            </a:r>
            <a:endParaRPr lang="fr-FR" sz="2243">
              <a:solidFill>
                <a:srgbClr val="000000"/>
              </a:solidFill>
              <a:latin typeface="Arial"/>
            </a:endParaRPr>
          </a:p>
          <a:p>
            <a:pPr marL="850940" indent="-267638">
              <a:lnSpc>
                <a:spcPct val="113000"/>
              </a:lnSpc>
              <a:spcBef>
                <a:spcPts val="166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52031" algn="l"/>
              </a:tabLst>
            </a:pPr>
            <a:r>
              <a:rPr lang="fr-FR" sz="2092" spc="40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spc="-28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spc="33">
                <a:solidFill>
                  <a:srgbClr val="000000"/>
                </a:solidFill>
                <a:latin typeface="Arial MT"/>
              </a:rPr>
              <a:t>been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b="1" spc="-16">
                <a:solidFill>
                  <a:srgbClr val="0076BA"/>
                </a:solidFill>
                <a:latin typeface="Arial"/>
              </a:rPr>
              <a:t>highly</a:t>
            </a:r>
            <a:r>
              <a:rPr lang="fr-FR" sz="2092" b="1" spc="56">
                <a:solidFill>
                  <a:srgbClr val="0076BA"/>
                </a:solidFill>
                <a:latin typeface="Arial"/>
              </a:rPr>
              <a:t> </a:t>
            </a:r>
            <a:r>
              <a:rPr lang="fr-FR" sz="2092" b="1" spc="-106">
                <a:solidFill>
                  <a:srgbClr val="0076BA"/>
                </a:solidFill>
                <a:latin typeface="Arial"/>
              </a:rPr>
              <a:t>successful</a:t>
            </a:r>
            <a:r>
              <a:rPr lang="fr-FR" sz="2092" b="1" spc="16">
                <a:solidFill>
                  <a:srgbClr val="0076BA"/>
                </a:solidFill>
                <a:latin typeface="Arial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describing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many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2092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spc="28">
                <a:solidFill>
                  <a:srgbClr val="000000"/>
                </a:solidFill>
                <a:latin typeface="Arial MT"/>
              </a:rPr>
              <a:t>economic 	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behavior,</a:t>
            </a:r>
            <a:r>
              <a:rPr lang="fr-FR" sz="2092" spc="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b="1" spc="31">
                <a:solidFill>
                  <a:srgbClr val="000000"/>
                </a:solidFill>
                <a:latin typeface="Arial"/>
              </a:rPr>
              <a:t>but</a:t>
            </a:r>
            <a:r>
              <a:rPr lang="fr-FR" sz="2092" b="1" spc="44">
                <a:solidFill>
                  <a:srgbClr val="000000"/>
                </a:solidFill>
                <a:latin typeface="Arial"/>
              </a:rPr>
              <a:t> </a:t>
            </a:r>
            <a:r>
              <a:rPr lang="fr-FR" sz="2092" b="1" spc="-36">
                <a:solidFill>
                  <a:srgbClr val="000000"/>
                </a:solidFill>
                <a:latin typeface="Arial"/>
              </a:rPr>
              <a:t>also</a:t>
            </a:r>
            <a:r>
              <a:rPr lang="fr-FR" sz="2092" b="1" spc="40">
                <a:solidFill>
                  <a:srgbClr val="000000"/>
                </a:solidFill>
                <a:latin typeface="Arial"/>
              </a:rPr>
              <a:t> </a:t>
            </a:r>
            <a:r>
              <a:rPr lang="fr-FR" sz="2092" b="1">
                <a:solidFill>
                  <a:srgbClr val="000000"/>
                </a:solidFill>
                <a:latin typeface="Arial"/>
              </a:rPr>
              <a:t>more</a:t>
            </a:r>
            <a:r>
              <a:rPr lang="fr-FR" sz="2092" b="1" spc="40">
                <a:solidFill>
                  <a:srgbClr val="000000"/>
                </a:solidFill>
                <a:latin typeface="Arial"/>
              </a:rPr>
              <a:t> </a:t>
            </a:r>
            <a:r>
              <a:rPr lang="fr-FR" sz="2092" b="1" spc="-12">
                <a:solidFill>
                  <a:srgbClr val="000000"/>
                </a:solidFill>
                <a:latin typeface="Arial"/>
              </a:rPr>
              <a:t>"social"</a:t>
            </a:r>
            <a:r>
              <a:rPr lang="fr-FR" sz="2092" b="1" spc="40">
                <a:solidFill>
                  <a:srgbClr val="000000"/>
                </a:solidFill>
                <a:latin typeface="Arial"/>
              </a:rPr>
              <a:t> </a:t>
            </a:r>
            <a:r>
              <a:rPr lang="fr-FR" sz="2092" b="1" spc="-69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2092" b="1" spc="7">
                <a:solidFill>
                  <a:srgbClr val="000000"/>
                </a:solidFill>
                <a:latin typeface="Arial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2092" spc="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crime,</a:t>
            </a:r>
            <a:r>
              <a:rPr lang="fr-FR" sz="2092" spc="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education,</a:t>
            </a:r>
            <a:r>
              <a:rPr lang="fr-FR" sz="2092" spc="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spc="58">
                <a:solidFill>
                  <a:srgbClr val="000000"/>
                </a:solidFill>
                <a:latin typeface="Arial MT"/>
              </a:rPr>
              <a:t>founding</a:t>
            </a:r>
            <a:r>
              <a:rPr lang="fr-FR" sz="2092" spc="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092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92" spc="-7">
                <a:solidFill>
                  <a:srgbClr val="000000"/>
                </a:solidFill>
                <a:latin typeface="Arial MT"/>
              </a:rPr>
              <a:t>family...)</a:t>
            </a:r>
            <a:endParaRPr lang="fr-FR" sz="2092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20156F2F-68A1-1DCA-DD1C-984C17FF8831}"/>
              </a:ext>
            </a:extLst>
          </p:cNvPr>
          <p:cNvSpPr/>
          <p:nvPr/>
        </p:nvSpPr>
        <p:spPr>
          <a:xfrm>
            <a:off x="0" y="0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Workshop: RCT and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its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alternatives in the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study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social exchange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0063B-553E-A040-8B5C-7635F9EC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339" y="1386729"/>
            <a:ext cx="4549381" cy="4811126"/>
          </a:xfrm>
          <a:prstGeom prst="rect">
            <a:avLst/>
          </a:prstGeom>
        </p:spPr>
      </p:pic>
      <p:sp>
        <p:nvSpPr>
          <p:cNvPr id="8" name="ZoneTexte 29">
            <a:extLst>
              <a:ext uri="{FF2B5EF4-FFF2-40B4-BE49-F238E27FC236}">
                <a16:creationId xmlns:a16="http://schemas.microsoft.com/office/drawing/2014/main" id="{129BA5E1-20F8-C334-C6EC-120B6C8CB634}"/>
              </a:ext>
            </a:extLst>
          </p:cNvPr>
          <p:cNvSpPr/>
          <p:nvPr/>
        </p:nvSpPr>
        <p:spPr>
          <a:xfrm>
            <a:off x="0" y="1505930"/>
            <a:ext cx="60960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Read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Becker’s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article</a:t>
            </a:r>
          </a:p>
        </p:txBody>
      </p:sp>
      <p:sp>
        <p:nvSpPr>
          <p:cNvPr id="10" name="ZoneTexte 29">
            <a:extLst>
              <a:ext uri="{FF2B5EF4-FFF2-40B4-BE49-F238E27FC236}">
                <a16:creationId xmlns:a16="http://schemas.microsoft.com/office/drawing/2014/main" id="{0D8A8085-6E81-B16D-4745-9BD3926DEF1B}"/>
              </a:ext>
            </a:extLst>
          </p:cNvPr>
          <p:cNvSpPr/>
          <p:nvPr/>
        </p:nvSpPr>
        <p:spPr>
          <a:xfrm>
            <a:off x="0" y="2415413"/>
            <a:ext cx="609600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Discussion: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based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on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reading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Becker,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Zelizer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and Ostrom,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what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are the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strength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and limitations of the RCT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approach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to social exchange/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cooperation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789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E874948F-3C76-E92B-63C9-546AB63F1E3F}"/>
              </a:ext>
            </a:extLst>
          </p:cNvPr>
          <p:cNvSpPr/>
          <p:nvPr/>
        </p:nvSpPr>
        <p:spPr>
          <a:xfrm>
            <a:off x="0" y="2784123"/>
            <a:ext cx="1197569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8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Ok, 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Homo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Oeconomicus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flawed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, but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what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strategies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exist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 to move </a:t>
            </a:r>
            <a:r>
              <a:rPr lang="fr-MA" sz="2800" b="1" i="1" dirty="0" err="1">
                <a:solidFill>
                  <a:schemeClr val="dk1"/>
                </a:solidFill>
                <a:latin typeface="Avenir Next LT Pro"/>
              </a:rPr>
              <a:t>forward</a:t>
            </a:r>
            <a:r>
              <a:rPr lang="fr-MA" sz="2800" b="1" i="1" dirty="0">
                <a:solidFill>
                  <a:schemeClr val="dk1"/>
                </a:solidFill>
                <a:latin typeface="Avenir Next LT Pro"/>
              </a:rPr>
              <a:t>? </a:t>
            </a:r>
            <a:endParaRPr lang="fr-F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45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266BFD-7560-1234-D3CD-F7FA5C682A73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Option 1: The « 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embededness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literature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15478AEA-66DE-3C05-395E-78C98F449029}"/>
              </a:ext>
            </a:extLst>
          </p:cNvPr>
          <p:cNvSpPr/>
          <p:nvPr/>
        </p:nvSpPr>
        <p:spPr>
          <a:xfrm>
            <a:off x="0" y="1132304"/>
            <a:ext cx="1219200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Criticize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Homo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Oeconomicus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model by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showing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that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, in reality,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economic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behavior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is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not a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decontextualized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cost-benefit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analysis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, but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is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rich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with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social, cultural or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symbolic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meaning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.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FA484-AD0E-D94F-ACA5-352170832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25" y="3352687"/>
            <a:ext cx="5204911" cy="2591025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E151C636-680B-4403-BD2E-8DFB6F66BCC3}"/>
              </a:ext>
            </a:extLst>
          </p:cNvPr>
          <p:cNvSpPr/>
          <p:nvPr/>
        </p:nvSpPr>
        <p:spPr>
          <a:xfrm>
            <a:off x="0" y="2356420"/>
            <a:ext cx="1219200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caveat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here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some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extent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Homo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Oeconomicus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actually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deals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with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this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critique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through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concept of </a:t>
            </a:r>
            <a:r>
              <a:rPr lang="fr-FR" i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preferences</a:t>
            </a:r>
            <a:r>
              <a:rPr lang="fr-FR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…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AF7D332B-0DFD-D836-CF5C-DB383799FCB6}"/>
              </a:ext>
            </a:extLst>
          </p:cNvPr>
          <p:cNvSpPr/>
          <p:nvPr/>
        </p:nvSpPr>
        <p:spPr>
          <a:xfrm>
            <a:off x="0" y="3283861"/>
            <a:ext cx="5204911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Because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RCT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agnostic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about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where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preferences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from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they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can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very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well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culturally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defined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!</a:t>
            </a: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199F3B32-5723-1C9A-0E5E-FCAD7FAD967B}"/>
              </a:ext>
            </a:extLst>
          </p:cNvPr>
          <p:cNvSpPr/>
          <p:nvPr/>
        </p:nvSpPr>
        <p:spPr>
          <a:xfrm>
            <a:off x="-1" y="4803820"/>
            <a:ext cx="5204911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The critique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becomes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more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interestin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g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when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more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fundamental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aspects of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behavior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715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DA0CCD4F-CE1D-A3CC-FAD6-CE99D866D3EF}"/>
              </a:ext>
            </a:extLst>
          </p:cNvPr>
          <p:cNvSpPr/>
          <p:nvPr/>
        </p:nvSpPr>
        <p:spPr>
          <a:xfrm>
            <a:off x="0" y="0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embededness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the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construction of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markets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The Great Transformation: The Political and Economic Origins of Our ...">
            <a:extLst>
              <a:ext uri="{FF2B5EF4-FFF2-40B4-BE49-F238E27FC236}">
                <a16:creationId xmlns:a16="http://schemas.microsoft.com/office/drawing/2014/main" id="{3284170F-C40A-8150-86C9-AAC8FA65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572" y="1198875"/>
            <a:ext cx="3314700" cy="4972050"/>
          </a:xfrm>
          <a:prstGeom prst="rect">
            <a:avLst/>
          </a:prstGeom>
        </p:spPr>
      </p:pic>
      <p:sp>
        <p:nvSpPr>
          <p:cNvPr id="8" name="ZoneTexte 29">
            <a:extLst>
              <a:ext uri="{FF2B5EF4-FFF2-40B4-BE49-F238E27FC236}">
                <a16:creationId xmlns:a16="http://schemas.microsoft.com/office/drawing/2014/main" id="{BCEE9755-2832-3E37-C20E-4640478DC942}"/>
              </a:ext>
            </a:extLst>
          </p:cNvPr>
          <p:cNvSpPr/>
          <p:nvPr/>
        </p:nvSpPr>
        <p:spPr>
          <a:xfrm>
            <a:off x="0" y="2080285"/>
            <a:ext cx="5204911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Modern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economic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markets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are the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result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of a process of « de-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embededness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 » (« désencastrement »):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economic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transactions are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disconnected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from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their</a:t>
            </a:r>
            <a:r>
              <a:rPr lang="fr-FR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context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9716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mazon | The Social Meaning of Money | Zelizer, Viviana A., Dodd, Nigel ...">
            <a:extLst>
              <a:ext uri="{FF2B5EF4-FFF2-40B4-BE49-F238E27FC236}">
                <a16:creationId xmlns:a16="http://schemas.microsoft.com/office/drawing/2014/main" id="{BF52B9F1-AFD5-14BF-BD83-A00A03070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29" y="855406"/>
            <a:ext cx="3431459" cy="5147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3FCC2-2278-2062-14B3-9F67779AB72D}"/>
              </a:ext>
            </a:extLst>
          </p:cNvPr>
          <p:cNvSpPr txBox="1"/>
          <p:nvPr/>
        </p:nvSpPr>
        <p:spPr>
          <a:xfrm>
            <a:off x="0" y="1716857"/>
            <a:ext cx="73840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venir Next LT Pro" panose="020B0504020202020204" pitchFamily="34" charset="0"/>
              </a:rPr>
              <a:t>“Cultural embeddedness”: the fact that an economic operation is embedded in cultural worldviews: e.g. the differentiation of “monies” by gender (money earned by women being seen as more “frivolous”, not for serious expenses)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5D4F9-1039-8137-897B-B47469CC517B}"/>
              </a:ext>
            </a:extLst>
          </p:cNvPr>
          <p:cNvSpPr txBox="1"/>
          <p:nvPr/>
        </p:nvSpPr>
        <p:spPr>
          <a:xfrm>
            <a:off x="0" y="3845541"/>
            <a:ext cx="7384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venir Next LT Pro" panose="020B0504020202020204" pitchFamily="34" charset="0"/>
              </a:rPr>
              <a:t>“</a:t>
            </a:r>
            <a:r>
              <a:rPr lang="en-US" sz="2400" b="1" dirty="0">
                <a:latin typeface="Avenir Next LT Pro" panose="020B0504020202020204" pitchFamily="34" charset="0"/>
              </a:rPr>
              <a:t>Social earmarking (</a:t>
            </a:r>
            <a:r>
              <a:rPr lang="en-US" sz="2400" b="1" dirty="0" err="1">
                <a:latin typeface="Avenir Next LT Pro" panose="020B0504020202020204" pitchFamily="34" charset="0"/>
              </a:rPr>
              <a:t>marquage</a:t>
            </a:r>
            <a:r>
              <a:rPr lang="en-US" sz="2400" b="1" dirty="0">
                <a:latin typeface="Avenir Next LT Pro" panose="020B0504020202020204" pitchFamily="34" charset="0"/>
              </a:rPr>
              <a:t> social)</a:t>
            </a:r>
            <a:r>
              <a:rPr lang="en-US" sz="2400" dirty="0">
                <a:latin typeface="Avenir Next LT Pro" panose="020B05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285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28A0B41-BCE1-0680-9E56-CA6C637D653D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Option 2: Saving RCT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from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itself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. The case of Ostrom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9">
            <a:extLst>
              <a:ext uri="{FF2B5EF4-FFF2-40B4-BE49-F238E27FC236}">
                <a16:creationId xmlns:a16="http://schemas.microsoft.com/office/drawing/2014/main" id="{27EBF291-3CE6-2CCC-C9C1-1D26C90840DC}"/>
              </a:ext>
            </a:extLst>
          </p:cNvPr>
          <p:cNvSpPr/>
          <p:nvPr/>
        </p:nvSpPr>
        <p:spPr>
          <a:xfrm>
            <a:off x="0" y="2649793"/>
            <a:ext cx="1197569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dirty="0">
                <a:solidFill>
                  <a:schemeClr val="dk1"/>
                </a:solidFill>
                <a:latin typeface="Avenir Next LT Pro"/>
              </a:rPr>
              <a:t>The solution to the « </a:t>
            </a:r>
            <a:r>
              <a:rPr lang="fr-MA" sz="2400" dirty="0" err="1">
                <a:solidFill>
                  <a:schemeClr val="dk1"/>
                </a:solidFill>
                <a:latin typeface="Avenir Next LT Pro"/>
              </a:rPr>
              <a:t>problem</a:t>
            </a:r>
            <a:r>
              <a:rPr lang="fr-MA" sz="24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00" dirty="0" err="1">
                <a:solidFill>
                  <a:schemeClr val="dk1"/>
                </a:solidFill>
                <a:latin typeface="Avenir Next LT Pro"/>
              </a:rPr>
              <a:t>cooperation</a:t>
            </a:r>
            <a:r>
              <a:rPr lang="fr-MA" sz="2400" dirty="0">
                <a:solidFill>
                  <a:schemeClr val="dk1"/>
                </a:solidFill>
                <a:latin typeface="Avenir Next LT Pro"/>
              </a:rPr>
              <a:t> » relies on the concept of « institutions ». </a:t>
            </a:r>
            <a:endParaRPr lang="fr-FR" sz="2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697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84128"/>
            <a:ext cx="6003927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248" dirty="0"/>
              <a:t>Th</a:t>
            </a:r>
            <a:r>
              <a:rPr sz="5579" spc="-88" dirty="0"/>
              <a:t>e</a:t>
            </a:r>
            <a:r>
              <a:rPr sz="5579" spc="-194" dirty="0"/>
              <a:t> </a:t>
            </a:r>
            <a:r>
              <a:rPr sz="5579" spc="-33" dirty="0"/>
              <a:t>p</a:t>
            </a:r>
            <a:r>
              <a:rPr sz="5579" spc="-246" dirty="0"/>
              <a:t>r</a:t>
            </a:r>
            <a:r>
              <a:rPr sz="5579" spc="-143" dirty="0"/>
              <a:t>oble</a:t>
            </a:r>
            <a:r>
              <a:rPr sz="5579" spc="15" dirty="0"/>
              <a:t>m</a:t>
            </a:r>
            <a:r>
              <a:rPr sz="5579" spc="-194" dirty="0"/>
              <a:t> </a:t>
            </a:r>
            <a:r>
              <a:rPr sz="5579" spc="-443" dirty="0"/>
              <a:t>s</a:t>
            </a:r>
            <a:r>
              <a:rPr sz="5579" spc="-321" dirty="0"/>
              <a:t>o</a:t>
            </a:r>
            <a:r>
              <a:rPr sz="5579" spc="-194" dirty="0"/>
              <a:t> </a:t>
            </a:r>
            <a:r>
              <a:rPr sz="5579" spc="-146" dirty="0"/>
              <a:t>far</a:t>
            </a:r>
            <a:endParaRPr sz="557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2922" y="0"/>
            <a:ext cx="3746523" cy="27687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1466" y="1204188"/>
            <a:ext cx="8133333" cy="192407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93419" marR="3081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293804" algn="l"/>
              </a:tabLst>
            </a:pPr>
            <a:r>
              <a:rPr sz="2153" spc="30" dirty="0">
                <a:latin typeface="Microsoft Sans Serif"/>
                <a:cs typeface="Microsoft Sans Serif"/>
              </a:rPr>
              <a:t>Cooperation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</a:t>
            </a:r>
            <a:r>
              <a:rPr lang="fr-FR" sz="2153" spc="-42" dirty="0">
                <a:latin typeface="Microsoft Sans Serif"/>
                <a:cs typeface="Microsoft Sans Serif"/>
              </a:rPr>
              <a:t> </a:t>
            </a:r>
            <a:r>
              <a:rPr sz="2153" spc="-27" dirty="0">
                <a:latin typeface="Microsoft Sans Serif"/>
                <a:cs typeface="Microsoft Sans Serif"/>
              </a:rPr>
              <a:t>puzzle</a:t>
            </a:r>
            <a:r>
              <a:rPr lang="fr-FR" sz="2153" spc="-27" dirty="0">
                <a:latin typeface="Microsoft Sans Serif"/>
                <a:cs typeface="Microsoft Sans Serif"/>
              </a:rPr>
              <a:t> </a:t>
            </a:r>
            <a:r>
              <a:rPr lang="fr-FR" sz="2153" spc="-27" dirty="0" err="1">
                <a:latin typeface="Microsoft Sans Serif"/>
                <a:cs typeface="Microsoft Sans Serif"/>
              </a:rPr>
              <a:t>from</a:t>
            </a:r>
            <a:r>
              <a:rPr lang="fr-FR" sz="2153" spc="-27" dirty="0">
                <a:latin typeface="Microsoft Sans Serif"/>
                <a:cs typeface="Microsoft Sans Serif"/>
              </a:rPr>
              <a:t> an RCT perspective</a:t>
            </a:r>
            <a:r>
              <a:rPr sz="2153" spc="-27" dirty="0">
                <a:latin typeface="Microsoft Sans Serif"/>
                <a:cs typeface="Microsoft Sans Serif"/>
              </a:rPr>
              <a:t>: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lang="fr-FR" sz="2153" spc="-21" dirty="0" err="1">
                <a:latin typeface="Microsoft Sans Serif"/>
                <a:cs typeface="Microsoft Sans Serif"/>
              </a:rPr>
              <a:t>individuals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that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pay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-82" dirty="0">
                <a:latin typeface="Microsoft Sans Serif"/>
                <a:cs typeface="Microsoft Sans Serif"/>
              </a:rPr>
              <a:t>a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cost </a:t>
            </a:r>
            <a:r>
              <a:rPr sz="2153" spc="-561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for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9" dirty="0">
                <a:latin typeface="Microsoft Sans Serif"/>
                <a:cs typeface="Microsoft Sans Serif"/>
              </a:rPr>
              <a:t>benefit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58" dirty="0">
                <a:latin typeface="Microsoft Sans Serif"/>
                <a:cs typeface="Microsoft Sans Serif"/>
              </a:rPr>
              <a:t>of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" dirty="0">
                <a:latin typeface="Microsoft Sans Serif"/>
                <a:cs typeface="Microsoft Sans Serif"/>
              </a:rPr>
              <a:t>others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lang="fr-FR" sz="2153" spc="18" dirty="0">
                <a:latin typeface="Microsoft Sans Serif"/>
                <a:cs typeface="Microsoft Sans Serif"/>
              </a:rPr>
              <a:t>lose </a:t>
            </a:r>
            <a:r>
              <a:rPr lang="fr-FR" sz="2153" spc="18" dirty="0" err="1">
                <a:latin typeface="Microsoft Sans Serif"/>
                <a:cs typeface="Microsoft Sans Serif"/>
              </a:rPr>
              <a:t>from</a:t>
            </a:r>
            <a:r>
              <a:rPr lang="fr-FR" sz="2153" spc="18" dirty="0">
                <a:latin typeface="Microsoft Sans Serif"/>
                <a:cs typeface="Microsoft Sans Serif"/>
              </a:rPr>
              <a:t> the interaction</a:t>
            </a:r>
            <a:r>
              <a:rPr sz="2153" spc="3" dirty="0">
                <a:latin typeface="Microsoft Sans Serif"/>
                <a:cs typeface="Microsoft Sans Serif"/>
              </a:rPr>
              <a:t>.</a:t>
            </a:r>
            <a:endParaRPr sz="2153" dirty="0">
              <a:latin typeface="Microsoft Sans Serif"/>
              <a:cs typeface="Microsoft Sans Serif"/>
            </a:endParaRPr>
          </a:p>
          <a:p>
            <a:pPr>
              <a:spcBef>
                <a:spcPts val="21"/>
              </a:spcBef>
              <a:buFont typeface="Microsoft Sans Serif"/>
              <a:buChar char="•"/>
            </a:pPr>
            <a:endParaRPr sz="2850" dirty="0">
              <a:latin typeface="Microsoft Sans Serif"/>
              <a:cs typeface="Microsoft Sans Serif"/>
            </a:endParaRPr>
          </a:p>
          <a:p>
            <a:pPr marL="293419" marR="999626" indent="-286103">
              <a:lnSpc>
                <a:spcPct val="114199"/>
              </a:lnSpc>
              <a:spcBef>
                <a:spcPts val="3"/>
              </a:spcBef>
              <a:buSzPct val="122535"/>
              <a:buChar char="•"/>
              <a:tabLst>
                <a:tab pos="293804" algn="l"/>
              </a:tabLst>
            </a:pPr>
            <a:r>
              <a:rPr sz="2153" spc="-55" dirty="0">
                <a:latin typeface="Microsoft Sans Serif"/>
                <a:cs typeface="Microsoft Sans Serif"/>
              </a:rPr>
              <a:t>This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2" dirty="0">
                <a:latin typeface="Microsoft Sans Serif"/>
                <a:cs typeface="Microsoft Sans Serif"/>
              </a:rPr>
              <a:t>paradox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24" dirty="0">
                <a:latin typeface="Microsoft Sans Serif"/>
                <a:cs typeface="Microsoft Sans Serif"/>
              </a:rPr>
              <a:t>aptly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52" dirty="0">
                <a:latin typeface="Microsoft Sans Serif"/>
                <a:cs typeface="Microsoft Sans Serif"/>
              </a:rPr>
              <a:t>modeled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in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12" dirty="0">
                <a:latin typeface="Microsoft Sans Serif"/>
                <a:cs typeface="Microsoft Sans Serif"/>
              </a:rPr>
              <a:t>one-shot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0" dirty="0">
                <a:latin typeface="Microsoft Sans Serif"/>
                <a:cs typeface="Microsoft Sans Serif"/>
              </a:rPr>
              <a:t>Prisoner's </a:t>
            </a:r>
            <a:r>
              <a:rPr sz="2153" spc="-561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Dilemma:</a:t>
            </a:r>
            <a:endParaRPr sz="2153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263" y="3524003"/>
            <a:ext cx="6042975" cy="32521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39998" y="5163360"/>
            <a:ext cx="3582641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b="1" spc="12" dirty="0">
                <a:latin typeface="Arial"/>
                <a:cs typeface="Arial"/>
              </a:rPr>
              <a:t>The</a:t>
            </a:r>
            <a:r>
              <a:rPr sz="1728" b="1" spc="3" dirty="0">
                <a:latin typeface="Arial"/>
                <a:cs typeface="Arial"/>
              </a:rPr>
              <a:t> </a:t>
            </a:r>
            <a:r>
              <a:rPr sz="1728" b="1" spc="12" dirty="0">
                <a:latin typeface="Arial"/>
                <a:cs typeface="Arial"/>
              </a:rPr>
              <a:t>Nash</a:t>
            </a:r>
            <a:r>
              <a:rPr sz="1728" b="1" spc="3" dirty="0">
                <a:latin typeface="Arial"/>
                <a:cs typeface="Arial"/>
              </a:rPr>
              <a:t> </a:t>
            </a:r>
            <a:r>
              <a:rPr sz="1728" b="1" spc="-9" dirty="0">
                <a:latin typeface="Arial"/>
                <a:cs typeface="Arial"/>
              </a:rPr>
              <a:t>Equilibrium</a:t>
            </a:r>
            <a:r>
              <a:rPr sz="1728" b="1" spc="3" dirty="0">
                <a:latin typeface="Arial"/>
                <a:cs typeface="Arial"/>
              </a:rPr>
              <a:t> </a:t>
            </a:r>
            <a:r>
              <a:rPr sz="1728" b="1" spc="-27" dirty="0">
                <a:latin typeface="Arial"/>
                <a:cs typeface="Arial"/>
              </a:rPr>
              <a:t>is</a:t>
            </a:r>
            <a:r>
              <a:rPr sz="1728" b="1" spc="3" dirty="0">
                <a:latin typeface="Arial"/>
                <a:cs typeface="Arial"/>
              </a:rPr>
              <a:t> </a:t>
            </a:r>
            <a:r>
              <a:rPr sz="1728" b="1" spc="24" dirty="0">
                <a:latin typeface="Arial"/>
                <a:cs typeface="Arial"/>
              </a:rPr>
              <a:t>to</a:t>
            </a:r>
            <a:r>
              <a:rPr sz="1728" b="1" spc="3" dirty="0">
                <a:latin typeface="Arial"/>
                <a:cs typeface="Arial"/>
              </a:rPr>
              <a:t> </a:t>
            </a:r>
            <a:r>
              <a:rPr sz="1728" b="1" spc="12" dirty="0">
                <a:latin typeface="Arial"/>
                <a:cs typeface="Arial"/>
              </a:rPr>
              <a:t>defect!</a:t>
            </a:r>
            <a:endParaRPr sz="172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84128"/>
            <a:ext cx="6003927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248" dirty="0"/>
              <a:t>Th</a:t>
            </a:r>
            <a:r>
              <a:rPr sz="5579" spc="-88" dirty="0"/>
              <a:t>e</a:t>
            </a:r>
            <a:r>
              <a:rPr sz="5579" spc="-194" dirty="0"/>
              <a:t> </a:t>
            </a:r>
            <a:r>
              <a:rPr sz="5579" spc="-33" dirty="0"/>
              <a:t>p</a:t>
            </a:r>
            <a:r>
              <a:rPr sz="5579" spc="-246" dirty="0"/>
              <a:t>r</a:t>
            </a:r>
            <a:r>
              <a:rPr sz="5579" spc="-143" dirty="0"/>
              <a:t>oble</a:t>
            </a:r>
            <a:r>
              <a:rPr sz="5579" spc="15" dirty="0"/>
              <a:t>m</a:t>
            </a:r>
            <a:r>
              <a:rPr sz="5579" spc="-194" dirty="0"/>
              <a:t> </a:t>
            </a:r>
            <a:r>
              <a:rPr sz="5579" spc="-443" dirty="0"/>
              <a:t>s</a:t>
            </a:r>
            <a:r>
              <a:rPr sz="5579" spc="-321" dirty="0"/>
              <a:t>o</a:t>
            </a:r>
            <a:r>
              <a:rPr sz="5579" spc="-194" dirty="0"/>
              <a:t> </a:t>
            </a:r>
            <a:r>
              <a:rPr sz="5579" spc="-146" dirty="0"/>
              <a:t>far</a:t>
            </a:r>
            <a:endParaRPr sz="557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894" y="184116"/>
            <a:ext cx="3746523" cy="27687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201" y="2776597"/>
            <a:ext cx="10436432" cy="525721"/>
          </a:xfrm>
          <a:prstGeom prst="rect">
            <a:avLst/>
          </a:prstGeom>
        </p:spPr>
        <p:txBody>
          <a:bodyPr vert="horz" wrap="square" lIns="0" tIns="192532" rIns="0" bIns="0" rtlCol="0">
            <a:spAutoFit/>
          </a:bodyPr>
          <a:lstStyle/>
          <a:p>
            <a:pPr marL="293419" indent="-286103">
              <a:spcBef>
                <a:spcPts val="1516"/>
              </a:spcBef>
              <a:buSzPct val="122535"/>
              <a:buChar char="•"/>
              <a:tabLst>
                <a:tab pos="293804" algn="l"/>
              </a:tabLst>
            </a:pPr>
            <a:r>
              <a:rPr sz="2153" spc="6" dirty="0">
                <a:latin typeface="Microsoft Sans Serif"/>
                <a:cs typeface="Microsoft Sans Serif"/>
              </a:rPr>
              <a:t>But: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0" dirty="0">
                <a:latin typeface="Microsoft Sans Serif"/>
                <a:cs typeface="Microsoft Sans Serif"/>
              </a:rPr>
              <a:t>cooperation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can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" dirty="0">
                <a:latin typeface="Microsoft Sans Serif"/>
                <a:cs typeface="Microsoft Sans Serif"/>
              </a:rPr>
              <a:t>evolve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21" dirty="0">
                <a:latin typeface="Microsoft Sans Serif"/>
                <a:cs typeface="Microsoft Sans Serif"/>
              </a:rPr>
              <a:t>under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61" dirty="0">
                <a:latin typeface="Microsoft Sans Serif"/>
                <a:cs typeface="Microsoft Sans Serif"/>
              </a:rPr>
              <a:t>two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21" dirty="0">
                <a:latin typeface="Microsoft Sans Serif"/>
                <a:cs typeface="Microsoft Sans Serif"/>
              </a:rPr>
              <a:t>conditions</a:t>
            </a:r>
            <a:endParaRPr sz="2153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486" y="3499590"/>
            <a:ext cx="10531516" cy="57260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6044" marR="3081" indent="-228728">
              <a:lnSpc>
                <a:spcPct val="112900"/>
              </a:lnSpc>
              <a:spcBef>
                <a:spcPts val="58"/>
              </a:spcBef>
              <a:buSzPct val="123214"/>
              <a:buChar char="•"/>
              <a:tabLst>
                <a:tab pos="236429" algn="l"/>
              </a:tabLst>
            </a:pPr>
            <a:r>
              <a:rPr sz="1698" dirty="0">
                <a:latin typeface="Microsoft Sans Serif"/>
                <a:cs typeface="Microsoft Sans Serif"/>
              </a:rPr>
              <a:t>When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27" dirty="0">
                <a:latin typeface="Microsoft Sans Serif"/>
                <a:cs typeface="Microsoft Sans Serif"/>
              </a:rPr>
              <a:t>cooperation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55" dirty="0">
                <a:latin typeface="Microsoft Sans Serif"/>
                <a:cs typeface="Microsoft Sans Serif"/>
              </a:rPr>
              <a:t>is</a:t>
            </a:r>
            <a:r>
              <a:rPr sz="1698" spc="24" dirty="0">
                <a:latin typeface="Microsoft Sans Serif"/>
                <a:cs typeface="Microsoft Sans Serif"/>
              </a:rPr>
              <a:t> among </a:t>
            </a:r>
            <a:r>
              <a:rPr sz="1698" spc="-15" dirty="0">
                <a:latin typeface="Microsoft Sans Serif"/>
                <a:cs typeface="Microsoft Sans Serif"/>
              </a:rPr>
              <a:t>close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3" dirty="0">
                <a:latin typeface="Microsoft Sans Serif"/>
                <a:cs typeface="Microsoft Sans Serif"/>
              </a:rPr>
              <a:t>kin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15" dirty="0">
                <a:latin typeface="Microsoft Sans Serif"/>
                <a:cs typeface="Microsoft Sans Serif"/>
              </a:rPr>
              <a:t>(but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dirty="0">
                <a:latin typeface="Microsoft Sans Serif"/>
                <a:cs typeface="Microsoft Sans Serif"/>
              </a:rPr>
              <a:t>we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15" dirty="0">
                <a:latin typeface="Microsoft Sans Serif"/>
                <a:cs typeface="Microsoft Sans Serif"/>
              </a:rPr>
              <a:t>leave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3" dirty="0">
                <a:latin typeface="Microsoft Sans Serif"/>
                <a:cs typeface="Microsoft Sans Serif"/>
              </a:rPr>
              <a:t>this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12" dirty="0">
                <a:latin typeface="Microsoft Sans Serif"/>
                <a:cs typeface="Microsoft Sans Serif"/>
              </a:rPr>
              <a:t>aside,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94" dirty="0">
                <a:latin typeface="Microsoft Sans Serif"/>
                <a:cs typeface="Microsoft Sans Serif"/>
              </a:rPr>
              <a:t>as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15" dirty="0">
                <a:latin typeface="Microsoft Sans Serif"/>
                <a:cs typeface="Microsoft Sans Serif"/>
              </a:rPr>
              <a:t>most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12" dirty="0">
                <a:latin typeface="Microsoft Sans Serif"/>
                <a:cs typeface="Microsoft Sans Serif"/>
              </a:rPr>
              <a:t>interesting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69" dirty="0">
                <a:latin typeface="Microsoft Sans Serif"/>
                <a:cs typeface="Microsoft Sans Serif"/>
              </a:rPr>
              <a:t>cases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45" dirty="0">
                <a:latin typeface="Microsoft Sans Serif"/>
                <a:cs typeface="Microsoft Sans Serif"/>
              </a:rPr>
              <a:t>of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27" dirty="0">
                <a:latin typeface="Microsoft Sans Serif"/>
                <a:cs typeface="Microsoft Sans Serif"/>
              </a:rPr>
              <a:t>cooperation</a:t>
            </a:r>
            <a:r>
              <a:rPr sz="1698" spc="24" dirty="0">
                <a:latin typeface="Microsoft Sans Serif"/>
                <a:cs typeface="Microsoft Sans Serif"/>
              </a:rPr>
              <a:t> </a:t>
            </a:r>
            <a:r>
              <a:rPr sz="1698" spc="-33" dirty="0">
                <a:latin typeface="Microsoft Sans Serif"/>
                <a:cs typeface="Microsoft Sans Serif"/>
              </a:rPr>
              <a:t>are </a:t>
            </a:r>
            <a:r>
              <a:rPr sz="1698" spc="-443" dirty="0">
                <a:latin typeface="Microsoft Sans Serif"/>
                <a:cs typeface="Microsoft Sans Serif"/>
              </a:rPr>
              <a:t> </a:t>
            </a:r>
            <a:r>
              <a:rPr sz="1698" spc="27" dirty="0">
                <a:latin typeface="Microsoft Sans Serif"/>
                <a:cs typeface="Microsoft Sans Serif"/>
              </a:rPr>
              <a:t>with</a:t>
            </a:r>
            <a:r>
              <a:rPr sz="1698" spc="18" dirty="0">
                <a:latin typeface="Microsoft Sans Serif"/>
                <a:cs typeface="Microsoft Sans Serif"/>
              </a:rPr>
              <a:t> </a:t>
            </a:r>
            <a:r>
              <a:rPr sz="1698" spc="-9" dirty="0">
                <a:latin typeface="Microsoft Sans Serif"/>
                <a:cs typeface="Microsoft Sans Serif"/>
              </a:rPr>
              <a:t>non-kin).</a:t>
            </a:r>
            <a:endParaRPr sz="1698" dirty="0">
              <a:latin typeface="Microsoft Sans Serif"/>
              <a:cs typeface="Microsoft Sans Serif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4DA3ABB-561F-2073-ED2D-40DBCC2D3EE2}"/>
              </a:ext>
            </a:extLst>
          </p:cNvPr>
          <p:cNvSpPr txBox="1"/>
          <p:nvPr/>
        </p:nvSpPr>
        <p:spPr>
          <a:xfrm>
            <a:off x="40117" y="5428437"/>
            <a:ext cx="10531516" cy="57260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831738" marR="55834" lvl="1" indent="-228728">
              <a:lnSpc>
                <a:spcPct val="112900"/>
              </a:lnSpc>
              <a:spcBef>
                <a:spcPts val="1922"/>
              </a:spcBef>
              <a:buSzPct val="123214"/>
              <a:buChar char="•"/>
              <a:tabLst>
                <a:tab pos="832123" algn="l"/>
              </a:tabLst>
            </a:pPr>
            <a:r>
              <a:rPr lang="en-US" sz="1698" spc="27" dirty="0">
                <a:latin typeface="Microsoft Sans Serif"/>
                <a:cs typeface="Microsoft Sans Serif"/>
              </a:rPr>
              <a:t>Cooperation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-27" dirty="0">
                <a:latin typeface="Microsoft Sans Serif"/>
                <a:cs typeface="Microsoft Sans Serif"/>
              </a:rPr>
              <a:t>also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-3" dirty="0">
                <a:latin typeface="Microsoft Sans Serif"/>
                <a:cs typeface="Microsoft Sans Serif"/>
              </a:rPr>
              <a:t>yields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b="1" i="1" spc="-3" dirty="0">
                <a:latin typeface="Arial"/>
                <a:cs typeface="Arial"/>
              </a:rPr>
              <a:t>reputational</a:t>
            </a:r>
            <a:r>
              <a:rPr lang="en-US" sz="1698" b="1" i="1" spc="6" dirty="0">
                <a:latin typeface="Arial"/>
                <a:cs typeface="Arial"/>
              </a:rPr>
              <a:t> </a:t>
            </a:r>
            <a:r>
              <a:rPr lang="en-US" sz="1698" spc="12" dirty="0">
                <a:latin typeface="Microsoft Sans Serif"/>
                <a:cs typeface="Microsoft Sans Serif"/>
              </a:rPr>
              <a:t>benefits: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9" dirty="0">
                <a:latin typeface="Microsoft Sans Serif"/>
                <a:cs typeface="Microsoft Sans Serif"/>
              </a:rPr>
              <a:t>in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30" dirty="0">
                <a:latin typeface="Microsoft Sans Serif"/>
                <a:cs typeface="Microsoft Sans Serif"/>
              </a:rPr>
              <a:t>biological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-15" dirty="0">
                <a:latin typeface="Microsoft Sans Serif"/>
                <a:cs typeface="Microsoft Sans Serif"/>
              </a:rPr>
              <a:t>markets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-9" dirty="0">
                <a:latin typeface="Microsoft Sans Serif"/>
                <a:cs typeface="Microsoft Sans Serif"/>
              </a:rPr>
              <a:t>where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3" dirty="0">
                <a:latin typeface="Microsoft Sans Serif"/>
                <a:cs typeface="Microsoft Sans Serif"/>
              </a:rPr>
              <a:t>individuals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-6" dirty="0">
                <a:latin typeface="Microsoft Sans Serif"/>
                <a:cs typeface="Microsoft Sans Serif"/>
              </a:rPr>
              <a:t>choose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21" dirty="0">
                <a:latin typeface="Microsoft Sans Serif"/>
                <a:cs typeface="Microsoft Sans Serif"/>
              </a:rPr>
              <a:t>their </a:t>
            </a:r>
            <a:r>
              <a:rPr lang="en-US" sz="1698" dirty="0">
                <a:latin typeface="Microsoft Sans Serif"/>
                <a:cs typeface="Microsoft Sans Serif"/>
              </a:rPr>
              <a:t>partners,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6" dirty="0">
                <a:latin typeface="Microsoft Sans Serif"/>
                <a:cs typeface="Microsoft Sans Serif"/>
              </a:rPr>
              <a:t>those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27" dirty="0">
                <a:latin typeface="Microsoft Sans Serif"/>
                <a:cs typeface="Microsoft Sans Serif"/>
              </a:rPr>
              <a:t>with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-64" dirty="0">
                <a:latin typeface="Microsoft Sans Serif"/>
                <a:cs typeface="Microsoft Sans Serif"/>
              </a:rPr>
              <a:t>a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45" dirty="0">
                <a:latin typeface="Microsoft Sans Serif"/>
                <a:cs typeface="Microsoft Sans Serif"/>
              </a:rPr>
              <a:t>better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24" dirty="0">
                <a:latin typeface="Microsoft Sans Serif"/>
                <a:cs typeface="Microsoft Sans Serif"/>
              </a:rPr>
              <a:t>reputation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61" dirty="0">
                <a:latin typeface="Microsoft Sans Serif"/>
                <a:cs typeface="Microsoft Sans Serif"/>
              </a:rPr>
              <a:t>get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6" dirty="0">
                <a:latin typeface="Microsoft Sans Serif"/>
                <a:cs typeface="Microsoft Sans Serif"/>
              </a:rPr>
              <a:t>selected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15" dirty="0">
                <a:latin typeface="Microsoft Sans Serif"/>
                <a:cs typeface="Microsoft Sans Serif"/>
              </a:rPr>
              <a:t>more</a:t>
            </a:r>
            <a:r>
              <a:rPr lang="en-US" sz="1698" spc="21" dirty="0">
                <a:latin typeface="Microsoft Sans Serif"/>
                <a:cs typeface="Microsoft Sans Serif"/>
              </a:rPr>
              <a:t> </a:t>
            </a:r>
            <a:r>
              <a:rPr lang="en-US" sz="1698" spc="36" dirty="0">
                <a:latin typeface="Microsoft Sans Serif"/>
                <a:cs typeface="Microsoft Sans Serif"/>
              </a:rPr>
              <a:t>often</a:t>
            </a:r>
            <a:endParaRPr lang="en-US" sz="1698" dirty="0">
              <a:latin typeface="Microsoft Sans Serif"/>
              <a:cs typeface="Microsoft Sans Serif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8D0CB99-BA05-F1ED-C9C9-26397441E9B3}"/>
              </a:ext>
            </a:extLst>
          </p:cNvPr>
          <p:cNvSpPr txBox="1"/>
          <p:nvPr/>
        </p:nvSpPr>
        <p:spPr>
          <a:xfrm>
            <a:off x="-21310" y="4459140"/>
            <a:ext cx="12210755" cy="65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0198" lvl="1" indent="-229113">
              <a:spcBef>
                <a:spcPts val="1810"/>
              </a:spcBef>
              <a:buSzPct val="123214"/>
              <a:buChar char="•"/>
              <a:tabLst>
                <a:tab pos="830583" algn="l"/>
              </a:tabLst>
            </a:pPr>
            <a:r>
              <a:rPr lang="en-US" sz="1698" dirty="0">
                <a:latin typeface="Microsoft Sans Serif"/>
                <a:cs typeface="Microsoft Sans Serif"/>
              </a:rPr>
              <a:t>When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30" dirty="0">
                <a:latin typeface="Microsoft Sans Serif"/>
                <a:cs typeface="Microsoft Sans Serif"/>
              </a:rPr>
              <a:t>the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-64" dirty="0">
                <a:latin typeface="Microsoft Sans Serif"/>
                <a:cs typeface="Microsoft Sans Serif"/>
              </a:rPr>
              <a:t>PD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-55" dirty="0">
                <a:latin typeface="Microsoft Sans Serif"/>
                <a:cs typeface="Microsoft Sans Serif"/>
              </a:rPr>
              <a:t>is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27" dirty="0">
                <a:latin typeface="Microsoft Sans Serif"/>
                <a:cs typeface="Microsoft Sans Serif"/>
              </a:rPr>
              <a:t>iterated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dirty="0">
                <a:latin typeface="Microsoft Sans Serif"/>
                <a:cs typeface="Microsoft Sans Serif"/>
              </a:rPr>
              <a:t>-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3" dirty="0">
                <a:latin typeface="Microsoft Sans Serif"/>
                <a:cs typeface="Microsoft Sans Serif"/>
              </a:rPr>
              <a:t>i.e.,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dirty="0">
                <a:latin typeface="Microsoft Sans Serif"/>
                <a:cs typeface="Microsoft Sans Serif"/>
              </a:rPr>
              <a:t>when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45" dirty="0">
                <a:latin typeface="Microsoft Sans Serif"/>
                <a:cs typeface="Microsoft Sans Serif"/>
              </a:rPr>
              <a:t>people</a:t>
            </a:r>
            <a:r>
              <a:rPr lang="en-US" sz="1698" spc="24" dirty="0">
                <a:latin typeface="Microsoft Sans Serif"/>
                <a:cs typeface="Microsoft Sans Serif"/>
              </a:rPr>
              <a:t> cooperate </a:t>
            </a:r>
            <a:r>
              <a:rPr lang="en-US" sz="1698" spc="33" dirty="0">
                <a:latin typeface="Microsoft Sans Serif"/>
                <a:cs typeface="Microsoft Sans Serif"/>
              </a:rPr>
              <a:t>multiple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3" dirty="0">
                <a:latin typeface="Microsoft Sans Serif"/>
                <a:cs typeface="Microsoft Sans Serif"/>
              </a:rPr>
              <a:t>times,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30" dirty="0">
                <a:latin typeface="Microsoft Sans Serif"/>
                <a:cs typeface="Microsoft Sans Serif"/>
              </a:rPr>
              <a:t>the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15" dirty="0">
                <a:latin typeface="Microsoft Sans Serif"/>
                <a:cs typeface="Microsoft Sans Serif"/>
              </a:rPr>
              <a:t>most</a:t>
            </a:r>
            <a:r>
              <a:rPr lang="en-US" sz="1698" spc="27" dirty="0">
                <a:latin typeface="Microsoft Sans Serif"/>
                <a:cs typeface="Microsoft Sans Serif"/>
              </a:rPr>
              <a:t> </a:t>
            </a:r>
            <a:r>
              <a:rPr lang="en-US" sz="1698" spc="18" dirty="0">
                <a:latin typeface="Microsoft Sans Serif"/>
                <a:cs typeface="Microsoft Sans Serif"/>
              </a:rPr>
              <a:t>adaptive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6" dirty="0">
                <a:latin typeface="Microsoft Sans Serif"/>
                <a:cs typeface="Microsoft Sans Serif"/>
              </a:rPr>
              <a:t>strategy</a:t>
            </a:r>
            <a:r>
              <a:rPr lang="en-US" sz="1698" spc="24" dirty="0">
                <a:latin typeface="Microsoft Sans Serif"/>
                <a:cs typeface="Microsoft Sans Serif"/>
              </a:rPr>
              <a:t> </a:t>
            </a:r>
            <a:r>
              <a:rPr lang="en-US" sz="1698" spc="-55" dirty="0">
                <a:latin typeface="Microsoft Sans Serif"/>
                <a:cs typeface="Microsoft Sans Serif"/>
              </a:rPr>
              <a:t>is</a:t>
            </a:r>
            <a:endParaRPr lang="en-US" sz="1698" dirty="0">
              <a:latin typeface="Microsoft Sans Serif"/>
              <a:cs typeface="Microsoft Sans Serif"/>
            </a:endParaRPr>
          </a:p>
          <a:p>
            <a:pPr marL="830198">
              <a:spcBef>
                <a:spcPts val="263"/>
              </a:spcBef>
            </a:pPr>
            <a:r>
              <a:rPr lang="en-US" sz="1698" b="1" spc="-18" dirty="0">
                <a:latin typeface="Arial"/>
                <a:cs typeface="Arial"/>
              </a:rPr>
              <a:t>Conditional</a:t>
            </a:r>
            <a:r>
              <a:rPr lang="en-US" sz="1698" b="1" spc="15" dirty="0">
                <a:latin typeface="Arial"/>
                <a:cs typeface="Arial"/>
              </a:rPr>
              <a:t> </a:t>
            </a:r>
            <a:r>
              <a:rPr lang="en-US" sz="1698" b="1" spc="-3" dirty="0">
                <a:latin typeface="Arial"/>
                <a:cs typeface="Arial"/>
              </a:rPr>
              <a:t>Cooperation</a:t>
            </a:r>
            <a:endParaRPr lang="en-US" sz="1698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84128"/>
            <a:ext cx="6003927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248" dirty="0"/>
              <a:t>Th</a:t>
            </a:r>
            <a:r>
              <a:rPr sz="5579" spc="-88" dirty="0"/>
              <a:t>e</a:t>
            </a:r>
            <a:r>
              <a:rPr sz="5579" spc="-194" dirty="0"/>
              <a:t> </a:t>
            </a:r>
            <a:r>
              <a:rPr sz="5579" spc="-33" dirty="0"/>
              <a:t>p</a:t>
            </a:r>
            <a:r>
              <a:rPr sz="5579" spc="-246" dirty="0"/>
              <a:t>r</a:t>
            </a:r>
            <a:r>
              <a:rPr sz="5579" spc="-143" dirty="0"/>
              <a:t>oble</a:t>
            </a:r>
            <a:r>
              <a:rPr sz="5579" spc="15" dirty="0"/>
              <a:t>m</a:t>
            </a:r>
            <a:r>
              <a:rPr sz="5579" spc="-194" dirty="0"/>
              <a:t> </a:t>
            </a:r>
            <a:r>
              <a:rPr sz="5579" spc="-443" dirty="0"/>
              <a:t>s</a:t>
            </a:r>
            <a:r>
              <a:rPr sz="5579" spc="-321" dirty="0"/>
              <a:t>o</a:t>
            </a:r>
            <a:r>
              <a:rPr sz="5579" spc="-194" dirty="0"/>
              <a:t> </a:t>
            </a:r>
            <a:r>
              <a:rPr sz="5579" spc="-146" dirty="0"/>
              <a:t>far</a:t>
            </a:r>
            <a:endParaRPr sz="5579"/>
          </a:p>
        </p:txBody>
      </p:sp>
      <p:sp>
        <p:nvSpPr>
          <p:cNvPr id="3" name="object 3"/>
          <p:cNvSpPr txBox="1"/>
          <p:nvPr/>
        </p:nvSpPr>
        <p:spPr>
          <a:xfrm>
            <a:off x="183236" y="1182283"/>
            <a:ext cx="7854932" cy="148670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93419" marR="3081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293804" algn="l"/>
              </a:tabLst>
            </a:pPr>
            <a:r>
              <a:rPr sz="2153" spc="-30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12" dirty="0">
                <a:latin typeface="Microsoft Sans Serif"/>
                <a:cs typeface="Microsoft Sans Serif"/>
              </a:rPr>
              <a:t>human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brain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" dirty="0">
                <a:latin typeface="Microsoft Sans Serif"/>
                <a:cs typeface="Microsoft Sans Serif"/>
              </a:rPr>
              <a:t>naturally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8" dirty="0">
                <a:latin typeface="Microsoft Sans Serif"/>
                <a:cs typeface="Microsoft Sans Serif"/>
              </a:rPr>
              <a:t>calibrated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55" dirty="0">
                <a:latin typeface="Arial"/>
                <a:cs typeface="Arial"/>
              </a:rPr>
              <a:t>spontaneously </a:t>
            </a:r>
            <a:r>
              <a:rPr sz="2153" b="1" spc="-52" dirty="0">
                <a:latin typeface="Arial"/>
                <a:cs typeface="Arial"/>
              </a:rPr>
              <a:t> </a:t>
            </a:r>
            <a:r>
              <a:rPr sz="2153" b="1" dirty="0">
                <a:latin typeface="Arial"/>
                <a:cs typeface="Arial"/>
              </a:rPr>
              <a:t>cooperate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lang="fr-FR" sz="2153" spc="36" dirty="0" err="1">
                <a:latin typeface="Arial"/>
                <a:cs typeface="Arial"/>
              </a:rPr>
              <a:t>with</a:t>
            </a:r>
            <a:r>
              <a:rPr lang="fr-FR" sz="2153" spc="36" dirty="0">
                <a:latin typeface="Arial"/>
                <a:cs typeface="Arial"/>
              </a:rPr>
              <a:t> </a:t>
            </a:r>
            <a:r>
              <a:rPr lang="fr-FR" sz="2153" b="1" spc="36" dirty="0" err="1">
                <a:latin typeface="Arial"/>
                <a:cs typeface="Arial"/>
              </a:rPr>
              <a:t>genetically</a:t>
            </a:r>
            <a:r>
              <a:rPr lang="fr-FR" sz="2153" b="1" spc="36" dirty="0">
                <a:latin typeface="Arial"/>
                <a:cs typeface="Arial"/>
              </a:rPr>
              <a:t> </a:t>
            </a:r>
            <a:r>
              <a:rPr lang="fr-FR" sz="2153" b="1" spc="36" dirty="0" err="1">
                <a:latin typeface="Arial"/>
                <a:cs typeface="Arial"/>
              </a:rPr>
              <a:t>related</a:t>
            </a:r>
            <a:r>
              <a:rPr lang="fr-FR" sz="2153" b="1" spc="36" dirty="0">
                <a:latin typeface="Arial"/>
                <a:cs typeface="Arial"/>
              </a:rPr>
              <a:t> </a:t>
            </a:r>
            <a:r>
              <a:rPr lang="fr-FR" sz="2153" spc="36" dirty="0">
                <a:latin typeface="Arial"/>
                <a:cs typeface="Arial"/>
              </a:rPr>
              <a:t>people; </a:t>
            </a:r>
            <a:r>
              <a:rPr sz="2153" spc="-3" dirty="0">
                <a:latin typeface="Microsoft Sans Serif"/>
                <a:cs typeface="Microsoft Sans Serif"/>
              </a:rPr>
              <a:t>when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9" dirty="0">
                <a:latin typeface="Microsoft Sans Serif"/>
                <a:cs typeface="Microsoft Sans Serif"/>
              </a:rPr>
              <a:t>probability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58" dirty="0">
                <a:latin typeface="Microsoft Sans Serif"/>
                <a:cs typeface="Microsoft Sans Serif"/>
              </a:rPr>
              <a:t>of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49" dirty="0">
                <a:latin typeface="Microsoft Sans Serif"/>
                <a:cs typeface="Microsoft Sans Serif"/>
              </a:rPr>
              <a:t>being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18" dirty="0">
                <a:latin typeface="Arial"/>
                <a:cs typeface="Arial"/>
              </a:rPr>
              <a:t>reciprocated</a:t>
            </a:r>
            <a:r>
              <a:rPr sz="2153" b="1" spc="-3" dirty="0">
                <a:latin typeface="Arial"/>
                <a:cs typeface="Arial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high </a:t>
            </a:r>
            <a:r>
              <a:rPr sz="2153" spc="-564" dirty="0">
                <a:latin typeface="Microsoft Sans Serif"/>
                <a:cs typeface="Microsoft Sans Serif"/>
              </a:rPr>
              <a:t> </a:t>
            </a:r>
            <a:r>
              <a:rPr sz="2153" spc="24" dirty="0">
                <a:latin typeface="Microsoft Sans Serif"/>
                <a:cs typeface="Microsoft Sans Serif"/>
              </a:rPr>
              <a:t>enough</a:t>
            </a:r>
            <a:r>
              <a:rPr lang="fr-FR" sz="2153" spc="24" dirty="0">
                <a:latin typeface="Microsoft Sans Serif"/>
                <a:cs typeface="Microsoft Sans Serif"/>
              </a:rPr>
              <a:t>;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or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when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b="1" spc="-6" dirty="0">
                <a:latin typeface="Arial"/>
                <a:cs typeface="Arial"/>
              </a:rPr>
              <a:t>reputational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55" dirty="0">
                <a:latin typeface="Arial"/>
                <a:cs typeface="Arial"/>
              </a:rPr>
              <a:t>incentives</a:t>
            </a:r>
            <a:r>
              <a:rPr sz="2153" b="1" spc="-3" dirty="0">
                <a:latin typeface="Arial"/>
                <a:cs typeface="Arial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are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high</a:t>
            </a:r>
            <a:r>
              <a:rPr sz="2153" spc="24" dirty="0">
                <a:latin typeface="Microsoft Sans Serif"/>
                <a:cs typeface="Microsoft Sans Serif"/>
              </a:rPr>
              <a:t> enough.</a:t>
            </a:r>
            <a:endParaRPr sz="2153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7369" y="0"/>
            <a:ext cx="3704203" cy="27433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18230" y="4260219"/>
            <a:ext cx="6047824" cy="361583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sz="2304" dirty="0">
                <a:latin typeface="Arial MT"/>
                <a:cs typeface="Arial MT"/>
              </a:rPr>
              <a:t>Problem:</a:t>
            </a:r>
            <a:r>
              <a:rPr sz="2304" spc="-3" dirty="0">
                <a:latin typeface="Arial MT"/>
                <a:cs typeface="Arial MT"/>
              </a:rPr>
              <a:t> these</a:t>
            </a:r>
            <a:r>
              <a:rPr sz="2304" dirty="0">
                <a:latin typeface="Arial MT"/>
                <a:cs typeface="Arial MT"/>
              </a:rPr>
              <a:t> </a:t>
            </a:r>
            <a:r>
              <a:rPr sz="2304" spc="30" dirty="0">
                <a:latin typeface="Arial MT"/>
                <a:cs typeface="Arial MT"/>
              </a:rPr>
              <a:t>conditions</a:t>
            </a:r>
            <a:r>
              <a:rPr sz="2304" spc="-3" dirty="0">
                <a:latin typeface="Arial MT"/>
                <a:cs typeface="Arial MT"/>
              </a:rPr>
              <a:t> </a:t>
            </a:r>
            <a:r>
              <a:rPr sz="2304" spc="-49" dirty="0">
                <a:latin typeface="Arial MT"/>
                <a:cs typeface="Arial MT"/>
              </a:rPr>
              <a:t>are</a:t>
            </a:r>
            <a:r>
              <a:rPr sz="2304" dirty="0">
                <a:latin typeface="Arial MT"/>
                <a:cs typeface="Arial MT"/>
              </a:rPr>
              <a:t> </a:t>
            </a:r>
            <a:r>
              <a:rPr sz="2304" spc="39" dirty="0">
                <a:latin typeface="Arial MT"/>
                <a:cs typeface="Arial MT"/>
              </a:rPr>
              <a:t>not</a:t>
            </a:r>
            <a:r>
              <a:rPr sz="2304" spc="-3" dirty="0">
                <a:latin typeface="Arial MT"/>
                <a:cs typeface="Arial MT"/>
              </a:rPr>
              <a:t> </a:t>
            </a:r>
            <a:r>
              <a:rPr sz="2304" spc="-6" dirty="0">
                <a:latin typeface="Arial MT"/>
                <a:cs typeface="Arial MT"/>
              </a:rPr>
              <a:t>always</a:t>
            </a:r>
            <a:r>
              <a:rPr sz="2304" dirty="0">
                <a:latin typeface="Arial MT"/>
                <a:cs typeface="Arial MT"/>
              </a:rPr>
              <a:t> </a:t>
            </a:r>
            <a:r>
              <a:rPr sz="2304" spc="18" dirty="0">
                <a:latin typeface="Arial MT"/>
                <a:cs typeface="Arial MT"/>
              </a:rPr>
              <a:t>met.</a:t>
            </a:r>
            <a:endParaRPr sz="2304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19" y="31739"/>
            <a:ext cx="10799521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179" dirty="0"/>
              <a:t>Problem</a:t>
            </a:r>
            <a:r>
              <a:rPr sz="5579" spc="-197" dirty="0"/>
              <a:t> </a:t>
            </a:r>
            <a:r>
              <a:rPr sz="5579" spc="-73" dirty="0"/>
              <a:t>1:</a:t>
            </a:r>
            <a:r>
              <a:rPr sz="5579" spc="-194" dirty="0"/>
              <a:t> </a:t>
            </a:r>
            <a:r>
              <a:rPr sz="5579" spc="-170" dirty="0"/>
              <a:t>Non-excludable</a:t>
            </a:r>
            <a:r>
              <a:rPr sz="5579" spc="-197" dirty="0"/>
              <a:t> </a:t>
            </a:r>
            <a:r>
              <a:rPr sz="5579" spc="-224" dirty="0"/>
              <a:t>goods</a:t>
            </a:r>
            <a:endParaRPr sz="5579"/>
          </a:p>
        </p:txBody>
      </p:sp>
      <p:sp>
        <p:nvSpPr>
          <p:cNvPr id="3" name="object 3"/>
          <p:cNvSpPr txBox="1"/>
          <p:nvPr/>
        </p:nvSpPr>
        <p:spPr>
          <a:xfrm>
            <a:off x="18125" y="1862184"/>
            <a:ext cx="11088704" cy="581754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People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cooperate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to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produce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"</a:t>
            </a:r>
            <a:r>
              <a:rPr sz="1850" b="1" spc="-3" dirty="0">
                <a:latin typeface="Arial"/>
                <a:cs typeface="Arial"/>
              </a:rPr>
              <a:t>goods</a:t>
            </a:r>
            <a:r>
              <a:rPr sz="1850" spc="-3" dirty="0">
                <a:latin typeface="Arial MT"/>
                <a:cs typeface="Arial MT"/>
              </a:rPr>
              <a:t>"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(in</a:t>
            </a:r>
            <a:r>
              <a:rPr sz="1850" spc="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very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broad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sense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of: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lang="fr-FR" sz="1850" spc="-3" dirty="0" err="1">
                <a:latin typeface="Arial MT"/>
                <a:cs typeface="Arial MT"/>
              </a:rPr>
              <a:t>anything</a:t>
            </a:r>
            <a:r>
              <a:rPr lang="fr-FR" sz="1850" spc="-3" dirty="0">
                <a:latin typeface="Arial MT"/>
                <a:cs typeface="Arial MT"/>
              </a:rPr>
              <a:t> </a:t>
            </a:r>
            <a:r>
              <a:rPr lang="fr-FR" sz="1850" spc="-3" dirty="0" err="1">
                <a:latin typeface="Arial MT"/>
                <a:cs typeface="Arial MT"/>
              </a:rPr>
              <a:t>that</a:t>
            </a:r>
            <a:r>
              <a:rPr lang="fr-FR" sz="1850" spc="-3" dirty="0">
                <a:latin typeface="Arial MT"/>
                <a:cs typeface="Arial MT"/>
              </a:rPr>
              <a:t> can </a:t>
            </a:r>
            <a:r>
              <a:rPr lang="fr-FR" sz="1850" spc="-3" dirty="0" err="1">
                <a:latin typeface="Arial MT"/>
                <a:cs typeface="Arial MT"/>
              </a:rPr>
              <a:t>be</a:t>
            </a:r>
            <a:r>
              <a:rPr lang="fr-FR" sz="1850" spc="-3" dirty="0">
                <a:latin typeface="Arial MT"/>
                <a:cs typeface="Arial MT"/>
              </a:rPr>
              <a:t> </a:t>
            </a:r>
            <a:r>
              <a:rPr lang="fr-FR" sz="1850" spc="-3" dirty="0" err="1">
                <a:latin typeface="Arial MT"/>
                <a:cs typeface="Arial MT"/>
              </a:rPr>
              <a:t>consumed</a:t>
            </a:r>
            <a:r>
              <a:rPr lang="fr-FR" sz="1850" spc="-3" dirty="0">
                <a:latin typeface="Arial MT"/>
                <a:cs typeface="Arial MT"/>
              </a:rPr>
              <a:t> for </a:t>
            </a:r>
            <a:r>
              <a:rPr lang="fr-FR" sz="1850" spc="-3" dirty="0" err="1">
                <a:latin typeface="Arial MT"/>
                <a:cs typeface="Arial MT"/>
              </a:rPr>
              <a:t>one’s</a:t>
            </a:r>
            <a:r>
              <a:rPr lang="fr-FR" sz="1850" spc="-3" dirty="0">
                <a:latin typeface="Arial MT"/>
                <a:cs typeface="Arial MT"/>
              </a:rPr>
              <a:t> satisfaction</a:t>
            </a:r>
            <a:r>
              <a:rPr sz="1850" dirty="0">
                <a:latin typeface="Arial MT"/>
                <a:cs typeface="Arial MT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24" y="3132094"/>
            <a:ext cx="11079078" cy="581754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Some goods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are </a:t>
            </a:r>
            <a:r>
              <a:rPr sz="1850" spc="-3" dirty="0">
                <a:latin typeface="Arial MT"/>
                <a:cs typeface="Arial MT"/>
              </a:rPr>
              <a:t>particularly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prone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to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cooperation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problems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because </a:t>
            </a:r>
            <a:r>
              <a:rPr sz="1850" spc="-3" dirty="0">
                <a:latin typeface="Arial MT"/>
                <a:cs typeface="Arial MT"/>
              </a:rPr>
              <a:t>temptation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to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cheat is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very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high</a:t>
            </a:r>
            <a:r>
              <a:rPr sz="1850" spc="-9" dirty="0">
                <a:latin typeface="Arial MT"/>
                <a:cs typeface="Arial MT"/>
              </a:rPr>
              <a:t> </a:t>
            </a:r>
            <a:r>
              <a:rPr sz="1850" i="1" spc="-3" dirty="0">
                <a:latin typeface="Arial"/>
                <a:cs typeface="Arial"/>
              </a:rPr>
              <a:t>and </a:t>
            </a:r>
            <a:r>
              <a:rPr sz="1850" i="1" spc="-503" dirty="0">
                <a:latin typeface="Arial"/>
                <a:cs typeface="Arial"/>
              </a:rPr>
              <a:t> </a:t>
            </a:r>
            <a:r>
              <a:rPr sz="1850" i="1" spc="-3" dirty="0">
                <a:latin typeface="Arial"/>
                <a:cs typeface="Arial"/>
              </a:rPr>
              <a:t>reciprocity/reputation </a:t>
            </a:r>
            <a:r>
              <a:rPr sz="1850" dirty="0">
                <a:latin typeface="Arial MT"/>
                <a:cs typeface="Arial MT"/>
              </a:rPr>
              <a:t>cannot </a:t>
            </a:r>
            <a:r>
              <a:rPr sz="1850" spc="-3" dirty="0">
                <a:latin typeface="Arial MT"/>
                <a:cs typeface="Arial MT"/>
              </a:rPr>
              <a:t>function</a:t>
            </a:r>
            <a:r>
              <a:rPr sz="1850" dirty="0">
                <a:latin typeface="Arial MT"/>
                <a:cs typeface="Arial MT"/>
              </a:rPr>
              <a:t> well.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2F19335-93A9-B851-A282-3C003A29599A}"/>
              </a:ext>
            </a:extLst>
          </p:cNvPr>
          <p:cNvSpPr txBox="1"/>
          <p:nvPr/>
        </p:nvSpPr>
        <p:spPr>
          <a:xfrm>
            <a:off x="1567641" y="5000064"/>
            <a:ext cx="4105944" cy="863883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Excludable good = you can exclude 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people</a:t>
            </a:r>
            <a:r>
              <a:rPr sz="1850" spc="-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who</a:t>
            </a:r>
            <a:r>
              <a:rPr sz="1850" spc="-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have</a:t>
            </a:r>
            <a:r>
              <a:rPr sz="1850" spc="-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not</a:t>
            </a:r>
            <a:r>
              <a:rPr sz="1850" spc="-6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contributed from </a:t>
            </a:r>
            <a:r>
              <a:rPr sz="1850" spc="-50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consuming</a:t>
            </a:r>
            <a:r>
              <a:rPr sz="1850" spc="-3" dirty="0">
                <a:latin typeface="Arial MT"/>
                <a:cs typeface="Arial MT"/>
              </a:rPr>
              <a:t> the </a:t>
            </a:r>
            <a:r>
              <a:rPr sz="1850" dirty="0">
                <a:latin typeface="Arial MT"/>
                <a:cs typeface="Arial MT"/>
              </a:rPr>
              <a:t>good.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8DE0E16-F38E-90D0-9DF0-BEE9BA628F8B}"/>
              </a:ext>
            </a:extLst>
          </p:cNvPr>
          <p:cNvSpPr txBox="1"/>
          <p:nvPr/>
        </p:nvSpPr>
        <p:spPr>
          <a:xfrm>
            <a:off x="6419454" y="5000064"/>
            <a:ext cx="3831392" cy="863883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Rival good = </a:t>
            </a:r>
            <a:r>
              <a:rPr sz="1850" spc="-3" dirty="0">
                <a:latin typeface="Arial MT"/>
                <a:cs typeface="Arial MT"/>
              </a:rPr>
              <a:t>consumption </a:t>
            </a:r>
            <a:r>
              <a:rPr sz="1850" dirty="0">
                <a:latin typeface="Arial MT"/>
                <a:cs typeface="Arial MT"/>
              </a:rPr>
              <a:t>by one 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individual </a:t>
            </a:r>
            <a:r>
              <a:rPr sz="1850" spc="-3" dirty="0">
                <a:latin typeface="Arial MT"/>
                <a:cs typeface="Arial MT"/>
              </a:rPr>
              <a:t>prevents consumption </a:t>
            </a:r>
            <a:r>
              <a:rPr sz="1850" dirty="0">
                <a:latin typeface="Arial MT"/>
                <a:cs typeface="Arial MT"/>
              </a:rPr>
              <a:t>by </a:t>
            </a:r>
            <a:r>
              <a:rPr sz="1850" spc="-506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another </a:t>
            </a:r>
            <a:r>
              <a:rPr sz="1850" dirty="0">
                <a:latin typeface="Arial MT"/>
                <a:cs typeface="Arial MT"/>
              </a:rPr>
              <a:t>individual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239" y="3799047"/>
            <a:ext cx="4528359" cy="1146011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Example of a </a:t>
            </a:r>
            <a:r>
              <a:rPr sz="1850" b="1" dirty="0">
                <a:latin typeface="Arial"/>
                <a:cs typeface="Arial"/>
              </a:rPr>
              <a:t>rival </a:t>
            </a:r>
            <a:r>
              <a:rPr sz="1850" dirty="0">
                <a:latin typeface="Arial MT"/>
                <a:cs typeface="Arial MT"/>
              </a:rPr>
              <a:t>goo</a:t>
            </a:r>
            <a:r>
              <a:rPr lang="fr-FR" sz="1850" dirty="0">
                <a:latin typeface="Arial MT"/>
                <a:cs typeface="Arial MT"/>
              </a:rPr>
              <a:t>d: </a:t>
            </a:r>
            <a:r>
              <a:rPr sz="1850" dirty="0">
                <a:latin typeface="Arial MT"/>
                <a:cs typeface="Arial MT"/>
              </a:rPr>
              <a:t>apples. </a:t>
            </a:r>
            <a:r>
              <a:rPr sz="1850" spc="-3" dirty="0">
                <a:latin typeface="Arial MT"/>
                <a:cs typeface="Arial MT"/>
              </a:rPr>
              <a:t>When </a:t>
            </a:r>
            <a:r>
              <a:rPr sz="1850" dirty="0">
                <a:latin typeface="Arial MT"/>
                <a:cs typeface="Arial MT"/>
              </a:rPr>
              <a:t>someone buys an apple </a:t>
            </a:r>
            <a:r>
              <a:rPr sz="1850" spc="-3" dirty="0">
                <a:latin typeface="Arial MT"/>
                <a:cs typeface="Arial MT"/>
              </a:rPr>
              <a:t>from </a:t>
            </a:r>
            <a:r>
              <a:rPr sz="1850" dirty="0">
                <a:latin typeface="Arial MT"/>
                <a:cs typeface="Arial MT"/>
              </a:rPr>
              <a:t>me and </a:t>
            </a:r>
            <a:r>
              <a:rPr sz="1850" spc="-50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consumes</a:t>
            </a:r>
            <a:r>
              <a:rPr sz="1850" spc="-3" dirty="0">
                <a:latin typeface="Arial MT"/>
                <a:cs typeface="Arial MT"/>
              </a:rPr>
              <a:t> it,</a:t>
            </a:r>
            <a:r>
              <a:rPr sz="1850" dirty="0">
                <a:latin typeface="Arial MT"/>
                <a:cs typeface="Arial MT"/>
              </a:rPr>
              <a:t> it cannot be</a:t>
            </a:r>
            <a:r>
              <a:rPr sz="1850" spc="-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consumed by someone else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95" y="919746"/>
            <a:ext cx="3486587" cy="259070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A2B87CC-025F-EAEA-DAD8-81508C3AEA04}"/>
              </a:ext>
            </a:extLst>
          </p:cNvPr>
          <p:cNvSpPr txBox="1"/>
          <p:nvPr/>
        </p:nvSpPr>
        <p:spPr>
          <a:xfrm>
            <a:off x="7851894" y="3798662"/>
            <a:ext cx="3404741" cy="1146011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Example of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 </a:t>
            </a:r>
            <a:r>
              <a:rPr sz="1850" b="1" spc="-3" dirty="0">
                <a:latin typeface="Arial"/>
                <a:cs typeface="Arial"/>
              </a:rPr>
              <a:t>non-rival</a:t>
            </a:r>
            <a:r>
              <a:rPr sz="1850" b="1" dirty="0">
                <a:latin typeface="Arial"/>
                <a:cs typeface="Arial"/>
              </a:rPr>
              <a:t> </a:t>
            </a:r>
            <a:r>
              <a:rPr sz="1850" dirty="0">
                <a:latin typeface="Arial MT"/>
                <a:cs typeface="Arial MT"/>
              </a:rPr>
              <a:t>good: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lang="fr-FR" sz="1850" spc="-3" dirty="0">
                <a:latin typeface="Arial MT"/>
                <a:cs typeface="Arial MT"/>
              </a:rPr>
              <a:t>TV shows</a:t>
            </a:r>
            <a:r>
              <a:rPr lang="fr-FR" sz="1850" spc="-21" dirty="0">
                <a:latin typeface="Arial MT"/>
                <a:cs typeface="Arial MT"/>
              </a:rPr>
              <a:t> (</a:t>
            </a:r>
            <a:r>
              <a:rPr lang="fr-FR" sz="1850" spc="-21" dirty="0" err="1">
                <a:latin typeface="Arial MT"/>
                <a:cs typeface="Arial MT"/>
              </a:rPr>
              <a:t>it’s</a:t>
            </a:r>
            <a:r>
              <a:rPr lang="fr-FR" sz="1850" spc="-21" dirty="0">
                <a:latin typeface="Arial MT"/>
                <a:cs typeface="Arial MT"/>
              </a:rPr>
              <a:t> the </a:t>
            </a:r>
            <a:r>
              <a:rPr lang="fr-FR" sz="1850" spc="-21" dirty="0" err="1">
                <a:latin typeface="Arial MT"/>
                <a:cs typeface="Arial MT"/>
              </a:rPr>
              <a:t>same</a:t>
            </a:r>
            <a:r>
              <a:rPr lang="fr-FR" sz="1850" spc="-21" dirty="0">
                <a:latin typeface="Arial MT"/>
                <a:cs typeface="Arial MT"/>
              </a:rPr>
              <a:t> show if 1 </a:t>
            </a:r>
            <a:r>
              <a:rPr lang="fr-FR" sz="1850" spc="-21" dirty="0" err="1">
                <a:latin typeface="Arial MT"/>
                <a:cs typeface="Arial MT"/>
              </a:rPr>
              <a:t>person</a:t>
            </a:r>
            <a:r>
              <a:rPr lang="fr-FR" sz="1850" spc="-21" dirty="0">
                <a:latin typeface="Arial MT"/>
                <a:cs typeface="Arial MT"/>
              </a:rPr>
              <a:t> or 10000 people </a:t>
            </a:r>
            <a:r>
              <a:rPr lang="fr-FR" sz="1850" spc="-21" dirty="0" err="1">
                <a:latin typeface="Arial MT"/>
                <a:cs typeface="Arial MT"/>
              </a:rPr>
              <a:t>watch</a:t>
            </a:r>
            <a:r>
              <a:rPr lang="fr-FR" sz="1850" spc="-21" dirty="0">
                <a:latin typeface="Arial MT"/>
                <a:cs typeface="Arial MT"/>
              </a:rPr>
              <a:t> </a:t>
            </a:r>
            <a:r>
              <a:rPr lang="fr-FR" sz="1850" spc="-21" dirty="0" err="1">
                <a:latin typeface="Arial MT"/>
                <a:cs typeface="Arial MT"/>
              </a:rPr>
              <a:t>it</a:t>
            </a:r>
            <a:r>
              <a:rPr lang="fr-FR" sz="1850" spc="-21" dirty="0">
                <a:latin typeface="Arial MT"/>
                <a:cs typeface="Arial MT"/>
              </a:rPr>
              <a:t>)</a:t>
            </a:r>
            <a:endParaRPr sz="1850" dirty="0">
              <a:latin typeface="Arial MT"/>
              <a:cs typeface="Arial MT"/>
            </a:endParaRPr>
          </a:p>
        </p:txBody>
      </p:sp>
      <p:pic>
        <p:nvPicPr>
          <p:cNvPr id="5" name="Picture 2" descr="Television, capturing America's attention at prime time and beyond : Beyond  the Numbers: U.S. Bureau of Labor Statistics">
            <a:extLst>
              <a:ext uri="{FF2B5EF4-FFF2-40B4-BE49-F238E27FC236}">
                <a16:creationId xmlns:a16="http://schemas.microsoft.com/office/drawing/2014/main" id="{77831815-51EF-508A-83D1-1B48149D3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895" y="933782"/>
            <a:ext cx="3329171" cy="25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20E2553-8DDF-58DA-8617-AA6F56B74D4D}"/>
              </a:ext>
            </a:extLst>
          </p:cNvPr>
          <p:cNvCxnSpPr>
            <a:cxnSpLocks/>
          </p:cNvCxnSpPr>
          <p:nvPr/>
        </p:nvCxnSpPr>
        <p:spPr>
          <a:xfrm>
            <a:off x="1105563" y="6016634"/>
            <a:ext cx="97036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9ACFFB89-6451-0F47-4242-BA8D90F76D54}"/>
              </a:ext>
            </a:extLst>
          </p:cNvPr>
          <p:cNvSpPr txBox="1"/>
          <p:nvPr/>
        </p:nvSpPr>
        <p:spPr>
          <a:xfrm>
            <a:off x="504863" y="6201465"/>
            <a:ext cx="714234" cy="39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40" b="1" dirty="0">
                <a:latin typeface="Garamond" panose="02020404030301010803" pitchFamily="18" charset="0"/>
              </a:rPr>
              <a:t>Rival</a:t>
            </a:r>
            <a:endParaRPr lang="fr-FR" sz="1092" b="1" dirty="0">
              <a:latin typeface="Garamond" panose="020204040303010108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530146-36FE-7D7E-CA07-848EDF98A18F}"/>
              </a:ext>
            </a:extLst>
          </p:cNvPr>
          <p:cNvSpPr txBox="1"/>
          <p:nvPr/>
        </p:nvSpPr>
        <p:spPr>
          <a:xfrm>
            <a:off x="9910538" y="6201464"/>
            <a:ext cx="1187120" cy="39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40" b="1" dirty="0">
                <a:latin typeface="Garamond" panose="02020404030301010803" pitchFamily="18" charset="0"/>
              </a:rPr>
              <a:t>Non-rival</a:t>
            </a:r>
            <a:endParaRPr lang="fr-FR" sz="1092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7287" y="3938639"/>
            <a:ext cx="4297321" cy="1146011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Example of an </a:t>
            </a:r>
            <a:r>
              <a:rPr sz="1850" b="1" dirty="0">
                <a:latin typeface="Arial"/>
                <a:cs typeface="Arial"/>
              </a:rPr>
              <a:t>excludable </a:t>
            </a:r>
            <a:r>
              <a:rPr sz="1850" dirty="0">
                <a:latin typeface="Arial MT"/>
                <a:cs typeface="Arial MT"/>
              </a:rPr>
              <a:t>good: </a:t>
            </a:r>
            <a:r>
              <a:rPr lang="fr-FR" sz="1850" b="1" spc="-3" dirty="0">
                <a:latin typeface="Arial MT"/>
                <a:cs typeface="Arial MT"/>
              </a:rPr>
              <a:t>cars</a:t>
            </a:r>
            <a:r>
              <a:rPr sz="1850" dirty="0">
                <a:latin typeface="Arial MT"/>
                <a:cs typeface="Arial MT"/>
              </a:rPr>
              <a:t>. </a:t>
            </a:r>
            <a:r>
              <a:rPr sz="1850" spc="-3" dirty="0">
                <a:latin typeface="Arial MT"/>
                <a:cs typeface="Arial MT"/>
              </a:rPr>
              <a:t>Only those </a:t>
            </a:r>
            <a:r>
              <a:rPr sz="1850" dirty="0">
                <a:latin typeface="Arial MT"/>
                <a:cs typeface="Arial MT"/>
              </a:rPr>
              <a:t>who have paid </a:t>
            </a:r>
            <a:r>
              <a:rPr sz="1850" spc="-3" dirty="0">
                <a:latin typeface="Arial MT"/>
                <a:cs typeface="Arial MT"/>
              </a:rPr>
              <a:t>for </a:t>
            </a:r>
            <a:r>
              <a:rPr sz="1850" dirty="0">
                <a:latin typeface="Arial MT"/>
                <a:cs typeface="Arial MT"/>
              </a:rPr>
              <a:t>it can </a:t>
            </a:r>
            <a:r>
              <a:rPr sz="1850" spc="-506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use </a:t>
            </a:r>
            <a:r>
              <a:rPr sz="1850" spc="-3" dirty="0">
                <a:latin typeface="Arial MT"/>
                <a:cs typeface="Arial MT"/>
              </a:rPr>
              <a:t>it.</a:t>
            </a:r>
            <a:r>
              <a:rPr sz="1850" dirty="0">
                <a:latin typeface="Arial MT"/>
                <a:cs typeface="Arial MT"/>
              </a:rPr>
              <a:t> I can</a:t>
            </a:r>
            <a:r>
              <a:rPr sz="1850" spc="-3" dirty="0">
                <a:latin typeface="Arial MT"/>
                <a:cs typeface="Arial MT"/>
              </a:rPr>
              <a:t> </a:t>
            </a:r>
            <a:r>
              <a:rPr sz="1850" i="1" dirty="0">
                <a:latin typeface="Arial"/>
                <a:cs typeface="Arial"/>
              </a:rPr>
              <a:t>exclude</a:t>
            </a:r>
            <a:r>
              <a:rPr sz="1850" i="1" spc="-3" dirty="0">
                <a:latin typeface="Arial"/>
                <a:cs typeface="Arial"/>
              </a:rPr>
              <a:t> </a:t>
            </a:r>
            <a:r>
              <a:rPr sz="1850" dirty="0">
                <a:latin typeface="Arial MT"/>
                <a:cs typeface="Arial MT"/>
              </a:rPr>
              <a:t>people who </a:t>
            </a:r>
            <a:r>
              <a:rPr sz="1850" spc="-3" dirty="0">
                <a:latin typeface="Arial MT"/>
                <a:cs typeface="Arial MT"/>
              </a:rPr>
              <a:t>haven't</a:t>
            </a:r>
            <a:r>
              <a:rPr sz="1850" dirty="0">
                <a:latin typeface="Arial MT"/>
                <a:cs typeface="Arial MT"/>
              </a:rPr>
              <a:t> paid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for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the</a:t>
            </a:r>
            <a:r>
              <a:rPr sz="1850" dirty="0">
                <a:latin typeface="Arial MT"/>
                <a:cs typeface="Arial MT"/>
              </a:rPr>
              <a:t> good </a:t>
            </a:r>
            <a:r>
              <a:rPr sz="1850" spc="-3" dirty="0">
                <a:latin typeface="Arial MT"/>
                <a:cs typeface="Arial MT"/>
              </a:rPr>
              <a:t>from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consumption.</a:t>
            </a:r>
            <a:endParaRPr sz="18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16" y="979989"/>
            <a:ext cx="4384854" cy="2264180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1A5C94B7-0623-5531-D7D1-5E84F8C027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0165" y="524971"/>
            <a:ext cx="3996646" cy="2864475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F2D60A63-FBAD-B2AC-AB5B-F65F9B84E34F}"/>
              </a:ext>
            </a:extLst>
          </p:cNvPr>
          <p:cNvSpPr txBox="1"/>
          <p:nvPr/>
        </p:nvSpPr>
        <p:spPr>
          <a:xfrm>
            <a:off x="6881532" y="3798662"/>
            <a:ext cx="4713911" cy="1428140"/>
          </a:xfrm>
          <a:prstGeom prst="rect">
            <a:avLst/>
          </a:prstGeom>
        </p:spPr>
        <p:txBody>
          <a:bodyPr vert="horz" wrap="square" lIns="0" tIns="17328" rIns="0" bIns="0" rtlCol="0">
            <a:spAutoFit/>
          </a:bodyPr>
          <a:lstStyle/>
          <a:p>
            <a:pPr marL="166348" marR="3081" indent="-159031">
              <a:lnSpc>
                <a:spcPts val="2201"/>
              </a:lnSpc>
              <a:spcBef>
                <a:spcPts val="136"/>
              </a:spcBef>
              <a:buSzPct val="122950"/>
              <a:buChar char="•"/>
              <a:tabLst>
                <a:tab pos="166733" algn="l"/>
              </a:tabLst>
            </a:pPr>
            <a:r>
              <a:rPr sz="1850" dirty="0">
                <a:latin typeface="Arial MT"/>
                <a:cs typeface="Arial MT"/>
              </a:rPr>
              <a:t>Example of a</a:t>
            </a:r>
            <a:r>
              <a:rPr sz="1850" spc="-3" dirty="0">
                <a:latin typeface="Arial MT"/>
                <a:cs typeface="Arial MT"/>
              </a:rPr>
              <a:t> </a:t>
            </a:r>
            <a:r>
              <a:rPr sz="1850" b="1" spc="-3" dirty="0">
                <a:latin typeface="Arial"/>
                <a:cs typeface="Arial"/>
              </a:rPr>
              <a:t>non-excludable</a:t>
            </a:r>
            <a:r>
              <a:rPr sz="1850" b="1" dirty="0">
                <a:latin typeface="Arial"/>
                <a:cs typeface="Arial"/>
              </a:rPr>
              <a:t> </a:t>
            </a:r>
            <a:r>
              <a:rPr sz="1850" dirty="0">
                <a:latin typeface="Arial MT"/>
                <a:cs typeface="Arial MT"/>
              </a:rPr>
              <a:t>good: a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clean </a:t>
            </a:r>
            <a:r>
              <a:rPr sz="1850" spc="-3" dirty="0">
                <a:latin typeface="Arial MT"/>
                <a:cs typeface="Arial MT"/>
              </a:rPr>
              <a:t>street.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When</a:t>
            </a:r>
            <a:r>
              <a:rPr sz="1850" dirty="0">
                <a:latin typeface="Arial MT"/>
                <a:cs typeface="Arial MT"/>
              </a:rPr>
              <a:t> people do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the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6" dirty="0">
                <a:latin typeface="Arial MT"/>
                <a:cs typeface="Arial MT"/>
              </a:rPr>
              <a:t>effort</a:t>
            </a:r>
            <a:r>
              <a:rPr sz="1850" spc="-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 not </a:t>
            </a:r>
            <a:r>
              <a:rPr sz="1850" spc="-3" dirty="0">
                <a:latin typeface="Arial MT"/>
                <a:cs typeface="Arial MT"/>
              </a:rPr>
              <a:t>throwing</a:t>
            </a:r>
            <a:r>
              <a:rPr sz="1850" dirty="0">
                <a:latin typeface="Arial MT"/>
                <a:cs typeface="Arial MT"/>
              </a:rPr>
              <a:t> garbage </a:t>
            </a:r>
            <a:r>
              <a:rPr sz="1850" spc="-503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on </a:t>
            </a:r>
            <a:r>
              <a:rPr sz="1850" spc="-3" dirty="0">
                <a:latin typeface="Arial MT"/>
                <a:cs typeface="Arial MT"/>
              </a:rPr>
              <a:t>the</a:t>
            </a:r>
            <a:r>
              <a:rPr sz="1850" dirty="0">
                <a:latin typeface="Arial MT"/>
                <a:cs typeface="Arial MT"/>
              </a:rPr>
              <a:t> ground, </a:t>
            </a:r>
            <a:r>
              <a:rPr sz="1850" spc="-3" dirty="0">
                <a:latin typeface="Arial MT"/>
                <a:cs typeface="Arial MT"/>
              </a:rPr>
              <a:t>those</a:t>
            </a:r>
            <a:r>
              <a:rPr sz="1850" dirty="0">
                <a:latin typeface="Arial MT"/>
                <a:cs typeface="Arial MT"/>
              </a:rPr>
              <a:t> who </a:t>
            </a:r>
            <a:r>
              <a:rPr sz="1850" spc="-3" dirty="0">
                <a:latin typeface="Arial MT"/>
                <a:cs typeface="Arial MT"/>
              </a:rPr>
              <a:t>don't</a:t>
            </a:r>
            <a:r>
              <a:rPr sz="1850" dirty="0">
                <a:latin typeface="Arial MT"/>
                <a:cs typeface="Arial MT"/>
              </a:rPr>
              <a:t> will </a:t>
            </a:r>
            <a:r>
              <a:rPr sz="1850" spc="-3" dirty="0">
                <a:latin typeface="Arial MT"/>
                <a:cs typeface="Arial MT"/>
              </a:rPr>
              <a:t>still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benefit</a:t>
            </a:r>
            <a:r>
              <a:rPr sz="1850" spc="3" dirty="0">
                <a:latin typeface="Arial MT"/>
                <a:cs typeface="Arial MT"/>
              </a:rPr>
              <a:t> </a:t>
            </a:r>
            <a:r>
              <a:rPr sz="1850" spc="-3" dirty="0">
                <a:latin typeface="Arial MT"/>
                <a:cs typeface="Arial MT"/>
              </a:rPr>
              <a:t>from</a:t>
            </a:r>
            <a:r>
              <a:rPr sz="1850" dirty="0">
                <a:latin typeface="Arial MT"/>
                <a:cs typeface="Arial MT"/>
              </a:rPr>
              <a:t> a clean </a:t>
            </a:r>
            <a:r>
              <a:rPr sz="1850" spc="-3" dirty="0">
                <a:latin typeface="Arial MT"/>
                <a:cs typeface="Arial MT"/>
              </a:rPr>
              <a:t>street.</a:t>
            </a:r>
            <a:endParaRPr sz="1850" dirty="0">
              <a:latin typeface="Arial MT"/>
              <a:cs typeface="Arial MT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C8A0F69-69C6-6678-2382-BA50D9A6B0AA}"/>
              </a:ext>
            </a:extLst>
          </p:cNvPr>
          <p:cNvCxnSpPr>
            <a:cxnSpLocks/>
          </p:cNvCxnSpPr>
          <p:nvPr/>
        </p:nvCxnSpPr>
        <p:spPr>
          <a:xfrm>
            <a:off x="1105563" y="6016634"/>
            <a:ext cx="97036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EE10032C-1DE7-E5DE-C19A-842866C24ACE}"/>
              </a:ext>
            </a:extLst>
          </p:cNvPr>
          <p:cNvSpPr txBox="1"/>
          <p:nvPr/>
        </p:nvSpPr>
        <p:spPr>
          <a:xfrm>
            <a:off x="504863" y="6201465"/>
            <a:ext cx="1371529" cy="39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40" b="1" dirty="0" err="1">
                <a:latin typeface="Garamond" panose="02020404030301010803" pitchFamily="18" charset="0"/>
              </a:rPr>
              <a:t>Excludable</a:t>
            </a:r>
            <a:endParaRPr lang="fr-FR" sz="1092" b="1" dirty="0">
              <a:latin typeface="Garamond" panose="02020404030301010803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10293D-8B6C-36A0-B952-ACE5CCD42355}"/>
              </a:ext>
            </a:extLst>
          </p:cNvPr>
          <p:cNvSpPr txBox="1"/>
          <p:nvPr/>
        </p:nvSpPr>
        <p:spPr>
          <a:xfrm>
            <a:off x="9910538" y="6201464"/>
            <a:ext cx="1873270" cy="39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40" b="1" dirty="0">
                <a:latin typeface="Garamond" panose="02020404030301010803" pitchFamily="18" charset="0"/>
              </a:rPr>
              <a:t>Non-</a:t>
            </a:r>
            <a:r>
              <a:rPr lang="fr-FR" sz="1940" b="1" dirty="0" err="1">
                <a:latin typeface="Garamond" panose="02020404030301010803" pitchFamily="18" charset="0"/>
              </a:rPr>
              <a:t>excludable</a:t>
            </a:r>
            <a:endParaRPr lang="fr-FR" sz="1092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house | Definition, History, Equipment, &amp; Facts | Britannica">
            <a:extLst>
              <a:ext uri="{FF2B5EF4-FFF2-40B4-BE49-F238E27FC236}">
                <a16:creationId xmlns:a16="http://schemas.microsoft.com/office/drawing/2014/main" id="{D2B6C168-6688-A656-65FD-18429DCE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723" y="1277716"/>
            <a:ext cx="6830552" cy="43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B333339-E59E-B61E-FF79-F2D1D6336D79}"/>
              </a:ext>
            </a:extLst>
          </p:cNvPr>
          <p:cNvSpPr txBox="1"/>
          <p:nvPr/>
        </p:nvSpPr>
        <p:spPr>
          <a:xfrm>
            <a:off x="11169" y="497695"/>
            <a:ext cx="12191144" cy="39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940" b="1" dirty="0">
                <a:latin typeface="Garamond" panose="02020404030301010803" pitchFamily="18" charset="0"/>
              </a:rPr>
              <a:t>Non-</a:t>
            </a:r>
            <a:r>
              <a:rPr lang="fr-FR" sz="1940" b="1" dirty="0" err="1">
                <a:latin typeface="Garamond" panose="02020404030301010803" pitchFamily="18" charset="0"/>
              </a:rPr>
              <a:t>excludable</a:t>
            </a:r>
            <a:r>
              <a:rPr lang="fr-FR" sz="1940" b="1" dirty="0">
                <a:latin typeface="Garamond" panose="02020404030301010803" pitchFamily="18" charset="0"/>
              </a:rPr>
              <a:t> </a:t>
            </a:r>
            <a:r>
              <a:rPr lang="fr-FR" sz="1940" b="1" dirty="0" err="1">
                <a:latin typeface="Garamond" panose="02020404030301010803" pitchFamily="18" charset="0"/>
              </a:rPr>
              <a:t>goods</a:t>
            </a:r>
            <a:r>
              <a:rPr lang="fr-FR" sz="1940" b="1" dirty="0">
                <a:latin typeface="Garamond" panose="02020404030301010803" pitchFamily="18" charset="0"/>
              </a:rPr>
              <a:t> are </a:t>
            </a:r>
            <a:r>
              <a:rPr lang="fr-FR" sz="1940" b="1" dirty="0" err="1">
                <a:latin typeface="Garamond" panose="02020404030301010803" pitchFamily="18" charset="0"/>
              </a:rPr>
              <a:t>often</a:t>
            </a:r>
            <a:r>
              <a:rPr lang="fr-FR" sz="1940" b="1" dirty="0">
                <a:latin typeface="Garamond" panose="02020404030301010803" pitchFamily="18" charset="0"/>
              </a:rPr>
              <a:t> </a:t>
            </a:r>
            <a:r>
              <a:rPr lang="fr-FR" sz="1940" b="1" dirty="0" err="1">
                <a:latin typeface="Garamond" panose="02020404030301010803" pitchFamily="18" charset="0"/>
              </a:rPr>
              <a:t>assumed</a:t>
            </a:r>
            <a:r>
              <a:rPr lang="fr-FR" sz="1940" b="1" dirty="0">
                <a:latin typeface="Garamond" panose="02020404030301010803" pitchFamily="18" charset="0"/>
              </a:rPr>
              <a:t> to </a:t>
            </a:r>
            <a:r>
              <a:rPr lang="fr-FR" sz="1940" b="1" dirty="0" err="1">
                <a:latin typeface="Garamond" panose="02020404030301010803" pitchFamily="18" charset="0"/>
              </a:rPr>
              <a:t>be</a:t>
            </a:r>
            <a:r>
              <a:rPr lang="fr-FR" sz="1940" b="1" dirty="0">
                <a:latin typeface="Garamond" panose="02020404030301010803" pitchFamily="18" charset="0"/>
              </a:rPr>
              <a:t> more </a:t>
            </a:r>
            <a:r>
              <a:rPr lang="fr-FR" sz="1940" b="1" dirty="0" err="1">
                <a:latin typeface="Garamond" panose="02020404030301010803" pitchFamily="18" charset="0"/>
              </a:rPr>
              <a:t>prone</a:t>
            </a:r>
            <a:r>
              <a:rPr lang="fr-FR" sz="1940" b="1" dirty="0">
                <a:latin typeface="Garamond" panose="02020404030301010803" pitchFamily="18" charset="0"/>
              </a:rPr>
              <a:t> to free-riding</a:t>
            </a:r>
            <a:endParaRPr lang="fr-FR" sz="1092" b="1" dirty="0">
              <a:latin typeface="Garamond" panose="02020404030301010803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C160E71-4EEC-E449-A80E-5454FE8B0C47}"/>
              </a:ext>
            </a:extLst>
          </p:cNvPr>
          <p:cNvSpPr txBox="1"/>
          <p:nvPr/>
        </p:nvSpPr>
        <p:spPr>
          <a:xfrm>
            <a:off x="-5855" y="5825544"/>
            <a:ext cx="12191144" cy="39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940" b="1" dirty="0">
                <a:latin typeface="Garamond" panose="02020404030301010803" pitchFamily="18" charset="0"/>
              </a:rPr>
              <a:t>Ex: </a:t>
            </a:r>
            <a:r>
              <a:rPr lang="fr-FR" sz="1940" b="1" dirty="0" err="1">
                <a:latin typeface="Garamond" panose="02020404030301010803" pitchFamily="18" charset="0"/>
              </a:rPr>
              <a:t>lighthouse</a:t>
            </a:r>
            <a:endParaRPr lang="fr-FR" sz="1092" b="1" dirty="0">
              <a:latin typeface="Garamond" panose="02020404030301010803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5E930D-B522-938F-6B18-E4565BB0EDA1}"/>
              </a:ext>
            </a:extLst>
          </p:cNvPr>
          <p:cNvSpPr txBox="1"/>
          <p:nvPr/>
        </p:nvSpPr>
        <p:spPr>
          <a:xfrm>
            <a:off x="11169" y="6417851"/>
            <a:ext cx="6099423" cy="428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But see: Coase, R. H. (1974). The lighthouse in economics. </a:t>
            </a:r>
            <a:r>
              <a:rPr lang="en-US" sz="1092" i="1" dirty="0">
                <a:solidFill>
                  <a:srgbClr val="222222"/>
                </a:solidFill>
                <a:latin typeface="Arial" panose="020B0604020202020204" pitchFamily="34" charset="0"/>
              </a:rPr>
              <a:t>The journal of law and economics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1092" i="1" dirty="0">
                <a:solidFill>
                  <a:srgbClr val="222222"/>
                </a:solidFill>
                <a:latin typeface="Arial" panose="020B0604020202020204" pitchFamily="34" charset="0"/>
              </a:rPr>
              <a:t>17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(2), 357-376.</a:t>
            </a:r>
            <a:endParaRPr lang="en-US" sz="1092" dirty="0"/>
          </a:p>
        </p:txBody>
      </p:sp>
    </p:spTree>
    <p:extLst>
      <p:ext uri="{BB962C8B-B14F-4D97-AF65-F5344CB8AC3E}">
        <p14:creationId xmlns:p14="http://schemas.microsoft.com/office/powerpoint/2010/main" val="1754676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433" y="1857937"/>
            <a:ext cx="7997046" cy="362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8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7D4B07-EC0C-1295-08E4-3F1773196074}"/>
              </a:ext>
            </a:extLst>
          </p:cNvPr>
          <p:cNvSpPr txBox="1">
            <a:spLocks/>
          </p:cNvSpPr>
          <p:nvPr/>
        </p:nvSpPr>
        <p:spPr>
          <a:xfrm>
            <a:off x="208005" y="184116"/>
            <a:ext cx="11848795" cy="869067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82"/>
              </a:spcBef>
            </a:pPr>
            <a:r>
              <a:rPr lang="en-US" sz="5579" kern="0" spc="-248" dirty="0">
                <a:solidFill>
                  <a:sysClr val="windowText" lastClr="000000"/>
                </a:solidFill>
              </a:rPr>
              <a:t>Problem 2: Anonymous cooperation</a:t>
            </a:r>
            <a:endParaRPr lang="en-US" sz="5579" kern="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Times Square : le cœur de New York - Trip Double">
            <a:extLst>
              <a:ext uri="{FF2B5EF4-FFF2-40B4-BE49-F238E27FC236}">
                <a16:creationId xmlns:a16="http://schemas.microsoft.com/office/drawing/2014/main" id="{13929036-5C31-468F-A788-C00D6318C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847" y="1976823"/>
            <a:ext cx="5406307" cy="38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969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84128"/>
            <a:ext cx="6003927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248" dirty="0"/>
              <a:t>Th</a:t>
            </a:r>
            <a:r>
              <a:rPr sz="5579" spc="-88" dirty="0"/>
              <a:t>e</a:t>
            </a:r>
            <a:r>
              <a:rPr sz="5579" spc="-194" dirty="0"/>
              <a:t> </a:t>
            </a:r>
            <a:r>
              <a:rPr sz="5579" spc="-33" dirty="0"/>
              <a:t>p</a:t>
            </a:r>
            <a:r>
              <a:rPr sz="5579" spc="-246" dirty="0"/>
              <a:t>r</a:t>
            </a:r>
            <a:r>
              <a:rPr sz="5579" spc="-143" dirty="0"/>
              <a:t>oble</a:t>
            </a:r>
            <a:r>
              <a:rPr sz="5579" spc="15" dirty="0"/>
              <a:t>m</a:t>
            </a:r>
            <a:r>
              <a:rPr sz="5579" spc="-194" dirty="0"/>
              <a:t> </a:t>
            </a:r>
            <a:r>
              <a:rPr sz="5579" spc="-443" dirty="0"/>
              <a:t>s</a:t>
            </a:r>
            <a:r>
              <a:rPr sz="5579" spc="-321" dirty="0"/>
              <a:t>o</a:t>
            </a:r>
            <a:r>
              <a:rPr sz="5579" spc="-194" dirty="0"/>
              <a:t> </a:t>
            </a:r>
            <a:r>
              <a:rPr sz="5579" spc="-146" dirty="0"/>
              <a:t>far</a:t>
            </a:r>
            <a:endParaRPr sz="557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7369" y="0"/>
            <a:ext cx="3704203" cy="2743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697" y="1182283"/>
            <a:ext cx="10502636" cy="516713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39626" marR="2603803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340012" algn="l"/>
              </a:tabLst>
            </a:pPr>
            <a:r>
              <a:rPr sz="2153" spc="-30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12" dirty="0">
                <a:latin typeface="Microsoft Sans Serif"/>
                <a:cs typeface="Microsoft Sans Serif"/>
              </a:rPr>
              <a:t>human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brain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" dirty="0">
                <a:latin typeface="Microsoft Sans Serif"/>
                <a:cs typeface="Microsoft Sans Serif"/>
              </a:rPr>
              <a:t>naturally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8" dirty="0">
                <a:latin typeface="Microsoft Sans Serif"/>
                <a:cs typeface="Microsoft Sans Serif"/>
              </a:rPr>
              <a:t>calibrated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55" dirty="0">
                <a:latin typeface="Arial"/>
                <a:cs typeface="Arial"/>
              </a:rPr>
              <a:t>spontaneously </a:t>
            </a:r>
            <a:r>
              <a:rPr sz="2153" b="1" spc="-52" dirty="0">
                <a:latin typeface="Arial"/>
                <a:cs typeface="Arial"/>
              </a:rPr>
              <a:t> </a:t>
            </a:r>
            <a:r>
              <a:rPr sz="2153" b="1" dirty="0">
                <a:latin typeface="Arial"/>
                <a:cs typeface="Arial"/>
              </a:rPr>
              <a:t>cooperate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when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9" dirty="0">
                <a:latin typeface="Microsoft Sans Serif"/>
                <a:cs typeface="Microsoft Sans Serif"/>
              </a:rPr>
              <a:t>probability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58" dirty="0">
                <a:latin typeface="Microsoft Sans Serif"/>
                <a:cs typeface="Microsoft Sans Serif"/>
              </a:rPr>
              <a:t>of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49" dirty="0">
                <a:latin typeface="Microsoft Sans Serif"/>
                <a:cs typeface="Microsoft Sans Serif"/>
              </a:rPr>
              <a:t>being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18" dirty="0">
                <a:latin typeface="Arial"/>
                <a:cs typeface="Arial"/>
              </a:rPr>
              <a:t>reciprocated</a:t>
            </a:r>
            <a:r>
              <a:rPr sz="2153" b="1" spc="-3" dirty="0">
                <a:latin typeface="Arial"/>
                <a:cs typeface="Arial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high </a:t>
            </a:r>
            <a:r>
              <a:rPr sz="2153" spc="-564" dirty="0">
                <a:latin typeface="Microsoft Sans Serif"/>
                <a:cs typeface="Microsoft Sans Serif"/>
              </a:rPr>
              <a:t> </a:t>
            </a:r>
            <a:r>
              <a:rPr sz="2153" spc="24" dirty="0">
                <a:latin typeface="Microsoft Sans Serif"/>
                <a:cs typeface="Microsoft Sans Serif"/>
              </a:rPr>
              <a:t>enough, </a:t>
            </a:r>
            <a:r>
              <a:rPr sz="2153" spc="36" dirty="0">
                <a:latin typeface="Microsoft Sans Serif"/>
                <a:cs typeface="Microsoft Sans Serif"/>
              </a:rPr>
              <a:t>or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when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b="1" spc="-6" dirty="0">
                <a:latin typeface="Arial"/>
                <a:cs typeface="Arial"/>
              </a:rPr>
              <a:t>reputational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55" dirty="0">
                <a:latin typeface="Arial"/>
                <a:cs typeface="Arial"/>
              </a:rPr>
              <a:t>incentives</a:t>
            </a:r>
            <a:r>
              <a:rPr sz="2153" b="1" spc="-3" dirty="0">
                <a:latin typeface="Arial"/>
                <a:cs typeface="Arial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are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high</a:t>
            </a:r>
            <a:r>
              <a:rPr sz="2153" spc="24" dirty="0">
                <a:latin typeface="Microsoft Sans Serif"/>
                <a:cs typeface="Microsoft Sans Serif"/>
              </a:rPr>
              <a:t> enough.</a:t>
            </a:r>
            <a:endParaRPr sz="2153" dirty="0">
              <a:latin typeface="Microsoft Sans Serif"/>
              <a:cs typeface="Microsoft Sans Serif"/>
            </a:endParaRPr>
          </a:p>
          <a:p>
            <a:pPr>
              <a:spcBef>
                <a:spcPts val="12"/>
              </a:spcBef>
            </a:pPr>
            <a:endParaRPr sz="3335" dirty="0">
              <a:latin typeface="Microsoft Sans Serif"/>
              <a:cs typeface="Microsoft Sans Serif"/>
            </a:endParaRPr>
          </a:p>
          <a:p>
            <a:pPr marL="293419" indent="-286103">
              <a:buSzPct val="122535"/>
              <a:buChar char="•"/>
              <a:tabLst>
                <a:tab pos="293804" algn="l"/>
              </a:tabLst>
            </a:pPr>
            <a:r>
              <a:rPr sz="2153" spc="-73" dirty="0">
                <a:latin typeface="Microsoft Sans Serif"/>
                <a:cs typeface="Microsoft Sans Serif"/>
              </a:rPr>
              <a:t>Yet,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in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24" dirty="0">
                <a:latin typeface="Microsoft Sans Serif"/>
                <a:cs typeface="Microsoft Sans Serif"/>
              </a:rPr>
              <a:t>many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6" dirty="0">
                <a:latin typeface="Microsoft Sans Serif"/>
                <a:cs typeface="Microsoft Sans Serif"/>
              </a:rPr>
              <a:t>situations,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12" dirty="0">
                <a:latin typeface="Microsoft Sans Serif"/>
                <a:cs typeface="Microsoft Sans Serif"/>
              </a:rPr>
              <a:t>these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21" dirty="0">
                <a:latin typeface="Microsoft Sans Serif"/>
                <a:cs typeface="Microsoft Sans Serif"/>
              </a:rPr>
              <a:t>conditions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are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64" dirty="0">
                <a:latin typeface="Microsoft Sans Serif"/>
                <a:cs typeface="Microsoft Sans Serif"/>
              </a:rPr>
              <a:t>not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9" dirty="0">
                <a:latin typeface="Microsoft Sans Serif"/>
                <a:cs typeface="Microsoft Sans Serif"/>
              </a:rPr>
              <a:t>satisfied,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for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6" dirty="0">
                <a:latin typeface="Microsoft Sans Serif"/>
                <a:cs typeface="Microsoft Sans Serif"/>
              </a:rPr>
              <a:t>example:</a:t>
            </a:r>
            <a:endParaRPr sz="2153" dirty="0">
              <a:latin typeface="Microsoft Sans Serif"/>
              <a:cs typeface="Microsoft Sans Serif"/>
            </a:endParaRPr>
          </a:p>
          <a:p>
            <a:pPr marL="814410" lvl="1" indent="-286103">
              <a:spcBef>
                <a:spcPts val="2044"/>
              </a:spcBef>
              <a:buSzPct val="122535"/>
              <a:buChar char="•"/>
              <a:tabLst>
                <a:tab pos="814795" algn="l"/>
              </a:tabLst>
            </a:pPr>
            <a:r>
              <a:rPr sz="2153" spc="9" dirty="0">
                <a:latin typeface="Microsoft Sans Serif"/>
                <a:cs typeface="Microsoft Sans Serif"/>
              </a:rPr>
              <a:t>in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b="1" spc="-12" dirty="0">
                <a:solidFill>
                  <a:srgbClr val="0076BA"/>
                </a:solidFill>
                <a:latin typeface="Arial"/>
                <a:cs typeface="Arial"/>
              </a:rPr>
              <a:t>large</a:t>
            </a:r>
            <a:r>
              <a:rPr sz="2153" b="1" spc="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153" b="1" spc="-49" dirty="0">
                <a:solidFill>
                  <a:srgbClr val="0076BA"/>
                </a:solidFill>
                <a:latin typeface="Arial"/>
                <a:cs typeface="Arial"/>
              </a:rPr>
              <a:t>groups</a:t>
            </a:r>
            <a:r>
              <a:rPr sz="2153" b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153" spc="58" dirty="0">
                <a:latin typeface="Microsoft Sans Serif"/>
                <a:cs typeface="Microsoft Sans Serif"/>
              </a:rPr>
              <a:t>of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76" dirty="0">
                <a:solidFill>
                  <a:srgbClr val="0076BA"/>
                </a:solidFill>
                <a:latin typeface="Arial"/>
                <a:cs typeface="Arial"/>
              </a:rPr>
              <a:t>anonymous</a:t>
            </a:r>
            <a:r>
              <a:rPr sz="2153" b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153" spc="-21" dirty="0">
                <a:latin typeface="Microsoft Sans Serif"/>
                <a:cs typeface="Microsoft Sans Serif"/>
              </a:rPr>
              <a:t>strangers</a:t>
            </a:r>
            <a:endParaRPr sz="2153" dirty="0">
              <a:latin typeface="Microsoft Sans Serif"/>
              <a:cs typeface="Microsoft Sans Serif"/>
            </a:endParaRPr>
          </a:p>
          <a:p>
            <a:pPr marL="815951" marR="3081" lvl="1" indent="-286103">
              <a:lnSpc>
                <a:spcPct val="114199"/>
              </a:lnSpc>
              <a:spcBef>
                <a:spcPts val="1264"/>
              </a:spcBef>
              <a:buSzPct val="122535"/>
              <a:buChar char="•"/>
              <a:tabLst>
                <a:tab pos="816336" algn="l"/>
              </a:tabLst>
            </a:pPr>
            <a:r>
              <a:rPr sz="2153" spc="-3" dirty="0">
                <a:latin typeface="Microsoft Sans Serif"/>
                <a:cs typeface="Microsoft Sans Serif"/>
              </a:rPr>
              <a:t>when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69" dirty="0">
                <a:latin typeface="Microsoft Sans Serif"/>
                <a:cs typeface="Microsoft Sans Serif"/>
              </a:rPr>
              <a:t>it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18" dirty="0">
                <a:latin typeface="Microsoft Sans Serif"/>
                <a:cs typeface="Microsoft Sans Serif"/>
              </a:rPr>
              <a:t>comes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0" dirty="0">
                <a:latin typeface="Microsoft Sans Serif"/>
                <a:cs typeface="Microsoft Sans Serif"/>
              </a:rPr>
              <a:t>produce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or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18" dirty="0">
                <a:latin typeface="Microsoft Sans Serif"/>
                <a:cs typeface="Microsoft Sans Serif"/>
              </a:rPr>
              <a:t>preserve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33" dirty="0">
                <a:latin typeface="Arial"/>
                <a:cs typeface="Arial"/>
              </a:rPr>
              <a:t>non-excludable</a:t>
            </a:r>
            <a:r>
              <a:rPr sz="2153" b="1" spc="39" dirty="0">
                <a:latin typeface="Arial"/>
                <a:cs typeface="Arial"/>
              </a:rPr>
              <a:t> </a:t>
            </a:r>
            <a:r>
              <a:rPr sz="2153" b="1" spc="-36" dirty="0">
                <a:latin typeface="Arial"/>
                <a:cs typeface="Arial"/>
              </a:rPr>
              <a:t>goods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spc="3" dirty="0">
                <a:latin typeface="Microsoft Sans Serif"/>
                <a:cs typeface="Microsoft Sans Serif"/>
              </a:rPr>
              <a:t>(common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goods, </a:t>
            </a:r>
            <a:r>
              <a:rPr sz="2153" spc="-564" dirty="0">
                <a:latin typeface="Microsoft Sans Serif"/>
                <a:cs typeface="Microsoft Sans Serif"/>
              </a:rPr>
              <a:t> </a:t>
            </a:r>
            <a:r>
              <a:rPr sz="2153" spc="39" dirty="0">
                <a:latin typeface="Microsoft Sans Serif"/>
                <a:cs typeface="Microsoft Sans Serif"/>
              </a:rPr>
              <a:t>public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06" dirty="0">
                <a:latin typeface="Microsoft Sans Serif"/>
                <a:cs typeface="Microsoft Sans Serif"/>
              </a:rPr>
              <a:t>goods)—for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" dirty="0">
                <a:latin typeface="Microsoft Sans Serif"/>
                <a:cs typeface="Microsoft Sans Serif"/>
              </a:rPr>
              <a:t>which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2" dirty="0">
                <a:latin typeface="Microsoft Sans Serif"/>
                <a:cs typeface="Microsoft Sans Serif"/>
              </a:rPr>
              <a:t>there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69" dirty="0">
                <a:latin typeface="Microsoft Sans Serif"/>
                <a:cs typeface="Microsoft Sans Serif"/>
              </a:rPr>
              <a:t>is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82" dirty="0">
                <a:latin typeface="Microsoft Sans Serif"/>
                <a:cs typeface="Microsoft Sans Serif"/>
              </a:rPr>
              <a:t>a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33" dirty="0">
                <a:latin typeface="Arial"/>
                <a:cs typeface="Arial"/>
              </a:rPr>
              <a:t>very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42" dirty="0">
                <a:latin typeface="Arial"/>
                <a:cs typeface="Arial"/>
              </a:rPr>
              <a:t>high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21" dirty="0">
                <a:latin typeface="Arial"/>
                <a:cs typeface="Arial"/>
              </a:rPr>
              <a:t>temptation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58" dirty="0">
                <a:latin typeface="Arial"/>
                <a:cs typeface="Arial"/>
              </a:rPr>
              <a:t>to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27" dirty="0">
                <a:latin typeface="Arial"/>
                <a:cs typeface="Arial"/>
              </a:rPr>
              <a:t>cheat</a:t>
            </a:r>
            <a:endParaRPr sz="2153" dirty="0">
              <a:latin typeface="Arial"/>
              <a:cs typeface="Arial"/>
            </a:endParaRPr>
          </a:p>
          <a:p>
            <a:pPr>
              <a:spcBef>
                <a:spcPts val="12"/>
              </a:spcBef>
            </a:pPr>
            <a:endParaRPr sz="2426" dirty="0">
              <a:latin typeface="Arial"/>
              <a:cs typeface="Arial"/>
            </a:endParaRPr>
          </a:p>
          <a:p>
            <a:pPr marL="493651" marR="605320" indent="-412789">
              <a:lnSpc>
                <a:spcPct val="148900"/>
              </a:lnSpc>
            </a:pPr>
            <a:r>
              <a:rPr sz="4957" spc="-837" baseline="-3567" dirty="0">
                <a:latin typeface="MS UI Gothic"/>
                <a:cs typeface="MS UI Gothic"/>
              </a:rPr>
              <a:t>➡</a:t>
            </a:r>
            <a:r>
              <a:rPr sz="4957" spc="-764" baseline="-3567" dirty="0">
                <a:latin typeface="MS UI Gothic"/>
                <a:cs typeface="MS UI Gothic"/>
              </a:rPr>
              <a:t> </a:t>
            </a:r>
            <a:r>
              <a:rPr sz="2698" spc="-24" dirty="0">
                <a:latin typeface="Microsoft Sans Serif"/>
                <a:cs typeface="Microsoft Sans Serif"/>
              </a:rPr>
              <a:t>In</a:t>
            </a:r>
            <a:r>
              <a:rPr sz="2698" spc="-12" dirty="0">
                <a:latin typeface="Microsoft Sans Serif"/>
                <a:cs typeface="Microsoft Sans Serif"/>
              </a:rPr>
              <a:t> these </a:t>
            </a:r>
            <a:r>
              <a:rPr sz="2698" spc="-100" dirty="0">
                <a:latin typeface="Microsoft Sans Serif"/>
                <a:cs typeface="Microsoft Sans Serif"/>
              </a:rPr>
              <a:t>cases,</a:t>
            </a:r>
            <a:r>
              <a:rPr sz="2698" spc="-15" dirty="0">
                <a:latin typeface="Microsoft Sans Serif"/>
                <a:cs typeface="Microsoft Sans Serif"/>
              </a:rPr>
              <a:t> </a:t>
            </a:r>
            <a:r>
              <a:rPr lang="fr-FR" sz="2698" spc="33" dirty="0">
                <a:latin typeface="Microsoft Sans Serif"/>
                <a:cs typeface="Microsoft Sans Serif"/>
              </a:rPr>
              <a:t>RCT </a:t>
            </a:r>
            <a:r>
              <a:rPr lang="fr-FR" sz="2698" spc="33" dirty="0" err="1">
                <a:latin typeface="Microsoft Sans Serif"/>
                <a:cs typeface="Microsoft Sans Serif"/>
              </a:rPr>
              <a:t>predicts</a:t>
            </a:r>
            <a:r>
              <a:rPr lang="fr-FR" sz="2698" spc="33" dirty="0">
                <a:latin typeface="Microsoft Sans Serif"/>
                <a:cs typeface="Microsoft Sans Serif"/>
              </a:rPr>
              <a:t> </a:t>
            </a:r>
            <a:r>
              <a:rPr sz="2698" spc="49" dirty="0">
                <a:latin typeface="Microsoft Sans Serif"/>
                <a:cs typeface="Microsoft Sans Serif"/>
              </a:rPr>
              <a:t>defect</a:t>
            </a:r>
            <a:r>
              <a:rPr sz="2698" spc="-15" dirty="0">
                <a:latin typeface="Microsoft Sans Serif"/>
                <a:cs typeface="Microsoft Sans Serif"/>
              </a:rPr>
              <a:t> </a:t>
            </a:r>
            <a:r>
              <a:rPr sz="2698" spc="6" dirty="0">
                <a:latin typeface="Microsoft Sans Serif"/>
                <a:cs typeface="Microsoft Sans Serif"/>
              </a:rPr>
              <a:t>rather</a:t>
            </a:r>
            <a:r>
              <a:rPr sz="2698" spc="-12" dirty="0">
                <a:latin typeface="Microsoft Sans Serif"/>
                <a:cs typeface="Microsoft Sans Serif"/>
              </a:rPr>
              <a:t> </a:t>
            </a:r>
            <a:r>
              <a:rPr sz="2698" spc="12" dirty="0">
                <a:latin typeface="Microsoft Sans Serif"/>
                <a:cs typeface="Microsoft Sans Serif"/>
              </a:rPr>
              <a:t>than </a:t>
            </a:r>
            <a:r>
              <a:rPr sz="2698" spc="-706" dirty="0">
                <a:latin typeface="Microsoft Sans Serif"/>
                <a:cs typeface="Microsoft Sans Serif"/>
              </a:rPr>
              <a:t> </a:t>
            </a:r>
            <a:r>
              <a:rPr sz="2698" spc="30" dirty="0">
                <a:latin typeface="Microsoft Sans Serif"/>
                <a:cs typeface="Microsoft Sans Serif"/>
              </a:rPr>
              <a:t>cooperate.</a:t>
            </a:r>
            <a:r>
              <a:rPr lang="fr-FR" sz="2698" spc="30" dirty="0">
                <a:latin typeface="Microsoft Sans Serif"/>
                <a:cs typeface="Microsoft Sans Serif"/>
              </a:rPr>
              <a:t> And </a:t>
            </a:r>
            <a:r>
              <a:rPr lang="fr-FR" sz="2698" spc="30" dirty="0" err="1">
                <a:latin typeface="Microsoft Sans Serif"/>
                <a:cs typeface="Microsoft Sans Serif"/>
              </a:rPr>
              <a:t>yet</a:t>
            </a:r>
            <a:r>
              <a:rPr lang="fr-FR" sz="2698" spc="30" dirty="0">
                <a:latin typeface="Microsoft Sans Serif"/>
                <a:cs typeface="Microsoft Sans Serif"/>
              </a:rPr>
              <a:t>, large-</a:t>
            </a:r>
            <a:r>
              <a:rPr lang="fr-FR" sz="2698" spc="30" dirty="0" err="1">
                <a:latin typeface="Microsoft Sans Serif"/>
                <a:cs typeface="Microsoft Sans Serif"/>
              </a:rPr>
              <a:t>scale</a:t>
            </a:r>
            <a:r>
              <a:rPr lang="fr-FR" sz="2698" spc="30" dirty="0">
                <a:latin typeface="Microsoft Sans Serif"/>
                <a:cs typeface="Microsoft Sans Serif"/>
              </a:rPr>
              <a:t> </a:t>
            </a:r>
            <a:r>
              <a:rPr lang="fr-FR" sz="2698" spc="30" dirty="0" err="1">
                <a:latin typeface="Microsoft Sans Serif"/>
                <a:cs typeface="Microsoft Sans Serif"/>
              </a:rPr>
              <a:t>cooperation</a:t>
            </a:r>
            <a:r>
              <a:rPr lang="fr-FR" sz="2698" spc="30" dirty="0">
                <a:latin typeface="Microsoft Sans Serif"/>
                <a:cs typeface="Microsoft Sans Serif"/>
              </a:rPr>
              <a:t> </a:t>
            </a:r>
            <a:r>
              <a:rPr lang="fr-FR" sz="2698" spc="30" dirty="0" err="1">
                <a:latin typeface="Microsoft Sans Serif"/>
                <a:cs typeface="Microsoft Sans Serif"/>
              </a:rPr>
              <a:t>exists</a:t>
            </a:r>
            <a:r>
              <a:rPr lang="fr-FR" sz="2698" spc="30" dirty="0">
                <a:latin typeface="Microsoft Sans Serif"/>
                <a:cs typeface="Microsoft Sans Serif"/>
              </a:rPr>
              <a:t>!</a:t>
            </a:r>
            <a:endParaRPr sz="2698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2851" y="441304"/>
            <a:ext cx="6201465" cy="422954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1"/>
              </a:spcBef>
            </a:pPr>
            <a:r>
              <a:rPr sz="2698" spc="-67" dirty="0">
                <a:latin typeface="Microsoft Sans Serif"/>
                <a:cs typeface="Microsoft Sans Serif"/>
              </a:rPr>
              <a:t>This</a:t>
            </a:r>
            <a:r>
              <a:rPr sz="2698" spc="30" dirty="0">
                <a:latin typeface="Microsoft Sans Serif"/>
                <a:cs typeface="Microsoft Sans Serif"/>
              </a:rPr>
              <a:t> </a:t>
            </a:r>
            <a:r>
              <a:rPr sz="2698" spc="-85" dirty="0">
                <a:latin typeface="Microsoft Sans Serif"/>
                <a:cs typeface="Microsoft Sans Serif"/>
              </a:rPr>
              <a:t>is</a:t>
            </a:r>
            <a:r>
              <a:rPr sz="2698" spc="30" dirty="0">
                <a:latin typeface="Microsoft Sans Serif"/>
                <a:cs typeface="Microsoft Sans Serif"/>
              </a:rPr>
              <a:t> </a:t>
            </a:r>
            <a:r>
              <a:rPr sz="2698" dirty="0">
                <a:latin typeface="Microsoft Sans Serif"/>
                <a:cs typeface="Microsoft Sans Serif"/>
              </a:rPr>
              <a:t>when</a:t>
            </a:r>
            <a:r>
              <a:rPr sz="2698" spc="33" dirty="0">
                <a:latin typeface="Microsoft Sans Serif"/>
                <a:cs typeface="Microsoft Sans Serif"/>
              </a:rPr>
              <a:t> </a:t>
            </a:r>
            <a:r>
              <a:rPr sz="2698" i="1" spc="-52" dirty="0">
                <a:latin typeface="Arial"/>
                <a:cs typeface="Arial"/>
              </a:rPr>
              <a:t>institutions</a:t>
            </a:r>
            <a:r>
              <a:rPr sz="2698" i="1" spc="45" dirty="0">
                <a:latin typeface="Arial"/>
                <a:cs typeface="Arial"/>
              </a:rPr>
              <a:t> </a:t>
            </a:r>
            <a:r>
              <a:rPr sz="2698" spc="24" dirty="0">
                <a:latin typeface="Microsoft Sans Serif"/>
                <a:cs typeface="Microsoft Sans Serif"/>
              </a:rPr>
              <a:t>come</a:t>
            </a:r>
            <a:r>
              <a:rPr sz="2698" spc="30" dirty="0">
                <a:latin typeface="Microsoft Sans Serif"/>
                <a:cs typeface="Microsoft Sans Serif"/>
              </a:rPr>
              <a:t> </a:t>
            </a:r>
            <a:r>
              <a:rPr sz="2698" spc="69" dirty="0">
                <a:latin typeface="Microsoft Sans Serif"/>
                <a:cs typeface="Microsoft Sans Serif"/>
              </a:rPr>
              <a:t>into</a:t>
            </a:r>
            <a:r>
              <a:rPr sz="2698" spc="33" dirty="0">
                <a:latin typeface="Microsoft Sans Serif"/>
                <a:cs typeface="Microsoft Sans Serif"/>
              </a:rPr>
              <a:t> </a:t>
            </a:r>
            <a:r>
              <a:rPr sz="2698" spc="6" dirty="0">
                <a:latin typeface="Microsoft Sans Serif"/>
                <a:cs typeface="Microsoft Sans Serif"/>
              </a:rPr>
              <a:t>play!</a:t>
            </a:r>
            <a:endParaRPr sz="2698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137" y="2473758"/>
            <a:ext cx="3189921" cy="21272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9616" y="2246861"/>
            <a:ext cx="3892766" cy="2581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6540" y="1334162"/>
            <a:ext cx="3605188" cy="36051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6595" y="4947691"/>
            <a:ext cx="4083521" cy="17500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894" y="2325158"/>
            <a:ext cx="8240382" cy="3821017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383524" indent="-376208">
              <a:spcBef>
                <a:spcPts val="73"/>
              </a:spcBef>
              <a:buAutoNum type="arabicPeriod"/>
              <a:tabLst>
                <a:tab pos="383909" algn="l"/>
              </a:tabLst>
            </a:pPr>
            <a:r>
              <a:rPr lang="fr-FR" sz="2486" spc="-12" dirty="0">
                <a:latin typeface="Arial"/>
                <a:cs typeface="Arial"/>
              </a:rPr>
              <a:t>The </a:t>
            </a:r>
            <a:r>
              <a:rPr lang="fr-FR" sz="2486" spc="-12" dirty="0" err="1">
                <a:latin typeface="Arial"/>
                <a:cs typeface="Arial"/>
              </a:rPr>
              <a:t>problem</a:t>
            </a:r>
            <a:r>
              <a:rPr lang="fr-FR" sz="2486" spc="-12" dirty="0">
                <a:latin typeface="Arial"/>
                <a:cs typeface="Arial"/>
              </a:rPr>
              <a:t> of </a:t>
            </a:r>
            <a:r>
              <a:rPr sz="2486" spc="-49" dirty="0">
                <a:latin typeface="Arial"/>
                <a:cs typeface="Arial"/>
              </a:rPr>
              <a:t>large-scale</a:t>
            </a:r>
            <a:r>
              <a:rPr sz="2486" spc="45" dirty="0">
                <a:latin typeface="Arial"/>
                <a:cs typeface="Arial"/>
              </a:rPr>
              <a:t> </a:t>
            </a:r>
            <a:r>
              <a:rPr sz="2486" spc="-6" dirty="0">
                <a:latin typeface="Arial"/>
                <a:cs typeface="Arial"/>
              </a:rPr>
              <a:t>cooperation</a:t>
            </a:r>
            <a:endParaRPr sz="2486" dirty="0">
              <a:latin typeface="Arial"/>
              <a:cs typeface="Arial"/>
            </a:endParaRPr>
          </a:p>
          <a:p>
            <a:pPr>
              <a:spcBef>
                <a:spcPts val="21"/>
              </a:spcBef>
              <a:buAutoNum type="arabicPeriod"/>
            </a:pPr>
            <a:endParaRPr sz="4093" dirty="0">
              <a:latin typeface="Arial"/>
              <a:cs typeface="Arial"/>
            </a:endParaRPr>
          </a:p>
          <a:p>
            <a:pPr marL="337701" indent="-330385">
              <a:buAutoNum type="arabicPeriod"/>
              <a:tabLst>
                <a:tab pos="338086" algn="l"/>
              </a:tabLst>
            </a:pPr>
            <a:r>
              <a:rPr sz="2486" b="1" spc="18" dirty="0">
                <a:latin typeface="Microsoft Sans Serif"/>
                <a:cs typeface="Microsoft Sans Serif"/>
              </a:rPr>
              <a:t>What</a:t>
            </a:r>
            <a:r>
              <a:rPr sz="2486" b="1" spc="-27" dirty="0">
                <a:latin typeface="Microsoft Sans Serif"/>
                <a:cs typeface="Microsoft Sans Serif"/>
              </a:rPr>
              <a:t> </a:t>
            </a:r>
            <a:r>
              <a:rPr sz="2486" b="1" spc="-73" dirty="0">
                <a:latin typeface="Microsoft Sans Serif"/>
                <a:cs typeface="Microsoft Sans Serif"/>
              </a:rPr>
              <a:t>is</a:t>
            </a:r>
            <a:r>
              <a:rPr sz="2486" b="1" spc="-24" dirty="0">
                <a:latin typeface="Microsoft Sans Serif"/>
                <a:cs typeface="Microsoft Sans Serif"/>
              </a:rPr>
              <a:t> </a:t>
            </a:r>
            <a:r>
              <a:rPr sz="2486" b="1" spc="-39" dirty="0">
                <a:latin typeface="Microsoft Sans Serif"/>
                <a:cs typeface="Microsoft Sans Serif"/>
              </a:rPr>
              <a:t>an</a:t>
            </a:r>
            <a:r>
              <a:rPr sz="2486" b="1" spc="-24" dirty="0">
                <a:latin typeface="Microsoft Sans Serif"/>
                <a:cs typeface="Microsoft Sans Serif"/>
              </a:rPr>
              <a:t> </a:t>
            </a:r>
            <a:r>
              <a:rPr sz="2486" b="1" spc="42" dirty="0">
                <a:latin typeface="Microsoft Sans Serif"/>
                <a:cs typeface="Microsoft Sans Serif"/>
              </a:rPr>
              <a:t>institution</a:t>
            </a:r>
            <a:endParaRPr sz="2486" b="1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AutoNum type="arabicPeriod"/>
            </a:pPr>
            <a:endParaRPr sz="3396" dirty="0">
              <a:latin typeface="Microsoft Sans Serif"/>
              <a:cs typeface="Microsoft Sans Serif"/>
            </a:endParaRPr>
          </a:p>
          <a:p>
            <a:pPr>
              <a:spcBef>
                <a:spcPts val="15"/>
              </a:spcBef>
              <a:buAutoNum type="arabicPeriod"/>
            </a:pPr>
            <a:endParaRPr sz="2880" dirty="0">
              <a:latin typeface="Microsoft Sans Serif"/>
              <a:cs typeface="Microsoft Sans Serif"/>
            </a:endParaRPr>
          </a:p>
          <a:p>
            <a:pPr marL="338856" indent="-330385">
              <a:buAutoNum type="arabicPeriod"/>
              <a:tabLst>
                <a:tab pos="339241" algn="l"/>
              </a:tabLst>
            </a:pPr>
            <a:r>
              <a:rPr sz="2486" spc="15" dirty="0">
                <a:latin typeface="Microsoft Sans Serif"/>
                <a:cs typeface="Microsoft Sans Serif"/>
              </a:rPr>
              <a:t>Institutions</a:t>
            </a:r>
            <a:r>
              <a:rPr sz="2486" spc="-12" dirty="0">
                <a:latin typeface="Microsoft Sans Serif"/>
                <a:cs typeface="Microsoft Sans Serif"/>
              </a:rPr>
              <a:t> </a:t>
            </a:r>
            <a:r>
              <a:rPr sz="2486" spc="21" dirty="0">
                <a:latin typeface="Microsoft Sans Serif"/>
                <a:cs typeface="Microsoft Sans Serif"/>
              </a:rPr>
              <a:t>and</a:t>
            </a:r>
            <a:r>
              <a:rPr sz="2486" spc="-12" dirty="0">
                <a:latin typeface="Microsoft Sans Serif"/>
                <a:cs typeface="Microsoft Sans Serif"/>
              </a:rPr>
              <a:t> </a:t>
            </a:r>
            <a:r>
              <a:rPr sz="2486" spc="52" dirty="0">
                <a:latin typeface="Microsoft Sans Serif"/>
                <a:cs typeface="Microsoft Sans Serif"/>
              </a:rPr>
              <a:t>the</a:t>
            </a:r>
            <a:r>
              <a:rPr sz="2486" spc="-12" dirty="0">
                <a:latin typeface="Microsoft Sans Serif"/>
                <a:cs typeface="Microsoft Sans Serif"/>
              </a:rPr>
              <a:t> </a:t>
            </a:r>
            <a:r>
              <a:rPr sz="2486" spc="21" dirty="0">
                <a:latin typeface="Microsoft Sans Serif"/>
                <a:cs typeface="Microsoft Sans Serif"/>
              </a:rPr>
              <a:t>second-order</a:t>
            </a:r>
            <a:r>
              <a:rPr sz="2486" spc="-12" dirty="0">
                <a:latin typeface="Microsoft Sans Serif"/>
                <a:cs typeface="Microsoft Sans Serif"/>
              </a:rPr>
              <a:t> </a:t>
            </a:r>
            <a:r>
              <a:rPr sz="2486" spc="21" dirty="0">
                <a:latin typeface="Microsoft Sans Serif"/>
                <a:cs typeface="Microsoft Sans Serif"/>
              </a:rPr>
              <a:t>free-rider</a:t>
            </a:r>
            <a:r>
              <a:rPr sz="2486" spc="-12" dirty="0">
                <a:latin typeface="Microsoft Sans Serif"/>
                <a:cs typeface="Microsoft Sans Serif"/>
              </a:rPr>
              <a:t> </a:t>
            </a:r>
            <a:r>
              <a:rPr sz="2486" spc="64" dirty="0">
                <a:latin typeface="Microsoft Sans Serif"/>
                <a:cs typeface="Microsoft Sans Serif"/>
              </a:rPr>
              <a:t>problem</a:t>
            </a:r>
            <a:endParaRPr sz="2486" dirty="0">
              <a:latin typeface="Microsoft Sans Serif"/>
              <a:cs typeface="Microsoft Sans Serif"/>
            </a:endParaRPr>
          </a:p>
          <a:p>
            <a:pPr>
              <a:spcBef>
                <a:spcPts val="18"/>
              </a:spcBef>
              <a:buAutoNum type="arabicPeriod"/>
            </a:pPr>
            <a:endParaRPr sz="4457" dirty="0">
              <a:latin typeface="Microsoft Sans Serif"/>
              <a:cs typeface="Microsoft Sans Serif"/>
            </a:endParaRPr>
          </a:p>
          <a:p>
            <a:pPr marL="338471" indent="-330385">
              <a:buAutoNum type="arabicPeriod"/>
              <a:tabLst>
                <a:tab pos="338856" algn="l"/>
              </a:tabLst>
            </a:pPr>
            <a:r>
              <a:rPr lang="fr-FR" sz="2486" spc="-9" dirty="0" err="1">
                <a:latin typeface="Microsoft Sans Serif"/>
                <a:cs typeface="Microsoft Sans Serif"/>
              </a:rPr>
              <a:t>Inequality</a:t>
            </a:r>
            <a:r>
              <a:rPr lang="fr-FR" sz="2486" spc="-9" dirty="0">
                <a:latin typeface="Microsoft Sans Serif"/>
                <a:cs typeface="Microsoft Sans Serif"/>
              </a:rPr>
              <a:t> in </a:t>
            </a:r>
            <a:r>
              <a:rPr lang="fr-FR" sz="2486" spc="-9" dirty="0" err="1">
                <a:latin typeface="Microsoft Sans Serif"/>
                <a:cs typeface="Microsoft Sans Serif"/>
              </a:rPr>
              <a:t>human</a:t>
            </a:r>
            <a:r>
              <a:rPr lang="fr-FR" sz="2486" spc="-9" dirty="0">
                <a:latin typeface="Microsoft Sans Serif"/>
                <a:cs typeface="Microsoft Sans Serif"/>
              </a:rPr>
              <a:t> </a:t>
            </a:r>
            <a:r>
              <a:rPr lang="fr-FR" sz="2486" spc="-9" dirty="0" err="1">
                <a:latin typeface="Microsoft Sans Serif"/>
                <a:cs typeface="Microsoft Sans Serif"/>
              </a:rPr>
              <a:t>societies</a:t>
            </a:r>
            <a:endParaRPr sz="2486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829" y="169309"/>
            <a:ext cx="2952675" cy="1076988"/>
          </a:xfrm>
          <a:prstGeom prst="rect">
            <a:avLst/>
          </a:prstGeom>
        </p:spPr>
        <p:txBody>
          <a:bodyPr vert="horz" wrap="square" lIns="0" tIns="847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7"/>
              </a:spcBef>
            </a:pPr>
            <a:r>
              <a:rPr sz="6943" spc="-127" dirty="0"/>
              <a:t>Outline</a:t>
            </a:r>
            <a:endParaRPr sz="6943"/>
          </a:p>
        </p:txBody>
      </p:sp>
    </p:spTree>
    <p:extLst>
      <p:ext uri="{BB962C8B-B14F-4D97-AF65-F5344CB8AC3E}">
        <p14:creationId xmlns:p14="http://schemas.microsoft.com/office/powerpoint/2010/main" val="269270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359330"/>
            <a:ext cx="6891886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52" dirty="0"/>
              <a:t>What</a:t>
            </a:r>
            <a:r>
              <a:rPr sz="5579" spc="-218" dirty="0"/>
              <a:t> </a:t>
            </a:r>
            <a:r>
              <a:rPr sz="5579" spc="-127" dirty="0"/>
              <a:t>are</a:t>
            </a:r>
            <a:r>
              <a:rPr sz="5579" spc="-218" dirty="0"/>
              <a:t> </a:t>
            </a:r>
            <a:r>
              <a:rPr sz="5579" spc="-276" dirty="0"/>
              <a:t>institutions?</a:t>
            </a:r>
            <a:endParaRPr sz="5579"/>
          </a:p>
        </p:txBody>
      </p:sp>
      <p:sp>
        <p:nvSpPr>
          <p:cNvPr id="3" name="object 3"/>
          <p:cNvSpPr txBox="1"/>
          <p:nvPr/>
        </p:nvSpPr>
        <p:spPr>
          <a:xfrm>
            <a:off x="210115" y="1419067"/>
            <a:ext cx="8476041" cy="425547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28845" marR="122065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329230" algn="l"/>
              </a:tabLst>
            </a:pPr>
            <a:r>
              <a:rPr sz="2153" spc="9" dirty="0">
                <a:latin typeface="Microsoft Sans Serif"/>
                <a:cs typeface="Microsoft Sans Serif"/>
              </a:rPr>
              <a:t>Institutions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73" dirty="0">
                <a:latin typeface="Microsoft Sans Serif"/>
                <a:cs typeface="Microsoft Sans Serif"/>
              </a:rPr>
              <a:t>=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52" dirty="0">
                <a:latin typeface="Arial"/>
                <a:cs typeface="Arial"/>
              </a:rPr>
              <a:t>“humanly</a:t>
            </a:r>
            <a:r>
              <a:rPr sz="2153" b="1" spc="39" dirty="0">
                <a:latin typeface="Arial"/>
                <a:cs typeface="Arial"/>
              </a:rPr>
              <a:t> </a:t>
            </a:r>
            <a:r>
              <a:rPr sz="2153" b="1" spc="-30" dirty="0">
                <a:latin typeface="Arial"/>
                <a:cs typeface="Arial"/>
              </a:rPr>
              <a:t>devised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61" dirty="0">
                <a:latin typeface="Arial"/>
                <a:cs typeface="Arial"/>
              </a:rPr>
              <a:t>constraints</a:t>
            </a:r>
            <a:r>
              <a:rPr sz="2153" b="1" spc="39" dirty="0">
                <a:latin typeface="Arial"/>
                <a:cs typeface="Arial"/>
              </a:rPr>
              <a:t> </a:t>
            </a:r>
            <a:r>
              <a:rPr sz="2153" b="1" spc="27" dirty="0">
                <a:latin typeface="Arial"/>
                <a:cs typeface="Arial"/>
              </a:rPr>
              <a:t>that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39" dirty="0">
                <a:latin typeface="Arial"/>
                <a:cs typeface="Arial"/>
              </a:rPr>
              <a:t>structure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91" dirty="0">
                <a:latin typeface="Arial"/>
                <a:cs typeface="Arial"/>
              </a:rPr>
              <a:t>social </a:t>
            </a:r>
            <a:r>
              <a:rPr sz="2153" b="1" spc="-588" dirty="0">
                <a:latin typeface="Arial"/>
                <a:cs typeface="Arial"/>
              </a:rPr>
              <a:t> </a:t>
            </a:r>
            <a:r>
              <a:rPr sz="2153" b="1" spc="-30" dirty="0">
                <a:latin typeface="Arial"/>
                <a:cs typeface="Arial"/>
              </a:rPr>
              <a:t>interactions”</a:t>
            </a:r>
            <a:r>
              <a:rPr sz="2153" b="1" spc="-6" dirty="0">
                <a:latin typeface="Arial"/>
                <a:cs typeface="Arial"/>
              </a:rPr>
              <a:t> </a:t>
            </a:r>
            <a:r>
              <a:rPr sz="2153" spc="18" dirty="0">
                <a:latin typeface="Microsoft Sans Serif"/>
                <a:cs typeface="Microsoft Sans Serif"/>
              </a:rPr>
              <a:t>(North,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3" dirty="0">
                <a:latin typeface="Microsoft Sans Serif"/>
                <a:cs typeface="Microsoft Sans Serif"/>
              </a:rPr>
              <a:t>1990)</a:t>
            </a:r>
            <a:endParaRPr sz="2153" dirty="0">
              <a:latin typeface="Microsoft Sans Serif"/>
              <a:cs typeface="Microsoft Sans Serif"/>
            </a:endParaRPr>
          </a:p>
          <a:p>
            <a:pPr marL="729696" marR="3081" lvl="1" indent="-286103">
              <a:lnSpc>
                <a:spcPct val="114199"/>
              </a:lnSpc>
              <a:spcBef>
                <a:spcPts val="458"/>
              </a:spcBef>
              <a:buSzPct val="122535"/>
              <a:buChar char="•"/>
              <a:tabLst>
                <a:tab pos="730081" algn="l"/>
              </a:tabLst>
            </a:pPr>
            <a:r>
              <a:rPr sz="2153" spc="3" dirty="0">
                <a:latin typeface="Microsoft Sans Serif"/>
                <a:cs typeface="Microsoft Sans Serif"/>
              </a:rPr>
              <a:t>i.e.,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6" dirty="0">
                <a:latin typeface="Microsoft Sans Serif"/>
                <a:cs typeface="Microsoft Sans Serif"/>
              </a:rPr>
              <a:t>what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36" dirty="0">
                <a:latin typeface="Microsoft Sans Serif"/>
                <a:cs typeface="Microsoft Sans Serif"/>
              </a:rPr>
              <a:t>humans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do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b="1" spc="-49" dirty="0">
                <a:solidFill>
                  <a:srgbClr val="EE230C"/>
                </a:solidFill>
                <a:latin typeface="Arial"/>
                <a:cs typeface="Arial"/>
              </a:rPr>
              <a:t>change</a:t>
            </a:r>
            <a:r>
              <a:rPr sz="2153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b="1" spc="24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2153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b="1" spc="-67" dirty="0">
                <a:solidFill>
                  <a:srgbClr val="EE230C"/>
                </a:solidFill>
                <a:latin typeface="Arial"/>
                <a:cs typeface="Arial"/>
              </a:rPr>
              <a:t>rules</a:t>
            </a:r>
            <a:r>
              <a:rPr sz="2153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b="1" spc="15" dirty="0">
                <a:solidFill>
                  <a:srgbClr val="EE230C"/>
                </a:solidFill>
                <a:latin typeface="Arial"/>
                <a:cs typeface="Arial"/>
              </a:rPr>
              <a:t>of</a:t>
            </a:r>
            <a:r>
              <a:rPr sz="2153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b="1" spc="24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2153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b="1" spc="-3" dirty="0">
                <a:solidFill>
                  <a:srgbClr val="EE230C"/>
                </a:solidFill>
                <a:latin typeface="Arial"/>
                <a:cs typeface="Arial"/>
              </a:rPr>
              <a:t>game</a:t>
            </a:r>
            <a:r>
              <a:rPr sz="2153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that </a:t>
            </a:r>
            <a:r>
              <a:rPr sz="2153" spc="39" dirty="0">
                <a:latin typeface="Microsoft Sans Serif"/>
                <a:cs typeface="Microsoft Sans Serif"/>
              </a:rPr>
              <a:t> </a:t>
            </a:r>
            <a:r>
              <a:rPr sz="2153" spc="-18" dirty="0">
                <a:latin typeface="Microsoft Sans Serif"/>
                <a:cs typeface="Microsoft Sans Serif"/>
              </a:rPr>
              <a:t>structures</a:t>
            </a:r>
            <a:r>
              <a:rPr sz="2153" spc="24" dirty="0">
                <a:latin typeface="Microsoft Sans Serif"/>
                <a:cs typeface="Microsoft Sans Serif"/>
              </a:rPr>
              <a:t> their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strategic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76" dirty="0">
                <a:latin typeface="Microsoft Sans Serif"/>
                <a:cs typeface="Microsoft Sans Serif"/>
              </a:rPr>
              <a:t>interactions—to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-24" dirty="0">
                <a:latin typeface="Microsoft Sans Serif"/>
                <a:cs typeface="Microsoft Sans Serif"/>
              </a:rPr>
              <a:t>make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0" dirty="0">
                <a:latin typeface="Microsoft Sans Serif"/>
                <a:cs typeface="Microsoft Sans Serif"/>
              </a:rPr>
              <a:t>cooperation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pay </a:t>
            </a:r>
            <a:r>
              <a:rPr sz="2153" spc="-564" dirty="0">
                <a:latin typeface="Microsoft Sans Serif"/>
                <a:cs typeface="Microsoft Sans Serif"/>
              </a:rPr>
              <a:t> </a:t>
            </a:r>
            <a:r>
              <a:rPr sz="2153" spc="15" dirty="0">
                <a:latin typeface="Microsoft Sans Serif"/>
                <a:cs typeface="Microsoft Sans Serif"/>
              </a:rPr>
              <a:t>more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6" dirty="0">
                <a:latin typeface="Microsoft Sans Serif"/>
                <a:cs typeface="Microsoft Sans Serif"/>
              </a:rPr>
              <a:t>than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defection</a:t>
            </a:r>
            <a:endParaRPr sz="2153" dirty="0">
              <a:latin typeface="Microsoft Sans Serif"/>
              <a:cs typeface="Microsoft Sans Serif"/>
            </a:endParaRPr>
          </a:p>
          <a:p>
            <a:pPr lvl="1">
              <a:spcBef>
                <a:spcPts val="27"/>
              </a:spcBef>
              <a:buFont typeface="Microsoft Sans Serif"/>
              <a:buChar char="•"/>
            </a:pPr>
            <a:endParaRPr sz="2729" dirty="0">
              <a:latin typeface="Microsoft Sans Serif"/>
              <a:cs typeface="Microsoft Sans Serif"/>
            </a:endParaRPr>
          </a:p>
          <a:p>
            <a:pPr marL="324994" indent="-317678">
              <a:lnSpc>
                <a:spcPts val="2671"/>
              </a:lnSpc>
              <a:buSzPct val="122972"/>
              <a:buChar char="•"/>
              <a:tabLst>
                <a:tab pos="324994" algn="l"/>
                <a:tab pos="325379" algn="l"/>
              </a:tabLst>
            </a:pPr>
            <a:r>
              <a:rPr sz="2244" spc="-33" dirty="0">
                <a:latin typeface="Microsoft Sans Serif"/>
                <a:cs typeface="Microsoft Sans Serif"/>
              </a:rPr>
              <a:t>Examples:</a:t>
            </a:r>
            <a:endParaRPr sz="2244" dirty="0">
              <a:latin typeface="Microsoft Sans Serif"/>
              <a:cs typeface="Microsoft Sans Serif"/>
            </a:endParaRPr>
          </a:p>
          <a:p>
            <a:pPr marL="610326">
              <a:lnSpc>
                <a:spcPts val="3290"/>
              </a:lnSpc>
            </a:pPr>
            <a:r>
              <a:rPr sz="4139" spc="-705" baseline="-3663" dirty="0">
                <a:latin typeface="MS UI Gothic"/>
                <a:cs typeface="MS UI Gothic"/>
              </a:rPr>
              <a:t>➡</a:t>
            </a:r>
            <a:r>
              <a:rPr sz="4139" spc="-73" baseline="-3663" dirty="0">
                <a:latin typeface="MS UI Gothic"/>
                <a:cs typeface="MS UI Gothic"/>
              </a:rPr>
              <a:t> </a:t>
            </a:r>
            <a:r>
              <a:rPr sz="2244" spc="-15" dirty="0">
                <a:latin typeface="Microsoft Sans Serif"/>
                <a:cs typeface="Microsoft Sans Serif"/>
              </a:rPr>
              <a:t>State</a:t>
            </a:r>
            <a:endParaRPr sz="2244" dirty="0">
              <a:latin typeface="Microsoft Sans Serif"/>
              <a:cs typeface="Microsoft Sans Serif"/>
            </a:endParaRPr>
          </a:p>
          <a:p>
            <a:pPr marL="610326">
              <a:spcBef>
                <a:spcPts val="1104"/>
              </a:spcBef>
            </a:pPr>
            <a:r>
              <a:rPr sz="4139" spc="-705" baseline="-3663" dirty="0">
                <a:latin typeface="MS UI Gothic"/>
                <a:cs typeface="MS UI Gothic"/>
              </a:rPr>
              <a:t>➡</a:t>
            </a:r>
            <a:r>
              <a:rPr sz="4139" spc="-73" baseline="-3663" dirty="0">
                <a:latin typeface="MS UI Gothic"/>
                <a:cs typeface="MS UI Gothic"/>
              </a:rPr>
              <a:t> </a:t>
            </a:r>
            <a:r>
              <a:rPr sz="2244" spc="-103" dirty="0">
                <a:latin typeface="Microsoft Sans Serif"/>
                <a:cs typeface="Microsoft Sans Serif"/>
              </a:rPr>
              <a:t>Laws</a:t>
            </a:r>
            <a:endParaRPr sz="2244" dirty="0">
              <a:latin typeface="Microsoft Sans Serif"/>
              <a:cs typeface="Microsoft Sans Serif"/>
            </a:endParaRPr>
          </a:p>
          <a:p>
            <a:pPr marL="610326">
              <a:spcBef>
                <a:spcPts val="873"/>
              </a:spcBef>
            </a:pPr>
            <a:r>
              <a:rPr sz="4139" spc="-705" baseline="-3663" dirty="0">
                <a:latin typeface="MS UI Gothic"/>
                <a:cs typeface="MS UI Gothic"/>
              </a:rPr>
              <a:t>➡</a:t>
            </a:r>
            <a:r>
              <a:rPr sz="4139" spc="-73" baseline="-3663" dirty="0">
                <a:latin typeface="MS UI Gothic"/>
                <a:cs typeface="MS UI Gothic"/>
              </a:rPr>
              <a:t> </a:t>
            </a:r>
            <a:r>
              <a:rPr sz="2244" spc="-85" dirty="0">
                <a:latin typeface="Microsoft Sans Serif"/>
                <a:cs typeface="Microsoft Sans Serif"/>
              </a:rPr>
              <a:t>Rel</a:t>
            </a:r>
            <a:r>
              <a:rPr sz="2244" spc="18" dirty="0">
                <a:latin typeface="Microsoft Sans Serif"/>
                <a:cs typeface="Microsoft Sans Serif"/>
              </a:rPr>
              <a:t>igions</a:t>
            </a:r>
            <a:endParaRPr sz="2244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3065" y="5558243"/>
            <a:ext cx="3016596" cy="1143596"/>
          </a:xfrm>
          <a:prstGeom prst="rect">
            <a:avLst/>
          </a:prstGeom>
        </p:spPr>
        <p:txBody>
          <a:bodyPr vert="horz" wrap="square" lIns="0" tIns="151715" rIns="0" bIns="0" rtlCol="0">
            <a:spAutoFit/>
          </a:bodyPr>
          <a:lstStyle/>
          <a:p>
            <a:pPr marL="7701">
              <a:spcBef>
                <a:spcPts val="1195"/>
              </a:spcBef>
            </a:pPr>
            <a:r>
              <a:rPr sz="4139" spc="-705" baseline="-3663" dirty="0">
                <a:latin typeface="MS UI Gothic"/>
                <a:cs typeface="MS UI Gothic"/>
              </a:rPr>
              <a:t>➡</a:t>
            </a:r>
            <a:r>
              <a:rPr sz="4139" spc="-73" baseline="-3663" dirty="0">
                <a:latin typeface="MS UI Gothic"/>
                <a:cs typeface="MS UI Gothic"/>
              </a:rPr>
              <a:t> </a:t>
            </a:r>
            <a:r>
              <a:rPr sz="2244" spc="15" dirty="0">
                <a:latin typeface="Microsoft Sans Serif"/>
                <a:cs typeface="Microsoft Sans Serif"/>
              </a:rPr>
              <a:t>Marriage</a:t>
            </a:r>
            <a:r>
              <a:rPr sz="2244" spc="-12" dirty="0">
                <a:latin typeface="Microsoft Sans Serif"/>
                <a:cs typeface="Microsoft Sans Serif"/>
              </a:rPr>
              <a:t> </a:t>
            </a:r>
            <a:r>
              <a:rPr sz="2244" spc="-58" dirty="0">
                <a:latin typeface="Microsoft Sans Serif"/>
                <a:cs typeface="Microsoft Sans Serif"/>
              </a:rPr>
              <a:t>systems</a:t>
            </a:r>
            <a:endParaRPr sz="2244" dirty="0">
              <a:latin typeface="Microsoft Sans Serif"/>
              <a:cs typeface="Microsoft Sans Serif"/>
            </a:endParaRPr>
          </a:p>
          <a:p>
            <a:pPr marL="7701">
              <a:spcBef>
                <a:spcPts val="1134"/>
              </a:spcBef>
            </a:pPr>
            <a:r>
              <a:rPr sz="4139" spc="-705" baseline="-3663" dirty="0">
                <a:latin typeface="MS UI Gothic"/>
                <a:cs typeface="MS UI Gothic"/>
              </a:rPr>
              <a:t>➡</a:t>
            </a:r>
            <a:r>
              <a:rPr sz="4139" spc="-73" baseline="-3663" dirty="0">
                <a:latin typeface="MS UI Gothic"/>
                <a:cs typeface="MS UI Gothic"/>
              </a:rPr>
              <a:t> </a:t>
            </a:r>
            <a:r>
              <a:rPr sz="2244" spc="-15" dirty="0">
                <a:latin typeface="Microsoft Sans Serif"/>
                <a:cs typeface="Microsoft Sans Serif"/>
              </a:rPr>
              <a:t>Kinship</a:t>
            </a:r>
            <a:r>
              <a:rPr sz="2244" spc="-12" dirty="0">
                <a:latin typeface="Microsoft Sans Serif"/>
                <a:cs typeface="Microsoft Sans Serif"/>
              </a:rPr>
              <a:t> </a:t>
            </a:r>
            <a:r>
              <a:rPr sz="2244" spc="-55" dirty="0">
                <a:latin typeface="Microsoft Sans Serif"/>
                <a:cs typeface="Microsoft Sans Serif"/>
              </a:rPr>
              <a:t>systems,</a:t>
            </a:r>
            <a:r>
              <a:rPr sz="2244" spc="-12" dirty="0">
                <a:latin typeface="Microsoft Sans Serif"/>
                <a:cs typeface="Microsoft Sans Serif"/>
              </a:rPr>
              <a:t> </a:t>
            </a:r>
            <a:r>
              <a:rPr sz="2244" spc="12" dirty="0">
                <a:latin typeface="Microsoft Sans Serif"/>
                <a:cs typeface="Microsoft Sans Serif"/>
              </a:rPr>
              <a:t>etc.</a:t>
            </a:r>
            <a:endParaRPr sz="2244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5378" y="200230"/>
            <a:ext cx="2408105" cy="26965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835875" y="2961426"/>
            <a:ext cx="1727400" cy="780341"/>
          </a:xfrm>
          <a:prstGeom prst="rect">
            <a:avLst/>
          </a:prstGeom>
        </p:spPr>
        <p:txBody>
          <a:bodyPr vert="horz" wrap="square" lIns="0" tIns="11937" rIns="0" bIns="0" rtlCol="0">
            <a:spAutoFit/>
          </a:bodyPr>
          <a:lstStyle/>
          <a:p>
            <a:pPr marL="7701" marR="3081" algn="ctr">
              <a:lnSpc>
                <a:spcPct val="98400"/>
              </a:lnSpc>
              <a:spcBef>
                <a:spcPts val="94"/>
              </a:spcBef>
            </a:pPr>
            <a:r>
              <a:rPr sz="1698" b="1" spc="-6" dirty="0">
                <a:latin typeface="Arial"/>
                <a:cs typeface="Arial"/>
              </a:rPr>
              <a:t>Douglas </a:t>
            </a:r>
            <a:r>
              <a:rPr sz="1698" b="1" spc="6" dirty="0">
                <a:latin typeface="Arial"/>
                <a:cs typeface="Arial"/>
              </a:rPr>
              <a:t>North </a:t>
            </a:r>
            <a:r>
              <a:rPr sz="1698" b="1" spc="9" dirty="0">
                <a:latin typeface="Arial"/>
                <a:cs typeface="Arial"/>
              </a:rPr>
              <a:t> </a:t>
            </a:r>
            <a:r>
              <a:rPr sz="1698" spc="-12" dirty="0">
                <a:latin typeface="Arial MT"/>
                <a:cs typeface="Arial MT"/>
              </a:rPr>
              <a:t>(Nobel </a:t>
            </a:r>
            <a:r>
              <a:rPr sz="1698" dirty="0" err="1">
                <a:latin typeface="Arial MT"/>
                <a:cs typeface="Arial MT"/>
              </a:rPr>
              <a:t>Pri</a:t>
            </a:r>
            <a:r>
              <a:rPr lang="fr-FR" sz="1698" dirty="0">
                <a:latin typeface="Arial MT"/>
                <a:cs typeface="Arial MT"/>
              </a:rPr>
              <a:t>z</a:t>
            </a:r>
            <a:r>
              <a:rPr sz="1698" dirty="0">
                <a:latin typeface="Arial MT"/>
                <a:cs typeface="Arial MT"/>
              </a:rPr>
              <a:t>e in </a:t>
            </a:r>
            <a:r>
              <a:rPr sz="1698" spc="3" dirty="0">
                <a:latin typeface="Arial MT"/>
                <a:cs typeface="Arial MT"/>
              </a:rPr>
              <a:t> </a:t>
            </a:r>
            <a:r>
              <a:rPr sz="1698" spc="18" dirty="0">
                <a:latin typeface="Arial MT"/>
                <a:cs typeface="Arial MT"/>
              </a:rPr>
              <a:t>economics,</a:t>
            </a:r>
            <a:r>
              <a:rPr sz="1698" spc="-30" dirty="0">
                <a:latin typeface="Arial MT"/>
                <a:cs typeface="Arial MT"/>
              </a:rPr>
              <a:t> </a:t>
            </a:r>
            <a:r>
              <a:rPr sz="1698" spc="-27" dirty="0">
                <a:latin typeface="Arial MT"/>
                <a:cs typeface="Arial MT"/>
              </a:rPr>
              <a:t>1993)</a:t>
            </a:r>
            <a:endParaRPr sz="1698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4893" y="6007819"/>
            <a:ext cx="3620762" cy="52188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81983" marR="3081" indent="-374667">
              <a:lnSpc>
                <a:spcPct val="113199"/>
              </a:lnSpc>
              <a:spcBef>
                <a:spcPts val="58"/>
              </a:spcBef>
            </a:pPr>
            <a:r>
              <a:rPr sz="1546" spc="36" dirty="0">
                <a:latin typeface="Microsoft Sans Serif"/>
                <a:cs typeface="Microsoft Sans Serif"/>
              </a:rPr>
              <a:t>North,</a:t>
            </a:r>
            <a:r>
              <a:rPr sz="1546" spc="27" dirty="0">
                <a:latin typeface="Microsoft Sans Serif"/>
                <a:cs typeface="Microsoft Sans Serif"/>
              </a:rPr>
              <a:t> </a:t>
            </a:r>
            <a:r>
              <a:rPr sz="1546" spc="15" dirty="0">
                <a:latin typeface="Microsoft Sans Serif"/>
                <a:cs typeface="Microsoft Sans Serif"/>
              </a:rPr>
              <a:t>D.</a:t>
            </a:r>
            <a:r>
              <a:rPr sz="1546" spc="27" dirty="0">
                <a:latin typeface="Microsoft Sans Serif"/>
                <a:cs typeface="Microsoft Sans Serif"/>
              </a:rPr>
              <a:t> </a:t>
            </a:r>
            <a:r>
              <a:rPr sz="1546" spc="-33" dirty="0">
                <a:latin typeface="Microsoft Sans Serif"/>
                <a:cs typeface="Microsoft Sans Serif"/>
              </a:rPr>
              <a:t>(1990).</a:t>
            </a:r>
            <a:r>
              <a:rPr sz="1546" spc="30" dirty="0">
                <a:latin typeface="Microsoft Sans Serif"/>
                <a:cs typeface="Microsoft Sans Serif"/>
              </a:rPr>
              <a:t> </a:t>
            </a:r>
            <a:r>
              <a:rPr sz="1546" spc="6" dirty="0">
                <a:latin typeface="Microsoft Sans Serif"/>
                <a:cs typeface="Microsoft Sans Serif"/>
              </a:rPr>
              <a:t>Institutions,</a:t>
            </a:r>
            <a:r>
              <a:rPr sz="1546" spc="27" dirty="0">
                <a:latin typeface="Microsoft Sans Serif"/>
                <a:cs typeface="Microsoft Sans Serif"/>
              </a:rPr>
              <a:t> </a:t>
            </a:r>
            <a:r>
              <a:rPr sz="1546" spc="15" dirty="0">
                <a:latin typeface="Microsoft Sans Serif"/>
                <a:cs typeface="Microsoft Sans Serif"/>
              </a:rPr>
              <a:t>institutional </a:t>
            </a:r>
            <a:r>
              <a:rPr sz="1546" spc="-400" dirty="0">
                <a:latin typeface="Microsoft Sans Serif"/>
                <a:cs typeface="Microsoft Sans Serif"/>
              </a:rPr>
              <a:t> </a:t>
            </a:r>
            <a:r>
              <a:rPr sz="1546" dirty="0">
                <a:latin typeface="Microsoft Sans Serif"/>
                <a:cs typeface="Microsoft Sans Serif"/>
              </a:rPr>
              <a:t>change,</a:t>
            </a:r>
            <a:r>
              <a:rPr sz="1546" spc="6" dirty="0">
                <a:latin typeface="Microsoft Sans Serif"/>
                <a:cs typeface="Microsoft Sans Serif"/>
              </a:rPr>
              <a:t> </a:t>
            </a:r>
            <a:r>
              <a:rPr sz="1546" spc="9" dirty="0">
                <a:latin typeface="Microsoft Sans Serif"/>
                <a:cs typeface="Microsoft Sans Serif"/>
              </a:rPr>
              <a:t>and </a:t>
            </a:r>
            <a:r>
              <a:rPr sz="1546" spc="15" dirty="0">
                <a:latin typeface="Microsoft Sans Serif"/>
                <a:cs typeface="Microsoft Sans Serif"/>
              </a:rPr>
              <a:t>economic</a:t>
            </a:r>
            <a:r>
              <a:rPr sz="1546" spc="9" dirty="0">
                <a:latin typeface="Microsoft Sans Serif"/>
                <a:cs typeface="Microsoft Sans Serif"/>
              </a:rPr>
              <a:t> </a:t>
            </a:r>
            <a:r>
              <a:rPr sz="1546" spc="12" dirty="0">
                <a:latin typeface="Microsoft Sans Serif"/>
                <a:cs typeface="Microsoft Sans Serif"/>
              </a:rPr>
              <a:t>performance.</a:t>
            </a:r>
            <a:endParaRPr sz="1546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62" y="31184"/>
            <a:ext cx="11655905" cy="1419203"/>
          </a:xfrm>
          <a:prstGeom prst="rect">
            <a:avLst/>
          </a:prstGeom>
        </p:spPr>
        <p:txBody>
          <a:bodyPr vert="horz" wrap="square" lIns="0" tIns="81249" rIns="0" bIns="0" rtlCol="0" anchor="ctr">
            <a:spAutoFit/>
          </a:bodyPr>
          <a:lstStyle/>
          <a:p>
            <a:pPr marL="7701" marR="7701">
              <a:lnSpc>
                <a:spcPts val="5239"/>
              </a:lnSpc>
              <a:spcBef>
                <a:spcPts val="640"/>
              </a:spcBef>
            </a:pPr>
            <a:r>
              <a:rPr sz="4791" spc="-42" dirty="0"/>
              <a:t>Wha</a:t>
            </a:r>
            <a:r>
              <a:rPr sz="4791" spc="27" dirty="0"/>
              <a:t>t</a:t>
            </a:r>
            <a:r>
              <a:rPr sz="4791" spc="-112" dirty="0"/>
              <a:t> </a:t>
            </a:r>
            <a:r>
              <a:rPr sz="4791" spc="-188" dirty="0"/>
              <a:t>doe</a:t>
            </a:r>
            <a:r>
              <a:rPr sz="4791" spc="-82" dirty="0"/>
              <a:t>s</a:t>
            </a:r>
            <a:r>
              <a:rPr sz="4791" spc="-112" dirty="0"/>
              <a:t> </a:t>
            </a:r>
            <a:r>
              <a:rPr sz="4791" spc="-15" dirty="0"/>
              <a:t>i</a:t>
            </a:r>
            <a:r>
              <a:rPr sz="4791" spc="100" dirty="0"/>
              <a:t>t</a:t>
            </a:r>
            <a:r>
              <a:rPr sz="4791" spc="-112" dirty="0"/>
              <a:t> </a:t>
            </a:r>
            <a:r>
              <a:rPr sz="4791" spc="-167" dirty="0"/>
              <a:t>mea</a:t>
            </a:r>
            <a:r>
              <a:rPr sz="4791" spc="-61" dirty="0"/>
              <a:t>n</a:t>
            </a:r>
            <a:r>
              <a:rPr sz="4791" spc="-112" dirty="0"/>
              <a:t> </a:t>
            </a:r>
            <a:r>
              <a:rPr sz="4791" spc="-6" dirty="0"/>
              <a:t>t</a:t>
            </a:r>
            <a:r>
              <a:rPr sz="4791" spc="176" dirty="0"/>
              <a:t>o</a:t>
            </a:r>
            <a:r>
              <a:rPr sz="4791" spc="-112" dirty="0"/>
              <a:t> </a:t>
            </a:r>
            <a:r>
              <a:rPr sz="4791" spc="-154" dirty="0"/>
              <a:t>"chang</a:t>
            </a:r>
            <a:r>
              <a:rPr sz="4791" spc="-55" dirty="0"/>
              <a:t>e</a:t>
            </a:r>
            <a:r>
              <a:rPr sz="4791" spc="-112" dirty="0"/>
              <a:t> </a:t>
            </a:r>
            <a:r>
              <a:rPr sz="4791" spc="173" dirty="0"/>
              <a:t>t</a:t>
            </a:r>
            <a:r>
              <a:rPr sz="4791" spc="-143" dirty="0"/>
              <a:t>h</a:t>
            </a:r>
            <a:r>
              <a:rPr sz="4791" spc="-39" dirty="0"/>
              <a:t>e</a:t>
            </a:r>
            <a:r>
              <a:rPr sz="4791" spc="-112" dirty="0"/>
              <a:t> </a:t>
            </a:r>
            <a:r>
              <a:rPr sz="4791" spc="-233" dirty="0"/>
              <a:t>rule</a:t>
            </a:r>
            <a:r>
              <a:rPr sz="4791" spc="-164" dirty="0"/>
              <a:t>s</a:t>
            </a:r>
            <a:r>
              <a:rPr sz="4791" spc="-112" dirty="0"/>
              <a:t> </a:t>
            </a:r>
            <a:r>
              <a:rPr sz="4791" spc="-64" dirty="0"/>
              <a:t>of  </a:t>
            </a:r>
            <a:r>
              <a:rPr sz="4791" spc="-3" dirty="0"/>
              <a:t>the</a:t>
            </a:r>
            <a:r>
              <a:rPr sz="4791" spc="-115" dirty="0"/>
              <a:t> </a:t>
            </a:r>
            <a:r>
              <a:rPr sz="4791" spc="-118" dirty="0"/>
              <a:t>game"?</a:t>
            </a:r>
            <a:endParaRPr sz="4791"/>
          </a:p>
        </p:txBody>
      </p:sp>
      <p:sp>
        <p:nvSpPr>
          <p:cNvPr id="3" name="object 3"/>
          <p:cNvSpPr txBox="1"/>
          <p:nvPr/>
        </p:nvSpPr>
        <p:spPr>
          <a:xfrm>
            <a:off x="1985624" y="5583666"/>
            <a:ext cx="1934949" cy="486705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538705" marR="3081" indent="-531388">
              <a:lnSpc>
                <a:spcPct val="103099"/>
              </a:lnSpc>
              <a:spcBef>
                <a:spcPts val="24"/>
              </a:spcBef>
            </a:pPr>
            <a:r>
              <a:rPr sz="1577" b="1" spc="12" dirty="0">
                <a:latin typeface="Arial"/>
                <a:cs typeface="Arial"/>
              </a:rPr>
              <a:t>Standard</a:t>
            </a:r>
            <a:r>
              <a:rPr sz="1577" b="1" spc="-27" dirty="0">
                <a:latin typeface="Arial"/>
                <a:cs typeface="Arial"/>
              </a:rPr>
              <a:t> </a:t>
            </a:r>
            <a:r>
              <a:rPr sz="1577" b="1" spc="6" dirty="0">
                <a:latin typeface="Arial"/>
                <a:cs typeface="Arial"/>
              </a:rPr>
              <a:t>Prisoner's </a:t>
            </a:r>
            <a:r>
              <a:rPr sz="1577" b="1" spc="-431" dirty="0">
                <a:latin typeface="Arial"/>
                <a:cs typeface="Arial"/>
              </a:rPr>
              <a:t> </a:t>
            </a:r>
            <a:r>
              <a:rPr sz="1577" b="1" spc="24" dirty="0">
                <a:latin typeface="Arial"/>
                <a:cs typeface="Arial"/>
              </a:rPr>
              <a:t>Dilemma</a:t>
            </a:r>
            <a:endParaRPr sz="1577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8" y="2010286"/>
            <a:ext cx="11964341" cy="3314251"/>
            <a:chOff x="0" y="3315111"/>
            <a:chExt cx="19730085" cy="5465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35090"/>
              <a:ext cx="9074236" cy="48443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9670" y="3315111"/>
              <a:ext cx="10620273" cy="54651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73100" y="5638654"/>
            <a:ext cx="4299630" cy="508712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algn="ctr">
              <a:spcBef>
                <a:spcPts val="82"/>
              </a:spcBef>
            </a:pPr>
            <a:r>
              <a:rPr sz="1577" spc="18" dirty="0">
                <a:latin typeface="Arial MT"/>
                <a:cs typeface="Arial MT"/>
              </a:rPr>
              <a:t>Prisoner's</a:t>
            </a:r>
            <a:r>
              <a:rPr sz="1577" spc="-3" dirty="0">
                <a:latin typeface="Arial MT"/>
                <a:cs typeface="Arial MT"/>
              </a:rPr>
              <a:t> </a:t>
            </a:r>
            <a:r>
              <a:rPr sz="1577" spc="9" dirty="0">
                <a:latin typeface="Arial MT"/>
                <a:cs typeface="Arial MT"/>
              </a:rPr>
              <a:t>Dilemma</a:t>
            </a:r>
            <a:r>
              <a:rPr sz="1577" dirty="0">
                <a:latin typeface="Arial MT"/>
                <a:cs typeface="Arial MT"/>
              </a:rPr>
              <a:t> </a:t>
            </a:r>
            <a:r>
              <a:rPr sz="1577" spc="39" dirty="0">
                <a:latin typeface="Arial MT"/>
                <a:cs typeface="Arial MT"/>
              </a:rPr>
              <a:t>with</a:t>
            </a:r>
            <a:r>
              <a:rPr sz="1577" dirty="0">
                <a:latin typeface="Arial MT"/>
                <a:cs typeface="Arial MT"/>
              </a:rPr>
              <a:t> </a:t>
            </a:r>
            <a:r>
              <a:rPr sz="1577" spc="18" dirty="0">
                <a:latin typeface="Arial MT"/>
                <a:cs typeface="Arial MT"/>
              </a:rPr>
              <a:t>enforcement:</a:t>
            </a:r>
            <a:endParaRPr sz="1577">
              <a:latin typeface="Arial MT"/>
              <a:cs typeface="Arial MT"/>
            </a:endParaRPr>
          </a:p>
          <a:p>
            <a:pPr algn="ctr">
              <a:spcBef>
                <a:spcPts val="52"/>
              </a:spcBef>
            </a:pPr>
            <a:r>
              <a:rPr sz="1577" b="1" spc="15" dirty="0">
                <a:solidFill>
                  <a:srgbClr val="FF42A1"/>
                </a:solidFill>
                <a:latin typeface="Arial"/>
                <a:cs typeface="Arial"/>
              </a:rPr>
              <a:t>defection</a:t>
            </a:r>
            <a:r>
              <a:rPr sz="1577" b="1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24" dirty="0">
                <a:solidFill>
                  <a:srgbClr val="FF42A1"/>
                </a:solidFill>
                <a:latin typeface="Arial"/>
                <a:cs typeface="Arial"/>
              </a:rPr>
              <a:t>is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6" dirty="0">
                <a:solidFill>
                  <a:srgbClr val="FF42A1"/>
                </a:solidFill>
                <a:latin typeface="Arial"/>
                <a:cs typeface="Arial"/>
              </a:rPr>
              <a:t>systematically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3" dirty="0">
                <a:solidFill>
                  <a:srgbClr val="FF42A1"/>
                </a:solidFill>
                <a:latin typeface="Arial"/>
                <a:cs typeface="Arial"/>
              </a:rPr>
              <a:t>punished</a:t>
            </a:r>
            <a:r>
              <a:rPr sz="1577" b="1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18" dirty="0">
                <a:solidFill>
                  <a:srgbClr val="FF42A1"/>
                </a:solidFill>
                <a:latin typeface="Arial"/>
                <a:cs typeface="Arial"/>
              </a:rPr>
              <a:t>with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49" dirty="0">
                <a:solidFill>
                  <a:srgbClr val="FF42A1"/>
                </a:solidFill>
                <a:latin typeface="Arial"/>
                <a:cs typeface="Arial"/>
              </a:rPr>
              <a:t>-2.</a:t>
            </a:r>
            <a:endParaRPr sz="157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36992" y="6424728"/>
            <a:ext cx="1286116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15" dirty="0">
                <a:latin typeface="Arial MT"/>
                <a:cs typeface="Arial MT"/>
              </a:rPr>
              <a:t>See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15" dirty="0">
                <a:latin typeface="Arial MT"/>
                <a:cs typeface="Arial MT"/>
              </a:rPr>
              <a:t>Ostrom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24" dirty="0">
                <a:latin typeface="Arial MT"/>
                <a:cs typeface="Arial MT"/>
              </a:rPr>
              <a:t>(1990)</a:t>
            </a:r>
            <a:endParaRPr sz="118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10610" y="1863843"/>
            <a:ext cx="2580318" cy="1002813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190992" marR="186371" algn="ctr">
              <a:lnSpc>
                <a:spcPct val="100400"/>
              </a:lnSpc>
              <a:spcBef>
                <a:spcPts val="76"/>
              </a:spcBef>
            </a:pPr>
            <a:r>
              <a:rPr sz="1577" spc="18" dirty="0">
                <a:latin typeface="Arial MT"/>
                <a:cs typeface="Arial MT"/>
              </a:rPr>
              <a:t>Prisoner's</a:t>
            </a:r>
            <a:r>
              <a:rPr sz="1577" spc="-12" dirty="0">
                <a:latin typeface="Arial MT"/>
                <a:cs typeface="Arial MT"/>
              </a:rPr>
              <a:t> </a:t>
            </a:r>
            <a:r>
              <a:rPr sz="1577" spc="9" dirty="0">
                <a:latin typeface="Arial MT"/>
                <a:cs typeface="Arial MT"/>
              </a:rPr>
              <a:t>Dilemma</a:t>
            </a:r>
            <a:r>
              <a:rPr sz="1577" spc="-9" dirty="0">
                <a:latin typeface="Arial MT"/>
                <a:cs typeface="Arial MT"/>
              </a:rPr>
              <a:t> </a:t>
            </a:r>
            <a:r>
              <a:rPr sz="1577" spc="39" dirty="0">
                <a:latin typeface="Arial MT"/>
                <a:cs typeface="Arial MT"/>
              </a:rPr>
              <a:t>with </a:t>
            </a:r>
            <a:r>
              <a:rPr sz="1577" spc="-431" dirty="0">
                <a:latin typeface="Arial MT"/>
                <a:cs typeface="Arial MT"/>
              </a:rPr>
              <a:t> </a:t>
            </a:r>
            <a:r>
              <a:rPr sz="1577" spc="18" dirty="0">
                <a:latin typeface="Arial MT"/>
                <a:cs typeface="Arial MT"/>
              </a:rPr>
              <a:t>enforcement:</a:t>
            </a:r>
            <a:endParaRPr sz="1577">
              <a:latin typeface="Arial MT"/>
              <a:cs typeface="Arial MT"/>
            </a:endParaRPr>
          </a:p>
          <a:p>
            <a:pPr marL="7701" marR="3081" algn="ctr">
              <a:lnSpc>
                <a:spcPts val="1953"/>
              </a:lnSpc>
              <a:spcBef>
                <a:spcPts val="52"/>
              </a:spcBef>
            </a:pPr>
            <a:r>
              <a:rPr sz="1577" b="1" spc="15" dirty="0">
                <a:solidFill>
                  <a:srgbClr val="FF42A1"/>
                </a:solidFill>
                <a:latin typeface="Arial"/>
                <a:cs typeface="Arial"/>
              </a:rPr>
              <a:t>defection</a:t>
            </a:r>
            <a:r>
              <a:rPr sz="1577" b="1" spc="-12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24" dirty="0">
                <a:solidFill>
                  <a:srgbClr val="FF42A1"/>
                </a:solidFill>
                <a:latin typeface="Arial"/>
                <a:cs typeface="Arial"/>
              </a:rPr>
              <a:t>is</a:t>
            </a:r>
            <a:r>
              <a:rPr sz="1577" b="1" spc="-9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6" dirty="0">
                <a:solidFill>
                  <a:srgbClr val="FF42A1"/>
                </a:solidFill>
                <a:latin typeface="Arial"/>
                <a:cs typeface="Arial"/>
              </a:rPr>
              <a:t>systematically </a:t>
            </a:r>
            <a:r>
              <a:rPr sz="1577" b="1" spc="-431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3" dirty="0">
                <a:solidFill>
                  <a:srgbClr val="FF42A1"/>
                </a:solidFill>
                <a:latin typeface="Arial"/>
                <a:cs typeface="Arial"/>
              </a:rPr>
              <a:t>punished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18" dirty="0">
                <a:solidFill>
                  <a:srgbClr val="FF42A1"/>
                </a:solidFill>
                <a:latin typeface="Arial"/>
                <a:cs typeface="Arial"/>
              </a:rPr>
              <a:t>with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12" dirty="0">
                <a:solidFill>
                  <a:srgbClr val="FF42A1"/>
                </a:solidFill>
                <a:latin typeface="Arial"/>
                <a:cs typeface="Arial"/>
              </a:rPr>
              <a:t>—2.</a:t>
            </a:r>
            <a:endParaRPr sz="157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164" y="4486501"/>
            <a:ext cx="8527640" cy="36905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335" spc="9" dirty="0">
                <a:latin typeface="Microsoft Sans Serif"/>
                <a:cs typeface="Microsoft Sans Serif"/>
              </a:rPr>
              <a:t>If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2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18" dirty="0">
                <a:latin typeface="Microsoft Sans Serif"/>
                <a:cs typeface="Microsoft Sans Serif"/>
              </a:rPr>
              <a:t>cooperates,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1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69" dirty="0">
                <a:latin typeface="Microsoft Sans Serif"/>
                <a:cs typeface="Microsoft Sans Serif"/>
              </a:rPr>
              <a:t>is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69" dirty="0">
                <a:latin typeface="Microsoft Sans Serif"/>
                <a:cs typeface="Microsoft Sans Serif"/>
              </a:rPr>
              <a:t>better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49" dirty="0">
                <a:latin typeface="Microsoft Sans Serif"/>
                <a:cs typeface="Microsoft Sans Serif"/>
              </a:rPr>
              <a:t>off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45" dirty="0">
                <a:latin typeface="Microsoft Sans Serif"/>
                <a:cs typeface="Microsoft Sans Serif"/>
              </a:rPr>
              <a:t>cooperating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52" dirty="0">
                <a:latin typeface="Microsoft Sans Serif"/>
                <a:cs typeface="Microsoft Sans Serif"/>
              </a:rPr>
              <a:t>(10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200" dirty="0">
                <a:latin typeface="Microsoft Sans Serif"/>
                <a:cs typeface="Microsoft Sans Serif"/>
              </a:rPr>
              <a:t>&gt;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82" dirty="0">
                <a:latin typeface="Microsoft Sans Serif"/>
                <a:cs typeface="Microsoft Sans Serif"/>
              </a:rPr>
              <a:t>9)</a:t>
            </a:r>
            <a:endParaRPr sz="2335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36992" y="6424728"/>
            <a:ext cx="1286116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15" dirty="0">
                <a:latin typeface="Arial MT"/>
                <a:cs typeface="Arial MT"/>
              </a:rPr>
              <a:t>See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15" dirty="0">
                <a:latin typeface="Arial MT"/>
                <a:cs typeface="Arial MT"/>
              </a:rPr>
              <a:t>Ostrom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24" dirty="0">
                <a:latin typeface="Arial MT"/>
                <a:cs typeface="Arial MT"/>
              </a:rPr>
              <a:t>(1990)</a:t>
            </a:r>
            <a:endParaRPr sz="118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6511" y="0"/>
            <a:ext cx="8267336" cy="4366632"/>
            <a:chOff x="1560161" y="0"/>
            <a:chExt cx="13633450" cy="7200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161" y="0"/>
              <a:ext cx="13633092" cy="72007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65680" y="1727696"/>
              <a:ext cx="4743450" cy="4859020"/>
            </a:xfrm>
            <a:custGeom>
              <a:avLst/>
              <a:gdLst/>
              <a:ahLst/>
              <a:cxnLst/>
              <a:rect l="l" t="t" r="r" b="b"/>
              <a:pathLst>
                <a:path w="4743450" h="4859020">
                  <a:moveTo>
                    <a:pt x="0" y="0"/>
                  </a:moveTo>
                  <a:lnTo>
                    <a:pt x="4743311" y="0"/>
                  </a:lnTo>
                  <a:lnTo>
                    <a:pt x="4743311" y="4858490"/>
                  </a:lnTo>
                  <a:lnTo>
                    <a:pt x="0" y="4858490"/>
                  </a:lnTo>
                  <a:lnTo>
                    <a:pt x="0" y="0"/>
                  </a:lnTo>
                  <a:close/>
                </a:path>
              </a:pathLst>
            </a:custGeom>
            <a:ln w="104708">
              <a:solidFill>
                <a:srgbClr val="960E52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7660" y="4334112"/>
            <a:ext cx="8527640" cy="212696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335" spc="9" dirty="0">
                <a:latin typeface="Microsoft Sans Serif"/>
                <a:cs typeface="Microsoft Sans Serif"/>
              </a:rPr>
              <a:t>If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2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18" dirty="0">
                <a:latin typeface="Microsoft Sans Serif"/>
                <a:cs typeface="Microsoft Sans Serif"/>
              </a:rPr>
              <a:t>cooperates,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1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69" dirty="0">
                <a:latin typeface="Microsoft Sans Serif"/>
                <a:cs typeface="Microsoft Sans Serif"/>
              </a:rPr>
              <a:t>is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69" dirty="0">
                <a:latin typeface="Microsoft Sans Serif"/>
                <a:cs typeface="Microsoft Sans Serif"/>
              </a:rPr>
              <a:t>better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49" dirty="0">
                <a:latin typeface="Microsoft Sans Serif"/>
                <a:cs typeface="Microsoft Sans Serif"/>
              </a:rPr>
              <a:t>off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45" dirty="0">
                <a:latin typeface="Microsoft Sans Serif"/>
                <a:cs typeface="Microsoft Sans Serif"/>
              </a:rPr>
              <a:t>cooperating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52" dirty="0">
                <a:latin typeface="Microsoft Sans Serif"/>
                <a:cs typeface="Microsoft Sans Serif"/>
              </a:rPr>
              <a:t>(10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200" dirty="0">
                <a:latin typeface="Microsoft Sans Serif"/>
                <a:cs typeface="Microsoft Sans Serif"/>
              </a:rPr>
              <a:t>&gt;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82" dirty="0">
                <a:latin typeface="Microsoft Sans Serif"/>
                <a:cs typeface="Microsoft Sans Serif"/>
              </a:rPr>
              <a:t>9)</a:t>
            </a:r>
            <a:endParaRPr sz="2335" dirty="0">
              <a:latin typeface="Microsoft Sans Serif"/>
              <a:cs typeface="Microsoft Sans Serif"/>
            </a:endParaRPr>
          </a:p>
          <a:p>
            <a:pPr>
              <a:spcBef>
                <a:spcPts val="6"/>
              </a:spcBef>
            </a:pPr>
            <a:endParaRPr sz="2820" dirty="0">
              <a:latin typeface="Microsoft Sans Serif"/>
              <a:cs typeface="Microsoft Sans Serif"/>
            </a:endParaRPr>
          </a:p>
          <a:p>
            <a:pPr marL="70851"/>
            <a:r>
              <a:rPr sz="2335" spc="9" dirty="0">
                <a:latin typeface="Microsoft Sans Serif"/>
                <a:cs typeface="Microsoft Sans Serif"/>
              </a:rPr>
              <a:t>If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2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15" dirty="0">
                <a:latin typeface="Microsoft Sans Serif"/>
                <a:cs typeface="Microsoft Sans Serif"/>
              </a:rPr>
              <a:t>defects,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49" dirty="0">
                <a:latin typeface="Microsoft Sans Serif"/>
                <a:cs typeface="Microsoft Sans Serif"/>
              </a:rPr>
              <a:t>Player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1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-69" dirty="0">
                <a:latin typeface="Microsoft Sans Serif"/>
                <a:cs typeface="Microsoft Sans Serif"/>
              </a:rPr>
              <a:t>is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69" dirty="0">
                <a:latin typeface="Microsoft Sans Serif"/>
                <a:cs typeface="Microsoft Sans Serif"/>
              </a:rPr>
              <a:t>better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49" dirty="0">
                <a:latin typeface="Microsoft Sans Serif"/>
                <a:cs typeface="Microsoft Sans Serif"/>
              </a:rPr>
              <a:t>off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45" dirty="0">
                <a:latin typeface="Microsoft Sans Serif"/>
                <a:cs typeface="Microsoft Sans Serif"/>
              </a:rPr>
              <a:t>cooperating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52" dirty="0">
                <a:latin typeface="Microsoft Sans Serif"/>
                <a:cs typeface="Microsoft Sans Serif"/>
              </a:rPr>
              <a:t>(-1</a:t>
            </a:r>
            <a:r>
              <a:rPr sz="2335" spc="30" dirty="0">
                <a:latin typeface="Microsoft Sans Serif"/>
                <a:cs typeface="Microsoft Sans Serif"/>
              </a:rPr>
              <a:t> </a:t>
            </a:r>
            <a:r>
              <a:rPr sz="2335" spc="200" dirty="0">
                <a:latin typeface="Microsoft Sans Serif"/>
                <a:cs typeface="Microsoft Sans Serif"/>
              </a:rPr>
              <a:t>&gt;</a:t>
            </a:r>
            <a:r>
              <a:rPr sz="2335" spc="33" dirty="0">
                <a:latin typeface="Microsoft Sans Serif"/>
                <a:cs typeface="Microsoft Sans Serif"/>
              </a:rPr>
              <a:t> </a:t>
            </a:r>
            <a:r>
              <a:rPr sz="2335" spc="-52" dirty="0">
                <a:latin typeface="Microsoft Sans Serif"/>
                <a:cs typeface="Microsoft Sans Serif"/>
              </a:rPr>
              <a:t>-2)</a:t>
            </a:r>
            <a:endParaRPr sz="2335" dirty="0">
              <a:latin typeface="Microsoft Sans Serif"/>
              <a:cs typeface="Microsoft Sans Serif"/>
            </a:endParaRPr>
          </a:p>
          <a:p>
            <a:pPr marL="70851" marR="239125">
              <a:lnSpc>
                <a:spcPct val="114199"/>
              </a:lnSpc>
              <a:spcBef>
                <a:spcPts val="1401"/>
              </a:spcBef>
            </a:pPr>
            <a:r>
              <a:rPr sz="2335" b="1" spc="30" dirty="0">
                <a:latin typeface="Arial"/>
                <a:cs typeface="Arial"/>
              </a:rPr>
              <a:t>With</a:t>
            </a:r>
            <a:r>
              <a:rPr sz="2335" b="1" spc="45" dirty="0">
                <a:latin typeface="Arial"/>
                <a:cs typeface="Arial"/>
              </a:rPr>
              <a:t> </a:t>
            </a:r>
            <a:r>
              <a:rPr sz="2335" b="1" spc="-33" dirty="0">
                <a:latin typeface="Arial"/>
                <a:cs typeface="Arial"/>
              </a:rPr>
              <a:t>punishment,</a:t>
            </a:r>
            <a:r>
              <a:rPr sz="2335" b="1" spc="45" dirty="0">
                <a:latin typeface="Arial"/>
                <a:cs typeface="Arial"/>
              </a:rPr>
              <a:t> </a:t>
            </a:r>
            <a:r>
              <a:rPr sz="2335" b="1" spc="36" dirty="0">
                <a:latin typeface="Arial"/>
                <a:cs typeface="Arial"/>
              </a:rPr>
              <a:t>the</a:t>
            </a:r>
            <a:r>
              <a:rPr sz="2335" b="1" spc="45" dirty="0">
                <a:latin typeface="Arial"/>
                <a:cs typeface="Arial"/>
              </a:rPr>
              <a:t> </a:t>
            </a:r>
            <a:r>
              <a:rPr sz="2335" b="1" spc="-49" dirty="0">
                <a:solidFill>
                  <a:srgbClr val="D31876"/>
                </a:solidFill>
                <a:latin typeface="Arial"/>
                <a:cs typeface="Arial"/>
              </a:rPr>
              <a:t>Nash</a:t>
            </a:r>
            <a:r>
              <a:rPr sz="2335" b="1" spc="45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335" b="1" spc="-33" dirty="0">
                <a:solidFill>
                  <a:srgbClr val="D31876"/>
                </a:solidFill>
                <a:latin typeface="Arial"/>
                <a:cs typeface="Arial"/>
              </a:rPr>
              <a:t>Equilibrium</a:t>
            </a:r>
            <a:r>
              <a:rPr sz="2335" b="1" spc="49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335" b="1" spc="-149" dirty="0">
                <a:latin typeface="Arial"/>
                <a:cs typeface="Arial"/>
              </a:rPr>
              <a:t>is</a:t>
            </a:r>
            <a:r>
              <a:rPr sz="2335" b="1" spc="45" dirty="0">
                <a:latin typeface="Arial"/>
                <a:cs typeface="Arial"/>
              </a:rPr>
              <a:t> </a:t>
            </a:r>
            <a:r>
              <a:rPr sz="2335" b="1" spc="-6" dirty="0">
                <a:latin typeface="Arial"/>
                <a:cs typeface="Arial"/>
              </a:rPr>
              <a:t>now</a:t>
            </a:r>
            <a:r>
              <a:rPr sz="2335" b="1" spc="45" dirty="0">
                <a:latin typeface="Arial"/>
                <a:cs typeface="Arial"/>
              </a:rPr>
              <a:t> </a:t>
            </a:r>
            <a:r>
              <a:rPr sz="2335" b="1" spc="3" dirty="0">
                <a:latin typeface="Arial"/>
                <a:cs typeface="Arial"/>
              </a:rPr>
              <a:t>(Cooperate; </a:t>
            </a:r>
            <a:r>
              <a:rPr sz="2335" b="1" spc="-640" dirty="0">
                <a:latin typeface="Arial"/>
                <a:cs typeface="Arial"/>
              </a:rPr>
              <a:t> </a:t>
            </a:r>
            <a:r>
              <a:rPr sz="2335" b="1" spc="3" dirty="0">
                <a:latin typeface="Arial"/>
                <a:cs typeface="Arial"/>
              </a:rPr>
              <a:t>Cooperate)!</a:t>
            </a:r>
            <a:endParaRPr sz="2335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36992" y="6424728"/>
            <a:ext cx="1286116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15" dirty="0">
                <a:latin typeface="Arial MT"/>
                <a:cs typeface="Arial MT"/>
              </a:rPr>
              <a:t>See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15" dirty="0">
                <a:latin typeface="Arial MT"/>
                <a:cs typeface="Arial MT"/>
              </a:rPr>
              <a:t>Ostrom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24" dirty="0">
                <a:latin typeface="Arial MT"/>
                <a:cs typeface="Arial MT"/>
              </a:rPr>
              <a:t>(1990)</a:t>
            </a:r>
            <a:endParaRPr sz="1182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10610" y="1863843"/>
            <a:ext cx="2580318" cy="1002813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190992" marR="186371" algn="ctr">
              <a:lnSpc>
                <a:spcPct val="100400"/>
              </a:lnSpc>
              <a:spcBef>
                <a:spcPts val="76"/>
              </a:spcBef>
            </a:pPr>
            <a:r>
              <a:rPr sz="1577" spc="18" dirty="0">
                <a:latin typeface="Arial MT"/>
                <a:cs typeface="Arial MT"/>
              </a:rPr>
              <a:t>Prisoner's</a:t>
            </a:r>
            <a:r>
              <a:rPr sz="1577" spc="-12" dirty="0">
                <a:latin typeface="Arial MT"/>
                <a:cs typeface="Arial MT"/>
              </a:rPr>
              <a:t> </a:t>
            </a:r>
            <a:r>
              <a:rPr sz="1577" spc="9" dirty="0">
                <a:latin typeface="Arial MT"/>
                <a:cs typeface="Arial MT"/>
              </a:rPr>
              <a:t>Dilemma</a:t>
            </a:r>
            <a:r>
              <a:rPr sz="1577" spc="-9" dirty="0">
                <a:latin typeface="Arial MT"/>
                <a:cs typeface="Arial MT"/>
              </a:rPr>
              <a:t> </a:t>
            </a:r>
            <a:r>
              <a:rPr sz="1577" spc="39" dirty="0">
                <a:latin typeface="Arial MT"/>
                <a:cs typeface="Arial MT"/>
              </a:rPr>
              <a:t>with </a:t>
            </a:r>
            <a:r>
              <a:rPr sz="1577" spc="-431" dirty="0">
                <a:latin typeface="Arial MT"/>
                <a:cs typeface="Arial MT"/>
              </a:rPr>
              <a:t> </a:t>
            </a:r>
            <a:r>
              <a:rPr sz="1577" spc="18" dirty="0">
                <a:latin typeface="Arial MT"/>
                <a:cs typeface="Arial MT"/>
              </a:rPr>
              <a:t>enforcement:</a:t>
            </a:r>
            <a:endParaRPr sz="1577">
              <a:latin typeface="Arial MT"/>
              <a:cs typeface="Arial MT"/>
            </a:endParaRPr>
          </a:p>
          <a:p>
            <a:pPr marL="7701" marR="3081" algn="ctr">
              <a:lnSpc>
                <a:spcPts val="1953"/>
              </a:lnSpc>
              <a:spcBef>
                <a:spcPts val="52"/>
              </a:spcBef>
            </a:pPr>
            <a:r>
              <a:rPr sz="1577" b="1" spc="15" dirty="0">
                <a:solidFill>
                  <a:srgbClr val="FF42A1"/>
                </a:solidFill>
                <a:latin typeface="Arial"/>
                <a:cs typeface="Arial"/>
              </a:rPr>
              <a:t>defection</a:t>
            </a:r>
            <a:r>
              <a:rPr sz="1577" b="1" spc="-12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24" dirty="0">
                <a:solidFill>
                  <a:srgbClr val="FF42A1"/>
                </a:solidFill>
                <a:latin typeface="Arial"/>
                <a:cs typeface="Arial"/>
              </a:rPr>
              <a:t>is</a:t>
            </a:r>
            <a:r>
              <a:rPr sz="1577" b="1" spc="-9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6" dirty="0">
                <a:solidFill>
                  <a:srgbClr val="FF42A1"/>
                </a:solidFill>
                <a:latin typeface="Arial"/>
                <a:cs typeface="Arial"/>
              </a:rPr>
              <a:t>systematically </a:t>
            </a:r>
            <a:r>
              <a:rPr sz="1577" b="1" spc="-431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-3" dirty="0">
                <a:solidFill>
                  <a:srgbClr val="FF42A1"/>
                </a:solidFill>
                <a:latin typeface="Arial"/>
                <a:cs typeface="Arial"/>
              </a:rPr>
              <a:t>punished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18" dirty="0">
                <a:solidFill>
                  <a:srgbClr val="FF42A1"/>
                </a:solidFill>
                <a:latin typeface="Arial"/>
                <a:cs typeface="Arial"/>
              </a:rPr>
              <a:t>with</a:t>
            </a:r>
            <a:r>
              <a:rPr sz="1577" b="1" spc="3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1577" b="1" spc="12" dirty="0">
                <a:solidFill>
                  <a:srgbClr val="FF42A1"/>
                </a:solidFill>
                <a:latin typeface="Arial"/>
                <a:cs typeface="Arial"/>
              </a:rPr>
              <a:t>—2.</a:t>
            </a:r>
            <a:endParaRPr sz="157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3A67A96-DC3F-E5CA-9031-449D9256F031}"/>
              </a:ext>
            </a:extLst>
          </p:cNvPr>
          <p:cNvSpPr txBox="1"/>
          <p:nvPr/>
        </p:nvSpPr>
        <p:spPr>
          <a:xfrm>
            <a:off x="920732" y="1996560"/>
            <a:ext cx="10350536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851" marR="239125" algn="ctr">
              <a:lnSpc>
                <a:spcPct val="114199"/>
              </a:lnSpc>
              <a:spcBef>
                <a:spcPts val="1401"/>
              </a:spcBef>
            </a:pPr>
            <a:r>
              <a:rPr lang="en-US" sz="2668" b="1" spc="30" dirty="0">
                <a:latin typeface="Arial"/>
                <a:cs typeface="Arial"/>
              </a:rPr>
              <a:t>How do humans create institutions? </a:t>
            </a:r>
            <a:endParaRPr lang="en-US" sz="266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419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489846"/>
            <a:ext cx="10905799" cy="753874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8"/>
              </a:spcBef>
            </a:pPr>
            <a:r>
              <a:rPr sz="4851" spc="-161" dirty="0"/>
              <a:t>The</a:t>
            </a:r>
            <a:r>
              <a:rPr sz="4851" spc="-118" dirty="0"/>
              <a:t> </a:t>
            </a:r>
            <a:r>
              <a:rPr sz="4851" spc="-170" dirty="0"/>
              <a:t>most</a:t>
            </a:r>
            <a:r>
              <a:rPr sz="4851" spc="-115" dirty="0"/>
              <a:t> </a:t>
            </a:r>
            <a:r>
              <a:rPr sz="4851" spc="-69" dirty="0"/>
              <a:t>important</a:t>
            </a:r>
            <a:r>
              <a:rPr sz="4851" spc="-115" dirty="0"/>
              <a:t> </a:t>
            </a:r>
            <a:r>
              <a:rPr sz="4851" spc="-176" dirty="0"/>
              <a:t>person</a:t>
            </a:r>
            <a:r>
              <a:rPr sz="4851" spc="-115" dirty="0"/>
              <a:t> </a:t>
            </a:r>
            <a:r>
              <a:rPr lang="fr-FR" sz="4851" spc="-9" dirty="0"/>
              <a:t>in RCT critique</a:t>
            </a:r>
            <a:endParaRPr sz="4851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2712" y="1257211"/>
            <a:ext cx="2914446" cy="43716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079" y="1593738"/>
            <a:ext cx="5517921" cy="36748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8003" y="5361266"/>
            <a:ext cx="11745240" cy="1526069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sz="1455" spc="-12" dirty="0">
                <a:latin typeface="Arial MT"/>
                <a:cs typeface="Arial MT"/>
              </a:rPr>
              <a:t>Elinor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3" dirty="0">
                <a:latin typeface="Arial MT"/>
                <a:cs typeface="Arial MT"/>
              </a:rPr>
              <a:t>Ostrom,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15" dirty="0">
                <a:latin typeface="Arial MT"/>
                <a:cs typeface="Arial MT"/>
              </a:rPr>
              <a:t>political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9" dirty="0">
                <a:latin typeface="Arial MT"/>
                <a:cs typeface="Arial MT"/>
              </a:rPr>
              <a:t>scientist.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-12" dirty="0">
                <a:latin typeface="Arial MT"/>
                <a:cs typeface="Arial MT"/>
              </a:rPr>
              <a:t>Winner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21" dirty="0">
                <a:latin typeface="Arial MT"/>
                <a:cs typeface="Arial MT"/>
              </a:rPr>
              <a:t>of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6" dirty="0">
                <a:latin typeface="Arial MT"/>
                <a:cs typeface="Arial MT"/>
              </a:rPr>
              <a:t>the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6" dirty="0">
                <a:latin typeface="Arial MT"/>
                <a:cs typeface="Arial MT"/>
              </a:rPr>
              <a:t>Nobel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-21" dirty="0">
                <a:latin typeface="Arial MT"/>
                <a:cs typeface="Arial MT"/>
              </a:rPr>
              <a:t>Prize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-3" dirty="0">
                <a:latin typeface="Arial MT"/>
                <a:cs typeface="Arial MT"/>
              </a:rPr>
              <a:t>in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6" dirty="0">
                <a:latin typeface="Arial MT"/>
                <a:cs typeface="Arial MT"/>
              </a:rPr>
              <a:t>Economics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-3" dirty="0">
                <a:latin typeface="Arial MT"/>
                <a:cs typeface="Arial MT"/>
              </a:rPr>
              <a:t>in</a:t>
            </a:r>
            <a:r>
              <a:rPr sz="1455" dirty="0">
                <a:latin typeface="Arial MT"/>
                <a:cs typeface="Arial MT"/>
              </a:rPr>
              <a:t> </a:t>
            </a:r>
            <a:r>
              <a:rPr sz="1455" spc="-6" dirty="0">
                <a:latin typeface="Arial MT"/>
                <a:cs typeface="Arial MT"/>
              </a:rPr>
              <a:t>2009</a:t>
            </a:r>
            <a:endParaRPr sz="1455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98" dirty="0">
              <a:latin typeface="Arial MT"/>
              <a:cs typeface="Arial MT"/>
            </a:endParaRPr>
          </a:p>
          <a:p>
            <a:pPr>
              <a:spcBef>
                <a:spcPts val="24"/>
              </a:spcBef>
            </a:pPr>
            <a:endParaRPr sz="2062" dirty="0">
              <a:latin typeface="Arial MT"/>
              <a:cs typeface="Arial MT"/>
            </a:endParaRPr>
          </a:p>
          <a:p>
            <a:pPr marL="6673544" marR="3081" algn="just">
              <a:lnSpc>
                <a:spcPct val="79500"/>
              </a:lnSpc>
            </a:pPr>
            <a:r>
              <a:rPr sz="1940" spc="-30" dirty="0">
                <a:latin typeface="Arial MT"/>
                <a:cs typeface="Arial MT"/>
              </a:rPr>
              <a:t>Ostrom,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76" dirty="0">
                <a:latin typeface="Arial MT"/>
                <a:cs typeface="Arial MT"/>
              </a:rPr>
              <a:t>E.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82" dirty="0">
                <a:latin typeface="Arial MT"/>
                <a:cs typeface="Arial MT"/>
              </a:rPr>
              <a:t>(1990).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39" dirty="0">
                <a:latin typeface="Arial MT"/>
                <a:cs typeface="Arial MT"/>
              </a:rPr>
              <a:t>Governing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21" dirty="0">
                <a:latin typeface="Arial MT"/>
                <a:cs typeface="Arial MT"/>
              </a:rPr>
              <a:t>the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15" dirty="0">
                <a:latin typeface="Arial MT"/>
                <a:cs typeface="Arial MT"/>
              </a:rPr>
              <a:t>commons: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85" dirty="0">
                <a:latin typeface="Arial MT"/>
                <a:cs typeface="Arial MT"/>
              </a:rPr>
              <a:t>The </a:t>
            </a:r>
            <a:r>
              <a:rPr sz="1940" spc="-534" dirty="0">
                <a:latin typeface="Arial MT"/>
                <a:cs typeface="Arial MT"/>
              </a:rPr>
              <a:t> </a:t>
            </a:r>
            <a:r>
              <a:rPr sz="1940" spc="-30" dirty="0">
                <a:latin typeface="Arial MT"/>
                <a:cs typeface="Arial MT"/>
              </a:rPr>
              <a:t>evolution </a:t>
            </a:r>
            <a:r>
              <a:rPr sz="1940" spc="12" dirty="0">
                <a:latin typeface="Arial MT"/>
                <a:cs typeface="Arial MT"/>
              </a:rPr>
              <a:t>of </a:t>
            </a:r>
            <a:r>
              <a:rPr sz="1940" spc="-24" dirty="0">
                <a:latin typeface="Arial MT"/>
                <a:cs typeface="Arial MT"/>
              </a:rPr>
              <a:t>institutions </a:t>
            </a:r>
            <a:r>
              <a:rPr sz="1940" spc="-9" dirty="0">
                <a:latin typeface="Arial MT"/>
                <a:cs typeface="Arial MT"/>
              </a:rPr>
              <a:t>for </a:t>
            </a:r>
            <a:r>
              <a:rPr sz="1940" spc="-27" dirty="0">
                <a:latin typeface="Arial MT"/>
                <a:cs typeface="Arial MT"/>
              </a:rPr>
              <a:t>collective </a:t>
            </a:r>
            <a:r>
              <a:rPr sz="1940" spc="-21" dirty="0">
                <a:latin typeface="Arial MT"/>
                <a:cs typeface="Arial MT"/>
              </a:rPr>
              <a:t>action. </a:t>
            </a:r>
            <a:r>
              <a:rPr sz="1940" spc="-85" dirty="0">
                <a:latin typeface="Arial MT"/>
                <a:cs typeface="Arial MT"/>
              </a:rPr>
              <a:t>The </a:t>
            </a:r>
            <a:r>
              <a:rPr sz="1940" spc="-531" dirty="0">
                <a:latin typeface="Arial MT"/>
                <a:cs typeface="Arial MT"/>
              </a:rPr>
              <a:t> </a:t>
            </a:r>
            <a:r>
              <a:rPr sz="1940" spc="-33" dirty="0">
                <a:latin typeface="Arial MT"/>
                <a:cs typeface="Arial MT"/>
              </a:rPr>
              <a:t>Political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21" dirty="0">
                <a:latin typeface="Arial MT"/>
                <a:cs typeface="Arial MT"/>
              </a:rPr>
              <a:t>economy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12" dirty="0">
                <a:latin typeface="Arial MT"/>
                <a:cs typeface="Arial MT"/>
              </a:rPr>
              <a:t>of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24" dirty="0">
                <a:latin typeface="Arial MT"/>
                <a:cs typeface="Arial MT"/>
              </a:rPr>
              <a:t>institutions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18" dirty="0">
                <a:latin typeface="Arial MT"/>
                <a:cs typeface="Arial MT"/>
              </a:rPr>
              <a:t>and</a:t>
            </a:r>
            <a:r>
              <a:rPr sz="1940" spc="-97" dirty="0">
                <a:latin typeface="Arial MT"/>
                <a:cs typeface="Arial MT"/>
              </a:rPr>
              <a:t> </a:t>
            </a:r>
            <a:r>
              <a:rPr sz="1940" spc="-33" dirty="0">
                <a:latin typeface="Arial MT"/>
                <a:cs typeface="Arial MT"/>
              </a:rPr>
              <a:t>decisions.</a:t>
            </a:r>
            <a:endParaRPr sz="194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F7F5A4B-95BA-0804-EE03-95B2E91C9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1" y="148262"/>
            <a:ext cx="8657021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lang="fr-FR" sz="5579" spc="-143" dirty="0" err="1">
                <a:latin typeface="Garamond" panose="02020404030301010803" pitchFamily="18" charset="0"/>
              </a:rPr>
              <a:t>Before</a:t>
            </a:r>
            <a:r>
              <a:rPr lang="fr-FR" sz="5579" spc="-143" dirty="0">
                <a:latin typeface="Garamond" panose="02020404030301010803" pitchFamily="18" charset="0"/>
              </a:rPr>
              <a:t> </a:t>
            </a:r>
            <a:r>
              <a:rPr lang="fr-FR" sz="5579" spc="-143" dirty="0" err="1">
                <a:latin typeface="Garamond" panose="02020404030301010803" pitchFamily="18" charset="0"/>
              </a:rPr>
              <a:t>Ostrom</a:t>
            </a:r>
            <a:r>
              <a:rPr lang="fr-FR" sz="5579" spc="-143" dirty="0">
                <a:latin typeface="Garamond" panose="02020404030301010803" pitchFamily="18" charset="0"/>
              </a:rPr>
              <a:t>…</a:t>
            </a:r>
            <a:endParaRPr sz="5579" dirty="0">
              <a:latin typeface="Garamond" panose="02020404030301010803" pitchFamily="18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292E001-F364-7F7F-9E7D-E5EE1FA96D68}"/>
              </a:ext>
            </a:extLst>
          </p:cNvPr>
          <p:cNvSpPr txBox="1"/>
          <p:nvPr/>
        </p:nvSpPr>
        <p:spPr>
          <a:xfrm>
            <a:off x="44710" y="1686072"/>
            <a:ext cx="12102579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16" algn="ctr">
              <a:lnSpc>
                <a:spcPts val="3159"/>
              </a:lnSpc>
              <a:buSzPct val="123611"/>
              <a:tabLst>
                <a:tab pos="204469" algn="l"/>
              </a:tabLst>
            </a:pPr>
            <a:r>
              <a:rPr lang="fr-FR" sz="2183" i="1" dirty="0">
                <a:latin typeface="Garamond" panose="02020404030301010803" pitchFamily="18" charset="0"/>
                <a:cs typeface="Arial"/>
              </a:rPr>
              <a:t>In social sciences (and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policy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), institutions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were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often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considered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as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something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« 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external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 » to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individuals</a:t>
            </a:r>
            <a:endParaRPr sz="2183" i="1" dirty="0">
              <a:latin typeface="Garamond" panose="02020404030301010803" pitchFamily="18" charset="0"/>
              <a:cs typeface="Arial"/>
            </a:endParaRPr>
          </a:p>
        </p:txBody>
      </p:sp>
      <p:pic>
        <p:nvPicPr>
          <p:cNvPr id="2050" name="Picture 2" descr="1870 : souvenir d'une guerre oubliée - Ville de Drancy">
            <a:extLst>
              <a:ext uri="{FF2B5EF4-FFF2-40B4-BE49-F238E27FC236}">
                <a16:creationId xmlns:a16="http://schemas.microsoft.com/office/drawing/2014/main" id="{FEC3E42D-1F3C-E253-EA88-2AD32E53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685" y="3027078"/>
            <a:ext cx="3376631" cy="253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2EC1ED83-5108-063B-B105-A1451CCEEB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248" y="3028630"/>
            <a:ext cx="1292259" cy="1084781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6A0633D-A023-F735-F876-0EBE41D431F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1248" y="2982601"/>
            <a:ext cx="1292258" cy="1167855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22534ED9-A169-68C9-5F9A-F9D1C027270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211" y="4232753"/>
            <a:ext cx="1778329" cy="768958"/>
          </a:xfrm>
          <a:prstGeom prst="rect">
            <a:avLst/>
          </a:prstGeom>
        </p:spPr>
      </p:pic>
      <p:pic>
        <p:nvPicPr>
          <p:cNvPr id="2052" name="Picture 4" descr="What's punishment like in small-scale societies? - HBES">
            <a:extLst>
              <a:ext uri="{FF2B5EF4-FFF2-40B4-BE49-F238E27FC236}">
                <a16:creationId xmlns:a16="http://schemas.microsoft.com/office/drawing/2014/main" id="{6B0B76AF-CCBD-1B3B-405E-6E077F1BE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68" y="5046271"/>
            <a:ext cx="1958053" cy="140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lobal Healing and Social Harmony Meditations by Alan Pritz - Coffey Talk">
            <a:extLst>
              <a:ext uri="{FF2B5EF4-FFF2-40B4-BE49-F238E27FC236}">
                <a16:creationId xmlns:a16="http://schemas.microsoft.com/office/drawing/2014/main" id="{C5F63A87-4902-69D9-FE59-84A081D6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059" y="3100604"/>
            <a:ext cx="2532473" cy="253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0C74557-BEC3-3A80-53A8-A8652C990C65}"/>
              </a:ext>
            </a:extLst>
          </p:cNvPr>
          <p:cNvSpPr/>
          <p:nvPr/>
        </p:nvSpPr>
        <p:spPr>
          <a:xfrm>
            <a:off x="217967" y="2662254"/>
            <a:ext cx="3281155" cy="38352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92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2DC8A03E-9291-318F-5FBE-4543CF8C3EBC}"/>
              </a:ext>
            </a:extLst>
          </p:cNvPr>
          <p:cNvSpPr/>
          <p:nvPr/>
        </p:nvSpPr>
        <p:spPr>
          <a:xfrm>
            <a:off x="3686321" y="4366841"/>
            <a:ext cx="593307" cy="2938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92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0B3FB944-54B7-7536-7754-F76C56FDE0ED}"/>
              </a:ext>
            </a:extLst>
          </p:cNvPr>
          <p:cNvSpPr/>
          <p:nvPr/>
        </p:nvSpPr>
        <p:spPr>
          <a:xfrm>
            <a:off x="7912371" y="4300705"/>
            <a:ext cx="593307" cy="2938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92"/>
          </a:p>
        </p:txBody>
      </p:sp>
    </p:spTree>
    <p:extLst>
      <p:ext uri="{BB962C8B-B14F-4D97-AF65-F5344CB8AC3E}">
        <p14:creationId xmlns:p14="http://schemas.microsoft.com/office/powerpoint/2010/main" val="386818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5237D35-B1D3-4C13-ED06-1FA22594D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1" y="148262"/>
            <a:ext cx="8657021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lang="fr-FR" sz="5579" spc="-143" dirty="0">
                <a:latin typeface="Garamond" panose="02020404030301010803" pitchFamily="18" charset="0"/>
              </a:rPr>
              <a:t>The « </a:t>
            </a:r>
            <a:r>
              <a:rPr lang="fr-FR" sz="5579" spc="-143" dirty="0" err="1">
                <a:latin typeface="Garamond" panose="02020404030301010803" pitchFamily="18" charset="0"/>
              </a:rPr>
              <a:t>Leviathan</a:t>
            </a:r>
            <a:r>
              <a:rPr lang="fr-FR" sz="5579" spc="-143" dirty="0">
                <a:latin typeface="Garamond" panose="02020404030301010803" pitchFamily="18" charset="0"/>
              </a:rPr>
              <a:t> »</a:t>
            </a:r>
            <a:endParaRPr sz="5579" dirty="0">
              <a:latin typeface="Garamond" panose="02020404030301010803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EE8A651-942E-2781-C372-8A67A3EFD9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5009" y="1534483"/>
            <a:ext cx="3252279" cy="4683281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E796584E-555D-F265-B7AE-45DB736B472D}"/>
              </a:ext>
            </a:extLst>
          </p:cNvPr>
          <p:cNvSpPr txBox="1"/>
          <p:nvPr/>
        </p:nvSpPr>
        <p:spPr>
          <a:xfrm>
            <a:off x="20426" y="1303444"/>
            <a:ext cx="8269262" cy="796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74" indent="-346558" algn="just">
              <a:lnSpc>
                <a:spcPts val="3159"/>
              </a:lnSpc>
              <a:buSzPct val="123611"/>
              <a:buFont typeface="Arial" panose="020B0604020202020204" pitchFamily="34" charset="0"/>
              <a:buChar char="•"/>
              <a:tabLst>
                <a:tab pos="204469" algn="l"/>
              </a:tabLst>
            </a:pPr>
            <a:r>
              <a:rPr lang="fr-FR" sz="2183" dirty="0">
                <a:latin typeface="Garamond" panose="02020404030301010803" pitchFamily="18" charset="0"/>
                <a:cs typeface="Arial"/>
              </a:rPr>
              <a:t>A conception of the state as an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external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force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that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stabilizes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cooperation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through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monitoring and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punishment</a:t>
            </a:r>
            <a:endParaRPr sz="2183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4D14F0E-4630-AC23-92CF-C5AB9960B972}"/>
              </a:ext>
            </a:extLst>
          </p:cNvPr>
          <p:cNvSpPr txBox="1"/>
          <p:nvPr/>
        </p:nvSpPr>
        <p:spPr>
          <a:xfrm>
            <a:off x="20426" y="2920715"/>
            <a:ext cx="8269262" cy="1131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marR="3081" algn="ctr">
              <a:lnSpc>
                <a:spcPct val="114199"/>
              </a:lnSpc>
              <a:spcBef>
                <a:spcPts val="1901"/>
              </a:spcBef>
            </a:pPr>
            <a:r>
              <a:rPr lang="en-US" sz="2183" b="1" spc="55" dirty="0">
                <a:latin typeface="Garamond" panose="02020404030301010803" pitchFamily="18" charset="0"/>
                <a:cs typeface="Arial"/>
              </a:rPr>
              <a:t>"If </a:t>
            </a:r>
            <a:r>
              <a:rPr lang="en-US" sz="2183" b="1" spc="-49" dirty="0">
                <a:latin typeface="Garamond" panose="02020404030301010803" pitchFamily="18" charset="0"/>
                <a:cs typeface="Arial"/>
              </a:rPr>
              <a:t>ruin </a:t>
            </a:r>
            <a:r>
              <a:rPr lang="en-US" sz="2183" b="1" spc="-149" dirty="0">
                <a:latin typeface="Garamond" panose="02020404030301010803" pitchFamily="18" charset="0"/>
                <a:cs typeface="Arial"/>
              </a:rPr>
              <a:t>is </a:t>
            </a:r>
            <a:r>
              <a:rPr lang="en-US" sz="2183" b="1" spc="69" dirty="0">
                <a:latin typeface="Garamond" panose="02020404030301010803" pitchFamily="18" charset="0"/>
                <a:cs typeface="Arial"/>
              </a:rPr>
              <a:t>to </a:t>
            </a:r>
            <a:r>
              <a:rPr lang="en-US" sz="2183" b="1" spc="52" dirty="0">
                <a:latin typeface="Garamond" panose="02020404030301010803" pitchFamily="18" charset="0"/>
                <a:cs typeface="Arial"/>
              </a:rPr>
              <a:t>be </a:t>
            </a:r>
            <a:r>
              <a:rPr lang="en-US" sz="2183" b="1" dirty="0">
                <a:latin typeface="Garamond" panose="02020404030301010803" pitchFamily="18" charset="0"/>
                <a:cs typeface="Arial"/>
              </a:rPr>
              <a:t>avoided </a:t>
            </a:r>
            <a:r>
              <a:rPr lang="en-US" sz="2183" b="1" spc="-58" dirty="0">
                <a:latin typeface="Garamond" panose="02020404030301010803" pitchFamily="18" charset="0"/>
                <a:cs typeface="Arial"/>
              </a:rPr>
              <a:t>in </a:t>
            </a:r>
            <a:r>
              <a:rPr lang="en-US" sz="2183" b="1" spc="-39" dirty="0">
                <a:latin typeface="Garamond" panose="02020404030301010803" pitchFamily="18" charset="0"/>
                <a:cs typeface="Arial"/>
              </a:rPr>
              <a:t>a </a:t>
            </a:r>
            <a:r>
              <a:rPr lang="en-US" sz="2183" b="1" dirty="0">
                <a:latin typeface="Garamond" panose="02020404030301010803" pitchFamily="18" charset="0"/>
                <a:cs typeface="Arial"/>
              </a:rPr>
              <a:t>crowded </a:t>
            </a:r>
            <a:r>
              <a:rPr lang="en-US" sz="2183" b="1" spc="21" dirty="0">
                <a:latin typeface="Garamond" panose="02020404030301010803" pitchFamily="18" charset="0"/>
                <a:cs typeface="Arial"/>
              </a:rPr>
              <a:t>world, </a:t>
            </a:r>
            <a:r>
              <a:rPr lang="en-US" sz="2183" b="1" spc="27" dirty="0">
                <a:latin typeface="Garamond" panose="02020404030301010803" pitchFamily="18" charset="0"/>
                <a:cs typeface="Arial"/>
              </a:rPr>
              <a:t>people </a:t>
            </a:r>
            <a:r>
              <a:rPr lang="en-US" sz="2183" b="1" spc="30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58" dirty="0">
                <a:latin typeface="Garamond" panose="02020404030301010803" pitchFamily="18" charset="0"/>
                <a:cs typeface="Arial"/>
              </a:rPr>
              <a:t>must </a:t>
            </a:r>
            <a:r>
              <a:rPr lang="en-US" sz="2183" b="1" spc="52" dirty="0">
                <a:latin typeface="Garamond" panose="02020404030301010803" pitchFamily="18" charset="0"/>
                <a:cs typeface="Arial"/>
              </a:rPr>
              <a:t>be </a:t>
            </a:r>
            <a:r>
              <a:rPr lang="en-US" sz="2183" b="1" spc="-61" dirty="0">
                <a:latin typeface="Garamond" panose="02020404030301010803" pitchFamily="18" charset="0"/>
                <a:cs typeface="Arial"/>
              </a:rPr>
              <a:t>responsive </a:t>
            </a:r>
            <a:r>
              <a:rPr lang="en-US" sz="2183" b="1" spc="69" dirty="0">
                <a:latin typeface="Garamond" panose="02020404030301010803" pitchFamily="18" charset="0"/>
                <a:cs typeface="Arial"/>
              </a:rPr>
              <a:t>to </a:t>
            </a:r>
            <a:r>
              <a:rPr lang="en-US" sz="2183" b="1" spc="-39" dirty="0">
                <a:latin typeface="Garamond" panose="02020404030301010803" pitchFamily="18" charset="0"/>
                <a:cs typeface="Arial"/>
              </a:rPr>
              <a:t>a </a:t>
            </a:r>
            <a:r>
              <a:rPr lang="en-US" sz="2183" b="1" spc="-49" dirty="0">
                <a:latin typeface="Garamond" panose="02020404030301010803" pitchFamily="18" charset="0"/>
                <a:cs typeface="Arial"/>
              </a:rPr>
              <a:t>coercive </a:t>
            </a:r>
            <a:r>
              <a:rPr lang="en-US" sz="2183" b="1" spc="-21" dirty="0">
                <a:latin typeface="Garamond" panose="02020404030301010803" pitchFamily="18" charset="0"/>
                <a:cs typeface="Arial"/>
              </a:rPr>
              <a:t>force </a:t>
            </a:r>
            <a:r>
              <a:rPr lang="en-US" sz="2183" b="1" spc="-18" dirty="0">
                <a:latin typeface="Garamond" panose="02020404030301010803" pitchFamily="18" charset="0"/>
                <a:cs typeface="Arial"/>
              </a:rPr>
              <a:t>outside </a:t>
            </a:r>
            <a:r>
              <a:rPr lang="en-US" sz="2183" b="1" spc="15" dirty="0">
                <a:latin typeface="Garamond" panose="02020404030301010803" pitchFamily="18" charset="0"/>
                <a:cs typeface="Arial"/>
              </a:rPr>
              <a:t>their </a:t>
            </a:r>
            <a:r>
              <a:rPr lang="en-US" sz="2183" b="1" spc="18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33" dirty="0">
                <a:latin typeface="Garamond" panose="02020404030301010803" pitchFamily="18" charset="0"/>
                <a:cs typeface="Arial"/>
              </a:rPr>
              <a:t>individual</a:t>
            </a:r>
            <a:r>
              <a:rPr lang="en-US" sz="2183" b="1" spc="-30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88" dirty="0">
                <a:latin typeface="Garamond" panose="02020404030301010803" pitchFamily="18" charset="0"/>
                <a:cs typeface="Arial"/>
              </a:rPr>
              <a:t>psyches,</a:t>
            </a:r>
            <a:r>
              <a:rPr lang="en-US" sz="2183" b="1" spc="-8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39" dirty="0">
                <a:latin typeface="Garamond" panose="02020404030301010803" pitchFamily="18" charset="0"/>
                <a:cs typeface="Arial"/>
              </a:rPr>
              <a:t>a</a:t>
            </a:r>
            <a:r>
              <a:rPr lang="en-US" sz="2183" b="1" spc="-36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3" dirty="0">
                <a:latin typeface="Garamond" panose="02020404030301010803" pitchFamily="18" charset="0"/>
                <a:cs typeface="Arial"/>
              </a:rPr>
              <a:t>'Leviathan',</a:t>
            </a:r>
            <a:r>
              <a:rPr lang="en-US" sz="2183" b="1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69" dirty="0">
                <a:latin typeface="Garamond" panose="02020404030301010803" pitchFamily="18" charset="0"/>
                <a:cs typeface="Arial"/>
              </a:rPr>
              <a:t>to </a:t>
            </a:r>
            <a:r>
              <a:rPr lang="en-US" sz="2183" b="1" spc="-94" dirty="0">
                <a:latin typeface="Garamond" panose="02020404030301010803" pitchFamily="18" charset="0"/>
                <a:cs typeface="Arial"/>
              </a:rPr>
              <a:t>use</a:t>
            </a:r>
            <a:r>
              <a:rPr lang="en-US" sz="2183" b="1" spc="-91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21" dirty="0">
                <a:latin typeface="Garamond" panose="02020404030301010803" pitchFamily="18" charset="0"/>
                <a:cs typeface="Arial"/>
              </a:rPr>
              <a:t>Hobbes's </a:t>
            </a:r>
            <a:r>
              <a:rPr lang="en-US" sz="2183" b="1" spc="-18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61" dirty="0">
                <a:latin typeface="Garamond" panose="02020404030301010803" pitchFamily="18" charset="0"/>
                <a:cs typeface="Arial"/>
              </a:rPr>
              <a:t>term"</a:t>
            </a:r>
            <a:r>
              <a:rPr lang="en-US" sz="2183" b="1" spc="42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-24" dirty="0">
                <a:latin typeface="Garamond" panose="02020404030301010803" pitchFamily="18" charset="0"/>
                <a:cs typeface="Arial"/>
              </a:rPr>
              <a:t>(Hardin</a:t>
            </a:r>
            <a:r>
              <a:rPr lang="en-US" sz="2183" b="1" spc="4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82" dirty="0">
                <a:latin typeface="Garamond" panose="02020404030301010803" pitchFamily="18" charset="0"/>
                <a:cs typeface="Arial"/>
              </a:rPr>
              <a:t>1978,</a:t>
            </a:r>
            <a:r>
              <a:rPr lang="en-US" sz="2183" b="1" spc="4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49" dirty="0">
                <a:latin typeface="Garamond" panose="02020404030301010803" pitchFamily="18" charset="0"/>
                <a:cs typeface="Arial"/>
              </a:rPr>
              <a:t>p.</a:t>
            </a:r>
            <a:r>
              <a:rPr lang="en-US" sz="2183" b="1" spc="4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183" b="1" spc="49" dirty="0">
                <a:latin typeface="Garamond" panose="02020404030301010803" pitchFamily="18" charset="0"/>
                <a:cs typeface="Arial"/>
              </a:rPr>
              <a:t>314).</a:t>
            </a:r>
            <a:endParaRPr lang="en-US" sz="2183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4B5DCAF-EFA1-C058-9175-4C5685739E96}"/>
              </a:ext>
            </a:extLst>
          </p:cNvPr>
          <p:cNvSpPr txBox="1"/>
          <p:nvPr/>
        </p:nvSpPr>
        <p:spPr>
          <a:xfrm>
            <a:off x="135201" y="5161435"/>
            <a:ext cx="8269262" cy="796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74" indent="-346558" algn="just">
              <a:lnSpc>
                <a:spcPts val="3159"/>
              </a:lnSpc>
              <a:buSzPct val="123611"/>
              <a:buFont typeface="Arial" panose="020B0604020202020204" pitchFamily="34" charset="0"/>
              <a:buChar char="•"/>
              <a:tabLst>
                <a:tab pos="204469" algn="l"/>
              </a:tabLst>
            </a:pPr>
            <a:r>
              <a:rPr lang="fr-FR" sz="2183" dirty="0">
                <a:latin typeface="Garamond" panose="02020404030301010803" pitchFamily="18" charset="0"/>
                <a:cs typeface="Arial"/>
              </a:rPr>
              <a:t>A conception of the state as an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external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force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that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stabilizes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cooperation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through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monitoring and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punishment</a:t>
            </a:r>
            <a:endParaRPr sz="2183" dirty="0">
              <a:latin typeface="Garamond" panose="02020404030301010803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517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E46D976-CE44-5AF5-728C-E1D9F164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39" y="546185"/>
            <a:ext cx="11540922" cy="2911224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6312BD58-4AB6-210E-73AF-32B886B6B26B}"/>
              </a:ext>
            </a:extLst>
          </p:cNvPr>
          <p:cNvSpPr txBox="1"/>
          <p:nvPr/>
        </p:nvSpPr>
        <p:spPr>
          <a:xfrm>
            <a:off x="-2695321" y="5955596"/>
            <a:ext cx="8269262" cy="365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 marR="3081" algn="ctr">
              <a:lnSpc>
                <a:spcPct val="114199"/>
              </a:lnSpc>
              <a:spcBef>
                <a:spcPts val="1901"/>
              </a:spcBef>
            </a:pPr>
            <a:r>
              <a:rPr lang="en-US" sz="2183" b="1" spc="55" dirty="0">
                <a:latin typeface="Garamond" panose="02020404030301010803" pitchFamily="18" charset="0"/>
                <a:cs typeface="Arial"/>
              </a:rPr>
              <a:t>Hobbes</a:t>
            </a:r>
            <a:endParaRPr lang="en-US" sz="2183" dirty="0">
              <a:latin typeface="Garamond" panose="02020404030301010803" pitchFamily="18" charset="0"/>
              <a:cs typeface="Arial"/>
            </a:endParaRPr>
          </a:p>
        </p:txBody>
      </p:sp>
      <p:pic>
        <p:nvPicPr>
          <p:cNvPr id="4098" name="Picture 2" descr="Thomas Hobbes : Biographie et idées">
            <a:extLst>
              <a:ext uri="{FF2B5EF4-FFF2-40B4-BE49-F238E27FC236}">
                <a16:creationId xmlns:a16="http://schemas.microsoft.com/office/drawing/2014/main" id="{120EC183-F0F5-3690-DF5B-CED103A7E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08" y="4164394"/>
            <a:ext cx="1521005" cy="166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49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F892239-7E3E-5C6D-9BEA-AC9369A2A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1" y="148262"/>
            <a:ext cx="8657021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lang="fr-FR" sz="5579" spc="-143" dirty="0" err="1">
                <a:latin typeface="Garamond" panose="02020404030301010803" pitchFamily="18" charset="0"/>
              </a:rPr>
              <a:t>Private</a:t>
            </a:r>
            <a:r>
              <a:rPr lang="fr-FR" sz="5579" spc="-143" dirty="0">
                <a:latin typeface="Garamond" panose="02020404030301010803" pitchFamily="18" charset="0"/>
              </a:rPr>
              <a:t> </a:t>
            </a:r>
            <a:r>
              <a:rPr lang="fr-FR" sz="5579" spc="-143" dirty="0" err="1">
                <a:latin typeface="Garamond" panose="02020404030301010803" pitchFamily="18" charset="0"/>
              </a:rPr>
              <a:t>property</a:t>
            </a:r>
            <a:endParaRPr sz="5579" dirty="0">
              <a:latin typeface="Garamond" panose="02020404030301010803" pitchFamily="18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55F38E4-E33B-29CF-D49E-C9FCEE53622A}"/>
              </a:ext>
            </a:extLst>
          </p:cNvPr>
          <p:cNvSpPr txBox="1"/>
          <p:nvPr/>
        </p:nvSpPr>
        <p:spPr>
          <a:xfrm>
            <a:off x="20426" y="1303444"/>
            <a:ext cx="12082581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74" indent="-346558" algn="just">
              <a:lnSpc>
                <a:spcPts val="3159"/>
              </a:lnSpc>
              <a:buSzPct val="123611"/>
              <a:buFont typeface="Arial" panose="020B0604020202020204" pitchFamily="34" charset="0"/>
              <a:buChar char="•"/>
              <a:tabLst>
                <a:tab pos="204469" algn="l"/>
              </a:tabLst>
            </a:pPr>
            <a:r>
              <a:rPr lang="fr-FR" sz="2183" dirty="0" err="1">
                <a:latin typeface="Garamond" panose="02020404030301010803" pitchFamily="18" charset="0"/>
                <a:cs typeface="Arial"/>
              </a:rPr>
              <a:t>Property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rights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« solve » the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free-rider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problem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because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they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re-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introduce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b="1" dirty="0" err="1">
                <a:latin typeface="Garamond" panose="02020404030301010803" pitchFamily="18" charset="0"/>
                <a:cs typeface="Arial"/>
              </a:rPr>
              <a:t>excludability</a:t>
            </a:r>
            <a:endParaRPr sz="2183" b="1" dirty="0">
              <a:latin typeface="Garamond" panose="02020404030301010803" pitchFamily="18" charset="0"/>
              <a:cs typeface="Arial"/>
            </a:endParaRPr>
          </a:p>
        </p:txBody>
      </p:sp>
      <p:pic>
        <p:nvPicPr>
          <p:cNvPr id="6146" name="Picture 2" descr="Overgrazing is a matter of timing - Canadian Cattlemen">
            <a:extLst>
              <a:ext uri="{FF2B5EF4-FFF2-40B4-BE49-F238E27FC236}">
                <a16:creationId xmlns:a16="http://schemas.microsoft.com/office/drawing/2014/main" id="{7CC5BC21-1691-A303-8E61-AFE6F953C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78" y="2303918"/>
            <a:ext cx="3085590" cy="210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are Property Rights?: Alberta Land Institute">
            <a:extLst>
              <a:ext uri="{FF2B5EF4-FFF2-40B4-BE49-F238E27FC236}">
                <a16:creationId xmlns:a16="http://schemas.microsoft.com/office/drawing/2014/main" id="{1B34AB7B-C19C-4ED6-5665-ACE044A44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817" y="2315736"/>
            <a:ext cx="3696620" cy="207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F2EF1253-A0C8-29E4-3425-6495D80F07BC}"/>
              </a:ext>
            </a:extLst>
          </p:cNvPr>
          <p:cNvSpPr txBox="1"/>
          <p:nvPr/>
        </p:nvSpPr>
        <p:spPr>
          <a:xfrm>
            <a:off x="88993" y="4528346"/>
            <a:ext cx="4020074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16" algn="ctr">
              <a:lnSpc>
                <a:spcPts val="3159"/>
              </a:lnSpc>
              <a:buSzPct val="123611"/>
              <a:tabLst>
                <a:tab pos="204469" algn="l"/>
              </a:tabLst>
            </a:pPr>
            <a:r>
              <a:rPr lang="fr-FR" sz="2183" dirty="0">
                <a:latin typeface="Garamond" panose="02020404030301010803" pitchFamily="18" charset="0"/>
                <a:cs typeface="Arial"/>
              </a:rPr>
              <a:t>Open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field</a:t>
            </a:r>
            <a:endParaRPr sz="2183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71D1002-87CE-25F2-8149-04FE81490D10}"/>
              </a:ext>
            </a:extLst>
          </p:cNvPr>
          <p:cNvSpPr txBox="1"/>
          <p:nvPr/>
        </p:nvSpPr>
        <p:spPr>
          <a:xfrm>
            <a:off x="7297402" y="4529697"/>
            <a:ext cx="4020074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16" algn="ctr">
              <a:lnSpc>
                <a:spcPts val="3159"/>
              </a:lnSpc>
              <a:buSzPct val="123611"/>
              <a:tabLst>
                <a:tab pos="204469" algn="l"/>
              </a:tabLst>
            </a:pPr>
            <a:r>
              <a:rPr lang="fr-FR" sz="2183" dirty="0" err="1">
                <a:latin typeface="Garamond" panose="02020404030301010803" pitchFamily="18" charset="0"/>
                <a:cs typeface="Arial"/>
              </a:rPr>
              <a:t>Property</a:t>
            </a:r>
            <a:r>
              <a:rPr lang="fr-FR" sz="2183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dirty="0" err="1">
                <a:latin typeface="Garamond" panose="02020404030301010803" pitchFamily="18" charset="0"/>
                <a:cs typeface="Arial"/>
              </a:rPr>
              <a:t>rights</a:t>
            </a:r>
            <a:endParaRPr sz="2183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A7C77E7-1A03-E304-15FA-6F75A57C97D6}"/>
              </a:ext>
            </a:extLst>
          </p:cNvPr>
          <p:cNvSpPr txBox="1"/>
          <p:nvPr/>
        </p:nvSpPr>
        <p:spPr>
          <a:xfrm>
            <a:off x="83652" y="5152507"/>
            <a:ext cx="4020074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16" algn="ctr">
              <a:lnSpc>
                <a:spcPts val="3159"/>
              </a:lnSpc>
              <a:buSzPct val="123611"/>
              <a:tabLst>
                <a:tab pos="204469" algn="l"/>
              </a:tabLst>
            </a:pPr>
            <a:r>
              <a:rPr lang="fr-FR" sz="2183" i="1" dirty="0">
                <a:latin typeface="Garamond" panose="02020404030301010803" pitchFamily="18" charset="0"/>
                <a:cs typeface="Arial"/>
              </a:rPr>
              <a:t>You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cannot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exclude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cheaters</a:t>
            </a:r>
            <a:endParaRPr sz="2183" i="1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79890C9-32D7-95E8-3B76-5C2BDE809F1C}"/>
              </a:ext>
            </a:extLst>
          </p:cNvPr>
          <p:cNvSpPr txBox="1"/>
          <p:nvPr/>
        </p:nvSpPr>
        <p:spPr>
          <a:xfrm>
            <a:off x="7228090" y="5152507"/>
            <a:ext cx="4020074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16" algn="ctr">
              <a:lnSpc>
                <a:spcPts val="3159"/>
              </a:lnSpc>
              <a:buSzPct val="123611"/>
              <a:tabLst>
                <a:tab pos="204469" algn="l"/>
              </a:tabLst>
            </a:pPr>
            <a:r>
              <a:rPr lang="fr-FR" sz="2183" i="1" dirty="0">
                <a:latin typeface="Garamond" panose="02020404030301010803" pitchFamily="18" charset="0"/>
                <a:cs typeface="Arial"/>
              </a:rPr>
              <a:t>You can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exclude</a:t>
            </a:r>
            <a:r>
              <a:rPr lang="fr-FR" sz="2183" i="1" dirty="0">
                <a:latin typeface="Garamond" panose="02020404030301010803" pitchFamily="18" charset="0"/>
                <a:cs typeface="Arial"/>
              </a:rPr>
              <a:t> </a:t>
            </a:r>
            <a:r>
              <a:rPr lang="fr-FR" sz="2183" i="1" dirty="0" err="1">
                <a:latin typeface="Garamond" panose="02020404030301010803" pitchFamily="18" charset="0"/>
                <a:cs typeface="Arial"/>
              </a:rPr>
              <a:t>cheaters</a:t>
            </a:r>
            <a:endParaRPr sz="2183" i="1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ECAC33A-9348-CE4F-DAC6-3AE86AC9FA04}"/>
              </a:ext>
            </a:extLst>
          </p:cNvPr>
          <p:cNvSpPr txBox="1"/>
          <p:nvPr/>
        </p:nvSpPr>
        <p:spPr>
          <a:xfrm>
            <a:off x="2445588" y="5928663"/>
            <a:ext cx="6305121" cy="83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01" marR="3081" algn="ctr">
              <a:lnSpc>
                <a:spcPct val="114199"/>
              </a:lnSpc>
            </a:pPr>
            <a:r>
              <a:rPr lang="en-US" sz="1455" b="1" spc="158" dirty="0">
                <a:latin typeface="Microsoft Sans Serif"/>
                <a:cs typeface="Microsoft Sans Serif"/>
              </a:rPr>
              <a:t>"Now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-27" dirty="0">
                <a:latin typeface="Microsoft Sans Serif"/>
                <a:cs typeface="Microsoft Sans Serif"/>
              </a:rPr>
              <a:t>each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18" dirty="0">
                <a:latin typeface="Microsoft Sans Serif"/>
                <a:cs typeface="Microsoft Sans Serif"/>
              </a:rPr>
              <a:t>herder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24" dirty="0">
                <a:latin typeface="Microsoft Sans Serif"/>
                <a:cs typeface="Microsoft Sans Serif"/>
              </a:rPr>
              <a:t>will</a:t>
            </a:r>
            <a:r>
              <a:rPr lang="en-US" sz="1455" b="1" spc="36" dirty="0">
                <a:latin typeface="Microsoft Sans Serif"/>
                <a:cs typeface="Microsoft Sans Serif"/>
              </a:rPr>
              <a:t> </a:t>
            </a:r>
            <a:r>
              <a:rPr lang="en-US" sz="1455" b="1" spc="69" dirty="0">
                <a:latin typeface="Microsoft Sans Serif"/>
                <a:cs typeface="Microsoft Sans Serif"/>
              </a:rPr>
              <a:t>be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30" dirty="0">
                <a:latin typeface="Microsoft Sans Serif"/>
                <a:cs typeface="Microsoft Sans Serif"/>
              </a:rPr>
              <a:t>playing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-79" dirty="0">
                <a:latin typeface="Microsoft Sans Serif"/>
                <a:cs typeface="Microsoft Sans Serif"/>
              </a:rPr>
              <a:t>a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30" dirty="0">
                <a:latin typeface="Microsoft Sans Serif"/>
                <a:cs typeface="Microsoft Sans Serif"/>
              </a:rPr>
              <a:t>game</a:t>
            </a:r>
            <a:r>
              <a:rPr lang="en-US" sz="1455" b="1" spc="36" dirty="0">
                <a:latin typeface="Microsoft Sans Serif"/>
                <a:cs typeface="Microsoft Sans Serif"/>
              </a:rPr>
              <a:t> </a:t>
            </a:r>
            <a:r>
              <a:rPr lang="en-US" sz="1455" b="1" spc="-3" dirty="0">
                <a:latin typeface="Microsoft Sans Serif"/>
                <a:cs typeface="Microsoft Sans Serif"/>
              </a:rPr>
              <a:t>against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6" dirty="0">
                <a:latin typeface="Microsoft Sans Serif"/>
                <a:cs typeface="Microsoft Sans Serif"/>
              </a:rPr>
              <a:t>nature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18" dirty="0">
                <a:latin typeface="Microsoft Sans Serif"/>
                <a:cs typeface="Microsoft Sans Serif"/>
              </a:rPr>
              <a:t>in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-79" dirty="0">
                <a:latin typeface="Microsoft Sans Serif"/>
                <a:cs typeface="Microsoft Sans Serif"/>
              </a:rPr>
              <a:t>a</a:t>
            </a:r>
            <a:r>
              <a:rPr lang="en-US" sz="1455" b="1" spc="36" dirty="0">
                <a:latin typeface="Microsoft Sans Serif"/>
                <a:cs typeface="Microsoft Sans Serif"/>
              </a:rPr>
              <a:t> </a:t>
            </a:r>
            <a:r>
              <a:rPr lang="en-US" sz="1455" b="1" spc="-18" dirty="0">
                <a:latin typeface="Microsoft Sans Serif"/>
                <a:cs typeface="Microsoft Sans Serif"/>
              </a:rPr>
              <a:t>smaller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12" dirty="0">
                <a:latin typeface="Microsoft Sans Serif"/>
                <a:cs typeface="Microsoft Sans Serif"/>
              </a:rPr>
              <a:t>terrain,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12" dirty="0">
                <a:latin typeface="Microsoft Sans Serif"/>
                <a:cs typeface="Microsoft Sans Serif"/>
              </a:rPr>
              <a:t>rather</a:t>
            </a:r>
            <a:r>
              <a:rPr lang="en-US" sz="1455" b="1" spc="33" dirty="0">
                <a:latin typeface="Microsoft Sans Serif"/>
                <a:cs typeface="Microsoft Sans Serif"/>
              </a:rPr>
              <a:t> </a:t>
            </a:r>
            <a:r>
              <a:rPr lang="en-US" sz="1455" b="1" spc="15" dirty="0">
                <a:latin typeface="Microsoft Sans Serif"/>
                <a:cs typeface="Microsoft Sans Serif"/>
              </a:rPr>
              <a:t>than </a:t>
            </a:r>
            <a:r>
              <a:rPr lang="en-US" sz="1455" b="1" spc="-609" dirty="0">
                <a:latin typeface="Microsoft Sans Serif"/>
                <a:cs typeface="Microsoft Sans Serif"/>
              </a:rPr>
              <a:t> </a:t>
            </a:r>
            <a:r>
              <a:rPr lang="en-US" sz="1455" b="1" spc="-79" dirty="0">
                <a:latin typeface="Microsoft Sans Serif"/>
                <a:cs typeface="Microsoft Sans Serif"/>
              </a:rPr>
              <a:t>a</a:t>
            </a:r>
            <a:r>
              <a:rPr lang="en-US" sz="1455" b="1" spc="30" dirty="0">
                <a:latin typeface="Microsoft Sans Serif"/>
                <a:cs typeface="Microsoft Sans Serif"/>
              </a:rPr>
              <a:t> game </a:t>
            </a:r>
            <a:r>
              <a:rPr lang="en-US" sz="1455" b="1" spc="-3" dirty="0">
                <a:latin typeface="Microsoft Sans Serif"/>
                <a:cs typeface="Microsoft Sans Serif"/>
              </a:rPr>
              <a:t>against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24" dirty="0">
                <a:latin typeface="Microsoft Sans Serif"/>
                <a:cs typeface="Microsoft Sans Serif"/>
              </a:rPr>
              <a:t>another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9" dirty="0">
                <a:latin typeface="Microsoft Sans Serif"/>
                <a:cs typeface="Microsoft Sans Serif"/>
              </a:rPr>
              <a:t>player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18" dirty="0">
                <a:latin typeface="Microsoft Sans Serif"/>
                <a:cs typeface="Microsoft Sans Serif"/>
              </a:rPr>
              <a:t>in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-79" dirty="0">
                <a:latin typeface="Microsoft Sans Serif"/>
                <a:cs typeface="Microsoft Sans Serif"/>
              </a:rPr>
              <a:t>a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9" dirty="0">
                <a:latin typeface="Microsoft Sans Serif"/>
                <a:cs typeface="Microsoft Sans Serif"/>
              </a:rPr>
              <a:t>larger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61" dirty="0">
                <a:latin typeface="Microsoft Sans Serif"/>
                <a:cs typeface="Microsoft Sans Serif"/>
              </a:rPr>
              <a:t>terrain"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6" dirty="0">
                <a:latin typeface="Microsoft Sans Serif"/>
                <a:cs typeface="Microsoft Sans Serif"/>
              </a:rPr>
              <a:t>(Ostrom,</a:t>
            </a:r>
            <a:r>
              <a:rPr lang="en-US" sz="1455" b="1" spc="30" dirty="0">
                <a:latin typeface="Microsoft Sans Serif"/>
                <a:cs typeface="Microsoft Sans Serif"/>
              </a:rPr>
              <a:t> </a:t>
            </a:r>
            <a:r>
              <a:rPr lang="en-US" sz="1455" b="1" spc="-3" dirty="0">
                <a:latin typeface="Microsoft Sans Serif"/>
                <a:cs typeface="Microsoft Sans Serif"/>
              </a:rPr>
              <a:t>p.12).</a:t>
            </a:r>
            <a:endParaRPr lang="en-US" sz="1455" b="1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74061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402944"/>
            <a:ext cx="10690933" cy="830454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lang="fr-FR" sz="5336" spc="-88" dirty="0" err="1">
                <a:latin typeface="Garamond" panose="02020404030301010803" pitchFamily="18" charset="0"/>
              </a:rPr>
              <a:t>Ostrom’s</a:t>
            </a:r>
            <a:r>
              <a:rPr lang="fr-FR" sz="5336" spc="-88" dirty="0">
                <a:latin typeface="Garamond" panose="02020404030301010803" pitchFamily="18" charset="0"/>
              </a:rPr>
              <a:t> critique</a:t>
            </a:r>
            <a:endParaRPr sz="5336"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310" y="1839956"/>
            <a:ext cx="11698262" cy="719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74" marR="872940" indent="-346558">
              <a:lnSpc>
                <a:spcPct val="108600"/>
              </a:lnSpc>
              <a:buSzPct val="123611"/>
              <a:buFont typeface="Arial" panose="020B0604020202020204" pitchFamily="34" charset="0"/>
              <a:buChar char="•"/>
              <a:tabLst>
                <a:tab pos="204469" algn="l"/>
              </a:tabLst>
            </a:pPr>
            <a:r>
              <a:rPr lang="fr-FR" sz="2183" spc="-21" dirty="0">
                <a:latin typeface="Garamond" panose="02020404030301010803" pitchFamily="18" charset="0"/>
                <a:cs typeface="Microsoft Sans Serif"/>
              </a:rPr>
              <a:t>State and </a:t>
            </a:r>
            <a:r>
              <a:rPr lang="fr-FR" sz="2183" spc="-21" dirty="0" err="1">
                <a:latin typeface="Garamond" panose="02020404030301010803" pitchFamily="18" charset="0"/>
                <a:cs typeface="Microsoft Sans Serif"/>
              </a:rPr>
              <a:t>private</a:t>
            </a:r>
            <a:r>
              <a:rPr lang="fr-FR" sz="2183" spc="-21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lang="fr-FR" sz="2183" spc="-21" dirty="0" err="1">
                <a:latin typeface="Garamond" panose="02020404030301010803" pitchFamily="18" charset="0"/>
                <a:cs typeface="Microsoft Sans Serif"/>
              </a:rPr>
              <a:t>property</a:t>
            </a:r>
            <a:r>
              <a:rPr lang="fr-FR" sz="2183" spc="-21" dirty="0">
                <a:latin typeface="Garamond" panose="02020404030301010803" pitchFamily="18" charset="0"/>
                <a:cs typeface="Microsoft Sans Serif"/>
              </a:rPr>
              <a:t> solutions </a:t>
            </a:r>
            <a:r>
              <a:rPr sz="2183" spc="-52" dirty="0">
                <a:latin typeface="Garamond" panose="02020404030301010803" pitchFamily="18" charset="0"/>
                <a:cs typeface="Microsoft Sans Serif"/>
              </a:rPr>
              <a:t>share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the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6" dirty="0">
                <a:latin typeface="Garamond" panose="02020404030301010803" pitchFamily="18" charset="0"/>
                <a:cs typeface="Microsoft Sans Serif"/>
              </a:rPr>
              <a:t>assumption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that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2" dirty="0">
                <a:latin typeface="Garamond" panose="02020404030301010803" pitchFamily="18" charset="0"/>
                <a:cs typeface="Microsoft Sans Serif"/>
              </a:rPr>
              <a:t>individuals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36" dirty="0">
                <a:latin typeface="Garamond" panose="02020404030301010803" pitchFamily="18" charset="0"/>
                <a:cs typeface="Microsoft Sans Serif"/>
              </a:rPr>
              <a:t>are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12" dirty="0">
                <a:latin typeface="Garamond" panose="02020404030301010803" pitchFamily="18" charset="0"/>
                <a:cs typeface="Microsoft Sans Serif"/>
              </a:rPr>
              <a:t>helpless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55" dirty="0">
                <a:latin typeface="Garamond" panose="02020404030301010803" pitchFamily="18" charset="0"/>
                <a:cs typeface="Microsoft Sans Serif"/>
              </a:rPr>
              <a:t>without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33" dirty="0">
                <a:latin typeface="Garamond" panose="02020404030301010803" pitchFamily="18" charset="0"/>
                <a:cs typeface="Microsoft Sans Serif"/>
              </a:rPr>
              <a:t>an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b="1" spc="12" dirty="0">
                <a:latin typeface="Garamond" panose="02020404030301010803" pitchFamily="18" charset="0"/>
                <a:cs typeface="Arial"/>
              </a:rPr>
              <a:t>external</a:t>
            </a:r>
            <a:r>
              <a:rPr sz="2183" b="1" spc="42" dirty="0">
                <a:latin typeface="Garamond" panose="02020404030301010803" pitchFamily="18" charset="0"/>
                <a:cs typeface="Arial"/>
              </a:rPr>
              <a:t> </a:t>
            </a:r>
            <a:r>
              <a:rPr sz="2183" b="1" spc="-18" dirty="0">
                <a:latin typeface="Garamond" panose="02020404030301010803" pitchFamily="18" charset="0"/>
                <a:cs typeface="Arial"/>
              </a:rPr>
              <a:t>and </a:t>
            </a:r>
            <a:r>
              <a:rPr sz="2183" b="1" spc="-597" dirty="0">
                <a:latin typeface="Garamond" panose="02020404030301010803" pitchFamily="18" charset="0"/>
                <a:cs typeface="Arial"/>
              </a:rPr>
              <a:t> </a:t>
            </a:r>
            <a:r>
              <a:rPr sz="2183" b="1" spc="-45" dirty="0">
                <a:latin typeface="Garamond" panose="02020404030301010803" pitchFamily="18" charset="0"/>
                <a:cs typeface="Arial"/>
              </a:rPr>
              <a:t>coercive</a:t>
            </a:r>
            <a:r>
              <a:rPr sz="2183" b="1" spc="39" dirty="0">
                <a:latin typeface="Garamond" panose="02020404030301010803" pitchFamily="18" charset="0"/>
                <a:cs typeface="Arial"/>
              </a:rPr>
              <a:t> 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institution.</a:t>
            </a:r>
            <a:endParaRPr lang="fr-FR" sz="2183" spc="33" dirty="0">
              <a:latin typeface="Garamond" panose="02020404030301010803" pitchFamily="18" charset="0"/>
              <a:cs typeface="Microsoft Sans Serif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65EF9109-FC94-79E3-8B64-1AC95AF330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4493" y="58839"/>
            <a:ext cx="2573539" cy="1518663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F7C4937-4598-1E85-F312-048A8E6D52CC}"/>
              </a:ext>
            </a:extLst>
          </p:cNvPr>
          <p:cNvSpPr txBox="1"/>
          <p:nvPr/>
        </p:nvSpPr>
        <p:spPr>
          <a:xfrm>
            <a:off x="405447" y="2955056"/>
            <a:ext cx="11698262" cy="719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74" marR="872940" indent="-346558">
              <a:lnSpc>
                <a:spcPct val="108600"/>
              </a:lnSpc>
              <a:buSzPct val="123611"/>
              <a:buFont typeface="Arial" panose="020B0604020202020204" pitchFamily="34" charset="0"/>
              <a:buChar char="•"/>
              <a:tabLst>
                <a:tab pos="204469" algn="l"/>
              </a:tabLst>
            </a:pPr>
            <a:r>
              <a:rPr lang="en-US" sz="2183" dirty="0">
                <a:latin typeface="Garamond" panose="02020404030301010803" pitchFamily="18" charset="0"/>
              </a:rPr>
              <a:t>Both solutions assume that institutions will be enforced </a:t>
            </a:r>
            <a:r>
              <a:rPr lang="en-US" sz="2183" b="1" dirty="0">
                <a:latin typeface="Garamond" panose="02020404030301010803" pitchFamily="18" charset="0"/>
              </a:rPr>
              <a:t>without problem</a:t>
            </a:r>
            <a:r>
              <a:rPr lang="en-US" sz="2183" dirty="0">
                <a:latin typeface="Garamond" panose="02020404030301010803" pitchFamily="18" charset="0"/>
              </a:rPr>
              <a:t>: states will magically do good; property rights will magically be enforced. </a:t>
            </a:r>
            <a:endParaRPr lang="fr-FR" sz="2183" spc="33" dirty="0">
              <a:latin typeface="Garamond" panose="02020404030301010803" pitchFamily="18" charset="0"/>
              <a:cs typeface="Microsoft Sans Serif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74017B-ECF5-EFE5-9BD6-2F55B84C9118}"/>
              </a:ext>
            </a:extLst>
          </p:cNvPr>
          <p:cNvSpPr txBox="1"/>
          <p:nvPr/>
        </p:nvSpPr>
        <p:spPr>
          <a:xfrm>
            <a:off x="290801" y="4111964"/>
            <a:ext cx="11610398" cy="7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558" marR="13747" indent="-346558">
              <a:buFont typeface="Arial" panose="020B0604020202020204" pitchFamily="34" charset="0"/>
              <a:buChar char="•"/>
            </a:pP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Ostrom argues that individuals are very well able to </a:t>
            </a:r>
            <a:r>
              <a:rPr lang="en-US" sz="2183" b="1" dirty="0">
                <a:solidFill>
                  <a:srgbClr val="000000"/>
                </a:solidFill>
                <a:latin typeface="Garamond" panose="02020404030301010803" pitchFamily="18" charset="0"/>
              </a:rPr>
              <a:t>self-organize </a:t>
            </a: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and create  </a:t>
            </a:r>
            <a:r>
              <a:rPr lang="en-US" sz="2183" b="1" dirty="0">
                <a:solidFill>
                  <a:srgbClr val="000000"/>
                </a:solidFill>
                <a:latin typeface="Garamond" panose="02020404030301010803" pitchFamily="18" charset="0"/>
              </a:rPr>
              <a:t>endogenous institutions </a:t>
            </a: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that promote cooperation.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740BC4-7F74-5D8D-180D-AAF7F749F3D0}"/>
              </a:ext>
            </a:extLst>
          </p:cNvPr>
          <p:cNvSpPr txBox="1"/>
          <p:nvPr/>
        </p:nvSpPr>
        <p:spPr>
          <a:xfrm>
            <a:off x="290800" y="5277309"/>
            <a:ext cx="11640707" cy="7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They achieve cooperation </a:t>
            </a:r>
            <a:r>
              <a:rPr lang="en-US" sz="2183" b="1" dirty="0">
                <a:solidFill>
                  <a:srgbClr val="000000"/>
                </a:solidFill>
                <a:latin typeface="Garamond" panose="02020404030301010803" pitchFamily="18" charset="0"/>
              </a:rPr>
              <a:t>not by spontaneous harmony </a:t>
            </a: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but by </a:t>
            </a:r>
            <a:r>
              <a:rPr lang="en-US" sz="2183" b="1" dirty="0">
                <a:solidFill>
                  <a:srgbClr val="000000"/>
                </a:solidFill>
                <a:latin typeface="Garamond" panose="02020404030301010803" pitchFamily="18" charset="0"/>
              </a:rPr>
              <a:t>well-designed institutions </a:t>
            </a: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(rules, monitoring systems, justice systems, </a:t>
            </a:r>
            <a:r>
              <a:rPr lang="en-US" sz="2183" dirty="0" err="1">
                <a:solidFill>
                  <a:srgbClr val="000000"/>
                </a:solidFill>
                <a:latin typeface="Garamond" panose="02020404030301010803" pitchFamily="18" charset="0"/>
              </a:rPr>
              <a:t>etc</a:t>
            </a:r>
            <a:r>
              <a:rPr lang="en-US" sz="2183" dirty="0">
                <a:solidFill>
                  <a:srgbClr val="000000"/>
                </a:solidFill>
                <a:latin typeface="Garamond" panose="02020404030301010803" pitchFamily="18" charset="0"/>
              </a:rPr>
              <a:t>…)</a:t>
            </a:r>
            <a:endParaRPr lang="fr-FR" sz="218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359297"/>
            <a:ext cx="11983567" cy="86906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5579" spc="-143" dirty="0"/>
              <a:t>Ost</a:t>
            </a:r>
            <a:r>
              <a:rPr sz="5579" spc="-246" dirty="0"/>
              <a:t>rom</a:t>
            </a:r>
            <a:r>
              <a:rPr lang="fr-FR" sz="5579" spc="-246" dirty="0"/>
              <a:t> and Rational </a:t>
            </a:r>
            <a:r>
              <a:rPr lang="fr-FR" sz="5579" spc="-246" dirty="0" err="1"/>
              <a:t>Choice</a:t>
            </a:r>
            <a:r>
              <a:rPr lang="fr-FR" sz="5579" spc="-246" dirty="0"/>
              <a:t> Theory</a:t>
            </a:r>
            <a:endParaRPr sz="557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6903" y="4057365"/>
            <a:ext cx="3973386" cy="26461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951" y="1370577"/>
            <a:ext cx="11591214" cy="4901396"/>
          </a:xfrm>
          <a:prstGeom prst="rect">
            <a:avLst/>
          </a:prstGeom>
        </p:spPr>
        <p:txBody>
          <a:bodyPr vert="horz" wrap="square" lIns="0" tIns="89335" rIns="0" bIns="0" rtlCol="0">
            <a:spAutoFit/>
          </a:bodyPr>
          <a:lstStyle/>
          <a:p>
            <a:pPr marL="204084" indent="-196768">
              <a:spcBef>
                <a:spcPts val="703"/>
              </a:spcBef>
              <a:buSzPct val="123611"/>
              <a:buChar char="•"/>
              <a:tabLst>
                <a:tab pos="204469" algn="l"/>
              </a:tabLst>
            </a:pPr>
            <a:r>
              <a:rPr sz="2183" spc="-18" dirty="0">
                <a:latin typeface="Garamond" panose="02020404030301010803" pitchFamily="18" charset="0"/>
                <a:cs typeface="Microsoft Sans Serif"/>
              </a:rPr>
              <a:t>Rational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2" dirty="0">
                <a:latin typeface="Garamond" panose="02020404030301010803" pitchFamily="18" charset="0"/>
                <a:cs typeface="Microsoft Sans Serif"/>
              </a:rPr>
              <a:t>choice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55" dirty="0">
                <a:latin typeface="Garamond" panose="02020404030301010803" pitchFamily="18" charset="0"/>
                <a:cs typeface="Microsoft Sans Serif"/>
              </a:rPr>
              <a:t>analysis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64" dirty="0">
                <a:latin typeface="Garamond" panose="02020404030301010803" pitchFamily="18" charset="0"/>
                <a:cs typeface="Microsoft Sans Serif"/>
              </a:rPr>
              <a:t>is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4" dirty="0">
                <a:latin typeface="Garamond" panose="02020404030301010803" pitchFamily="18" charset="0"/>
                <a:cs typeface="Microsoft Sans Serif"/>
              </a:rPr>
              <a:t>great,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85" dirty="0">
                <a:latin typeface="Garamond" panose="02020404030301010803" pitchFamily="18" charset="0"/>
                <a:cs typeface="Microsoft Sans Serif"/>
              </a:rPr>
              <a:t>but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76" dirty="0">
                <a:latin typeface="Garamond" panose="02020404030301010803" pitchFamily="18" charset="0"/>
                <a:cs typeface="Microsoft Sans Serif"/>
              </a:rPr>
              <a:t>it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dirty="0">
                <a:latin typeface="Garamond" panose="02020404030301010803" pitchFamily="18" charset="0"/>
                <a:cs typeface="Microsoft Sans Serif"/>
              </a:rPr>
              <a:t>needs:</a:t>
            </a:r>
          </a:p>
          <a:p>
            <a:pPr marL="1029276" lvl="1" indent="-196768">
              <a:spcBef>
                <a:spcPts val="1310"/>
              </a:spcBef>
              <a:buSzPct val="123611"/>
              <a:buChar char="•"/>
              <a:tabLst>
                <a:tab pos="1029661" algn="l"/>
              </a:tabLst>
            </a:pPr>
            <a:r>
              <a:rPr sz="2183" spc="3" dirty="0">
                <a:latin typeface="Garamond" panose="02020404030301010803" pitchFamily="18" charset="0"/>
                <a:cs typeface="Microsoft Sans Serif"/>
              </a:rPr>
              <a:t>...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06" dirty="0">
                <a:latin typeface="Garamond" panose="02020404030301010803" pitchFamily="18" charset="0"/>
                <a:cs typeface="Microsoft Sans Serif"/>
              </a:rPr>
              <a:t>to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2" dirty="0">
                <a:latin typeface="Garamond" panose="02020404030301010803" pitchFamily="18" charset="0"/>
                <a:cs typeface="Microsoft Sans Serif"/>
              </a:rPr>
              <a:t>account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for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the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1" dirty="0">
                <a:latin typeface="Garamond" panose="02020404030301010803" pitchFamily="18" charset="0"/>
                <a:cs typeface="Microsoft Sans Serif"/>
              </a:rPr>
              <a:t>possibility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that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64" dirty="0">
                <a:latin typeface="Garamond" panose="02020404030301010803" pitchFamily="18" charset="0"/>
                <a:cs typeface="Microsoft Sans Serif"/>
              </a:rPr>
              <a:t>people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33" dirty="0">
                <a:latin typeface="Garamond" panose="02020404030301010803" pitchFamily="18" charset="0"/>
                <a:cs typeface="Microsoft Sans Serif"/>
              </a:rPr>
              <a:t>can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4" dirty="0">
                <a:latin typeface="Garamond" panose="02020404030301010803" pitchFamily="18" charset="0"/>
                <a:cs typeface="Microsoft Sans Serif"/>
              </a:rPr>
              <a:t>design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their 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own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1" dirty="0">
                <a:latin typeface="Garamond" panose="02020404030301010803" pitchFamily="18" charset="0"/>
                <a:cs typeface="Microsoft Sans Serif"/>
              </a:rPr>
              <a:t>institutions</a:t>
            </a:r>
            <a:endParaRPr sz="2183" dirty="0">
              <a:latin typeface="Garamond" panose="02020404030301010803" pitchFamily="18" charset="0"/>
              <a:cs typeface="Microsoft Sans Serif"/>
            </a:endParaRPr>
          </a:p>
          <a:p>
            <a:pPr marL="1029276" marR="3081" lvl="1" indent="-196768">
              <a:lnSpc>
                <a:spcPct val="108600"/>
              </a:lnSpc>
              <a:spcBef>
                <a:spcPts val="2034"/>
              </a:spcBef>
              <a:buSzPct val="123611"/>
              <a:buChar char="•"/>
              <a:tabLst>
                <a:tab pos="1029661" algn="l"/>
              </a:tabLst>
            </a:pPr>
            <a:r>
              <a:rPr sz="2183" spc="3" dirty="0">
                <a:latin typeface="Garamond" panose="02020404030301010803" pitchFamily="18" charset="0"/>
                <a:cs typeface="Microsoft Sans Serif"/>
              </a:rPr>
              <a:t>...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06" dirty="0">
                <a:latin typeface="Garamond" panose="02020404030301010803" pitchFamily="18" charset="0"/>
                <a:cs typeface="Microsoft Sans Serif"/>
              </a:rPr>
              <a:t>to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9" dirty="0">
                <a:latin typeface="Garamond" panose="02020404030301010803" pitchFamily="18" charset="0"/>
                <a:cs typeface="Microsoft Sans Serif"/>
              </a:rPr>
              <a:t>consider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6" dirty="0">
                <a:latin typeface="Garamond" panose="02020404030301010803" pitchFamily="18" charset="0"/>
                <a:cs typeface="Microsoft Sans Serif"/>
              </a:rPr>
              <a:t>all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the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21" dirty="0">
                <a:latin typeface="Garamond" panose="02020404030301010803" pitchFamily="18" charset="0"/>
                <a:cs typeface="Microsoft Sans Serif"/>
              </a:rPr>
              <a:t>"detail"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5" dirty="0">
                <a:latin typeface="Garamond" panose="02020404030301010803" pitchFamily="18" charset="0"/>
                <a:cs typeface="Microsoft Sans Serif"/>
              </a:rPr>
              <a:t>environmental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15" dirty="0">
                <a:latin typeface="Garamond" panose="02020404030301010803" pitchFamily="18" charset="0"/>
                <a:cs typeface="Microsoft Sans Serif"/>
              </a:rPr>
              <a:t>variables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that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2" dirty="0">
                <a:latin typeface="Garamond" panose="02020404030301010803" pitchFamily="18" charset="0"/>
                <a:cs typeface="Microsoft Sans Serif"/>
              </a:rPr>
              <a:t>affect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2" dirty="0">
                <a:latin typeface="Garamond" panose="02020404030301010803" pitchFamily="18" charset="0"/>
                <a:cs typeface="Microsoft Sans Serif"/>
              </a:rPr>
              <a:t>cooperation</a:t>
            </a:r>
            <a:r>
              <a:rPr sz="2183" spc="3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-18" dirty="0">
                <a:latin typeface="Garamond" panose="02020404030301010803" pitchFamily="18" charset="0"/>
                <a:cs typeface="Microsoft Sans Serif"/>
              </a:rPr>
              <a:t>(and,</a:t>
            </a:r>
            <a:r>
              <a:rPr sz="2183" spc="33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8" dirty="0">
                <a:latin typeface="Garamond" panose="02020404030301010803" pitchFamily="18" charset="0"/>
                <a:cs typeface="Microsoft Sans Serif"/>
              </a:rPr>
              <a:t>in </a:t>
            </a:r>
            <a:r>
              <a:rPr sz="2183" spc="-57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18" dirty="0">
                <a:latin typeface="Garamond" panose="02020404030301010803" pitchFamily="18" charset="0"/>
                <a:cs typeface="Microsoft Sans Serif"/>
              </a:rPr>
              <a:t>fine,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45" dirty="0">
                <a:latin typeface="Garamond" panose="02020404030301010803" pitchFamily="18" charset="0"/>
                <a:cs typeface="Microsoft Sans Serif"/>
              </a:rPr>
              <a:t>the</a:t>
            </a:r>
            <a:r>
              <a:rPr sz="2183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4" dirty="0">
                <a:latin typeface="Garamond" panose="02020404030301010803" pitchFamily="18" charset="0"/>
                <a:cs typeface="Microsoft Sans Serif"/>
              </a:rPr>
              <a:t>design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67" dirty="0">
                <a:latin typeface="Garamond" panose="02020404030301010803" pitchFamily="18" charset="0"/>
                <a:cs typeface="Microsoft Sans Serif"/>
              </a:rPr>
              <a:t>of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6" dirty="0">
                <a:latin typeface="Garamond" panose="02020404030301010803" pitchFamily="18" charset="0"/>
                <a:cs typeface="Microsoft Sans Serif"/>
              </a:rPr>
              <a:t>institutions)</a:t>
            </a:r>
            <a:endParaRPr sz="2183" dirty="0">
              <a:latin typeface="Garamond" panose="02020404030301010803" pitchFamily="18" charset="0"/>
              <a:cs typeface="Microsoft Sans Serif"/>
            </a:endParaRPr>
          </a:p>
          <a:p>
            <a:pPr lvl="1">
              <a:spcBef>
                <a:spcPts val="27"/>
              </a:spcBef>
              <a:buChar char="•"/>
            </a:pPr>
            <a:endParaRPr sz="3123" dirty="0">
              <a:latin typeface="Microsoft Sans Serif"/>
              <a:cs typeface="Microsoft Sans Serif"/>
            </a:endParaRPr>
          </a:p>
          <a:p>
            <a:pPr marL="204084" indent="-196768">
              <a:spcBef>
                <a:spcPts val="3"/>
              </a:spcBef>
              <a:buSzPct val="123611"/>
              <a:buChar char="•"/>
              <a:tabLst>
                <a:tab pos="204469" algn="l"/>
              </a:tabLst>
            </a:pPr>
            <a:r>
              <a:rPr sz="2183" spc="3" dirty="0">
                <a:latin typeface="Garamond" panose="02020404030301010803" pitchFamily="18" charset="0"/>
                <a:cs typeface="Microsoft Sans Serif"/>
              </a:rPr>
              <a:t>Environmental</a:t>
            </a:r>
            <a:r>
              <a:rPr sz="2183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3" dirty="0">
                <a:latin typeface="Garamond" panose="02020404030301010803" pitchFamily="18" charset="0"/>
                <a:cs typeface="Microsoft Sans Serif"/>
              </a:rPr>
              <a:t>parameters</a:t>
            </a:r>
            <a:r>
              <a:rPr sz="2183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2183" spc="21" dirty="0">
                <a:latin typeface="Garamond" panose="02020404030301010803" pitchFamily="18" charset="0"/>
                <a:cs typeface="Microsoft Sans Serif"/>
              </a:rPr>
              <a:t>include:</a:t>
            </a:r>
            <a:endParaRPr sz="2183" dirty="0">
              <a:latin typeface="Garamond" panose="02020404030301010803" pitchFamily="18" charset="0"/>
              <a:cs typeface="Microsoft Sans Serif"/>
            </a:endParaRPr>
          </a:p>
          <a:p>
            <a:pPr marL="993079" marR="5164093" lvl="1" indent="-175204">
              <a:lnSpc>
                <a:spcPct val="108000"/>
              </a:lnSpc>
              <a:spcBef>
                <a:spcPts val="1125"/>
              </a:spcBef>
              <a:buSzPct val="123437"/>
              <a:buChar char="•"/>
              <a:tabLst>
                <a:tab pos="993465" algn="l"/>
              </a:tabLst>
            </a:pPr>
            <a:r>
              <a:rPr sz="1940" spc="3" dirty="0">
                <a:latin typeface="Garamond" panose="02020404030301010803" pitchFamily="18" charset="0"/>
                <a:cs typeface="Microsoft Sans Serif"/>
              </a:rPr>
              <a:t>Are</a:t>
            </a:r>
            <a:r>
              <a:rPr sz="1940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6" dirty="0">
                <a:latin typeface="Garamond" panose="02020404030301010803" pitchFamily="18" charset="0"/>
                <a:cs typeface="Microsoft Sans Serif"/>
              </a:rPr>
              <a:t>the</a:t>
            </a:r>
            <a:r>
              <a:rPr sz="1940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33" dirty="0">
                <a:latin typeface="Garamond" panose="02020404030301010803" pitchFamily="18" charset="0"/>
                <a:cs typeface="Microsoft Sans Serif"/>
              </a:rPr>
              <a:t>resources</a:t>
            </a:r>
            <a:r>
              <a:rPr sz="1940" spc="27" dirty="0">
                <a:latin typeface="Garamond" panose="02020404030301010803" pitchFamily="18" charset="0"/>
                <a:cs typeface="Microsoft Sans Serif"/>
              </a:rPr>
              <a:t> unpredictable</a:t>
            </a:r>
            <a:r>
              <a:rPr sz="1940" spc="30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6" dirty="0">
                <a:latin typeface="Garamond" panose="02020404030301010803" pitchFamily="18" charset="0"/>
                <a:cs typeface="Microsoft Sans Serif"/>
              </a:rPr>
              <a:t>or</a:t>
            </a:r>
            <a:r>
              <a:rPr sz="1940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12" dirty="0">
                <a:latin typeface="Garamond" panose="02020404030301010803" pitchFamily="18" charset="0"/>
                <a:cs typeface="Microsoft Sans Serif"/>
              </a:rPr>
              <a:t>not?</a:t>
            </a:r>
            <a:r>
              <a:rPr sz="1940" spc="27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9" dirty="0">
                <a:latin typeface="Garamond" panose="02020404030301010803" pitchFamily="18" charset="0"/>
                <a:cs typeface="Microsoft Sans Serif"/>
              </a:rPr>
              <a:t>(irregular </a:t>
            </a:r>
            <a:r>
              <a:rPr sz="1940" spc="-50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12" dirty="0">
                <a:latin typeface="Garamond" panose="02020404030301010803" pitchFamily="18" charset="0"/>
                <a:cs typeface="Microsoft Sans Serif"/>
              </a:rPr>
              <a:t>rainfall...)</a:t>
            </a:r>
            <a:endParaRPr sz="1940" dirty="0">
              <a:latin typeface="Garamond" panose="02020404030301010803" pitchFamily="18" charset="0"/>
              <a:cs typeface="Microsoft Sans Serif"/>
            </a:endParaRPr>
          </a:p>
          <a:p>
            <a:pPr marL="993079" marR="6169880" lvl="1" indent="-175204">
              <a:lnSpc>
                <a:spcPct val="108000"/>
              </a:lnSpc>
              <a:spcBef>
                <a:spcPts val="88"/>
              </a:spcBef>
              <a:buSzPct val="123437"/>
              <a:buChar char="•"/>
              <a:tabLst>
                <a:tab pos="993465" algn="l"/>
              </a:tabLst>
            </a:pPr>
            <a:r>
              <a:rPr sz="1940" spc="-85" dirty="0">
                <a:latin typeface="Garamond" panose="02020404030301010803" pitchFamily="18" charset="0"/>
                <a:cs typeface="Microsoft Sans Serif"/>
              </a:rPr>
              <a:t>Is</a:t>
            </a:r>
            <a:r>
              <a:rPr sz="1940" spc="15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21" dirty="0">
                <a:latin typeface="Garamond" panose="02020404030301010803" pitchFamily="18" charset="0"/>
                <a:cs typeface="Microsoft Sans Serif"/>
              </a:rPr>
              <a:t>communication</a:t>
            </a:r>
            <a:r>
              <a:rPr sz="1940" spc="18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76" dirty="0">
                <a:latin typeface="Garamond" panose="02020404030301010803" pitchFamily="18" charset="0"/>
                <a:cs typeface="Microsoft Sans Serif"/>
              </a:rPr>
              <a:t>easy?</a:t>
            </a:r>
            <a:r>
              <a:rPr sz="1940" spc="18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3" dirty="0">
                <a:latin typeface="Garamond" panose="02020404030301010803" pitchFamily="18" charset="0"/>
                <a:cs typeface="Microsoft Sans Serif"/>
              </a:rPr>
              <a:t>(long-distances, </a:t>
            </a:r>
            <a:r>
              <a:rPr sz="1940" spc="-50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dirty="0">
                <a:latin typeface="Garamond" panose="02020404030301010803" pitchFamily="18" charset="0"/>
                <a:cs typeface="Microsoft Sans Serif"/>
              </a:rPr>
              <a:t>technology...)</a:t>
            </a:r>
          </a:p>
          <a:p>
            <a:pPr marL="993079" marR="4838714" lvl="1" indent="-175204">
              <a:lnSpc>
                <a:spcPct val="108000"/>
              </a:lnSpc>
              <a:spcBef>
                <a:spcPts val="685"/>
              </a:spcBef>
              <a:buSzPct val="123437"/>
              <a:buChar char="•"/>
              <a:tabLst>
                <a:tab pos="993465" algn="l"/>
              </a:tabLst>
            </a:pPr>
            <a:r>
              <a:rPr sz="1940" spc="27" dirty="0">
                <a:latin typeface="Garamond" panose="02020404030301010803" pitchFamily="18" charset="0"/>
                <a:cs typeface="Microsoft Sans Serif"/>
              </a:rPr>
              <a:t>How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3" dirty="0">
                <a:latin typeface="Garamond" panose="02020404030301010803" pitchFamily="18" charset="0"/>
                <a:cs typeface="Microsoft Sans Serif"/>
              </a:rPr>
              <a:t>difficult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58" dirty="0">
                <a:latin typeface="Garamond" panose="02020404030301010803" pitchFamily="18" charset="0"/>
                <a:cs typeface="Microsoft Sans Serif"/>
              </a:rPr>
              <a:t>is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0" dirty="0">
                <a:latin typeface="Garamond" panose="02020404030301010803" pitchFamily="18" charset="0"/>
                <a:cs typeface="Microsoft Sans Serif"/>
              </a:rPr>
              <a:t>monitoring?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85" dirty="0">
                <a:latin typeface="Garamond" panose="02020404030301010803" pitchFamily="18" charset="0"/>
                <a:cs typeface="Microsoft Sans Serif"/>
              </a:rPr>
              <a:t>(is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18" dirty="0">
                <a:latin typeface="Garamond" panose="02020404030301010803" pitchFamily="18" charset="0"/>
                <a:cs typeface="Microsoft Sans Serif"/>
              </a:rPr>
              <a:t>cheating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61" dirty="0">
                <a:latin typeface="Garamond" panose="02020404030301010803" pitchFamily="18" charset="0"/>
                <a:cs typeface="Microsoft Sans Serif"/>
              </a:rPr>
              <a:t>easy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91" dirty="0">
                <a:latin typeface="Garamond" panose="02020404030301010803" pitchFamily="18" charset="0"/>
                <a:cs typeface="Microsoft Sans Serif"/>
              </a:rPr>
              <a:t>to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6" dirty="0">
                <a:latin typeface="Garamond" panose="02020404030301010803" pitchFamily="18" charset="0"/>
                <a:cs typeface="Microsoft Sans Serif"/>
              </a:rPr>
              <a:t>hide </a:t>
            </a:r>
            <a:r>
              <a:rPr sz="1940" spc="-506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36" dirty="0">
                <a:latin typeface="Garamond" panose="02020404030301010803" pitchFamily="18" charset="0"/>
                <a:cs typeface="Microsoft Sans Serif"/>
              </a:rPr>
              <a:t>or</a:t>
            </a:r>
            <a:r>
              <a:rPr sz="1940" spc="21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15" dirty="0">
                <a:latin typeface="Garamond" panose="02020404030301010803" pitchFamily="18" charset="0"/>
                <a:cs typeface="Microsoft Sans Serif"/>
              </a:rPr>
              <a:t>obvious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91" dirty="0">
                <a:latin typeface="Garamond" panose="02020404030301010803" pitchFamily="18" charset="0"/>
                <a:cs typeface="Microsoft Sans Serif"/>
              </a:rPr>
              <a:t>to</a:t>
            </a:r>
            <a:r>
              <a:rPr sz="1940" spc="24" dirty="0">
                <a:latin typeface="Garamond" panose="02020404030301010803" pitchFamily="18" charset="0"/>
                <a:cs typeface="Microsoft Sans Serif"/>
              </a:rPr>
              <a:t> </a:t>
            </a:r>
            <a:r>
              <a:rPr sz="1940" spc="-9" dirty="0">
                <a:latin typeface="Garamond" panose="02020404030301010803" pitchFamily="18" charset="0"/>
                <a:cs typeface="Microsoft Sans Serif"/>
              </a:rPr>
              <a:t>everyone...)</a:t>
            </a:r>
            <a:endParaRPr sz="1940" dirty="0">
              <a:latin typeface="Garamond" panose="02020404030301010803" pitchFamily="18" charset="0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55" y="311041"/>
            <a:ext cx="9849567" cy="1415741"/>
          </a:xfrm>
          <a:prstGeom prst="rect">
            <a:avLst/>
          </a:prstGeom>
        </p:spPr>
        <p:txBody>
          <a:bodyPr vert="horz" wrap="square" lIns="0" tIns="81249" rIns="0" bIns="0" rtlCol="0" anchor="ctr">
            <a:spAutoFit/>
          </a:bodyPr>
          <a:lstStyle/>
          <a:p>
            <a:pPr marL="7701" marR="7701">
              <a:lnSpc>
                <a:spcPts val="5239"/>
              </a:lnSpc>
              <a:spcBef>
                <a:spcPts val="640"/>
              </a:spcBef>
            </a:pPr>
            <a:r>
              <a:rPr sz="4791" spc="-39" dirty="0"/>
              <a:t>Ho</a:t>
            </a:r>
            <a:r>
              <a:rPr sz="4791" spc="69" dirty="0"/>
              <a:t>w</a:t>
            </a:r>
            <a:r>
              <a:rPr sz="4791" spc="-112" dirty="0"/>
              <a:t> </a:t>
            </a:r>
            <a:r>
              <a:rPr sz="4791" spc="-297" dirty="0"/>
              <a:t>ca</a:t>
            </a:r>
            <a:r>
              <a:rPr sz="4791" spc="-218" dirty="0"/>
              <a:t>n</a:t>
            </a:r>
            <a:r>
              <a:rPr sz="4791" spc="-112" dirty="0"/>
              <a:t> </a:t>
            </a:r>
            <a:r>
              <a:rPr sz="4791" spc="6" dirty="0"/>
              <a:t>w</a:t>
            </a:r>
            <a:r>
              <a:rPr sz="4791" spc="76" dirty="0"/>
              <a:t>e</a:t>
            </a:r>
            <a:r>
              <a:rPr sz="4791" spc="-112" dirty="0"/>
              <a:t> </a:t>
            </a:r>
            <a:r>
              <a:rPr sz="4791" spc="-200" dirty="0"/>
              <a:t>chang</a:t>
            </a:r>
            <a:r>
              <a:rPr sz="4791" spc="-97" dirty="0"/>
              <a:t>e</a:t>
            </a:r>
            <a:r>
              <a:rPr sz="4791" spc="-112" dirty="0"/>
              <a:t> </a:t>
            </a:r>
            <a:r>
              <a:rPr sz="4791" spc="173" dirty="0"/>
              <a:t>t</a:t>
            </a:r>
            <a:r>
              <a:rPr sz="4791" spc="-143" dirty="0"/>
              <a:t>h</a:t>
            </a:r>
            <a:r>
              <a:rPr sz="4791" spc="-39" dirty="0"/>
              <a:t>e</a:t>
            </a:r>
            <a:r>
              <a:rPr sz="4791" spc="-112" dirty="0"/>
              <a:t> </a:t>
            </a:r>
            <a:r>
              <a:rPr sz="4791" spc="-233" dirty="0"/>
              <a:t>rule</a:t>
            </a:r>
            <a:r>
              <a:rPr sz="4791" spc="-164" dirty="0"/>
              <a:t>s</a:t>
            </a:r>
            <a:r>
              <a:rPr sz="4791" spc="-112" dirty="0"/>
              <a:t> </a:t>
            </a:r>
            <a:r>
              <a:rPr sz="4791" spc="-39" dirty="0"/>
              <a:t>o</a:t>
            </a:r>
            <a:r>
              <a:rPr sz="4791" spc="33" dirty="0"/>
              <a:t>f</a:t>
            </a:r>
            <a:r>
              <a:rPr sz="4791" spc="-112" dirty="0"/>
              <a:t> </a:t>
            </a:r>
            <a:r>
              <a:rPr sz="4791" spc="173" dirty="0"/>
              <a:t>t</a:t>
            </a:r>
            <a:r>
              <a:rPr sz="4791" spc="-130" dirty="0"/>
              <a:t>he  </a:t>
            </a:r>
            <a:r>
              <a:rPr sz="4791" spc="-185" dirty="0"/>
              <a:t>game?</a:t>
            </a:r>
            <a:endParaRPr sz="4791"/>
          </a:p>
        </p:txBody>
      </p:sp>
      <p:sp>
        <p:nvSpPr>
          <p:cNvPr id="3" name="object 3"/>
          <p:cNvSpPr txBox="1"/>
          <p:nvPr/>
        </p:nvSpPr>
        <p:spPr>
          <a:xfrm>
            <a:off x="238127" y="2040448"/>
            <a:ext cx="6325841" cy="4658380"/>
          </a:xfrm>
          <a:prstGeom prst="rect">
            <a:avLst/>
          </a:prstGeom>
        </p:spPr>
        <p:txBody>
          <a:bodyPr vert="horz" wrap="square" lIns="0" tIns="53139" rIns="0" bIns="0" rtlCol="0">
            <a:spAutoFit/>
          </a:bodyPr>
          <a:lstStyle/>
          <a:p>
            <a:pPr marL="7701">
              <a:spcBef>
                <a:spcPts val="418"/>
              </a:spcBef>
            </a:pPr>
            <a:r>
              <a:rPr sz="4230" spc="-719" baseline="-2986" dirty="0">
                <a:solidFill>
                  <a:srgbClr val="D31876"/>
                </a:solidFill>
                <a:latin typeface="MS UI Gothic"/>
                <a:cs typeface="MS UI Gothic"/>
              </a:rPr>
              <a:t>➡</a:t>
            </a:r>
            <a:r>
              <a:rPr sz="4230" spc="-650" baseline="-2986" dirty="0">
                <a:solidFill>
                  <a:srgbClr val="D31876"/>
                </a:solidFill>
                <a:latin typeface="MS UI Gothic"/>
                <a:cs typeface="MS UI Gothic"/>
              </a:rPr>
              <a:t> </a:t>
            </a:r>
            <a:r>
              <a:rPr sz="2304" b="1" spc="-67" dirty="0">
                <a:solidFill>
                  <a:srgbClr val="D31876"/>
                </a:solidFill>
                <a:latin typeface="Arial"/>
                <a:cs typeface="Arial"/>
              </a:rPr>
              <a:t>Punishment</a:t>
            </a:r>
            <a:r>
              <a:rPr sz="2304" spc="-42" dirty="0">
                <a:latin typeface="Microsoft Sans Serif"/>
                <a:cs typeface="Microsoft Sans Serif"/>
              </a:rPr>
              <a:t>: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-9" dirty="0">
                <a:latin typeface="Microsoft Sans Serif"/>
                <a:cs typeface="Microsoft Sans Serif"/>
              </a:rPr>
              <a:t>inc</a:t>
            </a:r>
            <a:r>
              <a:rPr sz="2304" spc="-49" dirty="0">
                <a:latin typeface="Microsoft Sans Serif"/>
                <a:cs typeface="Microsoft Sans Serif"/>
              </a:rPr>
              <a:t>r</a:t>
            </a:r>
            <a:r>
              <a:rPr sz="2304" spc="-21" dirty="0">
                <a:latin typeface="Microsoft Sans Serif"/>
                <a:cs typeface="Microsoft Sans Serif"/>
              </a:rPr>
              <a:t>easing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124" dirty="0">
                <a:latin typeface="Microsoft Sans Serif"/>
                <a:cs typeface="Microsoft Sans Serif"/>
              </a:rPr>
              <a:t>t</a:t>
            </a:r>
            <a:r>
              <a:rPr sz="2304" spc="-3" dirty="0">
                <a:latin typeface="Microsoft Sans Serif"/>
                <a:cs typeface="Microsoft Sans Serif"/>
              </a:rPr>
              <a:t>he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b="1" spc="-12" dirty="0">
                <a:latin typeface="Arial"/>
                <a:cs typeface="Arial"/>
              </a:rPr>
              <a:t>immed</a:t>
            </a:r>
            <a:r>
              <a:rPr sz="2304" b="1" spc="18" dirty="0">
                <a:latin typeface="Arial"/>
                <a:cs typeface="Arial"/>
              </a:rPr>
              <a:t>iate</a:t>
            </a:r>
            <a:r>
              <a:rPr sz="2304" b="1" spc="39" dirty="0">
                <a:latin typeface="Arial"/>
                <a:cs typeface="Arial"/>
              </a:rPr>
              <a:t> </a:t>
            </a:r>
            <a:r>
              <a:rPr sz="2304" b="1" spc="-79" dirty="0">
                <a:latin typeface="Arial"/>
                <a:cs typeface="Arial"/>
              </a:rPr>
              <a:t>cost</a:t>
            </a:r>
            <a:endParaRPr sz="2304" dirty="0">
              <a:latin typeface="Arial"/>
              <a:cs typeface="Arial"/>
            </a:endParaRPr>
          </a:p>
          <a:p>
            <a:pPr marL="359265">
              <a:spcBef>
                <a:spcPts val="282"/>
              </a:spcBef>
            </a:pPr>
            <a:r>
              <a:rPr sz="2304" spc="61" dirty="0">
                <a:latin typeface="Microsoft Sans Serif"/>
                <a:cs typeface="Microsoft Sans Serif"/>
              </a:rPr>
              <a:t>of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24" dirty="0">
                <a:latin typeface="Microsoft Sans Serif"/>
                <a:cs typeface="Microsoft Sans Serif"/>
              </a:rPr>
              <a:t>free-riding</a:t>
            </a:r>
            <a:r>
              <a:rPr sz="2304" spc="67" dirty="0">
                <a:latin typeface="Microsoft Sans Serif"/>
                <a:cs typeface="Microsoft Sans Serif"/>
              </a:rPr>
              <a:t> </a:t>
            </a:r>
            <a:r>
              <a:rPr sz="2304" spc="-30" dirty="0">
                <a:latin typeface="Microsoft Sans Serif"/>
                <a:cs typeface="Microsoft Sans Serif"/>
              </a:rPr>
              <a:t>(e.g.,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-27" dirty="0">
                <a:latin typeface="Microsoft Sans Serif"/>
                <a:cs typeface="Microsoft Sans Serif"/>
              </a:rPr>
              <a:t>fines,</a:t>
            </a:r>
            <a:r>
              <a:rPr sz="2304" spc="-12" dirty="0">
                <a:latin typeface="Microsoft Sans Serif"/>
                <a:cs typeface="Microsoft Sans Serif"/>
              </a:rPr>
              <a:t> </a:t>
            </a:r>
            <a:r>
              <a:rPr sz="2304" spc="-3" dirty="0">
                <a:latin typeface="Microsoft Sans Serif"/>
                <a:cs typeface="Microsoft Sans Serif"/>
              </a:rPr>
              <a:t>jail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-33" dirty="0">
                <a:latin typeface="Microsoft Sans Serif"/>
                <a:cs typeface="Microsoft Sans Serif"/>
              </a:rPr>
              <a:t>sentences,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-61" dirty="0">
                <a:latin typeface="Microsoft Sans Serif"/>
                <a:cs typeface="Microsoft Sans Serif"/>
              </a:rPr>
              <a:t>taxes)</a:t>
            </a:r>
            <a:endParaRPr sz="2304" dirty="0">
              <a:latin typeface="Microsoft Sans Serif"/>
              <a:cs typeface="Microsoft Sans Serif"/>
            </a:endParaRPr>
          </a:p>
          <a:p>
            <a:pPr marL="377363" marR="3081" indent="-366966">
              <a:lnSpc>
                <a:spcPct val="109000"/>
              </a:lnSpc>
              <a:spcBef>
                <a:spcPts val="1780"/>
              </a:spcBef>
            </a:pPr>
            <a:r>
              <a:rPr sz="4412" spc="-746" baseline="-2863" dirty="0">
                <a:solidFill>
                  <a:srgbClr val="D31876"/>
                </a:solidFill>
                <a:latin typeface="MS UI Gothic"/>
                <a:cs typeface="MS UI Gothic"/>
              </a:rPr>
              <a:t>➡</a:t>
            </a:r>
            <a:r>
              <a:rPr sz="4412" spc="-682" baseline="-2863" dirty="0">
                <a:solidFill>
                  <a:srgbClr val="D31876"/>
                </a:solidFill>
                <a:latin typeface="MS UI Gothic"/>
                <a:cs typeface="MS UI Gothic"/>
              </a:rPr>
              <a:t> </a:t>
            </a:r>
            <a:r>
              <a:rPr sz="2395" b="1" spc="15" dirty="0">
                <a:solidFill>
                  <a:srgbClr val="D31876"/>
                </a:solidFill>
                <a:latin typeface="Arial"/>
                <a:cs typeface="Arial"/>
              </a:rPr>
              <a:t>Monitoring</a:t>
            </a:r>
            <a:r>
              <a:rPr sz="2395" spc="-42" dirty="0">
                <a:latin typeface="Microsoft Sans Serif"/>
                <a:cs typeface="Microsoft Sans Serif"/>
              </a:rPr>
              <a:t>:</a:t>
            </a:r>
            <a:r>
              <a:rPr sz="2395" spc="-15" dirty="0">
                <a:latin typeface="Microsoft Sans Serif"/>
                <a:cs typeface="Microsoft Sans Serif"/>
              </a:rPr>
              <a:t> </a:t>
            </a:r>
            <a:r>
              <a:rPr sz="2395" spc="-3" dirty="0">
                <a:latin typeface="Microsoft Sans Serif"/>
                <a:cs typeface="Microsoft Sans Serif"/>
              </a:rPr>
              <a:t>inc</a:t>
            </a:r>
            <a:r>
              <a:rPr sz="2395" spc="-49" dirty="0">
                <a:latin typeface="Microsoft Sans Serif"/>
                <a:cs typeface="Microsoft Sans Serif"/>
              </a:rPr>
              <a:t>r</a:t>
            </a:r>
            <a:r>
              <a:rPr sz="2395" spc="-18" dirty="0">
                <a:latin typeface="Microsoft Sans Serif"/>
                <a:cs typeface="Microsoft Sans Serif"/>
              </a:rPr>
              <a:t>easing</a:t>
            </a:r>
            <a:r>
              <a:rPr sz="2395" spc="-15" dirty="0">
                <a:latin typeface="Microsoft Sans Serif"/>
                <a:cs typeface="Microsoft Sans Serif"/>
              </a:rPr>
              <a:t> </a:t>
            </a:r>
            <a:r>
              <a:rPr sz="2395" spc="133" dirty="0">
                <a:latin typeface="Microsoft Sans Serif"/>
                <a:cs typeface="Microsoft Sans Serif"/>
              </a:rPr>
              <a:t>t</a:t>
            </a:r>
            <a:r>
              <a:rPr sz="2395" dirty="0">
                <a:latin typeface="Microsoft Sans Serif"/>
                <a:cs typeface="Microsoft Sans Serif"/>
              </a:rPr>
              <a:t>he</a:t>
            </a:r>
            <a:r>
              <a:rPr sz="2395" spc="-15" dirty="0">
                <a:latin typeface="Microsoft Sans Serif"/>
                <a:cs typeface="Microsoft Sans Serif"/>
              </a:rPr>
              <a:t> </a:t>
            </a:r>
            <a:r>
              <a:rPr sz="2395" b="1" spc="30" dirty="0">
                <a:latin typeface="Arial"/>
                <a:cs typeface="Arial"/>
              </a:rPr>
              <a:t>p</a:t>
            </a:r>
            <a:r>
              <a:rPr sz="2395" b="1" spc="-27" dirty="0">
                <a:latin typeface="Arial"/>
                <a:cs typeface="Arial"/>
              </a:rPr>
              <a:t>r</a:t>
            </a:r>
            <a:r>
              <a:rPr sz="2395" b="1" spc="-6" dirty="0">
                <a:latin typeface="Arial"/>
                <a:cs typeface="Arial"/>
              </a:rPr>
              <a:t>obabil</a:t>
            </a:r>
            <a:r>
              <a:rPr sz="2395" b="1" dirty="0">
                <a:latin typeface="Arial"/>
                <a:cs typeface="Arial"/>
              </a:rPr>
              <a:t>ity</a:t>
            </a:r>
            <a:r>
              <a:rPr sz="2395" b="1" spc="42" dirty="0">
                <a:latin typeface="Arial"/>
                <a:cs typeface="Arial"/>
              </a:rPr>
              <a:t> </a:t>
            </a:r>
            <a:r>
              <a:rPr sz="2395" b="1" spc="133" dirty="0">
                <a:latin typeface="Arial"/>
                <a:cs typeface="Arial"/>
              </a:rPr>
              <a:t>t</a:t>
            </a:r>
            <a:r>
              <a:rPr sz="2395" b="1" dirty="0">
                <a:latin typeface="Arial"/>
                <a:cs typeface="Arial"/>
              </a:rPr>
              <a:t>hat  </a:t>
            </a:r>
            <a:r>
              <a:rPr sz="2395" b="1" spc="-3" dirty="0">
                <a:latin typeface="Arial"/>
                <a:cs typeface="Arial"/>
              </a:rPr>
              <a:t>free-riding</a:t>
            </a:r>
            <a:r>
              <a:rPr sz="2395" b="1" spc="39" dirty="0">
                <a:latin typeface="Arial"/>
                <a:cs typeface="Arial"/>
              </a:rPr>
              <a:t> </a:t>
            </a:r>
            <a:r>
              <a:rPr sz="2395" b="1" spc="-154" dirty="0">
                <a:latin typeface="Arial"/>
                <a:cs typeface="Arial"/>
              </a:rPr>
              <a:t>is</a:t>
            </a:r>
            <a:r>
              <a:rPr sz="2395" b="1" spc="42" dirty="0">
                <a:latin typeface="Arial"/>
                <a:cs typeface="Arial"/>
              </a:rPr>
              <a:t> </a:t>
            </a:r>
            <a:r>
              <a:rPr sz="2395" b="1" spc="39" dirty="0">
                <a:latin typeface="Arial"/>
                <a:cs typeface="Arial"/>
              </a:rPr>
              <a:t>detected</a:t>
            </a:r>
            <a:endParaRPr sz="2395" dirty="0">
              <a:latin typeface="Arial"/>
              <a:cs typeface="Arial"/>
            </a:endParaRPr>
          </a:p>
          <a:p>
            <a:pPr marL="366581" marR="119370" indent="-359265">
              <a:lnSpc>
                <a:spcPct val="111300"/>
              </a:lnSpc>
              <a:spcBef>
                <a:spcPts val="1704"/>
              </a:spcBef>
            </a:pPr>
            <a:r>
              <a:rPr sz="4321" spc="-732" baseline="-3508" dirty="0">
                <a:latin typeface="MS UI Gothic"/>
                <a:cs typeface="MS UI Gothic"/>
              </a:rPr>
              <a:t>➡</a:t>
            </a:r>
            <a:r>
              <a:rPr sz="4321" spc="-664" baseline="-3508" dirty="0">
                <a:latin typeface="MS UI Gothic"/>
                <a:cs typeface="MS UI Gothic"/>
              </a:rPr>
              <a:t> </a:t>
            </a:r>
            <a:r>
              <a:rPr sz="2335" spc="-18" dirty="0">
                <a:latin typeface="Microsoft Sans Serif"/>
                <a:cs typeface="Microsoft Sans Serif"/>
              </a:rPr>
              <a:t>Inc</a:t>
            </a:r>
            <a:r>
              <a:rPr sz="2335" spc="-58" dirty="0">
                <a:latin typeface="Microsoft Sans Serif"/>
                <a:cs typeface="Microsoft Sans Serif"/>
              </a:rPr>
              <a:t>r</a:t>
            </a:r>
            <a:r>
              <a:rPr sz="2335" spc="-12" dirty="0">
                <a:latin typeface="Microsoft Sans Serif"/>
                <a:cs typeface="Microsoft Sans Serif"/>
              </a:rPr>
              <a:t>easing </a:t>
            </a:r>
            <a:r>
              <a:rPr sz="2335" spc="133" dirty="0">
                <a:latin typeface="Microsoft Sans Serif"/>
                <a:cs typeface="Microsoft Sans Serif"/>
              </a:rPr>
              <a:t>t</a:t>
            </a:r>
            <a:r>
              <a:rPr sz="2335" spc="6" dirty="0">
                <a:latin typeface="Microsoft Sans Serif"/>
                <a:cs typeface="Microsoft Sans Serif"/>
              </a:rPr>
              <a:t>he</a:t>
            </a:r>
            <a:r>
              <a:rPr sz="2335" spc="-12" dirty="0">
                <a:latin typeface="Microsoft Sans Serif"/>
                <a:cs typeface="Microsoft Sans Serif"/>
              </a:rPr>
              <a:t> </a:t>
            </a:r>
            <a:r>
              <a:rPr sz="2335" b="1" spc="-69" dirty="0">
                <a:solidFill>
                  <a:srgbClr val="D31876"/>
                </a:solidFill>
                <a:latin typeface="Arial"/>
                <a:cs typeface="Arial"/>
              </a:rPr>
              <a:t>ci</a:t>
            </a:r>
            <a:r>
              <a:rPr sz="2335" b="1" spc="-106" dirty="0">
                <a:solidFill>
                  <a:srgbClr val="D31876"/>
                </a:solidFill>
                <a:latin typeface="Arial"/>
                <a:cs typeface="Arial"/>
              </a:rPr>
              <a:t>r</a:t>
            </a:r>
            <a:r>
              <a:rPr sz="2335" b="1" spc="-36" dirty="0">
                <a:solidFill>
                  <a:srgbClr val="D31876"/>
                </a:solidFill>
                <a:latin typeface="Arial"/>
                <a:cs typeface="Arial"/>
              </a:rPr>
              <a:t>culation</a:t>
            </a:r>
            <a:r>
              <a:rPr sz="2335" b="1" spc="45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335" b="1" spc="27" dirty="0">
                <a:solidFill>
                  <a:srgbClr val="D31876"/>
                </a:solidFill>
                <a:latin typeface="Arial"/>
                <a:cs typeface="Arial"/>
              </a:rPr>
              <a:t>of</a:t>
            </a:r>
            <a:r>
              <a:rPr sz="2335" b="1" spc="45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335" b="1" spc="-12" dirty="0">
                <a:solidFill>
                  <a:srgbClr val="D31876"/>
                </a:solidFill>
                <a:latin typeface="Arial"/>
                <a:cs typeface="Arial"/>
              </a:rPr>
              <a:t>info</a:t>
            </a:r>
            <a:r>
              <a:rPr sz="2335" b="1" spc="27" dirty="0">
                <a:solidFill>
                  <a:srgbClr val="D31876"/>
                </a:solidFill>
                <a:latin typeface="Arial"/>
                <a:cs typeface="Arial"/>
              </a:rPr>
              <a:t>r</a:t>
            </a:r>
            <a:r>
              <a:rPr sz="2335" b="1" spc="21" dirty="0">
                <a:solidFill>
                  <a:srgbClr val="D31876"/>
                </a:solidFill>
                <a:latin typeface="Arial"/>
                <a:cs typeface="Arial"/>
              </a:rPr>
              <a:t>mat</a:t>
            </a:r>
            <a:r>
              <a:rPr sz="2335" b="1" spc="-30" dirty="0">
                <a:solidFill>
                  <a:srgbClr val="D31876"/>
                </a:solidFill>
                <a:latin typeface="Arial"/>
                <a:cs typeface="Arial"/>
              </a:rPr>
              <a:t>ion  </a:t>
            </a:r>
            <a:r>
              <a:rPr sz="2335" spc="-24" dirty="0">
                <a:latin typeface="Microsoft Sans Serif"/>
                <a:cs typeface="Microsoft Sans Serif"/>
              </a:rPr>
              <a:t>(e.g., </a:t>
            </a:r>
            <a:r>
              <a:rPr sz="2335" spc="18" dirty="0">
                <a:latin typeface="Microsoft Sans Serif"/>
                <a:cs typeface="Microsoft Sans Serif"/>
              </a:rPr>
              <a:t>making </a:t>
            </a:r>
            <a:r>
              <a:rPr sz="2335" spc="9" dirty="0">
                <a:latin typeface="Microsoft Sans Serif"/>
                <a:cs typeface="Microsoft Sans Serif"/>
              </a:rPr>
              <a:t>violations </a:t>
            </a:r>
            <a:r>
              <a:rPr sz="2335" b="1" spc="3" dirty="0">
                <a:solidFill>
                  <a:srgbClr val="D31876"/>
                </a:solidFill>
                <a:latin typeface="Arial"/>
                <a:cs typeface="Arial"/>
              </a:rPr>
              <a:t>reputational </a:t>
            </a:r>
            <a:r>
              <a:rPr sz="2335" b="1" spc="-36" dirty="0">
                <a:latin typeface="Arial"/>
                <a:cs typeface="Arial"/>
              </a:rPr>
              <a:t>public</a:t>
            </a:r>
            <a:r>
              <a:rPr sz="2335" spc="-36" dirty="0">
                <a:latin typeface="Microsoft Sans Serif"/>
                <a:cs typeface="Microsoft Sans Serif"/>
              </a:rPr>
              <a:t>, </a:t>
            </a:r>
            <a:r>
              <a:rPr sz="2335" spc="-612" dirty="0">
                <a:latin typeface="Microsoft Sans Serif"/>
                <a:cs typeface="Microsoft Sans Serif"/>
              </a:rPr>
              <a:t> </a:t>
            </a:r>
            <a:r>
              <a:rPr sz="2335" spc="-36" dirty="0">
                <a:latin typeface="Microsoft Sans Serif"/>
                <a:cs typeface="Microsoft Sans Serif"/>
              </a:rPr>
              <a:t>so</a:t>
            </a:r>
            <a:r>
              <a:rPr sz="2335" spc="-15" dirty="0">
                <a:latin typeface="Microsoft Sans Serif"/>
                <a:cs typeface="Microsoft Sans Serif"/>
              </a:rPr>
              <a:t> </a:t>
            </a:r>
            <a:r>
              <a:rPr sz="2335" spc="49" dirty="0">
                <a:latin typeface="Microsoft Sans Serif"/>
                <a:cs typeface="Microsoft Sans Serif"/>
              </a:rPr>
              <a:t>that</a:t>
            </a:r>
            <a:r>
              <a:rPr sz="2335" spc="-15" dirty="0">
                <a:latin typeface="Microsoft Sans Serif"/>
                <a:cs typeface="Microsoft Sans Serif"/>
              </a:rPr>
              <a:t> </a:t>
            </a:r>
            <a:r>
              <a:rPr sz="2335" spc="-3" dirty="0">
                <a:latin typeface="Microsoft Sans Serif"/>
                <a:cs typeface="Microsoft Sans Serif"/>
              </a:rPr>
              <a:t>everyone</a:t>
            </a:r>
            <a:r>
              <a:rPr sz="2335" spc="-15" dirty="0">
                <a:latin typeface="Microsoft Sans Serif"/>
                <a:cs typeface="Microsoft Sans Serif"/>
              </a:rPr>
              <a:t> </a:t>
            </a:r>
            <a:r>
              <a:rPr sz="2335" spc="-27" dirty="0">
                <a:latin typeface="Microsoft Sans Serif"/>
                <a:cs typeface="Microsoft Sans Serif"/>
              </a:rPr>
              <a:t>knows</a:t>
            </a:r>
            <a:r>
              <a:rPr sz="2335" spc="-12" dirty="0">
                <a:latin typeface="Microsoft Sans Serif"/>
                <a:cs typeface="Microsoft Sans Serif"/>
              </a:rPr>
              <a:t> </a:t>
            </a:r>
            <a:r>
              <a:rPr sz="2335" spc="49" dirty="0">
                <a:latin typeface="Microsoft Sans Serif"/>
                <a:cs typeface="Microsoft Sans Serif"/>
              </a:rPr>
              <a:t>that</a:t>
            </a:r>
            <a:r>
              <a:rPr sz="2335" spc="-15" dirty="0">
                <a:latin typeface="Microsoft Sans Serif"/>
                <a:cs typeface="Microsoft Sans Serif"/>
              </a:rPr>
              <a:t> </a:t>
            </a:r>
            <a:r>
              <a:rPr sz="2335" spc="6" dirty="0">
                <a:latin typeface="Microsoft Sans Serif"/>
                <a:cs typeface="Microsoft Sans Serif"/>
              </a:rPr>
              <a:t>you</a:t>
            </a:r>
            <a:r>
              <a:rPr sz="2335" spc="-15" dirty="0">
                <a:latin typeface="Microsoft Sans Serif"/>
                <a:cs typeface="Microsoft Sans Serif"/>
              </a:rPr>
              <a:t> </a:t>
            </a:r>
            <a:r>
              <a:rPr sz="2335" dirty="0">
                <a:latin typeface="Microsoft Sans Serif"/>
                <a:cs typeface="Microsoft Sans Serif"/>
              </a:rPr>
              <a:t>cheated)</a:t>
            </a:r>
          </a:p>
          <a:p>
            <a:pPr marL="68926">
              <a:spcBef>
                <a:spcPts val="2034"/>
              </a:spcBef>
            </a:pPr>
            <a:r>
              <a:rPr sz="4230" spc="-719" baseline="-2986" dirty="0">
                <a:latin typeface="MS UI Gothic"/>
                <a:cs typeface="MS UI Gothic"/>
              </a:rPr>
              <a:t>➡</a:t>
            </a:r>
            <a:r>
              <a:rPr sz="4230" spc="-650" baseline="-2986" dirty="0">
                <a:latin typeface="MS UI Gothic"/>
                <a:cs typeface="MS UI Gothic"/>
              </a:rPr>
              <a:t> </a:t>
            </a:r>
            <a:r>
              <a:rPr sz="2304" spc="-27" dirty="0">
                <a:latin typeface="Microsoft Sans Serif"/>
                <a:cs typeface="Microsoft Sans Serif"/>
              </a:rPr>
              <a:t>Increasing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spc="39" dirty="0">
                <a:latin typeface="Microsoft Sans Serif"/>
                <a:cs typeface="Microsoft Sans Serif"/>
              </a:rPr>
              <a:t>the</a:t>
            </a:r>
            <a:r>
              <a:rPr sz="2304" spc="-15" dirty="0">
                <a:latin typeface="Microsoft Sans Serif"/>
                <a:cs typeface="Microsoft Sans Serif"/>
              </a:rPr>
              <a:t> </a:t>
            </a:r>
            <a:r>
              <a:rPr sz="2304" b="1" spc="-42" dirty="0">
                <a:latin typeface="Arial"/>
                <a:cs typeface="Arial"/>
              </a:rPr>
              <a:t>rewards</a:t>
            </a:r>
            <a:r>
              <a:rPr sz="2304" b="1" spc="42" dirty="0">
                <a:latin typeface="Arial"/>
                <a:cs typeface="Arial"/>
              </a:rPr>
              <a:t> </a:t>
            </a:r>
            <a:r>
              <a:rPr sz="2304" b="1" spc="18" dirty="0">
                <a:latin typeface="Arial"/>
                <a:cs typeface="Arial"/>
              </a:rPr>
              <a:t>of</a:t>
            </a:r>
            <a:r>
              <a:rPr sz="2304" b="1" spc="39" dirty="0">
                <a:latin typeface="Arial"/>
                <a:cs typeface="Arial"/>
              </a:rPr>
              <a:t> </a:t>
            </a:r>
            <a:r>
              <a:rPr sz="2304" b="1" spc="-12" dirty="0">
                <a:latin typeface="Arial"/>
                <a:cs typeface="Arial"/>
              </a:rPr>
              <a:t>cooperating</a:t>
            </a:r>
            <a:endParaRPr sz="2304" dirty="0">
              <a:latin typeface="Arial"/>
              <a:cs typeface="Arial"/>
            </a:endParaRPr>
          </a:p>
          <a:p>
            <a:pPr marL="420490">
              <a:spcBef>
                <a:spcPts val="291"/>
              </a:spcBef>
            </a:pPr>
            <a:r>
              <a:rPr sz="2304" spc="-30" dirty="0">
                <a:latin typeface="Microsoft Sans Serif"/>
                <a:cs typeface="Microsoft Sans Serif"/>
              </a:rPr>
              <a:t>(e.g.,</a:t>
            </a:r>
            <a:r>
              <a:rPr sz="2304" spc="-39" dirty="0">
                <a:latin typeface="Microsoft Sans Serif"/>
                <a:cs typeface="Microsoft Sans Serif"/>
              </a:rPr>
              <a:t> </a:t>
            </a:r>
            <a:r>
              <a:rPr sz="2304" spc="-42" dirty="0">
                <a:latin typeface="Microsoft Sans Serif"/>
                <a:cs typeface="Microsoft Sans Serif"/>
              </a:rPr>
              <a:t>subsidies</a:t>
            </a:r>
            <a:r>
              <a:rPr sz="2698" spc="-42" dirty="0">
                <a:latin typeface="Microsoft Sans Serif"/>
                <a:cs typeface="Microsoft Sans Serif"/>
              </a:rPr>
              <a:t>)</a:t>
            </a:r>
            <a:endParaRPr sz="2698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70678" y="2897604"/>
            <a:ext cx="2076653" cy="1441297"/>
            <a:chOff x="12318996" y="4778364"/>
            <a:chExt cx="3424554" cy="2376805"/>
          </a:xfrm>
        </p:grpSpPr>
        <p:sp>
          <p:nvSpPr>
            <p:cNvPr id="5" name="object 5"/>
            <p:cNvSpPr/>
            <p:nvPr/>
          </p:nvSpPr>
          <p:spPr>
            <a:xfrm>
              <a:off x="12318996" y="5406020"/>
              <a:ext cx="641350" cy="1651000"/>
            </a:xfrm>
            <a:custGeom>
              <a:avLst/>
              <a:gdLst/>
              <a:ahLst/>
              <a:cxnLst/>
              <a:rect l="l" t="t" r="r" b="b"/>
              <a:pathLst>
                <a:path w="641350" h="1651000">
                  <a:moveTo>
                    <a:pt x="96353" y="1638300"/>
                  </a:moveTo>
                  <a:lnTo>
                    <a:pt x="2020" y="1638300"/>
                  </a:lnTo>
                  <a:lnTo>
                    <a:pt x="10408" y="1651000"/>
                  </a:lnTo>
                  <a:lnTo>
                    <a:pt x="72540" y="1651000"/>
                  </a:lnTo>
                  <a:lnTo>
                    <a:pt x="96353" y="1638300"/>
                  </a:lnTo>
                  <a:close/>
                </a:path>
                <a:path w="641350" h="1651000">
                  <a:moveTo>
                    <a:pt x="473173" y="965200"/>
                  </a:moveTo>
                  <a:lnTo>
                    <a:pt x="318587" y="965200"/>
                  </a:lnTo>
                  <a:lnTo>
                    <a:pt x="323896" y="1003300"/>
                  </a:lnTo>
                  <a:lnTo>
                    <a:pt x="336184" y="1092200"/>
                  </a:lnTo>
                  <a:lnTo>
                    <a:pt x="342890" y="1143000"/>
                  </a:lnTo>
                  <a:lnTo>
                    <a:pt x="345078" y="1155700"/>
                  </a:lnTo>
                  <a:lnTo>
                    <a:pt x="347944" y="1181100"/>
                  </a:lnTo>
                  <a:lnTo>
                    <a:pt x="350579" y="1206500"/>
                  </a:lnTo>
                  <a:lnTo>
                    <a:pt x="352073" y="1231900"/>
                  </a:lnTo>
                  <a:lnTo>
                    <a:pt x="352633" y="1270000"/>
                  </a:lnTo>
                  <a:lnTo>
                    <a:pt x="352750" y="1295400"/>
                  </a:lnTo>
                  <a:lnTo>
                    <a:pt x="352403" y="1358900"/>
                  </a:lnTo>
                  <a:lnTo>
                    <a:pt x="351802" y="1422400"/>
                  </a:lnTo>
                  <a:lnTo>
                    <a:pt x="351993" y="1485900"/>
                  </a:lnTo>
                  <a:lnTo>
                    <a:pt x="353957" y="1524000"/>
                  </a:lnTo>
                  <a:lnTo>
                    <a:pt x="358669" y="1562100"/>
                  </a:lnTo>
                  <a:lnTo>
                    <a:pt x="358027" y="1562100"/>
                  </a:lnTo>
                  <a:lnTo>
                    <a:pt x="351014" y="1600200"/>
                  </a:lnTo>
                  <a:lnTo>
                    <a:pt x="343392" y="1625600"/>
                  </a:lnTo>
                  <a:lnTo>
                    <a:pt x="347040" y="1651000"/>
                  </a:lnTo>
                  <a:lnTo>
                    <a:pt x="435190" y="1651000"/>
                  </a:lnTo>
                  <a:lnTo>
                    <a:pt x="450241" y="1638300"/>
                  </a:lnTo>
                  <a:lnTo>
                    <a:pt x="453208" y="1612900"/>
                  </a:lnTo>
                  <a:lnTo>
                    <a:pt x="450595" y="1600200"/>
                  </a:lnTo>
                  <a:lnTo>
                    <a:pt x="448907" y="1574800"/>
                  </a:lnTo>
                  <a:lnTo>
                    <a:pt x="451600" y="1574800"/>
                  </a:lnTo>
                  <a:lnTo>
                    <a:pt x="454954" y="1562100"/>
                  </a:lnTo>
                  <a:lnTo>
                    <a:pt x="458387" y="1549400"/>
                  </a:lnTo>
                  <a:lnTo>
                    <a:pt x="461315" y="1536700"/>
                  </a:lnTo>
                  <a:lnTo>
                    <a:pt x="464711" y="1498600"/>
                  </a:lnTo>
                  <a:lnTo>
                    <a:pt x="465889" y="1447800"/>
                  </a:lnTo>
                  <a:lnTo>
                    <a:pt x="465597" y="1397000"/>
                  </a:lnTo>
                  <a:lnTo>
                    <a:pt x="463589" y="1308100"/>
                  </a:lnTo>
                  <a:lnTo>
                    <a:pt x="463368" y="1257300"/>
                  </a:lnTo>
                  <a:lnTo>
                    <a:pt x="465283" y="1231900"/>
                  </a:lnTo>
                  <a:lnTo>
                    <a:pt x="469090" y="1193800"/>
                  </a:lnTo>
                  <a:lnTo>
                    <a:pt x="472818" y="1155700"/>
                  </a:lnTo>
                  <a:lnTo>
                    <a:pt x="474498" y="1104900"/>
                  </a:lnTo>
                  <a:lnTo>
                    <a:pt x="474429" y="1041400"/>
                  </a:lnTo>
                  <a:lnTo>
                    <a:pt x="473903" y="990600"/>
                  </a:lnTo>
                  <a:lnTo>
                    <a:pt x="473173" y="965200"/>
                  </a:lnTo>
                  <a:close/>
                </a:path>
                <a:path w="641350" h="1651000">
                  <a:moveTo>
                    <a:pt x="462954" y="279400"/>
                  </a:moveTo>
                  <a:lnTo>
                    <a:pt x="173549" y="279400"/>
                  </a:lnTo>
                  <a:lnTo>
                    <a:pt x="142932" y="292100"/>
                  </a:lnTo>
                  <a:lnTo>
                    <a:pt x="122865" y="304800"/>
                  </a:lnTo>
                  <a:lnTo>
                    <a:pt x="102001" y="342900"/>
                  </a:lnTo>
                  <a:lnTo>
                    <a:pt x="71991" y="393700"/>
                  </a:lnTo>
                  <a:lnTo>
                    <a:pt x="40753" y="444500"/>
                  </a:lnTo>
                  <a:lnTo>
                    <a:pt x="16204" y="495300"/>
                  </a:lnTo>
                  <a:lnTo>
                    <a:pt x="6261" y="520700"/>
                  </a:lnTo>
                  <a:lnTo>
                    <a:pt x="5895" y="558800"/>
                  </a:lnTo>
                  <a:lnTo>
                    <a:pt x="6862" y="571500"/>
                  </a:lnTo>
                  <a:lnTo>
                    <a:pt x="29461" y="635000"/>
                  </a:lnTo>
                  <a:lnTo>
                    <a:pt x="51171" y="685800"/>
                  </a:lnTo>
                  <a:lnTo>
                    <a:pt x="75205" y="736600"/>
                  </a:lnTo>
                  <a:lnTo>
                    <a:pt x="101777" y="787400"/>
                  </a:lnTo>
                  <a:lnTo>
                    <a:pt x="106337" y="787400"/>
                  </a:lnTo>
                  <a:lnTo>
                    <a:pt x="112442" y="800100"/>
                  </a:lnTo>
                  <a:lnTo>
                    <a:pt x="139143" y="800100"/>
                  </a:lnTo>
                  <a:lnTo>
                    <a:pt x="150041" y="812800"/>
                  </a:lnTo>
                  <a:lnTo>
                    <a:pt x="158533" y="812800"/>
                  </a:lnTo>
                  <a:lnTo>
                    <a:pt x="161785" y="825500"/>
                  </a:lnTo>
                  <a:lnTo>
                    <a:pt x="159397" y="863600"/>
                  </a:lnTo>
                  <a:lnTo>
                    <a:pt x="153247" y="977900"/>
                  </a:lnTo>
                  <a:lnTo>
                    <a:pt x="146403" y="1079500"/>
                  </a:lnTo>
                  <a:lnTo>
                    <a:pt x="143147" y="1130300"/>
                  </a:lnTo>
                  <a:lnTo>
                    <a:pt x="140204" y="1168400"/>
                  </a:lnTo>
                  <a:lnTo>
                    <a:pt x="137525" y="1206500"/>
                  </a:lnTo>
                  <a:lnTo>
                    <a:pt x="135076" y="1244600"/>
                  </a:lnTo>
                  <a:lnTo>
                    <a:pt x="132823" y="1270000"/>
                  </a:lnTo>
                  <a:lnTo>
                    <a:pt x="129497" y="1320800"/>
                  </a:lnTo>
                  <a:lnTo>
                    <a:pt x="125789" y="1371600"/>
                  </a:lnTo>
                  <a:lnTo>
                    <a:pt x="119909" y="1422400"/>
                  </a:lnTo>
                  <a:lnTo>
                    <a:pt x="110069" y="1473200"/>
                  </a:lnTo>
                  <a:lnTo>
                    <a:pt x="103819" y="1511300"/>
                  </a:lnTo>
                  <a:lnTo>
                    <a:pt x="97960" y="1536700"/>
                  </a:lnTo>
                  <a:lnTo>
                    <a:pt x="95053" y="1549400"/>
                  </a:lnTo>
                  <a:lnTo>
                    <a:pt x="97661" y="1562100"/>
                  </a:lnTo>
                  <a:lnTo>
                    <a:pt x="82659" y="1574800"/>
                  </a:lnTo>
                  <a:lnTo>
                    <a:pt x="59973" y="1600200"/>
                  </a:lnTo>
                  <a:lnTo>
                    <a:pt x="35121" y="1600200"/>
                  </a:lnTo>
                  <a:lnTo>
                    <a:pt x="13622" y="1612900"/>
                  </a:lnTo>
                  <a:lnTo>
                    <a:pt x="5340" y="1612900"/>
                  </a:lnTo>
                  <a:lnTo>
                    <a:pt x="0" y="1625600"/>
                  </a:lnTo>
                  <a:lnTo>
                    <a:pt x="837" y="1625600"/>
                  </a:lnTo>
                  <a:lnTo>
                    <a:pt x="1612" y="1638300"/>
                  </a:lnTo>
                  <a:lnTo>
                    <a:pt x="209731" y="1638300"/>
                  </a:lnTo>
                  <a:lnTo>
                    <a:pt x="215853" y="1625600"/>
                  </a:lnTo>
                  <a:lnTo>
                    <a:pt x="218913" y="1612900"/>
                  </a:lnTo>
                  <a:lnTo>
                    <a:pt x="219254" y="1600200"/>
                  </a:lnTo>
                  <a:lnTo>
                    <a:pt x="217218" y="1574800"/>
                  </a:lnTo>
                  <a:lnTo>
                    <a:pt x="215166" y="1574800"/>
                  </a:lnTo>
                  <a:lnTo>
                    <a:pt x="222615" y="1562100"/>
                  </a:lnTo>
                  <a:lnTo>
                    <a:pt x="229986" y="1536700"/>
                  </a:lnTo>
                  <a:lnTo>
                    <a:pt x="237158" y="1485900"/>
                  </a:lnTo>
                  <a:lnTo>
                    <a:pt x="244009" y="1435100"/>
                  </a:lnTo>
                  <a:lnTo>
                    <a:pt x="250422" y="1358900"/>
                  </a:lnTo>
                  <a:lnTo>
                    <a:pt x="256274" y="1295400"/>
                  </a:lnTo>
                  <a:lnTo>
                    <a:pt x="261447" y="1219200"/>
                  </a:lnTo>
                  <a:lnTo>
                    <a:pt x="267439" y="1181100"/>
                  </a:lnTo>
                  <a:lnTo>
                    <a:pt x="277828" y="1117600"/>
                  </a:lnTo>
                  <a:lnTo>
                    <a:pt x="290147" y="1054100"/>
                  </a:lnTo>
                  <a:lnTo>
                    <a:pt x="301931" y="1003300"/>
                  </a:lnTo>
                  <a:lnTo>
                    <a:pt x="310713" y="965200"/>
                  </a:lnTo>
                  <a:lnTo>
                    <a:pt x="473173" y="965200"/>
                  </a:lnTo>
                  <a:lnTo>
                    <a:pt x="472444" y="939800"/>
                  </a:lnTo>
                  <a:lnTo>
                    <a:pt x="469577" y="889000"/>
                  </a:lnTo>
                  <a:lnTo>
                    <a:pt x="469780" y="850900"/>
                  </a:lnTo>
                  <a:lnTo>
                    <a:pt x="472429" y="838200"/>
                  </a:lnTo>
                  <a:lnTo>
                    <a:pt x="473136" y="812800"/>
                  </a:lnTo>
                  <a:lnTo>
                    <a:pt x="467514" y="774700"/>
                  </a:lnTo>
                  <a:lnTo>
                    <a:pt x="525993" y="774700"/>
                  </a:lnTo>
                  <a:lnTo>
                    <a:pt x="536559" y="762000"/>
                  </a:lnTo>
                  <a:lnTo>
                    <a:pt x="551675" y="736600"/>
                  </a:lnTo>
                  <a:lnTo>
                    <a:pt x="136048" y="736600"/>
                  </a:lnTo>
                  <a:lnTo>
                    <a:pt x="124661" y="698500"/>
                  </a:lnTo>
                  <a:lnTo>
                    <a:pt x="110645" y="647700"/>
                  </a:lnTo>
                  <a:lnTo>
                    <a:pt x="98185" y="596900"/>
                  </a:lnTo>
                  <a:lnTo>
                    <a:pt x="91463" y="571500"/>
                  </a:lnTo>
                  <a:lnTo>
                    <a:pt x="92616" y="558800"/>
                  </a:lnTo>
                  <a:lnTo>
                    <a:pt x="93625" y="558800"/>
                  </a:lnTo>
                  <a:lnTo>
                    <a:pt x="95190" y="546100"/>
                  </a:lnTo>
                  <a:lnTo>
                    <a:pt x="95609" y="533400"/>
                  </a:lnTo>
                  <a:lnTo>
                    <a:pt x="98436" y="533400"/>
                  </a:lnTo>
                  <a:lnTo>
                    <a:pt x="106909" y="520700"/>
                  </a:lnTo>
                  <a:lnTo>
                    <a:pt x="119111" y="508000"/>
                  </a:lnTo>
                  <a:lnTo>
                    <a:pt x="132868" y="482600"/>
                  </a:lnTo>
                  <a:lnTo>
                    <a:pt x="146006" y="469900"/>
                  </a:lnTo>
                  <a:lnTo>
                    <a:pt x="612472" y="469900"/>
                  </a:lnTo>
                  <a:lnTo>
                    <a:pt x="602293" y="444500"/>
                  </a:lnTo>
                  <a:lnTo>
                    <a:pt x="535671" y="342900"/>
                  </a:lnTo>
                  <a:lnTo>
                    <a:pt x="515083" y="317500"/>
                  </a:lnTo>
                  <a:lnTo>
                    <a:pt x="495888" y="292100"/>
                  </a:lnTo>
                  <a:lnTo>
                    <a:pt x="462954" y="279400"/>
                  </a:lnTo>
                  <a:close/>
                </a:path>
                <a:path w="641350" h="1651000">
                  <a:moveTo>
                    <a:pt x="612472" y="469900"/>
                  </a:moveTo>
                  <a:lnTo>
                    <a:pt x="487315" y="469900"/>
                  </a:lnTo>
                  <a:lnTo>
                    <a:pt x="488958" y="482600"/>
                  </a:lnTo>
                  <a:lnTo>
                    <a:pt x="509298" y="495300"/>
                  </a:lnTo>
                  <a:lnTo>
                    <a:pt x="526023" y="520700"/>
                  </a:lnTo>
                  <a:lnTo>
                    <a:pt x="544985" y="558800"/>
                  </a:lnTo>
                  <a:lnTo>
                    <a:pt x="547260" y="584200"/>
                  </a:lnTo>
                  <a:lnTo>
                    <a:pt x="543009" y="596900"/>
                  </a:lnTo>
                  <a:lnTo>
                    <a:pt x="532758" y="635000"/>
                  </a:lnTo>
                  <a:lnTo>
                    <a:pt x="520261" y="685800"/>
                  </a:lnTo>
                  <a:lnTo>
                    <a:pt x="509272" y="711200"/>
                  </a:lnTo>
                  <a:lnTo>
                    <a:pt x="168627" y="711200"/>
                  </a:lnTo>
                  <a:lnTo>
                    <a:pt x="161812" y="723900"/>
                  </a:lnTo>
                  <a:lnTo>
                    <a:pt x="146843" y="723900"/>
                  </a:lnTo>
                  <a:lnTo>
                    <a:pt x="137713" y="736600"/>
                  </a:lnTo>
                  <a:lnTo>
                    <a:pt x="551675" y="736600"/>
                  </a:lnTo>
                  <a:lnTo>
                    <a:pt x="566791" y="711200"/>
                  </a:lnTo>
                  <a:lnTo>
                    <a:pt x="594790" y="647700"/>
                  </a:lnTo>
                  <a:lnTo>
                    <a:pt x="616747" y="596900"/>
                  </a:lnTo>
                  <a:lnTo>
                    <a:pt x="628849" y="571500"/>
                  </a:lnTo>
                  <a:lnTo>
                    <a:pt x="637443" y="558800"/>
                  </a:lnTo>
                  <a:lnTo>
                    <a:pt x="640874" y="546100"/>
                  </a:lnTo>
                  <a:lnTo>
                    <a:pt x="640039" y="520700"/>
                  </a:lnTo>
                  <a:lnTo>
                    <a:pt x="635834" y="508000"/>
                  </a:lnTo>
                  <a:lnTo>
                    <a:pt x="624295" y="508000"/>
                  </a:lnTo>
                  <a:lnTo>
                    <a:pt x="622651" y="495300"/>
                  </a:lnTo>
                  <a:lnTo>
                    <a:pt x="612472" y="469900"/>
                  </a:lnTo>
                  <a:close/>
                </a:path>
                <a:path w="641350" h="1651000">
                  <a:moveTo>
                    <a:pt x="485589" y="698500"/>
                  </a:moveTo>
                  <a:lnTo>
                    <a:pt x="176692" y="698500"/>
                  </a:lnTo>
                  <a:lnTo>
                    <a:pt x="176633" y="711200"/>
                  </a:lnTo>
                  <a:lnTo>
                    <a:pt x="499987" y="711200"/>
                  </a:lnTo>
                  <a:lnTo>
                    <a:pt x="485589" y="698500"/>
                  </a:lnTo>
                  <a:close/>
                </a:path>
                <a:path w="641350" h="1651000">
                  <a:moveTo>
                    <a:pt x="471388" y="469900"/>
                  </a:moveTo>
                  <a:lnTo>
                    <a:pt x="158382" y="469900"/>
                  </a:lnTo>
                  <a:lnTo>
                    <a:pt x="159304" y="482600"/>
                  </a:lnTo>
                  <a:lnTo>
                    <a:pt x="161736" y="495300"/>
                  </a:lnTo>
                  <a:lnTo>
                    <a:pt x="163263" y="508000"/>
                  </a:lnTo>
                  <a:lnTo>
                    <a:pt x="164556" y="533400"/>
                  </a:lnTo>
                  <a:lnTo>
                    <a:pt x="166288" y="558800"/>
                  </a:lnTo>
                  <a:lnTo>
                    <a:pt x="170119" y="584200"/>
                  </a:lnTo>
                  <a:lnTo>
                    <a:pt x="173950" y="622300"/>
                  </a:lnTo>
                  <a:lnTo>
                    <a:pt x="176536" y="647700"/>
                  </a:lnTo>
                  <a:lnTo>
                    <a:pt x="176633" y="673100"/>
                  </a:lnTo>
                  <a:lnTo>
                    <a:pt x="176338" y="685800"/>
                  </a:lnTo>
                  <a:lnTo>
                    <a:pt x="176476" y="698500"/>
                  </a:lnTo>
                  <a:lnTo>
                    <a:pt x="455106" y="698500"/>
                  </a:lnTo>
                  <a:lnTo>
                    <a:pt x="455193" y="685800"/>
                  </a:lnTo>
                  <a:lnTo>
                    <a:pt x="455509" y="660400"/>
                  </a:lnTo>
                  <a:lnTo>
                    <a:pt x="456140" y="647700"/>
                  </a:lnTo>
                  <a:lnTo>
                    <a:pt x="457169" y="622300"/>
                  </a:lnTo>
                  <a:lnTo>
                    <a:pt x="459863" y="584200"/>
                  </a:lnTo>
                  <a:lnTo>
                    <a:pt x="463913" y="533400"/>
                  </a:lnTo>
                  <a:lnTo>
                    <a:pt x="467887" y="508000"/>
                  </a:lnTo>
                  <a:lnTo>
                    <a:pt x="470352" y="482600"/>
                  </a:lnTo>
                  <a:lnTo>
                    <a:pt x="471388" y="469900"/>
                  </a:lnTo>
                  <a:close/>
                </a:path>
                <a:path w="641350" h="1651000">
                  <a:moveTo>
                    <a:pt x="633739" y="495300"/>
                  </a:moveTo>
                  <a:lnTo>
                    <a:pt x="624295" y="508000"/>
                  </a:lnTo>
                  <a:lnTo>
                    <a:pt x="635834" y="508000"/>
                  </a:lnTo>
                  <a:lnTo>
                    <a:pt x="633739" y="495300"/>
                  </a:lnTo>
                  <a:close/>
                </a:path>
                <a:path w="641350" h="1651000">
                  <a:moveTo>
                    <a:pt x="399642" y="266700"/>
                  </a:moveTo>
                  <a:lnTo>
                    <a:pt x="234160" y="266700"/>
                  </a:lnTo>
                  <a:lnTo>
                    <a:pt x="206648" y="279400"/>
                  </a:lnTo>
                  <a:lnTo>
                    <a:pt x="427224" y="279400"/>
                  </a:lnTo>
                  <a:lnTo>
                    <a:pt x="399642" y="266700"/>
                  </a:lnTo>
                  <a:close/>
                </a:path>
                <a:path w="641350" h="1651000">
                  <a:moveTo>
                    <a:pt x="380197" y="228600"/>
                  </a:moveTo>
                  <a:lnTo>
                    <a:pt x="370292" y="241300"/>
                  </a:lnTo>
                  <a:lnTo>
                    <a:pt x="244118" y="241300"/>
                  </a:lnTo>
                  <a:lnTo>
                    <a:pt x="242484" y="254000"/>
                  </a:lnTo>
                  <a:lnTo>
                    <a:pt x="240778" y="266700"/>
                  </a:lnTo>
                  <a:lnTo>
                    <a:pt x="395495" y="266700"/>
                  </a:lnTo>
                  <a:lnTo>
                    <a:pt x="390961" y="254000"/>
                  </a:lnTo>
                  <a:lnTo>
                    <a:pt x="387234" y="254000"/>
                  </a:lnTo>
                  <a:lnTo>
                    <a:pt x="383716" y="241300"/>
                  </a:lnTo>
                  <a:lnTo>
                    <a:pt x="258075" y="241300"/>
                  </a:lnTo>
                  <a:lnTo>
                    <a:pt x="249908" y="228600"/>
                  </a:lnTo>
                  <a:lnTo>
                    <a:pt x="380197" y="228600"/>
                  </a:lnTo>
                  <a:close/>
                </a:path>
                <a:path w="641350" h="1651000">
                  <a:moveTo>
                    <a:pt x="404201" y="127000"/>
                  </a:moveTo>
                  <a:lnTo>
                    <a:pt x="227896" y="127000"/>
                  </a:lnTo>
                  <a:lnTo>
                    <a:pt x="230045" y="152400"/>
                  </a:lnTo>
                  <a:lnTo>
                    <a:pt x="232179" y="152400"/>
                  </a:lnTo>
                  <a:lnTo>
                    <a:pt x="233855" y="165100"/>
                  </a:lnTo>
                  <a:lnTo>
                    <a:pt x="237241" y="165100"/>
                  </a:lnTo>
                  <a:lnTo>
                    <a:pt x="244505" y="177800"/>
                  </a:lnTo>
                  <a:lnTo>
                    <a:pt x="248021" y="190500"/>
                  </a:lnTo>
                  <a:lnTo>
                    <a:pt x="252531" y="203200"/>
                  </a:lnTo>
                  <a:lnTo>
                    <a:pt x="256420" y="215900"/>
                  </a:lnTo>
                  <a:lnTo>
                    <a:pt x="258075" y="228600"/>
                  </a:lnTo>
                  <a:lnTo>
                    <a:pt x="258075" y="241300"/>
                  </a:lnTo>
                  <a:lnTo>
                    <a:pt x="370292" y="241300"/>
                  </a:lnTo>
                  <a:lnTo>
                    <a:pt x="369486" y="228600"/>
                  </a:lnTo>
                  <a:lnTo>
                    <a:pt x="369207" y="215900"/>
                  </a:lnTo>
                  <a:lnTo>
                    <a:pt x="369860" y="215900"/>
                  </a:lnTo>
                  <a:lnTo>
                    <a:pt x="371852" y="203200"/>
                  </a:lnTo>
                  <a:lnTo>
                    <a:pt x="375407" y="203200"/>
                  </a:lnTo>
                  <a:lnTo>
                    <a:pt x="378627" y="190500"/>
                  </a:lnTo>
                  <a:lnTo>
                    <a:pt x="381461" y="190500"/>
                  </a:lnTo>
                  <a:lnTo>
                    <a:pt x="383862" y="177800"/>
                  </a:lnTo>
                  <a:lnTo>
                    <a:pt x="391909" y="177800"/>
                  </a:lnTo>
                  <a:lnTo>
                    <a:pt x="395724" y="165100"/>
                  </a:lnTo>
                  <a:lnTo>
                    <a:pt x="399642" y="152400"/>
                  </a:lnTo>
                  <a:lnTo>
                    <a:pt x="402025" y="139700"/>
                  </a:lnTo>
                  <a:lnTo>
                    <a:pt x="404201" y="127000"/>
                  </a:lnTo>
                  <a:close/>
                </a:path>
                <a:path w="641350" h="1651000">
                  <a:moveTo>
                    <a:pt x="373517" y="25400"/>
                  </a:moveTo>
                  <a:lnTo>
                    <a:pt x="253929" y="25400"/>
                  </a:lnTo>
                  <a:lnTo>
                    <a:pt x="237239" y="50800"/>
                  </a:lnTo>
                  <a:lnTo>
                    <a:pt x="231954" y="88900"/>
                  </a:lnTo>
                  <a:lnTo>
                    <a:pt x="232715" y="114300"/>
                  </a:lnTo>
                  <a:lnTo>
                    <a:pt x="232586" y="114300"/>
                  </a:lnTo>
                  <a:lnTo>
                    <a:pt x="229621" y="127000"/>
                  </a:lnTo>
                  <a:lnTo>
                    <a:pt x="403351" y="127000"/>
                  </a:lnTo>
                  <a:lnTo>
                    <a:pt x="396658" y="114300"/>
                  </a:lnTo>
                  <a:lnTo>
                    <a:pt x="399206" y="101600"/>
                  </a:lnTo>
                  <a:lnTo>
                    <a:pt x="399356" y="76200"/>
                  </a:lnTo>
                  <a:lnTo>
                    <a:pt x="392373" y="38100"/>
                  </a:lnTo>
                  <a:lnTo>
                    <a:pt x="373517" y="25400"/>
                  </a:lnTo>
                  <a:close/>
                </a:path>
                <a:path w="641350" h="1651000">
                  <a:moveTo>
                    <a:pt x="362816" y="12700"/>
                  </a:moveTo>
                  <a:lnTo>
                    <a:pt x="279746" y="12700"/>
                  </a:lnTo>
                  <a:lnTo>
                    <a:pt x="266689" y="25400"/>
                  </a:lnTo>
                  <a:lnTo>
                    <a:pt x="363203" y="25400"/>
                  </a:lnTo>
                  <a:lnTo>
                    <a:pt x="362816" y="12700"/>
                  </a:lnTo>
                  <a:close/>
                </a:path>
                <a:path w="641350" h="1651000">
                  <a:moveTo>
                    <a:pt x="319576" y="0"/>
                  </a:moveTo>
                  <a:lnTo>
                    <a:pt x="306294" y="0"/>
                  </a:lnTo>
                  <a:lnTo>
                    <a:pt x="292986" y="12700"/>
                  </a:lnTo>
                  <a:lnTo>
                    <a:pt x="332735" y="12700"/>
                  </a:lnTo>
                  <a:lnTo>
                    <a:pt x="319576" y="0"/>
                  </a:lnTo>
                  <a:close/>
                </a:path>
              </a:pathLst>
            </a:custGeom>
            <a:solidFill>
              <a:srgbClr val="00A2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12840708" y="4804542"/>
              <a:ext cx="2281555" cy="594360"/>
            </a:xfrm>
            <a:custGeom>
              <a:avLst/>
              <a:gdLst/>
              <a:ahLst/>
              <a:cxnLst/>
              <a:rect l="l" t="t" r="r" b="b"/>
              <a:pathLst>
                <a:path w="2281555" h="594360">
                  <a:moveTo>
                    <a:pt x="0" y="460175"/>
                  </a:moveTo>
                  <a:lnTo>
                    <a:pt x="41819" y="425416"/>
                  </a:lnTo>
                  <a:lnTo>
                    <a:pt x="83613" y="392022"/>
                  </a:lnTo>
                  <a:lnTo>
                    <a:pt x="125382" y="359993"/>
                  </a:lnTo>
                  <a:lnTo>
                    <a:pt x="167127" y="329329"/>
                  </a:lnTo>
                  <a:lnTo>
                    <a:pt x="208846" y="300029"/>
                  </a:lnTo>
                  <a:lnTo>
                    <a:pt x="250541" y="272094"/>
                  </a:lnTo>
                  <a:lnTo>
                    <a:pt x="292210" y="245524"/>
                  </a:lnTo>
                  <a:lnTo>
                    <a:pt x="333855" y="220319"/>
                  </a:lnTo>
                  <a:lnTo>
                    <a:pt x="375475" y="196478"/>
                  </a:lnTo>
                  <a:lnTo>
                    <a:pt x="417070" y="174002"/>
                  </a:lnTo>
                  <a:lnTo>
                    <a:pt x="458639" y="152891"/>
                  </a:lnTo>
                  <a:lnTo>
                    <a:pt x="500184" y="133145"/>
                  </a:lnTo>
                  <a:lnTo>
                    <a:pt x="541704" y="114764"/>
                  </a:lnTo>
                  <a:lnTo>
                    <a:pt x="583199" y="97747"/>
                  </a:lnTo>
                  <a:lnTo>
                    <a:pt x="624669" y="82095"/>
                  </a:lnTo>
                  <a:lnTo>
                    <a:pt x="666114" y="67808"/>
                  </a:lnTo>
                  <a:lnTo>
                    <a:pt x="707535" y="54886"/>
                  </a:lnTo>
                  <a:lnTo>
                    <a:pt x="748930" y="43328"/>
                  </a:lnTo>
                  <a:lnTo>
                    <a:pt x="790300" y="33135"/>
                  </a:lnTo>
                  <a:lnTo>
                    <a:pt x="831646" y="24307"/>
                  </a:lnTo>
                  <a:lnTo>
                    <a:pt x="872966" y="16844"/>
                  </a:lnTo>
                  <a:lnTo>
                    <a:pt x="914261" y="10745"/>
                  </a:lnTo>
                  <a:lnTo>
                    <a:pt x="955532" y="6012"/>
                  </a:lnTo>
                  <a:lnTo>
                    <a:pt x="996778" y="2643"/>
                  </a:lnTo>
                  <a:lnTo>
                    <a:pt x="1037998" y="639"/>
                  </a:lnTo>
                  <a:lnTo>
                    <a:pt x="1079194" y="0"/>
                  </a:lnTo>
                  <a:lnTo>
                    <a:pt x="1120365" y="725"/>
                  </a:lnTo>
                  <a:lnTo>
                    <a:pt x="1161511" y="2815"/>
                  </a:lnTo>
                  <a:lnTo>
                    <a:pt x="1202632" y="6270"/>
                  </a:lnTo>
                  <a:lnTo>
                    <a:pt x="1243728" y="11090"/>
                  </a:lnTo>
                  <a:lnTo>
                    <a:pt x="1284799" y="17275"/>
                  </a:lnTo>
                  <a:lnTo>
                    <a:pt x="1325845" y="24824"/>
                  </a:lnTo>
                  <a:lnTo>
                    <a:pt x="1366866" y="33739"/>
                  </a:lnTo>
                  <a:lnTo>
                    <a:pt x="1407862" y="44018"/>
                  </a:lnTo>
                  <a:lnTo>
                    <a:pt x="1448833" y="55662"/>
                  </a:lnTo>
                  <a:lnTo>
                    <a:pt x="1489780" y="68670"/>
                  </a:lnTo>
                  <a:lnTo>
                    <a:pt x="1530701" y="83044"/>
                  </a:lnTo>
                  <a:lnTo>
                    <a:pt x="1571597" y="98782"/>
                  </a:lnTo>
                  <a:lnTo>
                    <a:pt x="1612469" y="115885"/>
                  </a:lnTo>
                  <a:lnTo>
                    <a:pt x="1653315" y="134353"/>
                  </a:lnTo>
                  <a:lnTo>
                    <a:pt x="1694137" y="154186"/>
                  </a:lnTo>
                  <a:lnTo>
                    <a:pt x="1734934" y="175383"/>
                  </a:lnTo>
                  <a:lnTo>
                    <a:pt x="1775705" y="197946"/>
                  </a:lnTo>
                  <a:lnTo>
                    <a:pt x="1816452" y="221873"/>
                  </a:lnTo>
                  <a:lnTo>
                    <a:pt x="1857174" y="247165"/>
                  </a:lnTo>
                  <a:lnTo>
                    <a:pt x="1897871" y="273822"/>
                  </a:lnTo>
                  <a:lnTo>
                    <a:pt x="1938543" y="301843"/>
                  </a:lnTo>
                  <a:lnTo>
                    <a:pt x="1979190" y="331230"/>
                  </a:lnTo>
                  <a:lnTo>
                    <a:pt x="2019812" y="361981"/>
                  </a:lnTo>
                  <a:lnTo>
                    <a:pt x="2060409" y="394097"/>
                  </a:lnTo>
                  <a:lnTo>
                    <a:pt x="2100981" y="427578"/>
                  </a:lnTo>
                  <a:lnTo>
                    <a:pt x="2141529" y="462424"/>
                  </a:lnTo>
                  <a:lnTo>
                    <a:pt x="2182051" y="498634"/>
                  </a:lnTo>
                  <a:lnTo>
                    <a:pt x="2222548" y="536210"/>
                  </a:lnTo>
                  <a:lnTo>
                    <a:pt x="2263021" y="575150"/>
                  </a:lnTo>
                  <a:lnTo>
                    <a:pt x="2281228" y="593965"/>
                  </a:lnTo>
                </a:path>
              </a:pathLst>
            </a:custGeom>
            <a:ln w="52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" name="object 7"/>
            <p:cNvSpPr/>
            <p:nvPr/>
          </p:nvSpPr>
          <p:spPr>
            <a:xfrm>
              <a:off x="15102576" y="5504130"/>
              <a:ext cx="641350" cy="1651000"/>
            </a:xfrm>
            <a:custGeom>
              <a:avLst/>
              <a:gdLst/>
              <a:ahLst/>
              <a:cxnLst/>
              <a:rect l="l" t="t" r="r" b="b"/>
              <a:pathLst>
                <a:path w="641350" h="1651000">
                  <a:moveTo>
                    <a:pt x="96353" y="1638300"/>
                  </a:moveTo>
                  <a:lnTo>
                    <a:pt x="2020" y="1638300"/>
                  </a:lnTo>
                  <a:lnTo>
                    <a:pt x="10408" y="1651000"/>
                  </a:lnTo>
                  <a:lnTo>
                    <a:pt x="72540" y="1651000"/>
                  </a:lnTo>
                  <a:lnTo>
                    <a:pt x="96353" y="1638300"/>
                  </a:lnTo>
                  <a:close/>
                </a:path>
                <a:path w="641350" h="1651000">
                  <a:moveTo>
                    <a:pt x="473173" y="965200"/>
                  </a:moveTo>
                  <a:lnTo>
                    <a:pt x="318587" y="965200"/>
                  </a:lnTo>
                  <a:lnTo>
                    <a:pt x="323896" y="1003300"/>
                  </a:lnTo>
                  <a:lnTo>
                    <a:pt x="336184" y="1092200"/>
                  </a:lnTo>
                  <a:lnTo>
                    <a:pt x="342890" y="1143000"/>
                  </a:lnTo>
                  <a:lnTo>
                    <a:pt x="345078" y="1155700"/>
                  </a:lnTo>
                  <a:lnTo>
                    <a:pt x="347944" y="1181100"/>
                  </a:lnTo>
                  <a:lnTo>
                    <a:pt x="350579" y="1206500"/>
                  </a:lnTo>
                  <a:lnTo>
                    <a:pt x="352073" y="1231900"/>
                  </a:lnTo>
                  <a:lnTo>
                    <a:pt x="352633" y="1270000"/>
                  </a:lnTo>
                  <a:lnTo>
                    <a:pt x="352750" y="1295400"/>
                  </a:lnTo>
                  <a:lnTo>
                    <a:pt x="352403" y="1358900"/>
                  </a:lnTo>
                  <a:lnTo>
                    <a:pt x="351802" y="1422400"/>
                  </a:lnTo>
                  <a:lnTo>
                    <a:pt x="351993" y="1485900"/>
                  </a:lnTo>
                  <a:lnTo>
                    <a:pt x="353957" y="1524000"/>
                  </a:lnTo>
                  <a:lnTo>
                    <a:pt x="358669" y="1562100"/>
                  </a:lnTo>
                  <a:lnTo>
                    <a:pt x="358027" y="1562100"/>
                  </a:lnTo>
                  <a:lnTo>
                    <a:pt x="351018" y="1600200"/>
                  </a:lnTo>
                  <a:lnTo>
                    <a:pt x="343403" y="1625600"/>
                  </a:lnTo>
                  <a:lnTo>
                    <a:pt x="347044" y="1651000"/>
                  </a:lnTo>
                  <a:lnTo>
                    <a:pt x="435190" y="1651000"/>
                  </a:lnTo>
                  <a:lnTo>
                    <a:pt x="450241" y="1638300"/>
                  </a:lnTo>
                  <a:lnTo>
                    <a:pt x="453208" y="1612900"/>
                  </a:lnTo>
                  <a:lnTo>
                    <a:pt x="450595" y="1600200"/>
                  </a:lnTo>
                  <a:lnTo>
                    <a:pt x="448907" y="1574800"/>
                  </a:lnTo>
                  <a:lnTo>
                    <a:pt x="451600" y="1574800"/>
                  </a:lnTo>
                  <a:lnTo>
                    <a:pt x="454954" y="1562100"/>
                  </a:lnTo>
                  <a:lnTo>
                    <a:pt x="458387" y="1549400"/>
                  </a:lnTo>
                  <a:lnTo>
                    <a:pt x="461315" y="1536700"/>
                  </a:lnTo>
                  <a:lnTo>
                    <a:pt x="464711" y="1498600"/>
                  </a:lnTo>
                  <a:lnTo>
                    <a:pt x="465889" y="1447800"/>
                  </a:lnTo>
                  <a:lnTo>
                    <a:pt x="465597" y="1397000"/>
                  </a:lnTo>
                  <a:lnTo>
                    <a:pt x="463589" y="1308100"/>
                  </a:lnTo>
                  <a:lnTo>
                    <a:pt x="463368" y="1257300"/>
                  </a:lnTo>
                  <a:lnTo>
                    <a:pt x="465283" y="1231900"/>
                  </a:lnTo>
                  <a:lnTo>
                    <a:pt x="469090" y="1193800"/>
                  </a:lnTo>
                  <a:lnTo>
                    <a:pt x="472818" y="1155700"/>
                  </a:lnTo>
                  <a:lnTo>
                    <a:pt x="474498" y="1104900"/>
                  </a:lnTo>
                  <a:lnTo>
                    <a:pt x="474429" y="1041400"/>
                  </a:lnTo>
                  <a:lnTo>
                    <a:pt x="473903" y="990600"/>
                  </a:lnTo>
                  <a:lnTo>
                    <a:pt x="473173" y="965200"/>
                  </a:lnTo>
                  <a:close/>
                </a:path>
                <a:path w="641350" h="1651000">
                  <a:moveTo>
                    <a:pt x="462954" y="279400"/>
                  </a:moveTo>
                  <a:lnTo>
                    <a:pt x="173549" y="279400"/>
                  </a:lnTo>
                  <a:lnTo>
                    <a:pt x="142932" y="292100"/>
                  </a:lnTo>
                  <a:lnTo>
                    <a:pt x="122865" y="304800"/>
                  </a:lnTo>
                  <a:lnTo>
                    <a:pt x="102001" y="342900"/>
                  </a:lnTo>
                  <a:lnTo>
                    <a:pt x="71991" y="393700"/>
                  </a:lnTo>
                  <a:lnTo>
                    <a:pt x="40753" y="444500"/>
                  </a:lnTo>
                  <a:lnTo>
                    <a:pt x="16204" y="495300"/>
                  </a:lnTo>
                  <a:lnTo>
                    <a:pt x="6261" y="520700"/>
                  </a:lnTo>
                  <a:lnTo>
                    <a:pt x="5896" y="558800"/>
                  </a:lnTo>
                  <a:lnTo>
                    <a:pt x="6866" y="571500"/>
                  </a:lnTo>
                  <a:lnTo>
                    <a:pt x="29465" y="635000"/>
                  </a:lnTo>
                  <a:lnTo>
                    <a:pt x="51172" y="685800"/>
                  </a:lnTo>
                  <a:lnTo>
                    <a:pt x="75205" y="736600"/>
                  </a:lnTo>
                  <a:lnTo>
                    <a:pt x="101777" y="787400"/>
                  </a:lnTo>
                  <a:lnTo>
                    <a:pt x="106339" y="787400"/>
                  </a:lnTo>
                  <a:lnTo>
                    <a:pt x="112446" y="800100"/>
                  </a:lnTo>
                  <a:lnTo>
                    <a:pt x="139143" y="800100"/>
                  </a:lnTo>
                  <a:lnTo>
                    <a:pt x="150041" y="812800"/>
                  </a:lnTo>
                  <a:lnTo>
                    <a:pt x="158533" y="812800"/>
                  </a:lnTo>
                  <a:lnTo>
                    <a:pt x="161785" y="825500"/>
                  </a:lnTo>
                  <a:lnTo>
                    <a:pt x="159397" y="863600"/>
                  </a:lnTo>
                  <a:lnTo>
                    <a:pt x="153247" y="977900"/>
                  </a:lnTo>
                  <a:lnTo>
                    <a:pt x="146403" y="1079500"/>
                  </a:lnTo>
                  <a:lnTo>
                    <a:pt x="143147" y="1130300"/>
                  </a:lnTo>
                  <a:lnTo>
                    <a:pt x="140204" y="1168400"/>
                  </a:lnTo>
                  <a:lnTo>
                    <a:pt x="137525" y="1206500"/>
                  </a:lnTo>
                  <a:lnTo>
                    <a:pt x="135076" y="1244600"/>
                  </a:lnTo>
                  <a:lnTo>
                    <a:pt x="132823" y="1270000"/>
                  </a:lnTo>
                  <a:lnTo>
                    <a:pt x="129497" y="1320800"/>
                  </a:lnTo>
                  <a:lnTo>
                    <a:pt x="125789" y="1371600"/>
                  </a:lnTo>
                  <a:lnTo>
                    <a:pt x="119909" y="1422400"/>
                  </a:lnTo>
                  <a:lnTo>
                    <a:pt x="110069" y="1473200"/>
                  </a:lnTo>
                  <a:lnTo>
                    <a:pt x="103821" y="1511300"/>
                  </a:lnTo>
                  <a:lnTo>
                    <a:pt x="97964" y="1536700"/>
                  </a:lnTo>
                  <a:lnTo>
                    <a:pt x="95058" y="1549400"/>
                  </a:lnTo>
                  <a:lnTo>
                    <a:pt x="97661" y="1562100"/>
                  </a:lnTo>
                  <a:lnTo>
                    <a:pt x="82659" y="1574800"/>
                  </a:lnTo>
                  <a:lnTo>
                    <a:pt x="59973" y="1600200"/>
                  </a:lnTo>
                  <a:lnTo>
                    <a:pt x="35121" y="1600200"/>
                  </a:lnTo>
                  <a:lnTo>
                    <a:pt x="13622" y="1612900"/>
                  </a:lnTo>
                  <a:lnTo>
                    <a:pt x="5340" y="1612900"/>
                  </a:lnTo>
                  <a:lnTo>
                    <a:pt x="0" y="1625600"/>
                  </a:lnTo>
                  <a:lnTo>
                    <a:pt x="837" y="1625600"/>
                  </a:lnTo>
                  <a:lnTo>
                    <a:pt x="1612" y="1638300"/>
                  </a:lnTo>
                  <a:lnTo>
                    <a:pt x="209731" y="1638300"/>
                  </a:lnTo>
                  <a:lnTo>
                    <a:pt x="215853" y="1625600"/>
                  </a:lnTo>
                  <a:lnTo>
                    <a:pt x="218913" y="1612900"/>
                  </a:lnTo>
                  <a:lnTo>
                    <a:pt x="219254" y="1600200"/>
                  </a:lnTo>
                  <a:lnTo>
                    <a:pt x="217218" y="1574800"/>
                  </a:lnTo>
                  <a:lnTo>
                    <a:pt x="215166" y="1574800"/>
                  </a:lnTo>
                  <a:lnTo>
                    <a:pt x="222615" y="1562100"/>
                  </a:lnTo>
                  <a:lnTo>
                    <a:pt x="229986" y="1536700"/>
                  </a:lnTo>
                  <a:lnTo>
                    <a:pt x="237158" y="1485900"/>
                  </a:lnTo>
                  <a:lnTo>
                    <a:pt x="244009" y="1435100"/>
                  </a:lnTo>
                  <a:lnTo>
                    <a:pt x="250422" y="1358900"/>
                  </a:lnTo>
                  <a:lnTo>
                    <a:pt x="256274" y="1295400"/>
                  </a:lnTo>
                  <a:lnTo>
                    <a:pt x="261447" y="1219200"/>
                  </a:lnTo>
                  <a:lnTo>
                    <a:pt x="267439" y="1181100"/>
                  </a:lnTo>
                  <a:lnTo>
                    <a:pt x="277828" y="1117600"/>
                  </a:lnTo>
                  <a:lnTo>
                    <a:pt x="290147" y="1054100"/>
                  </a:lnTo>
                  <a:lnTo>
                    <a:pt x="301931" y="1003300"/>
                  </a:lnTo>
                  <a:lnTo>
                    <a:pt x="310713" y="965200"/>
                  </a:lnTo>
                  <a:lnTo>
                    <a:pt x="473173" y="965200"/>
                  </a:lnTo>
                  <a:lnTo>
                    <a:pt x="472444" y="939800"/>
                  </a:lnTo>
                  <a:lnTo>
                    <a:pt x="469577" y="889000"/>
                  </a:lnTo>
                  <a:lnTo>
                    <a:pt x="469780" y="850900"/>
                  </a:lnTo>
                  <a:lnTo>
                    <a:pt x="472429" y="838200"/>
                  </a:lnTo>
                  <a:lnTo>
                    <a:pt x="473136" y="812800"/>
                  </a:lnTo>
                  <a:lnTo>
                    <a:pt x="467514" y="774700"/>
                  </a:lnTo>
                  <a:lnTo>
                    <a:pt x="525993" y="774700"/>
                  </a:lnTo>
                  <a:lnTo>
                    <a:pt x="536559" y="762000"/>
                  </a:lnTo>
                  <a:lnTo>
                    <a:pt x="551676" y="736600"/>
                  </a:lnTo>
                  <a:lnTo>
                    <a:pt x="136048" y="736600"/>
                  </a:lnTo>
                  <a:lnTo>
                    <a:pt x="124661" y="698500"/>
                  </a:lnTo>
                  <a:lnTo>
                    <a:pt x="110645" y="647700"/>
                  </a:lnTo>
                  <a:lnTo>
                    <a:pt x="98185" y="596900"/>
                  </a:lnTo>
                  <a:lnTo>
                    <a:pt x="91463" y="571500"/>
                  </a:lnTo>
                  <a:lnTo>
                    <a:pt x="92621" y="558800"/>
                  </a:lnTo>
                  <a:lnTo>
                    <a:pt x="93629" y="558800"/>
                  </a:lnTo>
                  <a:lnTo>
                    <a:pt x="95190" y="546100"/>
                  </a:lnTo>
                  <a:lnTo>
                    <a:pt x="95609" y="533400"/>
                  </a:lnTo>
                  <a:lnTo>
                    <a:pt x="98436" y="533400"/>
                  </a:lnTo>
                  <a:lnTo>
                    <a:pt x="106909" y="520700"/>
                  </a:lnTo>
                  <a:lnTo>
                    <a:pt x="119111" y="508000"/>
                  </a:lnTo>
                  <a:lnTo>
                    <a:pt x="132868" y="482600"/>
                  </a:lnTo>
                  <a:lnTo>
                    <a:pt x="146006" y="469900"/>
                  </a:lnTo>
                  <a:lnTo>
                    <a:pt x="612473" y="469900"/>
                  </a:lnTo>
                  <a:lnTo>
                    <a:pt x="602295" y="444500"/>
                  </a:lnTo>
                  <a:lnTo>
                    <a:pt x="535675" y="342900"/>
                  </a:lnTo>
                  <a:lnTo>
                    <a:pt x="515083" y="317500"/>
                  </a:lnTo>
                  <a:lnTo>
                    <a:pt x="495888" y="292100"/>
                  </a:lnTo>
                  <a:lnTo>
                    <a:pt x="462954" y="279400"/>
                  </a:lnTo>
                  <a:close/>
                </a:path>
                <a:path w="641350" h="1651000">
                  <a:moveTo>
                    <a:pt x="612473" y="469900"/>
                  </a:moveTo>
                  <a:lnTo>
                    <a:pt x="487315" y="469900"/>
                  </a:lnTo>
                  <a:lnTo>
                    <a:pt x="488958" y="482600"/>
                  </a:lnTo>
                  <a:lnTo>
                    <a:pt x="509298" y="495300"/>
                  </a:lnTo>
                  <a:lnTo>
                    <a:pt x="526023" y="520700"/>
                  </a:lnTo>
                  <a:lnTo>
                    <a:pt x="544985" y="558800"/>
                  </a:lnTo>
                  <a:lnTo>
                    <a:pt x="547260" y="584200"/>
                  </a:lnTo>
                  <a:lnTo>
                    <a:pt x="543011" y="596900"/>
                  </a:lnTo>
                  <a:lnTo>
                    <a:pt x="532762" y="635000"/>
                  </a:lnTo>
                  <a:lnTo>
                    <a:pt x="520266" y="685800"/>
                  </a:lnTo>
                  <a:lnTo>
                    <a:pt x="509272" y="711200"/>
                  </a:lnTo>
                  <a:lnTo>
                    <a:pt x="168627" y="711200"/>
                  </a:lnTo>
                  <a:lnTo>
                    <a:pt x="161812" y="723900"/>
                  </a:lnTo>
                  <a:lnTo>
                    <a:pt x="146843" y="723900"/>
                  </a:lnTo>
                  <a:lnTo>
                    <a:pt x="137713" y="736600"/>
                  </a:lnTo>
                  <a:lnTo>
                    <a:pt x="551676" y="736600"/>
                  </a:lnTo>
                  <a:lnTo>
                    <a:pt x="566792" y="711200"/>
                  </a:lnTo>
                  <a:lnTo>
                    <a:pt x="594794" y="647700"/>
                  </a:lnTo>
                  <a:lnTo>
                    <a:pt x="616751" y="596900"/>
                  </a:lnTo>
                  <a:lnTo>
                    <a:pt x="628849" y="571500"/>
                  </a:lnTo>
                  <a:lnTo>
                    <a:pt x="637447" y="558800"/>
                  </a:lnTo>
                  <a:lnTo>
                    <a:pt x="640878" y="546100"/>
                  </a:lnTo>
                  <a:lnTo>
                    <a:pt x="640040" y="520700"/>
                  </a:lnTo>
                  <a:lnTo>
                    <a:pt x="635834" y="508000"/>
                  </a:lnTo>
                  <a:lnTo>
                    <a:pt x="624295" y="508000"/>
                  </a:lnTo>
                  <a:lnTo>
                    <a:pt x="622651" y="495300"/>
                  </a:lnTo>
                  <a:lnTo>
                    <a:pt x="612473" y="469900"/>
                  </a:lnTo>
                  <a:close/>
                </a:path>
                <a:path w="641350" h="1651000">
                  <a:moveTo>
                    <a:pt x="485589" y="698500"/>
                  </a:moveTo>
                  <a:lnTo>
                    <a:pt x="176692" y="698500"/>
                  </a:lnTo>
                  <a:lnTo>
                    <a:pt x="176633" y="711200"/>
                  </a:lnTo>
                  <a:lnTo>
                    <a:pt x="499987" y="711200"/>
                  </a:lnTo>
                  <a:lnTo>
                    <a:pt x="485589" y="698500"/>
                  </a:lnTo>
                  <a:close/>
                </a:path>
                <a:path w="641350" h="1651000">
                  <a:moveTo>
                    <a:pt x="471399" y="469900"/>
                  </a:moveTo>
                  <a:lnTo>
                    <a:pt x="158382" y="469900"/>
                  </a:lnTo>
                  <a:lnTo>
                    <a:pt x="159304" y="482600"/>
                  </a:lnTo>
                  <a:lnTo>
                    <a:pt x="161736" y="495300"/>
                  </a:lnTo>
                  <a:lnTo>
                    <a:pt x="163263" y="508000"/>
                  </a:lnTo>
                  <a:lnTo>
                    <a:pt x="164556" y="533400"/>
                  </a:lnTo>
                  <a:lnTo>
                    <a:pt x="166288" y="558800"/>
                  </a:lnTo>
                  <a:lnTo>
                    <a:pt x="170123" y="584200"/>
                  </a:lnTo>
                  <a:lnTo>
                    <a:pt x="173954" y="622300"/>
                  </a:lnTo>
                  <a:lnTo>
                    <a:pt x="176537" y="647700"/>
                  </a:lnTo>
                  <a:lnTo>
                    <a:pt x="176633" y="673100"/>
                  </a:lnTo>
                  <a:lnTo>
                    <a:pt x="176338" y="685800"/>
                  </a:lnTo>
                  <a:lnTo>
                    <a:pt x="176476" y="698500"/>
                  </a:lnTo>
                  <a:lnTo>
                    <a:pt x="455106" y="698500"/>
                  </a:lnTo>
                  <a:lnTo>
                    <a:pt x="455194" y="685800"/>
                  </a:lnTo>
                  <a:lnTo>
                    <a:pt x="455513" y="660400"/>
                  </a:lnTo>
                  <a:lnTo>
                    <a:pt x="456144" y="647700"/>
                  </a:lnTo>
                  <a:lnTo>
                    <a:pt x="457169" y="622300"/>
                  </a:lnTo>
                  <a:lnTo>
                    <a:pt x="459868" y="584200"/>
                  </a:lnTo>
                  <a:lnTo>
                    <a:pt x="463917" y="533400"/>
                  </a:lnTo>
                  <a:lnTo>
                    <a:pt x="467888" y="508000"/>
                  </a:lnTo>
                  <a:lnTo>
                    <a:pt x="470352" y="482600"/>
                  </a:lnTo>
                  <a:lnTo>
                    <a:pt x="471399" y="469900"/>
                  </a:lnTo>
                  <a:close/>
                </a:path>
                <a:path w="641350" h="1651000">
                  <a:moveTo>
                    <a:pt x="633750" y="495300"/>
                  </a:moveTo>
                  <a:lnTo>
                    <a:pt x="624295" y="508000"/>
                  </a:lnTo>
                  <a:lnTo>
                    <a:pt x="635834" y="508000"/>
                  </a:lnTo>
                  <a:lnTo>
                    <a:pt x="633750" y="495300"/>
                  </a:lnTo>
                  <a:close/>
                </a:path>
                <a:path w="641350" h="1651000">
                  <a:moveTo>
                    <a:pt x="399642" y="266700"/>
                  </a:moveTo>
                  <a:lnTo>
                    <a:pt x="234160" y="266700"/>
                  </a:lnTo>
                  <a:lnTo>
                    <a:pt x="206648" y="279400"/>
                  </a:lnTo>
                  <a:lnTo>
                    <a:pt x="427224" y="279400"/>
                  </a:lnTo>
                  <a:lnTo>
                    <a:pt x="399642" y="266700"/>
                  </a:lnTo>
                  <a:close/>
                </a:path>
                <a:path w="641350" h="1651000">
                  <a:moveTo>
                    <a:pt x="380197" y="228600"/>
                  </a:moveTo>
                  <a:lnTo>
                    <a:pt x="370302" y="241300"/>
                  </a:lnTo>
                  <a:lnTo>
                    <a:pt x="244118" y="241300"/>
                  </a:lnTo>
                  <a:lnTo>
                    <a:pt x="242484" y="254000"/>
                  </a:lnTo>
                  <a:lnTo>
                    <a:pt x="240778" y="266700"/>
                  </a:lnTo>
                  <a:lnTo>
                    <a:pt x="395495" y="266700"/>
                  </a:lnTo>
                  <a:lnTo>
                    <a:pt x="390961" y="254000"/>
                  </a:lnTo>
                  <a:lnTo>
                    <a:pt x="387234" y="254000"/>
                  </a:lnTo>
                  <a:lnTo>
                    <a:pt x="383716" y="241300"/>
                  </a:lnTo>
                  <a:lnTo>
                    <a:pt x="258075" y="241300"/>
                  </a:lnTo>
                  <a:lnTo>
                    <a:pt x="249908" y="228600"/>
                  </a:lnTo>
                  <a:lnTo>
                    <a:pt x="380197" y="228600"/>
                  </a:lnTo>
                  <a:close/>
                </a:path>
                <a:path w="641350" h="1651000">
                  <a:moveTo>
                    <a:pt x="404204" y="127000"/>
                  </a:moveTo>
                  <a:lnTo>
                    <a:pt x="227896" y="127000"/>
                  </a:lnTo>
                  <a:lnTo>
                    <a:pt x="230045" y="152400"/>
                  </a:lnTo>
                  <a:lnTo>
                    <a:pt x="232179" y="152400"/>
                  </a:lnTo>
                  <a:lnTo>
                    <a:pt x="233855" y="165100"/>
                  </a:lnTo>
                  <a:lnTo>
                    <a:pt x="237241" y="165100"/>
                  </a:lnTo>
                  <a:lnTo>
                    <a:pt x="244505" y="177800"/>
                  </a:lnTo>
                  <a:lnTo>
                    <a:pt x="248021" y="190500"/>
                  </a:lnTo>
                  <a:lnTo>
                    <a:pt x="252531" y="203200"/>
                  </a:lnTo>
                  <a:lnTo>
                    <a:pt x="256420" y="215900"/>
                  </a:lnTo>
                  <a:lnTo>
                    <a:pt x="258075" y="228600"/>
                  </a:lnTo>
                  <a:lnTo>
                    <a:pt x="258075" y="241300"/>
                  </a:lnTo>
                  <a:lnTo>
                    <a:pt x="370302" y="241300"/>
                  </a:lnTo>
                  <a:lnTo>
                    <a:pt x="369490" y="228600"/>
                  </a:lnTo>
                  <a:lnTo>
                    <a:pt x="369208" y="215900"/>
                  </a:lnTo>
                  <a:lnTo>
                    <a:pt x="369861" y="215900"/>
                  </a:lnTo>
                  <a:lnTo>
                    <a:pt x="371852" y="203200"/>
                  </a:lnTo>
                  <a:lnTo>
                    <a:pt x="375407" y="203200"/>
                  </a:lnTo>
                  <a:lnTo>
                    <a:pt x="378627" y="190500"/>
                  </a:lnTo>
                  <a:lnTo>
                    <a:pt x="381461" y="190500"/>
                  </a:lnTo>
                  <a:lnTo>
                    <a:pt x="383862" y="177800"/>
                  </a:lnTo>
                  <a:lnTo>
                    <a:pt x="391909" y="177800"/>
                  </a:lnTo>
                  <a:lnTo>
                    <a:pt x="395724" y="165100"/>
                  </a:lnTo>
                  <a:lnTo>
                    <a:pt x="399642" y="152400"/>
                  </a:lnTo>
                  <a:lnTo>
                    <a:pt x="402026" y="139700"/>
                  </a:lnTo>
                  <a:lnTo>
                    <a:pt x="404204" y="127000"/>
                  </a:lnTo>
                  <a:close/>
                </a:path>
                <a:path w="641350" h="1651000">
                  <a:moveTo>
                    <a:pt x="373517" y="25400"/>
                  </a:moveTo>
                  <a:lnTo>
                    <a:pt x="253929" y="25400"/>
                  </a:lnTo>
                  <a:lnTo>
                    <a:pt x="237243" y="50800"/>
                  </a:lnTo>
                  <a:lnTo>
                    <a:pt x="231958" y="88900"/>
                  </a:lnTo>
                  <a:lnTo>
                    <a:pt x="232717" y="114300"/>
                  </a:lnTo>
                  <a:lnTo>
                    <a:pt x="232586" y="114300"/>
                  </a:lnTo>
                  <a:lnTo>
                    <a:pt x="229621" y="127000"/>
                  </a:lnTo>
                  <a:lnTo>
                    <a:pt x="403355" y="127000"/>
                  </a:lnTo>
                  <a:lnTo>
                    <a:pt x="396658" y="114300"/>
                  </a:lnTo>
                  <a:lnTo>
                    <a:pt x="399206" y="101600"/>
                  </a:lnTo>
                  <a:lnTo>
                    <a:pt x="399356" y="76200"/>
                  </a:lnTo>
                  <a:lnTo>
                    <a:pt x="392373" y="38100"/>
                  </a:lnTo>
                  <a:lnTo>
                    <a:pt x="373517" y="25400"/>
                  </a:lnTo>
                  <a:close/>
                </a:path>
                <a:path w="641350" h="1651000">
                  <a:moveTo>
                    <a:pt x="362816" y="12700"/>
                  </a:moveTo>
                  <a:lnTo>
                    <a:pt x="279748" y="12700"/>
                  </a:lnTo>
                  <a:lnTo>
                    <a:pt x="266689" y="25400"/>
                  </a:lnTo>
                  <a:lnTo>
                    <a:pt x="363203" y="25400"/>
                  </a:lnTo>
                  <a:lnTo>
                    <a:pt x="362816" y="12700"/>
                  </a:lnTo>
                  <a:close/>
                </a:path>
                <a:path w="641350" h="1651000">
                  <a:moveTo>
                    <a:pt x="319581" y="0"/>
                  </a:moveTo>
                  <a:lnTo>
                    <a:pt x="306304" y="0"/>
                  </a:lnTo>
                  <a:lnTo>
                    <a:pt x="292991" y="12700"/>
                  </a:lnTo>
                  <a:lnTo>
                    <a:pt x="332737" y="12700"/>
                  </a:lnTo>
                  <a:lnTo>
                    <a:pt x="319581" y="0"/>
                  </a:lnTo>
                  <a:close/>
                </a:path>
              </a:pathLst>
            </a:custGeom>
            <a:solidFill>
              <a:srgbClr val="FEAD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15069363" y="5347786"/>
              <a:ext cx="161925" cy="163830"/>
            </a:xfrm>
            <a:custGeom>
              <a:avLst/>
              <a:gdLst/>
              <a:ahLst/>
              <a:cxnLst/>
              <a:rect l="l" t="t" r="r" b="b"/>
              <a:pathLst>
                <a:path w="161925" h="163829">
                  <a:moveTo>
                    <a:pt x="110007" y="0"/>
                  </a:moveTo>
                  <a:lnTo>
                    <a:pt x="0" y="106457"/>
                  </a:lnTo>
                  <a:lnTo>
                    <a:pt x="161461" y="163235"/>
                  </a:lnTo>
                  <a:lnTo>
                    <a:pt x="110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596192" y="3721160"/>
            <a:ext cx="519452" cy="93186"/>
            <a:chOff x="15824125" y="6136468"/>
            <a:chExt cx="856615" cy="153670"/>
          </a:xfrm>
        </p:grpSpPr>
        <p:sp>
          <p:nvSpPr>
            <p:cNvPr id="10" name="object 10"/>
            <p:cNvSpPr/>
            <p:nvPr/>
          </p:nvSpPr>
          <p:spPr>
            <a:xfrm>
              <a:off x="15850302" y="6213036"/>
              <a:ext cx="673735" cy="5715"/>
            </a:xfrm>
            <a:custGeom>
              <a:avLst/>
              <a:gdLst/>
              <a:ahLst/>
              <a:cxnLst/>
              <a:rect l="l" t="t" r="r" b="b"/>
              <a:pathLst>
                <a:path w="673734" h="5714">
                  <a:moveTo>
                    <a:pt x="-26177" y="2691"/>
                  </a:moveTo>
                  <a:lnTo>
                    <a:pt x="699799" y="2691"/>
                  </a:lnTo>
                </a:path>
              </a:pathLst>
            </a:custGeom>
            <a:ln w="57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26805" y="6136468"/>
              <a:ext cx="154305" cy="153670"/>
            </a:xfrm>
            <a:custGeom>
              <a:avLst/>
              <a:gdLst/>
              <a:ahLst/>
              <a:cxnLst/>
              <a:rect l="l" t="t" r="r" b="b"/>
              <a:pathLst>
                <a:path w="154305" h="153670">
                  <a:moveTo>
                    <a:pt x="0" y="0"/>
                  </a:moveTo>
                  <a:lnTo>
                    <a:pt x="1225" y="153079"/>
                  </a:lnTo>
                  <a:lnTo>
                    <a:pt x="153691" y="75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301787" y="3377100"/>
            <a:ext cx="1646921" cy="739762"/>
          </a:xfrm>
          <a:prstGeom prst="rect">
            <a:avLst/>
          </a:prstGeom>
        </p:spPr>
        <p:txBody>
          <a:bodyPr vert="horz" wrap="square" lIns="0" tIns="18868" rIns="0" bIns="0" rtlCol="0">
            <a:spAutoFit/>
          </a:bodyPr>
          <a:lstStyle/>
          <a:p>
            <a:pPr marL="7701" marR="3081" indent="149404">
              <a:lnSpc>
                <a:spcPts val="2850"/>
              </a:lnSpc>
              <a:spcBef>
                <a:spcPts val="149"/>
              </a:spcBef>
            </a:pPr>
            <a:r>
              <a:rPr sz="2395" spc="-6" dirty="0">
                <a:solidFill>
                  <a:srgbClr val="5E5E5E"/>
                </a:solidFill>
                <a:latin typeface="Arial MT"/>
                <a:cs typeface="Arial MT"/>
              </a:rPr>
              <a:t>Increased </a:t>
            </a:r>
            <a:r>
              <a:rPr sz="2395" spc="-3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5" spc="27" dirty="0">
                <a:solidFill>
                  <a:srgbClr val="5E5E5E"/>
                </a:solidFill>
                <a:latin typeface="Arial MT"/>
                <a:cs typeface="Arial MT"/>
              </a:rPr>
              <a:t>cooperation</a:t>
            </a:r>
            <a:endParaRPr sz="2395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4678" y="2080700"/>
            <a:ext cx="1370060" cy="70014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10500"/>
              </a:lnSpc>
              <a:spcBef>
                <a:spcPts val="61"/>
              </a:spcBef>
            </a:pPr>
            <a:r>
              <a:rPr sz="1395" b="1" spc="-21" dirty="0">
                <a:latin typeface="Verdana"/>
                <a:cs typeface="Verdana"/>
              </a:rPr>
              <a:t>Monitoring </a:t>
            </a:r>
            <a:r>
              <a:rPr sz="1395" b="1" spc="-6" dirty="0">
                <a:latin typeface="Verdana"/>
                <a:cs typeface="Verdana"/>
              </a:rPr>
              <a:t>&amp; </a:t>
            </a:r>
            <a:r>
              <a:rPr sz="1395" b="1" spc="-3" dirty="0">
                <a:latin typeface="Verdana"/>
                <a:cs typeface="Verdana"/>
              </a:rPr>
              <a:t> </a:t>
            </a:r>
            <a:r>
              <a:rPr sz="1395" b="1" spc="-64" dirty="0">
                <a:latin typeface="Verdana"/>
                <a:cs typeface="Verdana"/>
              </a:rPr>
              <a:t>punishment</a:t>
            </a:r>
            <a:r>
              <a:rPr sz="1395" b="1" spc="-52" dirty="0">
                <a:latin typeface="Verdana"/>
                <a:cs typeface="Verdana"/>
              </a:rPr>
              <a:t> </a:t>
            </a:r>
            <a:r>
              <a:rPr sz="1395" b="1" spc="-12" dirty="0">
                <a:latin typeface="Verdana"/>
                <a:cs typeface="Verdana"/>
              </a:rPr>
              <a:t>of </a:t>
            </a:r>
            <a:r>
              <a:rPr sz="1395" b="1" spc="-467" dirty="0">
                <a:latin typeface="Verdana"/>
                <a:cs typeface="Verdana"/>
              </a:rPr>
              <a:t> </a:t>
            </a:r>
            <a:r>
              <a:rPr sz="1395" b="1" spc="-55" dirty="0">
                <a:latin typeface="Verdana"/>
                <a:cs typeface="Verdana"/>
              </a:rPr>
              <a:t>free-riding</a:t>
            </a:r>
            <a:endParaRPr sz="1395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7460" y="5723101"/>
            <a:ext cx="4926131" cy="851641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2239147" marR="3081" indent="-251447" algn="r">
              <a:lnSpc>
                <a:spcPct val="102200"/>
              </a:lnSpc>
              <a:spcBef>
                <a:spcPts val="45"/>
              </a:spcBef>
            </a:pPr>
            <a:r>
              <a:rPr sz="1182" spc="24" dirty="0">
                <a:latin typeface="Arial MT"/>
                <a:cs typeface="Arial MT"/>
              </a:rPr>
              <a:t>Clutton-Brock,</a:t>
            </a:r>
            <a:r>
              <a:rPr sz="1182" dirty="0">
                <a:latin typeface="Arial MT"/>
                <a:cs typeface="Arial MT"/>
              </a:rPr>
              <a:t> </a:t>
            </a:r>
            <a:r>
              <a:rPr sz="1182" spc="-82" dirty="0">
                <a:latin typeface="Arial MT"/>
                <a:cs typeface="Arial MT"/>
              </a:rPr>
              <a:t>T.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6" dirty="0">
                <a:latin typeface="Arial MT"/>
                <a:cs typeface="Arial MT"/>
              </a:rPr>
              <a:t>H.,</a:t>
            </a:r>
            <a:r>
              <a:rPr sz="1182" dirty="0">
                <a:latin typeface="Arial MT"/>
                <a:cs typeface="Arial MT"/>
              </a:rPr>
              <a:t> </a:t>
            </a:r>
            <a:r>
              <a:rPr sz="1182" spc="-33" dirty="0">
                <a:latin typeface="Arial MT"/>
                <a:cs typeface="Arial MT"/>
              </a:rPr>
              <a:t>&amp;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15" dirty="0">
                <a:latin typeface="Arial MT"/>
                <a:cs typeface="Arial MT"/>
              </a:rPr>
              <a:t>Parker,</a:t>
            </a:r>
            <a:r>
              <a:rPr sz="1182" dirty="0">
                <a:latin typeface="Arial MT"/>
                <a:cs typeface="Arial MT"/>
              </a:rPr>
              <a:t> </a:t>
            </a:r>
            <a:r>
              <a:rPr sz="1182" spc="-3" dirty="0">
                <a:latin typeface="Arial MT"/>
                <a:cs typeface="Arial MT"/>
              </a:rPr>
              <a:t>G.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3" dirty="0">
                <a:latin typeface="Arial MT"/>
                <a:cs typeface="Arial MT"/>
              </a:rPr>
              <a:t>A.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(1995). </a:t>
            </a:r>
            <a:r>
              <a:rPr sz="1182" spc="-321" dirty="0">
                <a:latin typeface="Arial MT"/>
                <a:cs typeface="Arial MT"/>
              </a:rPr>
              <a:t> </a:t>
            </a:r>
            <a:r>
              <a:rPr sz="1182" spc="9" dirty="0">
                <a:latin typeface="Arial MT"/>
                <a:cs typeface="Arial MT"/>
              </a:rPr>
              <a:t>Punishment</a:t>
            </a:r>
            <a:r>
              <a:rPr sz="1182" dirty="0">
                <a:latin typeface="Arial MT"/>
                <a:cs typeface="Arial MT"/>
              </a:rPr>
              <a:t> </a:t>
            </a:r>
            <a:r>
              <a:rPr sz="1182" spc="6" dirty="0">
                <a:latin typeface="Arial MT"/>
                <a:cs typeface="Arial MT"/>
              </a:rPr>
              <a:t>in</a:t>
            </a:r>
            <a:r>
              <a:rPr sz="1182" spc="3" dirty="0">
                <a:latin typeface="Arial MT"/>
                <a:cs typeface="Arial MT"/>
              </a:rPr>
              <a:t> animal </a:t>
            </a:r>
            <a:r>
              <a:rPr sz="1182" spc="12" dirty="0">
                <a:latin typeface="Arial MT"/>
                <a:cs typeface="Arial MT"/>
              </a:rPr>
              <a:t>societies.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i="1" dirty="0">
                <a:latin typeface="Arial"/>
                <a:cs typeface="Arial"/>
              </a:rPr>
              <a:t>Nature</a:t>
            </a:r>
            <a:r>
              <a:rPr sz="1182" dirty="0">
                <a:latin typeface="Arial MT"/>
                <a:cs typeface="Arial MT"/>
              </a:rPr>
              <a:t>.</a:t>
            </a:r>
            <a:endParaRPr sz="1182">
              <a:latin typeface="Arial MT"/>
              <a:cs typeface="Arial MT"/>
            </a:endParaRPr>
          </a:p>
          <a:p>
            <a:pPr marL="243360" marR="3081" indent="-236044" algn="r">
              <a:lnSpc>
                <a:spcPct val="102200"/>
              </a:lnSpc>
              <a:spcBef>
                <a:spcPts val="901"/>
              </a:spcBef>
            </a:pPr>
            <a:r>
              <a:rPr sz="1182" spc="6" dirty="0">
                <a:latin typeface="Arial MT"/>
                <a:cs typeface="Arial MT"/>
              </a:rPr>
              <a:t>Balliet, </a:t>
            </a:r>
            <a:r>
              <a:rPr sz="1182" dirty="0">
                <a:latin typeface="Arial MT"/>
                <a:cs typeface="Arial MT"/>
              </a:rPr>
              <a:t>D.,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dirty="0">
                <a:latin typeface="Arial MT"/>
                <a:cs typeface="Arial MT"/>
              </a:rPr>
              <a:t>Mulder,</a:t>
            </a:r>
            <a:r>
              <a:rPr sz="1182" spc="6" dirty="0">
                <a:latin typeface="Arial MT"/>
                <a:cs typeface="Arial MT"/>
              </a:rPr>
              <a:t> L. </a:t>
            </a:r>
            <a:r>
              <a:rPr sz="1182" spc="12" dirty="0">
                <a:latin typeface="Arial MT"/>
                <a:cs typeface="Arial MT"/>
              </a:rPr>
              <a:t>B.,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-33" dirty="0">
                <a:latin typeface="Arial MT"/>
                <a:cs typeface="Arial MT"/>
              </a:rPr>
              <a:t>&amp;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-42" dirty="0">
                <a:latin typeface="Arial MT"/>
                <a:cs typeface="Arial MT"/>
              </a:rPr>
              <a:t>Van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3" dirty="0">
                <a:latin typeface="Arial MT"/>
                <a:cs typeface="Arial MT"/>
              </a:rPr>
              <a:t>Lange,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-112" dirty="0">
                <a:latin typeface="Arial MT"/>
                <a:cs typeface="Arial MT"/>
              </a:rPr>
              <a:t>P.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-3" dirty="0">
                <a:latin typeface="Arial MT"/>
                <a:cs typeface="Arial MT"/>
              </a:rPr>
              <a:t>A.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(2011).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3" dirty="0">
                <a:latin typeface="Arial MT"/>
                <a:cs typeface="Arial MT"/>
              </a:rPr>
              <a:t>Reward,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15" dirty="0">
                <a:latin typeface="Arial MT"/>
                <a:cs typeface="Arial MT"/>
              </a:rPr>
              <a:t>punishment, </a:t>
            </a:r>
            <a:r>
              <a:rPr sz="1182" spc="-318" dirty="0">
                <a:latin typeface="Arial MT"/>
                <a:cs typeface="Arial MT"/>
              </a:rPr>
              <a:t> </a:t>
            </a:r>
            <a:r>
              <a:rPr sz="1182" spc="15" dirty="0">
                <a:latin typeface="Arial MT"/>
                <a:cs typeface="Arial MT"/>
              </a:rPr>
              <a:t>and</a:t>
            </a:r>
            <a:r>
              <a:rPr sz="1182" spc="6" dirty="0">
                <a:latin typeface="Arial MT"/>
                <a:cs typeface="Arial MT"/>
              </a:rPr>
              <a:t> </a:t>
            </a:r>
            <a:r>
              <a:rPr sz="1182" spc="18" dirty="0">
                <a:latin typeface="Arial MT"/>
                <a:cs typeface="Arial MT"/>
              </a:rPr>
              <a:t>cooperation:</a:t>
            </a:r>
            <a:r>
              <a:rPr sz="1182" spc="9" dirty="0">
                <a:latin typeface="Arial MT"/>
                <a:cs typeface="Arial MT"/>
              </a:rPr>
              <a:t> </a:t>
            </a:r>
            <a:r>
              <a:rPr sz="1182" spc="-15" dirty="0">
                <a:latin typeface="Arial MT"/>
                <a:cs typeface="Arial MT"/>
              </a:rPr>
              <a:t>a</a:t>
            </a:r>
            <a:r>
              <a:rPr sz="1182" spc="9" dirty="0">
                <a:latin typeface="Arial MT"/>
                <a:cs typeface="Arial MT"/>
              </a:rPr>
              <a:t> meta-analysis. </a:t>
            </a:r>
            <a:r>
              <a:rPr sz="1182" spc="15" dirty="0">
                <a:latin typeface="Arial MT"/>
                <a:cs typeface="Arial MT"/>
              </a:rPr>
              <a:t>Psychological</a:t>
            </a:r>
            <a:r>
              <a:rPr sz="1182" spc="9" dirty="0">
                <a:latin typeface="Arial MT"/>
                <a:cs typeface="Arial MT"/>
              </a:rPr>
              <a:t> </a:t>
            </a:r>
            <a:r>
              <a:rPr sz="1182" spc="12" dirty="0">
                <a:latin typeface="Arial MT"/>
                <a:cs typeface="Arial MT"/>
              </a:rPr>
              <a:t>bulletin,</a:t>
            </a:r>
            <a:r>
              <a:rPr sz="1182" spc="9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137(4),</a:t>
            </a:r>
            <a:r>
              <a:rPr sz="1182" spc="9" dirty="0">
                <a:latin typeface="Arial MT"/>
                <a:cs typeface="Arial MT"/>
              </a:rPr>
              <a:t> 594</a:t>
            </a:r>
            <a:endParaRPr sz="1182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402944"/>
            <a:ext cx="10672450" cy="830454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5336" spc="-194" dirty="0"/>
              <a:t>But</a:t>
            </a:r>
            <a:r>
              <a:rPr sz="5336" spc="-200" dirty="0"/>
              <a:t> </a:t>
            </a:r>
            <a:r>
              <a:rPr sz="5336" spc="-161" dirty="0"/>
              <a:t>enforcement</a:t>
            </a:r>
            <a:r>
              <a:rPr sz="5336" spc="-200" dirty="0"/>
              <a:t> </a:t>
            </a:r>
            <a:r>
              <a:rPr sz="5336" spc="-327" dirty="0"/>
              <a:t>is…</a:t>
            </a:r>
            <a:r>
              <a:rPr sz="5336" spc="-197" dirty="0"/>
              <a:t> </a:t>
            </a:r>
            <a:r>
              <a:rPr sz="5336" spc="-97" dirty="0"/>
              <a:t>a</a:t>
            </a:r>
            <a:r>
              <a:rPr sz="5336" spc="-200" dirty="0"/>
              <a:t> </a:t>
            </a:r>
            <a:r>
              <a:rPr sz="5336" spc="-218" dirty="0"/>
              <a:t>public</a:t>
            </a:r>
            <a:r>
              <a:rPr sz="5336" spc="-197" dirty="0"/>
              <a:t> </a:t>
            </a:r>
            <a:r>
              <a:rPr sz="5336" spc="-97" dirty="0"/>
              <a:t>good</a:t>
            </a:r>
            <a:endParaRPr sz="5336"/>
          </a:p>
        </p:txBody>
      </p:sp>
      <p:sp>
        <p:nvSpPr>
          <p:cNvPr id="3" name="object 3"/>
          <p:cNvSpPr txBox="1"/>
          <p:nvPr/>
        </p:nvSpPr>
        <p:spPr>
          <a:xfrm>
            <a:off x="255736" y="1484880"/>
            <a:ext cx="6400543" cy="540219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lnSpc>
                <a:spcPct val="115100"/>
              </a:lnSpc>
              <a:spcBef>
                <a:spcPts val="55"/>
              </a:spcBef>
            </a:pPr>
            <a:r>
              <a:rPr sz="2426" spc="-9" dirty="0">
                <a:latin typeface="Microsoft Sans Serif"/>
                <a:cs typeface="Microsoft Sans Serif"/>
              </a:rPr>
              <a:t>Punishment</a:t>
            </a:r>
            <a:r>
              <a:rPr sz="2426" spc="36" dirty="0">
                <a:latin typeface="Microsoft Sans Serif"/>
                <a:cs typeface="Microsoft Sans Serif"/>
              </a:rPr>
              <a:t> </a:t>
            </a:r>
            <a:r>
              <a:rPr sz="2426" spc="-69" dirty="0">
                <a:latin typeface="Microsoft Sans Serif"/>
                <a:cs typeface="Microsoft Sans Serif"/>
              </a:rPr>
              <a:t>is</a:t>
            </a:r>
            <a:r>
              <a:rPr sz="2426" spc="36" dirty="0">
                <a:latin typeface="Microsoft Sans Serif"/>
                <a:cs typeface="Microsoft Sans Serif"/>
              </a:rPr>
              <a:t> </a:t>
            </a:r>
            <a:r>
              <a:rPr sz="2426" b="1" spc="-67" dirty="0">
                <a:solidFill>
                  <a:srgbClr val="D31876"/>
                </a:solidFill>
                <a:latin typeface="Arial"/>
                <a:cs typeface="Arial"/>
              </a:rPr>
              <a:t>costly</a:t>
            </a:r>
            <a:r>
              <a:rPr sz="2426" b="1" spc="52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426" b="1" spc="79" dirty="0">
                <a:latin typeface="Arial"/>
                <a:cs typeface="Arial"/>
              </a:rPr>
              <a:t>to</a:t>
            </a:r>
            <a:r>
              <a:rPr sz="2426" b="1" spc="49" dirty="0">
                <a:latin typeface="Arial"/>
                <a:cs typeface="Arial"/>
              </a:rPr>
              <a:t> </a:t>
            </a:r>
            <a:r>
              <a:rPr sz="2426" b="1" spc="39" dirty="0">
                <a:latin typeface="Arial"/>
                <a:cs typeface="Arial"/>
              </a:rPr>
              <a:t>the</a:t>
            </a:r>
            <a:r>
              <a:rPr sz="2426" b="1" spc="49" dirty="0">
                <a:latin typeface="Arial"/>
                <a:cs typeface="Arial"/>
              </a:rPr>
              <a:t> </a:t>
            </a:r>
            <a:r>
              <a:rPr sz="2426" b="1" spc="-45" dirty="0">
                <a:latin typeface="Arial"/>
                <a:cs typeface="Arial"/>
              </a:rPr>
              <a:t>punisher</a:t>
            </a:r>
            <a:r>
              <a:rPr sz="2426" spc="-45" dirty="0">
                <a:latin typeface="Microsoft Sans Serif"/>
                <a:cs typeface="Microsoft Sans Serif"/>
              </a:rPr>
              <a:t>,</a:t>
            </a:r>
            <a:r>
              <a:rPr sz="2426" spc="39" dirty="0">
                <a:latin typeface="Microsoft Sans Serif"/>
                <a:cs typeface="Microsoft Sans Serif"/>
              </a:rPr>
              <a:t> </a:t>
            </a:r>
            <a:r>
              <a:rPr sz="2426" spc="21" dirty="0">
                <a:latin typeface="Microsoft Sans Serif"/>
                <a:cs typeface="Microsoft Sans Serif"/>
              </a:rPr>
              <a:t>while </a:t>
            </a:r>
            <a:r>
              <a:rPr sz="2426" spc="24" dirty="0">
                <a:latin typeface="Microsoft Sans Serif"/>
                <a:cs typeface="Microsoft Sans Serif"/>
              </a:rPr>
              <a:t> </a:t>
            </a:r>
            <a:r>
              <a:rPr sz="2426" b="1" spc="39" dirty="0">
                <a:latin typeface="Arial"/>
                <a:cs typeface="Arial"/>
              </a:rPr>
              <a:t>the</a:t>
            </a:r>
            <a:r>
              <a:rPr sz="2426" b="1" spc="45" dirty="0">
                <a:latin typeface="Arial"/>
                <a:cs typeface="Arial"/>
              </a:rPr>
              <a:t> </a:t>
            </a:r>
            <a:r>
              <a:rPr sz="2426" b="1" dirty="0">
                <a:latin typeface="Arial"/>
                <a:cs typeface="Arial"/>
              </a:rPr>
              <a:t>benefits</a:t>
            </a:r>
            <a:r>
              <a:rPr sz="2426" b="1" spc="45" dirty="0">
                <a:latin typeface="Arial"/>
                <a:cs typeface="Arial"/>
              </a:rPr>
              <a:t> </a:t>
            </a:r>
            <a:r>
              <a:rPr sz="2426" b="1" spc="33" dirty="0">
                <a:latin typeface="Arial"/>
                <a:cs typeface="Arial"/>
              </a:rPr>
              <a:t>of</a:t>
            </a:r>
            <a:r>
              <a:rPr sz="2426" b="1" spc="49" dirty="0">
                <a:latin typeface="Arial"/>
                <a:cs typeface="Arial"/>
              </a:rPr>
              <a:t> </a:t>
            </a:r>
            <a:r>
              <a:rPr sz="2426" b="1" spc="-36" dirty="0">
                <a:latin typeface="Arial"/>
                <a:cs typeface="Arial"/>
              </a:rPr>
              <a:t>punishment</a:t>
            </a:r>
            <a:r>
              <a:rPr sz="2426" b="1" spc="45" dirty="0">
                <a:latin typeface="Arial"/>
                <a:cs typeface="Arial"/>
              </a:rPr>
              <a:t> </a:t>
            </a:r>
            <a:r>
              <a:rPr sz="2426" b="1" spc="-6" dirty="0">
                <a:latin typeface="Arial"/>
                <a:cs typeface="Arial"/>
              </a:rPr>
              <a:t>are</a:t>
            </a:r>
            <a:r>
              <a:rPr sz="2426" b="1" spc="49" dirty="0">
                <a:latin typeface="Arial"/>
                <a:cs typeface="Arial"/>
              </a:rPr>
              <a:t> </a:t>
            </a:r>
            <a:r>
              <a:rPr sz="2426" b="1" spc="-36" dirty="0">
                <a:solidFill>
                  <a:srgbClr val="D31876"/>
                </a:solidFill>
                <a:latin typeface="Arial"/>
                <a:cs typeface="Arial"/>
              </a:rPr>
              <a:t>diffusely </a:t>
            </a:r>
            <a:r>
              <a:rPr sz="2426" b="1" spc="-33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426" b="1" spc="9" dirty="0">
                <a:solidFill>
                  <a:srgbClr val="D31876"/>
                </a:solidFill>
                <a:latin typeface="Arial"/>
                <a:cs typeface="Arial"/>
              </a:rPr>
              <a:t>distributed</a:t>
            </a:r>
            <a:r>
              <a:rPr sz="2426" b="1" spc="49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426" spc="21" dirty="0">
                <a:latin typeface="Microsoft Sans Serif"/>
                <a:cs typeface="Microsoft Sans Serif"/>
              </a:rPr>
              <a:t>over</a:t>
            </a:r>
            <a:r>
              <a:rPr sz="2426" spc="39" dirty="0">
                <a:latin typeface="Microsoft Sans Serif"/>
                <a:cs typeface="Microsoft Sans Serif"/>
              </a:rPr>
              <a:t> </a:t>
            </a:r>
            <a:r>
              <a:rPr sz="2426" spc="18" dirty="0">
                <a:latin typeface="Microsoft Sans Serif"/>
                <a:cs typeface="Microsoft Sans Serif"/>
              </a:rPr>
              <a:t>members</a:t>
            </a:r>
            <a:r>
              <a:rPr sz="2426" spc="36" dirty="0">
                <a:latin typeface="Microsoft Sans Serif"/>
                <a:cs typeface="Microsoft Sans Serif"/>
              </a:rPr>
              <a:t> </a:t>
            </a:r>
            <a:r>
              <a:rPr sz="2426" spc="76" dirty="0">
                <a:latin typeface="Microsoft Sans Serif"/>
                <a:cs typeface="Microsoft Sans Serif"/>
              </a:rPr>
              <a:t>of</a:t>
            </a:r>
            <a:r>
              <a:rPr sz="2426" spc="39" dirty="0">
                <a:latin typeface="Microsoft Sans Serif"/>
                <a:cs typeface="Microsoft Sans Serif"/>
              </a:rPr>
              <a:t> </a:t>
            </a:r>
            <a:r>
              <a:rPr sz="2426" spc="55" dirty="0">
                <a:latin typeface="Microsoft Sans Serif"/>
                <a:cs typeface="Microsoft Sans Serif"/>
              </a:rPr>
              <a:t>the</a:t>
            </a:r>
            <a:r>
              <a:rPr sz="2426" spc="36" dirty="0">
                <a:latin typeface="Microsoft Sans Serif"/>
                <a:cs typeface="Microsoft Sans Serif"/>
              </a:rPr>
              <a:t> </a:t>
            </a:r>
            <a:r>
              <a:rPr sz="2426" spc="-18" dirty="0">
                <a:latin typeface="Microsoft Sans Serif"/>
                <a:cs typeface="Microsoft Sans Serif"/>
              </a:rPr>
              <a:t>social</a:t>
            </a:r>
            <a:r>
              <a:rPr sz="2426" spc="39" dirty="0">
                <a:latin typeface="Microsoft Sans Serif"/>
                <a:cs typeface="Microsoft Sans Serif"/>
              </a:rPr>
              <a:t> </a:t>
            </a:r>
            <a:r>
              <a:rPr sz="2426" spc="73" dirty="0">
                <a:latin typeface="Microsoft Sans Serif"/>
                <a:cs typeface="Microsoft Sans Serif"/>
              </a:rPr>
              <a:t>group</a:t>
            </a:r>
            <a:endParaRPr sz="2426">
              <a:latin typeface="Microsoft Sans Serif"/>
              <a:cs typeface="Microsoft Sans Serif"/>
            </a:endParaRPr>
          </a:p>
          <a:p>
            <a:pPr>
              <a:spcBef>
                <a:spcPts val="9"/>
              </a:spcBef>
            </a:pPr>
            <a:endParaRPr sz="3669">
              <a:latin typeface="Microsoft Sans Serif"/>
              <a:cs typeface="Microsoft Sans Serif"/>
            </a:endParaRPr>
          </a:p>
          <a:p>
            <a:pPr marL="375052" marR="669626" indent="64691" algn="ctr">
              <a:lnSpc>
                <a:spcPct val="113900"/>
              </a:lnSpc>
            </a:pPr>
            <a:r>
              <a:rPr sz="2304" spc="-18" dirty="0">
                <a:latin typeface="Microsoft Sans Serif"/>
                <a:cs typeface="Microsoft Sans Serif"/>
              </a:rPr>
              <a:t>In</a:t>
            </a:r>
            <a:r>
              <a:rPr sz="2304" spc="24" dirty="0">
                <a:latin typeface="Microsoft Sans Serif"/>
                <a:cs typeface="Microsoft Sans Serif"/>
              </a:rPr>
              <a:t> </a:t>
            </a:r>
            <a:r>
              <a:rPr sz="2304" spc="36" dirty="0">
                <a:latin typeface="Microsoft Sans Serif"/>
                <a:cs typeface="Microsoft Sans Serif"/>
              </a:rPr>
              <a:t>other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-3" dirty="0">
                <a:latin typeface="Microsoft Sans Serif"/>
                <a:cs typeface="Microsoft Sans Serif"/>
              </a:rPr>
              <a:t>words: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15" dirty="0">
                <a:latin typeface="Microsoft Sans Serif"/>
                <a:cs typeface="Microsoft Sans Serif"/>
              </a:rPr>
              <a:t>changing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36" dirty="0">
                <a:latin typeface="Microsoft Sans Serif"/>
                <a:cs typeface="Microsoft Sans Serif"/>
              </a:rPr>
              <a:t>the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-33" dirty="0">
                <a:latin typeface="Microsoft Sans Serif"/>
                <a:cs typeface="Microsoft Sans Serif"/>
              </a:rPr>
              <a:t>rules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61" dirty="0">
                <a:latin typeface="Microsoft Sans Serif"/>
                <a:cs typeface="Microsoft Sans Serif"/>
              </a:rPr>
              <a:t>of</a:t>
            </a:r>
            <a:r>
              <a:rPr sz="2304" spc="27" dirty="0">
                <a:latin typeface="Microsoft Sans Serif"/>
                <a:cs typeface="Microsoft Sans Serif"/>
              </a:rPr>
              <a:t> </a:t>
            </a:r>
            <a:r>
              <a:rPr sz="2304" spc="36" dirty="0">
                <a:latin typeface="Microsoft Sans Serif"/>
                <a:cs typeface="Microsoft Sans Serif"/>
              </a:rPr>
              <a:t>the </a:t>
            </a:r>
            <a:r>
              <a:rPr sz="2304" spc="-603" dirty="0">
                <a:latin typeface="Microsoft Sans Serif"/>
                <a:cs typeface="Microsoft Sans Serif"/>
              </a:rPr>
              <a:t> </a:t>
            </a:r>
            <a:r>
              <a:rPr sz="2304" spc="18" dirty="0">
                <a:latin typeface="Microsoft Sans Serif"/>
                <a:cs typeface="Microsoft Sans Serif"/>
              </a:rPr>
              <a:t>game </a:t>
            </a:r>
            <a:r>
              <a:rPr sz="2304" spc="100" dirty="0">
                <a:latin typeface="Microsoft Sans Serif"/>
                <a:cs typeface="Microsoft Sans Serif"/>
              </a:rPr>
              <a:t>to </a:t>
            </a:r>
            <a:r>
              <a:rPr sz="2304" spc="55" dirty="0">
                <a:latin typeface="Microsoft Sans Serif"/>
                <a:cs typeface="Microsoft Sans Serif"/>
              </a:rPr>
              <a:t>promote </a:t>
            </a:r>
            <a:r>
              <a:rPr sz="2304" spc="33" dirty="0">
                <a:latin typeface="Microsoft Sans Serif"/>
                <a:cs typeface="Microsoft Sans Serif"/>
              </a:rPr>
              <a:t>cooperation </a:t>
            </a:r>
            <a:r>
              <a:rPr sz="2304" b="1" spc="-152" dirty="0">
                <a:latin typeface="Arial"/>
                <a:cs typeface="Arial"/>
              </a:rPr>
              <a:t>is</a:t>
            </a:r>
            <a:r>
              <a:rPr sz="2304" b="1" spc="-149" dirty="0">
                <a:latin typeface="Arial"/>
                <a:cs typeface="Arial"/>
              </a:rPr>
              <a:t> </a:t>
            </a:r>
            <a:r>
              <a:rPr sz="2304" b="1" spc="-24" dirty="0">
                <a:latin typeface="Arial"/>
                <a:cs typeface="Arial"/>
              </a:rPr>
              <a:t>itself </a:t>
            </a:r>
            <a:r>
              <a:rPr sz="2304" b="1" spc="-49" dirty="0">
                <a:latin typeface="Arial"/>
                <a:cs typeface="Arial"/>
              </a:rPr>
              <a:t>a </a:t>
            </a:r>
            <a:r>
              <a:rPr sz="2304" b="1" spc="-634" dirty="0">
                <a:latin typeface="Arial"/>
                <a:cs typeface="Arial"/>
              </a:rPr>
              <a:t> </a:t>
            </a:r>
            <a:r>
              <a:rPr sz="2304" b="1" spc="-76" dirty="0">
                <a:latin typeface="Arial"/>
                <a:cs typeface="Arial"/>
              </a:rPr>
              <a:t>costly</a:t>
            </a:r>
            <a:r>
              <a:rPr sz="2304" b="1" spc="36" dirty="0">
                <a:latin typeface="Arial"/>
                <a:cs typeface="Arial"/>
              </a:rPr>
              <a:t> </a:t>
            </a:r>
            <a:r>
              <a:rPr sz="2304" b="1" spc="-24" dirty="0">
                <a:latin typeface="Arial"/>
                <a:cs typeface="Arial"/>
              </a:rPr>
              <a:t>behavior</a:t>
            </a:r>
            <a:r>
              <a:rPr sz="2304" b="1" spc="36" dirty="0">
                <a:latin typeface="Arial"/>
                <a:cs typeface="Arial"/>
              </a:rPr>
              <a:t> </a:t>
            </a:r>
            <a:r>
              <a:rPr sz="2304" b="1" spc="27" dirty="0">
                <a:latin typeface="Arial"/>
                <a:cs typeface="Arial"/>
              </a:rPr>
              <a:t>that</a:t>
            </a:r>
            <a:r>
              <a:rPr sz="2304" b="1" spc="39" dirty="0">
                <a:latin typeface="Arial"/>
                <a:cs typeface="Arial"/>
              </a:rPr>
              <a:t> </a:t>
            </a:r>
            <a:r>
              <a:rPr sz="2304" b="1" spc="-27" dirty="0">
                <a:latin typeface="Arial"/>
                <a:cs typeface="Arial"/>
              </a:rPr>
              <a:t>produce</a:t>
            </a:r>
            <a:r>
              <a:rPr sz="2304" b="1" spc="36" dirty="0">
                <a:latin typeface="Arial"/>
                <a:cs typeface="Arial"/>
              </a:rPr>
              <a:t> </a:t>
            </a:r>
            <a:r>
              <a:rPr sz="2304" b="1" spc="-58" dirty="0">
                <a:solidFill>
                  <a:srgbClr val="FF42A1"/>
                </a:solidFill>
                <a:latin typeface="Arial"/>
                <a:cs typeface="Arial"/>
              </a:rPr>
              <a:t>non- </a:t>
            </a:r>
            <a:r>
              <a:rPr sz="2304" b="1" spc="-55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2304" b="1" spc="-30" dirty="0">
                <a:solidFill>
                  <a:srgbClr val="FF42A1"/>
                </a:solidFill>
                <a:latin typeface="Arial"/>
                <a:cs typeface="Arial"/>
              </a:rPr>
              <a:t>excludable</a:t>
            </a:r>
            <a:r>
              <a:rPr sz="2304" b="1" spc="36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2304" b="1" spc="-21" dirty="0">
                <a:latin typeface="Arial"/>
                <a:cs typeface="Arial"/>
              </a:rPr>
              <a:t>benefits!</a:t>
            </a:r>
            <a:endParaRPr sz="2304"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4154">
              <a:latin typeface="Arial"/>
              <a:cs typeface="Arial"/>
            </a:endParaRPr>
          </a:p>
          <a:p>
            <a:pPr marR="23489" algn="ctr"/>
            <a:r>
              <a:rPr sz="2577" spc="12" dirty="0">
                <a:latin typeface="Microsoft Sans Serif"/>
                <a:cs typeface="Microsoft Sans Serif"/>
              </a:rPr>
              <a:t>i.e.,</a:t>
            </a:r>
            <a:r>
              <a:rPr sz="2577" spc="36" dirty="0">
                <a:latin typeface="Microsoft Sans Serif"/>
                <a:cs typeface="Microsoft Sans Serif"/>
              </a:rPr>
              <a:t> </a:t>
            </a:r>
            <a:r>
              <a:rPr sz="2577" spc="-85" dirty="0">
                <a:latin typeface="Microsoft Sans Serif"/>
                <a:cs typeface="Microsoft Sans Serif"/>
              </a:rPr>
              <a:t>a</a:t>
            </a:r>
            <a:r>
              <a:rPr sz="2577" spc="36" dirty="0">
                <a:latin typeface="Microsoft Sans Serif"/>
                <a:cs typeface="Microsoft Sans Serif"/>
              </a:rPr>
              <a:t> cooperative</a:t>
            </a:r>
            <a:r>
              <a:rPr sz="2577" spc="39" dirty="0">
                <a:latin typeface="Microsoft Sans Serif"/>
                <a:cs typeface="Microsoft Sans Serif"/>
              </a:rPr>
              <a:t> </a:t>
            </a:r>
            <a:r>
              <a:rPr sz="2577" spc="24" dirty="0">
                <a:latin typeface="Microsoft Sans Serif"/>
                <a:cs typeface="Microsoft Sans Serif"/>
              </a:rPr>
              <a:t>behavior</a:t>
            </a:r>
            <a:r>
              <a:rPr sz="2577" spc="36" dirty="0">
                <a:latin typeface="Microsoft Sans Serif"/>
                <a:cs typeface="Microsoft Sans Serif"/>
              </a:rPr>
              <a:t> </a:t>
            </a:r>
            <a:r>
              <a:rPr sz="2577" spc="45" dirty="0">
                <a:latin typeface="Microsoft Sans Serif"/>
                <a:cs typeface="Microsoft Sans Serif"/>
              </a:rPr>
              <a:t>posing</a:t>
            </a:r>
            <a:r>
              <a:rPr sz="2577" spc="36" dirty="0">
                <a:latin typeface="Microsoft Sans Serif"/>
                <a:cs typeface="Microsoft Sans Serif"/>
              </a:rPr>
              <a:t> </a:t>
            </a:r>
            <a:r>
              <a:rPr sz="2577" spc="-85" dirty="0">
                <a:latin typeface="Microsoft Sans Serif"/>
                <a:cs typeface="Microsoft Sans Serif"/>
              </a:rPr>
              <a:t>a</a:t>
            </a:r>
            <a:endParaRPr sz="2577">
              <a:latin typeface="Microsoft Sans Serif"/>
              <a:cs typeface="Microsoft Sans Serif"/>
            </a:endParaRPr>
          </a:p>
          <a:p>
            <a:pPr marR="220257" algn="ctr">
              <a:spcBef>
                <a:spcPts val="458"/>
              </a:spcBef>
            </a:pPr>
            <a:r>
              <a:rPr sz="2577" b="1" spc="6" dirty="0">
                <a:solidFill>
                  <a:srgbClr val="FF42A1"/>
                </a:solidFill>
                <a:latin typeface="Arial"/>
                <a:cs typeface="Arial"/>
              </a:rPr>
              <a:t>free-riding</a:t>
            </a:r>
            <a:r>
              <a:rPr sz="2577" b="1" spc="30" dirty="0">
                <a:solidFill>
                  <a:srgbClr val="FF42A1"/>
                </a:solidFill>
                <a:latin typeface="Arial"/>
                <a:cs typeface="Arial"/>
              </a:rPr>
              <a:t> </a:t>
            </a:r>
            <a:r>
              <a:rPr sz="2577" b="1" spc="9" dirty="0">
                <a:solidFill>
                  <a:srgbClr val="FF42A1"/>
                </a:solidFill>
                <a:latin typeface="Arial"/>
                <a:cs typeface="Arial"/>
              </a:rPr>
              <a:t>problem</a:t>
            </a:r>
            <a:r>
              <a:rPr sz="2577" spc="9" dirty="0">
                <a:latin typeface="Microsoft Sans Serif"/>
                <a:cs typeface="Microsoft Sans Serif"/>
              </a:rPr>
              <a:t>...</a:t>
            </a:r>
            <a:endParaRPr sz="2577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6145" y="1706498"/>
            <a:ext cx="2996477" cy="3551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65010" y="1591784"/>
            <a:ext cx="1370060" cy="70014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algn="ctr">
              <a:lnSpc>
                <a:spcPct val="110500"/>
              </a:lnSpc>
              <a:spcBef>
                <a:spcPts val="61"/>
              </a:spcBef>
            </a:pPr>
            <a:r>
              <a:rPr sz="1395" b="1" spc="-21" dirty="0">
                <a:latin typeface="Verdana"/>
                <a:cs typeface="Verdana"/>
              </a:rPr>
              <a:t>Monitoring </a:t>
            </a:r>
            <a:r>
              <a:rPr sz="1395" b="1" spc="-6" dirty="0">
                <a:latin typeface="Verdana"/>
                <a:cs typeface="Verdana"/>
              </a:rPr>
              <a:t>&amp; </a:t>
            </a:r>
            <a:r>
              <a:rPr sz="1395" b="1" spc="-3" dirty="0">
                <a:latin typeface="Verdana"/>
                <a:cs typeface="Verdana"/>
              </a:rPr>
              <a:t> </a:t>
            </a:r>
            <a:r>
              <a:rPr sz="1395" b="1" spc="-64" dirty="0">
                <a:latin typeface="Verdana"/>
                <a:cs typeface="Verdana"/>
              </a:rPr>
              <a:t>punishment</a:t>
            </a:r>
            <a:r>
              <a:rPr sz="1395" b="1" spc="-52" dirty="0">
                <a:latin typeface="Verdana"/>
                <a:cs typeface="Verdana"/>
              </a:rPr>
              <a:t> </a:t>
            </a:r>
            <a:r>
              <a:rPr sz="1395" b="1" spc="-12" dirty="0">
                <a:latin typeface="Verdana"/>
                <a:cs typeface="Verdana"/>
              </a:rPr>
              <a:t>of </a:t>
            </a:r>
            <a:r>
              <a:rPr sz="1395" b="1" spc="-470" dirty="0">
                <a:latin typeface="Verdana"/>
                <a:cs typeface="Verdana"/>
              </a:rPr>
              <a:t> </a:t>
            </a:r>
            <a:r>
              <a:rPr sz="1395" b="1" spc="-55" dirty="0">
                <a:latin typeface="Verdana"/>
                <a:cs typeface="Verdana"/>
              </a:rPr>
              <a:t>free-riding</a:t>
            </a:r>
            <a:endParaRPr sz="1395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1758" y="2464453"/>
            <a:ext cx="297655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-61" dirty="0">
                <a:solidFill>
                  <a:srgbClr val="EE230C"/>
                </a:solidFill>
                <a:latin typeface="Arial"/>
                <a:cs typeface="Arial"/>
              </a:rPr>
              <a:t>––</a:t>
            </a:r>
            <a:r>
              <a:rPr sz="1182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182" b="1" spc="30" dirty="0">
                <a:solidFill>
                  <a:srgbClr val="EE230C"/>
                </a:solidFill>
                <a:latin typeface="Arial"/>
                <a:cs typeface="Arial"/>
              </a:rPr>
              <a:t>c</a:t>
            </a:r>
            <a:endParaRPr sz="1182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6405" y="4145672"/>
            <a:ext cx="953420" cy="44789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91645">
              <a:lnSpc>
                <a:spcPct val="112400"/>
              </a:lnSpc>
              <a:spcBef>
                <a:spcPts val="58"/>
              </a:spcBef>
            </a:pPr>
            <a:r>
              <a:rPr sz="1334" spc="6" dirty="0">
                <a:latin typeface="Microsoft Sans Serif"/>
                <a:cs typeface="Microsoft Sans Serif"/>
              </a:rPr>
              <a:t>Increased </a:t>
            </a:r>
            <a:r>
              <a:rPr sz="1334" spc="9" dirty="0">
                <a:latin typeface="Microsoft Sans Serif"/>
                <a:cs typeface="Microsoft Sans Serif"/>
              </a:rPr>
              <a:t> </a:t>
            </a:r>
            <a:r>
              <a:rPr sz="1334" spc="-24" dirty="0">
                <a:latin typeface="Microsoft Sans Serif"/>
                <a:cs typeface="Microsoft Sans Serif"/>
              </a:rPr>
              <a:t>c</a:t>
            </a:r>
            <a:r>
              <a:rPr sz="1334" spc="67" dirty="0">
                <a:latin typeface="Microsoft Sans Serif"/>
                <a:cs typeface="Microsoft Sans Serif"/>
              </a:rPr>
              <a:t>oop</a:t>
            </a:r>
            <a:r>
              <a:rPr sz="1334" dirty="0">
                <a:latin typeface="Microsoft Sans Serif"/>
                <a:cs typeface="Microsoft Sans Serif"/>
              </a:rPr>
              <a:t>e</a:t>
            </a:r>
            <a:r>
              <a:rPr sz="1334" spc="49" dirty="0">
                <a:latin typeface="Microsoft Sans Serif"/>
                <a:cs typeface="Microsoft Sans Serif"/>
              </a:rPr>
              <a:t>r</a:t>
            </a:r>
            <a:r>
              <a:rPr sz="1334" spc="67" dirty="0">
                <a:latin typeface="Microsoft Sans Serif"/>
                <a:cs typeface="Microsoft Sans Serif"/>
              </a:rPr>
              <a:t>a</a:t>
            </a:r>
            <a:r>
              <a:rPr sz="1334" spc="-6" dirty="0">
                <a:latin typeface="Microsoft Sans Serif"/>
                <a:cs typeface="Microsoft Sans Serif"/>
              </a:rPr>
              <a:t>t</a:t>
            </a:r>
            <a:r>
              <a:rPr sz="1334" spc="24" dirty="0">
                <a:latin typeface="Microsoft Sans Serif"/>
                <a:cs typeface="Microsoft Sans Serif"/>
              </a:rPr>
              <a:t>i</a:t>
            </a:r>
            <a:r>
              <a:rPr sz="1334" spc="69" dirty="0">
                <a:latin typeface="Microsoft Sans Serif"/>
                <a:cs typeface="Microsoft Sans Serif"/>
              </a:rPr>
              <a:t>o</a:t>
            </a:r>
            <a:r>
              <a:rPr sz="1334" spc="-3" dirty="0">
                <a:latin typeface="Microsoft Sans Serif"/>
                <a:cs typeface="Microsoft Sans Serif"/>
              </a:rPr>
              <a:t>n</a:t>
            </a:r>
            <a:endParaRPr sz="1334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9938" y="1945774"/>
            <a:ext cx="2425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27" dirty="0">
                <a:solidFill>
                  <a:srgbClr val="1EB001"/>
                </a:solidFill>
                <a:latin typeface="Arial"/>
                <a:cs typeface="Arial"/>
              </a:rPr>
              <a:t>+</a:t>
            </a:r>
            <a:r>
              <a:rPr sz="1182" b="1" spc="-45" dirty="0">
                <a:solidFill>
                  <a:srgbClr val="1EB001"/>
                </a:solidFill>
                <a:latin typeface="Arial"/>
                <a:cs typeface="Arial"/>
              </a:rPr>
              <a:t> </a:t>
            </a:r>
            <a:r>
              <a:rPr sz="1182" b="1" spc="9" dirty="0">
                <a:solidFill>
                  <a:srgbClr val="1EB001"/>
                </a:solidFill>
                <a:latin typeface="Arial"/>
                <a:cs typeface="Arial"/>
              </a:rPr>
              <a:t>b</a:t>
            </a:r>
            <a:endParaRPr sz="118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94688" y="3025496"/>
            <a:ext cx="2425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27" dirty="0">
                <a:solidFill>
                  <a:srgbClr val="1EB001"/>
                </a:solidFill>
                <a:latin typeface="Arial"/>
                <a:cs typeface="Arial"/>
              </a:rPr>
              <a:t>+</a:t>
            </a:r>
            <a:r>
              <a:rPr sz="1182" b="1" spc="-45" dirty="0">
                <a:solidFill>
                  <a:srgbClr val="1EB001"/>
                </a:solidFill>
                <a:latin typeface="Arial"/>
                <a:cs typeface="Arial"/>
              </a:rPr>
              <a:t> </a:t>
            </a:r>
            <a:r>
              <a:rPr sz="1182" b="1" spc="9" dirty="0">
                <a:solidFill>
                  <a:srgbClr val="1EB001"/>
                </a:solidFill>
                <a:latin typeface="Arial"/>
                <a:cs typeface="Arial"/>
              </a:rPr>
              <a:t>b</a:t>
            </a:r>
            <a:endParaRPr sz="1182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78534" y="4082519"/>
            <a:ext cx="2425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27" dirty="0">
                <a:solidFill>
                  <a:srgbClr val="1EB001"/>
                </a:solidFill>
                <a:latin typeface="Arial"/>
                <a:cs typeface="Arial"/>
              </a:rPr>
              <a:t>+</a:t>
            </a:r>
            <a:r>
              <a:rPr sz="1182" b="1" spc="-45" dirty="0">
                <a:solidFill>
                  <a:srgbClr val="1EB001"/>
                </a:solidFill>
                <a:latin typeface="Arial"/>
                <a:cs typeface="Arial"/>
              </a:rPr>
              <a:t> </a:t>
            </a:r>
            <a:r>
              <a:rPr sz="1182" b="1" spc="9" dirty="0">
                <a:solidFill>
                  <a:srgbClr val="1EB001"/>
                </a:solidFill>
                <a:latin typeface="Arial"/>
                <a:cs typeface="Arial"/>
              </a:rPr>
              <a:t>b</a:t>
            </a:r>
            <a:endParaRPr sz="1182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9284" y="3940993"/>
            <a:ext cx="2425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 spc="27" dirty="0">
                <a:solidFill>
                  <a:srgbClr val="1EB001"/>
                </a:solidFill>
                <a:latin typeface="Arial"/>
                <a:cs typeface="Arial"/>
              </a:rPr>
              <a:t>+</a:t>
            </a:r>
            <a:r>
              <a:rPr sz="1182" b="1" spc="-45" dirty="0">
                <a:solidFill>
                  <a:srgbClr val="1EB001"/>
                </a:solidFill>
                <a:latin typeface="Arial"/>
                <a:cs typeface="Arial"/>
              </a:rPr>
              <a:t> </a:t>
            </a:r>
            <a:r>
              <a:rPr sz="1182" b="1" spc="9" dirty="0">
                <a:solidFill>
                  <a:srgbClr val="1EB001"/>
                </a:solidFill>
                <a:latin typeface="Arial"/>
                <a:cs typeface="Arial"/>
              </a:rPr>
              <a:t>b</a:t>
            </a:r>
            <a:endParaRPr sz="1182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599898" y="2863434"/>
            <a:ext cx="310747" cy="793233"/>
          </a:xfrm>
          <a:custGeom>
            <a:avLst/>
            <a:gdLst/>
            <a:ahLst/>
            <a:cxnLst/>
            <a:rect l="l" t="t" r="r" b="b"/>
            <a:pathLst>
              <a:path w="512444" h="1308100">
                <a:moveTo>
                  <a:pt x="98996" y="1295400"/>
                </a:moveTo>
                <a:lnTo>
                  <a:pt x="1287" y="1295400"/>
                </a:lnTo>
                <a:lnTo>
                  <a:pt x="1612" y="1308100"/>
                </a:lnTo>
                <a:lnTo>
                  <a:pt x="76981" y="1308100"/>
                </a:lnTo>
                <a:lnTo>
                  <a:pt x="98996" y="1295400"/>
                </a:lnTo>
                <a:close/>
              </a:path>
              <a:path w="512444" h="1308100">
                <a:moveTo>
                  <a:pt x="378270" y="762000"/>
                </a:moveTo>
                <a:lnTo>
                  <a:pt x="254557" y="762000"/>
                </a:lnTo>
                <a:lnTo>
                  <a:pt x="258801" y="787400"/>
                </a:lnTo>
                <a:lnTo>
                  <a:pt x="268624" y="863600"/>
                </a:lnTo>
                <a:lnTo>
                  <a:pt x="273981" y="901700"/>
                </a:lnTo>
                <a:lnTo>
                  <a:pt x="275727" y="914400"/>
                </a:lnTo>
                <a:lnTo>
                  <a:pt x="278016" y="927100"/>
                </a:lnTo>
                <a:lnTo>
                  <a:pt x="280122" y="952500"/>
                </a:lnTo>
                <a:lnTo>
                  <a:pt x="281321" y="977900"/>
                </a:lnTo>
                <a:lnTo>
                  <a:pt x="281898" y="1028700"/>
                </a:lnTo>
                <a:lnTo>
                  <a:pt x="281362" y="1092200"/>
                </a:lnTo>
                <a:lnTo>
                  <a:pt x="281065" y="1155700"/>
                </a:lnTo>
                <a:lnTo>
                  <a:pt x="282357" y="1206500"/>
                </a:lnTo>
                <a:lnTo>
                  <a:pt x="286588" y="1231900"/>
                </a:lnTo>
                <a:lnTo>
                  <a:pt x="286074" y="1244600"/>
                </a:lnTo>
                <a:lnTo>
                  <a:pt x="284202" y="1257300"/>
                </a:lnTo>
                <a:lnTo>
                  <a:pt x="280470" y="1270000"/>
                </a:lnTo>
                <a:lnTo>
                  <a:pt x="274379" y="1282700"/>
                </a:lnTo>
                <a:lnTo>
                  <a:pt x="277293" y="1308100"/>
                </a:lnTo>
                <a:lnTo>
                  <a:pt x="347727" y="1308100"/>
                </a:lnTo>
                <a:lnTo>
                  <a:pt x="359755" y="1295400"/>
                </a:lnTo>
                <a:lnTo>
                  <a:pt x="362126" y="1282700"/>
                </a:lnTo>
                <a:lnTo>
                  <a:pt x="360038" y="1270000"/>
                </a:lnTo>
                <a:lnTo>
                  <a:pt x="358690" y="1257300"/>
                </a:lnTo>
                <a:lnTo>
                  <a:pt x="360843" y="1244600"/>
                </a:lnTo>
                <a:lnTo>
                  <a:pt x="363522" y="1244600"/>
                </a:lnTo>
                <a:lnTo>
                  <a:pt x="366265" y="1231900"/>
                </a:lnTo>
                <a:lnTo>
                  <a:pt x="368606" y="1219200"/>
                </a:lnTo>
                <a:lnTo>
                  <a:pt x="371971" y="1168400"/>
                </a:lnTo>
                <a:lnTo>
                  <a:pt x="372024" y="1104900"/>
                </a:lnTo>
                <a:lnTo>
                  <a:pt x="370778" y="1054100"/>
                </a:lnTo>
                <a:lnTo>
                  <a:pt x="370250" y="990600"/>
                </a:lnTo>
                <a:lnTo>
                  <a:pt x="374811" y="952500"/>
                </a:lnTo>
                <a:lnTo>
                  <a:pt x="377788" y="914400"/>
                </a:lnTo>
                <a:lnTo>
                  <a:pt x="379129" y="863600"/>
                </a:lnTo>
                <a:lnTo>
                  <a:pt x="379075" y="825500"/>
                </a:lnTo>
                <a:lnTo>
                  <a:pt x="378658" y="774700"/>
                </a:lnTo>
                <a:lnTo>
                  <a:pt x="378270" y="762000"/>
                </a:lnTo>
                <a:close/>
              </a:path>
              <a:path w="512444" h="1308100">
                <a:moveTo>
                  <a:pt x="73076" y="444500"/>
                </a:moveTo>
                <a:lnTo>
                  <a:pt x="5482" y="444500"/>
                </a:lnTo>
                <a:lnTo>
                  <a:pt x="7884" y="457200"/>
                </a:lnTo>
                <a:lnTo>
                  <a:pt x="23540" y="495300"/>
                </a:lnTo>
                <a:lnTo>
                  <a:pt x="40887" y="546100"/>
                </a:lnTo>
                <a:lnTo>
                  <a:pt x="60093" y="584200"/>
                </a:lnTo>
                <a:lnTo>
                  <a:pt x="81327" y="622300"/>
                </a:lnTo>
                <a:lnTo>
                  <a:pt x="95837" y="622300"/>
                </a:lnTo>
                <a:lnTo>
                  <a:pt x="102813" y="635000"/>
                </a:lnTo>
                <a:lnTo>
                  <a:pt x="119882" y="635000"/>
                </a:lnTo>
                <a:lnTo>
                  <a:pt x="126666" y="647700"/>
                </a:lnTo>
                <a:lnTo>
                  <a:pt x="129263" y="647700"/>
                </a:lnTo>
                <a:lnTo>
                  <a:pt x="126922" y="685800"/>
                </a:lnTo>
                <a:lnTo>
                  <a:pt x="124027" y="736600"/>
                </a:lnTo>
                <a:lnTo>
                  <a:pt x="120814" y="800100"/>
                </a:lnTo>
                <a:lnTo>
                  <a:pt x="117518" y="850900"/>
                </a:lnTo>
                <a:lnTo>
                  <a:pt x="114373" y="889000"/>
                </a:lnTo>
                <a:lnTo>
                  <a:pt x="112022" y="927100"/>
                </a:lnTo>
                <a:lnTo>
                  <a:pt x="109884" y="952500"/>
                </a:lnTo>
                <a:lnTo>
                  <a:pt x="107929" y="977900"/>
                </a:lnTo>
                <a:lnTo>
                  <a:pt x="106132" y="1003300"/>
                </a:lnTo>
                <a:lnTo>
                  <a:pt x="103472" y="1041400"/>
                </a:lnTo>
                <a:lnTo>
                  <a:pt x="100506" y="1079500"/>
                </a:lnTo>
                <a:lnTo>
                  <a:pt x="95806" y="1130300"/>
                </a:lnTo>
                <a:lnTo>
                  <a:pt x="87944" y="1168400"/>
                </a:lnTo>
                <a:lnTo>
                  <a:pt x="82951" y="1193800"/>
                </a:lnTo>
                <a:lnTo>
                  <a:pt x="78272" y="1219200"/>
                </a:lnTo>
                <a:lnTo>
                  <a:pt x="75953" y="1231900"/>
                </a:lnTo>
                <a:lnTo>
                  <a:pt x="78039" y="1231900"/>
                </a:lnTo>
                <a:lnTo>
                  <a:pt x="66048" y="1257300"/>
                </a:lnTo>
                <a:lnTo>
                  <a:pt x="47920" y="1270000"/>
                </a:lnTo>
                <a:lnTo>
                  <a:pt x="28063" y="1270000"/>
                </a:lnTo>
                <a:lnTo>
                  <a:pt x="10889" y="1282700"/>
                </a:lnTo>
                <a:lnTo>
                  <a:pt x="0" y="1282700"/>
                </a:lnTo>
                <a:lnTo>
                  <a:pt x="659" y="1295400"/>
                </a:lnTo>
                <a:lnTo>
                  <a:pt x="172471" y="1295400"/>
                </a:lnTo>
                <a:lnTo>
                  <a:pt x="174914" y="1282700"/>
                </a:lnTo>
                <a:lnTo>
                  <a:pt x="175188" y="1270000"/>
                </a:lnTo>
                <a:lnTo>
                  <a:pt x="173565" y="1257300"/>
                </a:lnTo>
                <a:lnTo>
                  <a:pt x="172591" y="1244600"/>
                </a:lnTo>
                <a:lnTo>
                  <a:pt x="171921" y="1244600"/>
                </a:lnTo>
                <a:lnTo>
                  <a:pt x="178864" y="1231900"/>
                </a:lnTo>
                <a:lnTo>
                  <a:pt x="185698" y="1206500"/>
                </a:lnTo>
                <a:lnTo>
                  <a:pt x="192270" y="1155700"/>
                </a:lnTo>
                <a:lnTo>
                  <a:pt x="198429" y="1092200"/>
                </a:lnTo>
                <a:lnTo>
                  <a:pt x="204025" y="1028700"/>
                </a:lnTo>
                <a:lnTo>
                  <a:pt x="208904" y="965200"/>
                </a:lnTo>
                <a:lnTo>
                  <a:pt x="215515" y="914400"/>
                </a:lnTo>
                <a:lnTo>
                  <a:pt x="226845" y="863600"/>
                </a:lnTo>
                <a:lnTo>
                  <a:pt x="239044" y="800100"/>
                </a:lnTo>
                <a:lnTo>
                  <a:pt x="248264" y="762000"/>
                </a:lnTo>
                <a:lnTo>
                  <a:pt x="378270" y="762000"/>
                </a:lnTo>
                <a:lnTo>
                  <a:pt x="377495" y="736600"/>
                </a:lnTo>
                <a:lnTo>
                  <a:pt x="375203" y="698500"/>
                </a:lnTo>
                <a:lnTo>
                  <a:pt x="375363" y="673100"/>
                </a:lnTo>
                <a:lnTo>
                  <a:pt x="377479" y="660400"/>
                </a:lnTo>
                <a:lnTo>
                  <a:pt x="378046" y="635000"/>
                </a:lnTo>
                <a:lnTo>
                  <a:pt x="373559" y="609600"/>
                </a:lnTo>
                <a:lnTo>
                  <a:pt x="420277" y="609600"/>
                </a:lnTo>
                <a:lnTo>
                  <a:pt x="428719" y="596900"/>
                </a:lnTo>
                <a:lnTo>
                  <a:pt x="444827" y="571500"/>
                </a:lnTo>
                <a:lnTo>
                  <a:pt x="108698" y="571500"/>
                </a:lnTo>
                <a:lnTo>
                  <a:pt x="99601" y="546100"/>
                </a:lnTo>
                <a:lnTo>
                  <a:pt x="88405" y="508000"/>
                </a:lnTo>
                <a:lnTo>
                  <a:pt x="78450" y="469900"/>
                </a:lnTo>
                <a:lnTo>
                  <a:pt x="73076" y="444500"/>
                </a:lnTo>
                <a:close/>
              </a:path>
              <a:path w="512444" h="1308100">
                <a:moveTo>
                  <a:pt x="489382" y="368300"/>
                </a:moveTo>
                <a:lnTo>
                  <a:pt x="390689" y="368300"/>
                </a:lnTo>
                <a:lnTo>
                  <a:pt x="406940" y="393700"/>
                </a:lnTo>
                <a:lnTo>
                  <a:pt x="420305" y="406400"/>
                </a:lnTo>
                <a:lnTo>
                  <a:pt x="429764" y="419100"/>
                </a:lnTo>
                <a:lnTo>
                  <a:pt x="434300" y="419100"/>
                </a:lnTo>
                <a:lnTo>
                  <a:pt x="435459" y="431800"/>
                </a:lnTo>
                <a:lnTo>
                  <a:pt x="436404" y="444500"/>
                </a:lnTo>
                <a:lnTo>
                  <a:pt x="437274" y="457200"/>
                </a:lnTo>
                <a:lnTo>
                  <a:pt x="433878" y="469900"/>
                </a:lnTo>
                <a:lnTo>
                  <a:pt x="425689" y="495300"/>
                </a:lnTo>
                <a:lnTo>
                  <a:pt x="415704" y="533400"/>
                </a:lnTo>
                <a:lnTo>
                  <a:pt x="406919" y="558800"/>
                </a:lnTo>
                <a:lnTo>
                  <a:pt x="141137" y="558800"/>
                </a:lnTo>
                <a:lnTo>
                  <a:pt x="129577" y="571500"/>
                </a:lnTo>
                <a:lnTo>
                  <a:pt x="444827" y="571500"/>
                </a:lnTo>
                <a:lnTo>
                  <a:pt x="452881" y="558800"/>
                </a:lnTo>
                <a:lnTo>
                  <a:pt x="475256" y="508000"/>
                </a:lnTo>
                <a:lnTo>
                  <a:pt x="492800" y="469900"/>
                </a:lnTo>
                <a:lnTo>
                  <a:pt x="502466" y="444500"/>
                </a:lnTo>
                <a:lnTo>
                  <a:pt x="509335" y="444500"/>
                </a:lnTo>
                <a:lnTo>
                  <a:pt x="512077" y="431800"/>
                </a:lnTo>
                <a:lnTo>
                  <a:pt x="511408" y="406400"/>
                </a:lnTo>
                <a:lnTo>
                  <a:pt x="508047" y="393700"/>
                </a:lnTo>
                <a:lnTo>
                  <a:pt x="498822" y="393700"/>
                </a:lnTo>
                <a:lnTo>
                  <a:pt x="497513" y="381000"/>
                </a:lnTo>
                <a:lnTo>
                  <a:pt x="489382" y="368300"/>
                </a:lnTo>
                <a:close/>
              </a:path>
              <a:path w="512444" h="1308100">
                <a:moveTo>
                  <a:pt x="375821" y="368300"/>
                </a:moveTo>
                <a:lnTo>
                  <a:pt x="127284" y="368300"/>
                </a:lnTo>
                <a:lnTo>
                  <a:pt x="129231" y="381000"/>
                </a:lnTo>
                <a:lnTo>
                  <a:pt x="130451" y="393700"/>
                </a:lnTo>
                <a:lnTo>
                  <a:pt x="131483" y="419100"/>
                </a:lnTo>
                <a:lnTo>
                  <a:pt x="132865" y="431800"/>
                </a:lnTo>
                <a:lnTo>
                  <a:pt x="138991" y="482600"/>
                </a:lnTo>
                <a:lnTo>
                  <a:pt x="141059" y="508000"/>
                </a:lnTo>
                <a:lnTo>
                  <a:pt x="141137" y="533400"/>
                </a:lnTo>
                <a:lnTo>
                  <a:pt x="140466" y="546100"/>
                </a:lnTo>
                <a:lnTo>
                  <a:pt x="141472" y="558800"/>
                </a:lnTo>
                <a:lnTo>
                  <a:pt x="399500" y="558800"/>
                </a:lnTo>
                <a:lnTo>
                  <a:pt x="387998" y="546100"/>
                </a:lnTo>
                <a:lnTo>
                  <a:pt x="363643" y="546100"/>
                </a:lnTo>
                <a:lnTo>
                  <a:pt x="363713" y="533400"/>
                </a:lnTo>
                <a:lnTo>
                  <a:pt x="363966" y="520700"/>
                </a:lnTo>
                <a:lnTo>
                  <a:pt x="364469" y="508000"/>
                </a:lnTo>
                <a:lnTo>
                  <a:pt x="365287" y="482600"/>
                </a:lnTo>
                <a:lnTo>
                  <a:pt x="370679" y="419100"/>
                </a:lnTo>
                <a:lnTo>
                  <a:pt x="373854" y="393700"/>
                </a:lnTo>
                <a:lnTo>
                  <a:pt x="375821" y="368300"/>
                </a:lnTo>
                <a:close/>
              </a:path>
              <a:path w="512444" h="1308100">
                <a:moveTo>
                  <a:pt x="341361" y="203200"/>
                </a:moveTo>
                <a:lnTo>
                  <a:pt x="165113" y="203200"/>
                </a:lnTo>
                <a:lnTo>
                  <a:pt x="138668" y="215900"/>
                </a:lnTo>
                <a:lnTo>
                  <a:pt x="114206" y="228600"/>
                </a:lnTo>
                <a:lnTo>
                  <a:pt x="98175" y="241300"/>
                </a:lnTo>
                <a:lnTo>
                  <a:pt x="75944" y="266700"/>
                </a:lnTo>
                <a:lnTo>
                  <a:pt x="44769" y="330200"/>
                </a:lnTo>
                <a:lnTo>
                  <a:pt x="17005" y="381000"/>
                </a:lnTo>
                <a:lnTo>
                  <a:pt x="5005" y="406400"/>
                </a:lnTo>
                <a:lnTo>
                  <a:pt x="4709" y="444500"/>
                </a:lnTo>
                <a:lnTo>
                  <a:pt x="74000" y="444500"/>
                </a:lnTo>
                <a:lnTo>
                  <a:pt x="74807" y="431800"/>
                </a:lnTo>
                <a:lnTo>
                  <a:pt x="76060" y="419100"/>
                </a:lnTo>
                <a:lnTo>
                  <a:pt x="78657" y="419100"/>
                </a:lnTo>
                <a:lnTo>
                  <a:pt x="85423" y="406400"/>
                </a:lnTo>
                <a:lnTo>
                  <a:pt x="95171" y="393700"/>
                </a:lnTo>
                <a:lnTo>
                  <a:pt x="106161" y="381000"/>
                </a:lnTo>
                <a:lnTo>
                  <a:pt x="116656" y="368300"/>
                </a:lnTo>
                <a:lnTo>
                  <a:pt x="489382" y="368300"/>
                </a:lnTo>
                <a:lnTo>
                  <a:pt x="481251" y="355600"/>
                </a:lnTo>
                <a:lnTo>
                  <a:pt x="454666" y="304800"/>
                </a:lnTo>
                <a:lnTo>
                  <a:pt x="428019" y="266700"/>
                </a:lnTo>
                <a:lnTo>
                  <a:pt x="411568" y="241300"/>
                </a:lnTo>
                <a:lnTo>
                  <a:pt x="396230" y="228600"/>
                </a:lnTo>
                <a:lnTo>
                  <a:pt x="369912" y="215900"/>
                </a:lnTo>
                <a:lnTo>
                  <a:pt x="341361" y="203200"/>
                </a:lnTo>
                <a:close/>
              </a:path>
              <a:path w="512444" h="1308100">
                <a:moveTo>
                  <a:pt x="311058" y="190500"/>
                </a:moveTo>
                <a:lnTo>
                  <a:pt x="193742" y="190500"/>
                </a:lnTo>
                <a:lnTo>
                  <a:pt x="192392" y="203200"/>
                </a:lnTo>
                <a:lnTo>
                  <a:pt x="312388" y="203200"/>
                </a:lnTo>
                <a:lnTo>
                  <a:pt x="311058" y="190500"/>
                </a:lnTo>
                <a:close/>
              </a:path>
              <a:path w="512444" h="1308100">
                <a:moveTo>
                  <a:pt x="303791" y="177800"/>
                </a:moveTo>
                <a:lnTo>
                  <a:pt x="199679" y="177800"/>
                </a:lnTo>
                <a:lnTo>
                  <a:pt x="195062" y="190500"/>
                </a:lnTo>
                <a:lnTo>
                  <a:pt x="309414" y="190500"/>
                </a:lnTo>
                <a:lnTo>
                  <a:pt x="303791" y="177800"/>
                </a:lnTo>
                <a:close/>
              </a:path>
              <a:path w="512444" h="1308100">
                <a:moveTo>
                  <a:pt x="306723" y="127000"/>
                </a:moveTo>
                <a:lnTo>
                  <a:pt x="195365" y="127000"/>
                </a:lnTo>
                <a:lnTo>
                  <a:pt x="198178" y="139700"/>
                </a:lnTo>
                <a:lnTo>
                  <a:pt x="201783" y="152400"/>
                </a:lnTo>
                <a:lnTo>
                  <a:pt x="204891" y="165100"/>
                </a:lnTo>
                <a:lnTo>
                  <a:pt x="206213" y="177800"/>
                </a:lnTo>
                <a:lnTo>
                  <a:pt x="295875" y="177800"/>
                </a:lnTo>
                <a:lnTo>
                  <a:pt x="294881" y="165100"/>
                </a:lnTo>
                <a:lnTo>
                  <a:pt x="294137" y="165100"/>
                </a:lnTo>
                <a:lnTo>
                  <a:pt x="297111" y="152400"/>
                </a:lnTo>
                <a:lnTo>
                  <a:pt x="299957" y="152400"/>
                </a:lnTo>
                <a:lnTo>
                  <a:pt x="302533" y="139700"/>
                </a:lnTo>
                <a:lnTo>
                  <a:pt x="304802" y="139700"/>
                </a:lnTo>
                <a:lnTo>
                  <a:pt x="306723" y="127000"/>
                </a:lnTo>
                <a:close/>
              </a:path>
              <a:path w="512444" h="1308100">
                <a:moveTo>
                  <a:pt x="322290" y="88900"/>
                </a:moveTo>
                <a:lnTo>
                  <a:pt x="182088" y="88900"/>
                </a:lnTo>
                <a:lnTo>
                  <a:pt x="185512" y="114300"/>
                </a:lnTo>
                <a:lnTo>
                  <a:pt x="186852" y="127000"/>
                </a:lnTo>
                <a:lnTo>
                  <a:pt x="315037" y="127000"/>
                </a:lnTo>
                <a:lnTo>
                  <a:pt x="319320" y="114300"/>
                </a:lnTo>
                <a:lnTo>
                  <a:pt x="321223" y="101600"/>
                </a:lnTo>
                <a:lnTo>
                  <a:pt x="322965" y="101600"/>
                </a:lnTo>
                <a:lnTo>
                  <a:pt x="322290" y="88900"/>
                </a:lnTo>
                <a:close/>
              </a:path>
              <a:path w="512444" h="1308100">
                <a:moveTo>
                  <a:pt x="298451" y="12700"/>
                </a:moveTo>
                <a:lnTo>
                  <a:pt x="202894" y="12700"/>
                </a:lnTo>
                <a:lnTo>
                  <a:pt x="189558" y="38100"/>
                </a:lnTo>
                <a:lnTo>
                  <a:pt x="185334" y="63500"/>
                </a:lnTo>
                <a:lnTo>
                  <a:pt x="185940" y="76200"/>
                </a:lnTo>
                <a:lnTo>
                  <a:pt x="187093" y="88900"/>
                </a:lnTo>
                <a:lnTo>
                  <a:pt x="316943" y="88900"/>
                </a:lnTo>
                <a:lnTo>
                  <a:pt x="318980" y="63500"/>
                </a:lnTo>
                <a:lnTo>
                  <a:pt x="319100" y="50800"/>
                </a:lnTo>
                <a:lnTo>
                  <a:pt x="313518" y="25400"/>
                </a:lnTo>
                <a:lnTo>
                  <a:pt x="298451" y="12700"/>
                </a:lnTo>
                <a:close/>
              </a:path>
              <a:path w="512444" h="1308100">
                <a:moveTo>
                  <a:pt x="289896" y="0"/>
                </a:moveTo>
                <a:lnTo>
                  <a:pt x="223520" y="0"/>
                </a:lnTo>
                <a:lnTo>
                  <a:pt x="213088" y="12700"/>
                </a:lnTo>
                <a:lnTo>
                  <a:pt x="290200" y="12700"/>
                </a:lnTo>
                <a:lnTo>
                  <a:pt x="289896" y="0"/>
                </a:lnTo>
                <a:close/>
              </a:path>
            </a:pathLst>
          </a:custGeom>
          <a:solidFill>
            <a:srgbClr val="FF94C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 txBox="1"/>
          <p:nvPr/>
        </p:nvSpPr>
        <p:spPr>
          <a:xfrm>
            <a:off x="7144286" y="5737826"/>
            <a:ext cx="4890320" cy="892846"/>
          </a:xfrm>
          <a:prstGeom prst="rect">
            <a:avLst/>
          </a:prstGeom>
        </p:spPr>
        <p:txBody>
          <a:bodyPr vert="horz" wrap="square" lIns="0" tIns="3466" rIns="0" bIns="0" rtlCol="0">
            <a:spAutoFit/>
          </a:bodyPr>
          <a:lstStyle/>
          <a:p>
            <a:pPr marL="227188" marR="3081" indent="-219872">
              <a:lnSpc>
                <a:spcPct val="103099"/>
              </a:lnSpc>
              <a:spcBef>
                <a:spcPts val="27"/>
              </a:spcBef>
            </a:pPr>
            <a:r>
              <a:rPr sz="1334" spc="-9" dirty="0">
                <a:latin typeface="Arial MT"/>
                <a:cs typeface="Arial MT"/>
              </a:rPr>
              <a:t>Yamagishi,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-94" dirty="0">
                <a:latin typeface="Arial MT"/>
                <a:cs typeface="Arial MT"/>
              </a:rPr>
              <a:t>T.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24" dirty="0">
                <a:latin typeface="Arial MT"/>
                <a:cs typeface="Arial MT"/>
              </a:rPr>
              <a:t>(1986).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The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2" dirty="0">
                <a:latin typeface="Arial MT"/>
                <a:cs typeface="Arial MT"/>
              </a:rPr>
              <a:t>provision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of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8" dirty="0">
                <a:latin typeface="Arial MT"/>
                <a:cs typeface="Arial MT"/>
              </a:rPr>
              <a:t>sanctioning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15" dirty="0">
                <a:latin typeface="Arial MT"/>
                <a:cs typeface="Arial MT"/>
              </a:rPr>
              <a:t>system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6" dirty="0">
                <a:latin typeface="Arial MT"/>
                <a:cs typeface="Arial MT"/>
              </a:rPr>
              <a:t>as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 </a:t>
            </a:r>
            <a:r>
              <a:rPr sz="1334" spc="-361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public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good.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i="1" spc="9" dirty="0">
                <a:latin typeface="Arial"/>
                <a:cs typeface="Arial"/>
              </a:rPr>
              <a:t>Journal</a:t>
            </a:r>
            <a:r>
              <a:rPr sz="1334" i="1" spc="6" dirty="0">
                <a:latin typeface="Arial"/>
                <a:cs typeface="Arial"/>
              </a:rPr>
              <a:t> </a:t>
            </a:r>
            <a:r>
              <a:rPr sz="1334" i="1" spc="30" dirty="0">
                <a:latin typeface="Arial"/>
                <a:cs typeface="Arial"/>
              </a:rPr>
              <a:t>of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-3" dirty="0">
                <a:latin typeface="Arial"/>
                <a:cs typeface="Arial"/>
              </a:rPr>
              <a:t>Personality</a:t>
            </a:r>
            <a:r>
              <a:rPr sz="1334" i="1" spc="6" dirty="0">
                <a:latin typeface="Arial"/>
                <a:cs typeface="Arial"/>
              </a:rPr>
              <a:t> and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6" dirty="0">
                <a:latin typeface="Arial"/>
                <a:cs typeface="Arial"/>
              </a:rPr>
              <a:t>social </a:t>
            </a:r>
            <a:r>
              <a:rPr sz="1334" i="1" dirty="0">
                <a:latin typeface="Arial"/>
                <a:cs typeface="Arial"/>
              </a:rPr>
              <a:t>Psychology.</a:t>
            </a:r>
            <a:endParaRPr sz="1334">
              <a:latin typeface="Arial"/>
              <a:cs typeface="Arial"/>
            </a:endParaRPr>
          </a:p>
          <a:p>
            <a:pPr marL="1515612">
              <a:spcBef>
                <a:spcPts val="834"/>
              </a:spcBef>
            </a:pPr>
            <a:r>
              <a:rPr sz="1182" spc="-3" dirty="0">
                <a:latin typeface="Arial MT"/>
                <a:cs typeface="Arial MT"/>
              </a:rPr>
              <a:t>Hechter,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30" dirty="0">
                <a:latin typeface="Arial MT"/>
                <a:cs typeface="Arial MT"/>
              </a:rPr>
              <a:t>M.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(1988).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i="1" spc="9" dirty="0">
                <a:latin typeface="Arial"/>
                <a:cs typeface="Arial"/>
              </a:rPr>
              <a:t>Principles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27" dirty="0">
                <a:latin typeface="Arial"/>
                <a:cs typeface="Arial"/>
              </a:rPr>
              <a:t>of</a:t>
            </a:r>
            <a:r>
              <a:rPr sz="1182" i="1" spc="6" dirty="0">
                <a:latin typeface="Arial"/>
                <a:cs typeface="Arial"/>
              </a:rPr>
              <a:t> </a:t>
            </a:r>
            <a:r>
              <a:rPr sz="1182" i="1" spc="21" dirty="0">
                <a:latin typeface="Arial"/>
                <a:cs typeface="Arial"/>
              </a:rPr>
              <a:t>group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6" dirty="0">
                <a:latin typeface="Arial"/>
                <a:cs typeface="Arial"/>
              </a:rPr>
              <a:t>solidarity</a:t>
            </a:r>
            <a:r>
              <a:rPr sz="1182" spc="6" dirty="0">
                <a:latin typeface="Arial MT"/>
                <a:cs typeface="Arial MT"/>
              </a:rPr>
              <a:t>.</a:t>
            </a:r>
            <a:endParaRPr sz="1182">
              <a:latin typeface="Arial MT"/>
              <a:cs typeface="Arial MT"/>
            </a:endParaRPr>
          </a:p>
          <a:p>
            <a:pPr marL="2811737">
              <a:spcBef>
                <a:spcPts val="30"/>
              </a:spcBef>
            </a:pPr>
            <a:r>
              <a:rPr sz="1182" spc="9" dirty="0">
                <a:latin typeface="Arial MT"/>
                <a:cs typeface="Arial MT"/>
              </a:rPr>
              <a:t>University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27" dirty="0">
                <a:latin typeface="Arial MT"/>
                <a:cs typeface="Arial MT"/>
              </a:rPr>
              <a:t>of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9" dirty="0">
                <a:latin typeface="Arial MT"/>
                <a:cs typeface="Arial MT"/>
              </a:rPr>
              <a:t>California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6" dirty="0">
                <a:latin typeface="Arial MT"/>
                <a:cs typeface="Arial MT"/>
              </a:rPr>
              <a:t>Press.</a:t>
            </a:r>
            <a:endParaRPr sz="118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420163"/>
            <a:ext cx="10817619" cy="815309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4"/>
              </a:spcBef>
            </a:pPr>
            <a:r>
              <a:rPr sz="5245" spc="-252" dirty="0"/>
              <a:t>Th</a:t>
            </a:r>
            <a:r>
              <a:rPr sz="5245" spc="-91" dirty="0"/>
              <a:t>e</a:t>
            </a:r>
            <a:r>
              <a:rPr sz="5245" spc="-206" dirty="0"/>
              <a:t> </a:t>
            </a:r>
            <a:r>
              <a:rPr sz="5245" spc="-285" dirty="0"/>
              <a:t>second-o</a:t>
            </a:r>
            <a:r>
              <a:rPr sz="5245" spc="-246" dirty="0"/>
              <a:t>r</a:t>
            </a:r>
            <a:r>
              <a:rPr sz="5245" spc="-79" dirty="0"/>
              <a:t>de</a:t>
            </a:r>
            <a:r>
              <a:rPr sz="5245" spc="49" dirty="0"/>
              <a:t>r</a:t>
            </a:r>
            <a:r>
              <a:rPr sz="5245" spc="-206" dirty="0"/>
              <a:t> </a:t>
            </a:r>
            <a:r>
              <a:rPr sz="5245" spc="-52" dirty="0"/>
              <a:t>f</a:t>
            </a:r>
            <a:r>
              <a:rPr sz="5245" spc="-246" dirty="0"/>
              <a:t>r</a:t>
            </a:r>
            <a:r>
              <a:rPr sz="5245" spc="-127" dirty="0"/>
              <a:t>ee-ride</a:t>
            </a:r>
            <a:r>
              <a:rPr sz="5245" spc="21" dirty="0"/>
              <a:t>r</a:t>
            </a:r>
            <a:r>
              <a:rPr sz="5245" spc="-206" dirty="0"/>
              <a:t> </a:t>
            </a:r>
            <a:r>
              <a:rPr sz="5245" spc="-49" dirty="0"/>
              <a:t>p</a:t>
            </a:r>
            <a:r>
              <a:rPr sz="5245" spc="-246" dirty="0"/>
              <a:t>r</a:t>
            </a:r>
            <a:r>
              <a:rPr sz="5245" spc="-152" dirty="0"/>
              <a:t>oblem</a:t>
            </a:r>
            <a:endParaRPr sz="5245"/>
          </a:p>
        </p:txBody>
      </p:sp>
      <p:sp>
        <p:nvSpPr>
          <p:cNvPr id="3" name="object 3"/>
          <p:cNvSpPr txBox="1"/>
          <p:nvPr/>
        </p:nvSpPr>
        <p:spPr>
          <a:xfrm>
            <a:off x="147077" y="6334684"/>
            <a:ext cx="4890320" cy="412523"/>
          </a:xfrm>
          <a:prstGeom prst="rect">
            <a:avLst/>
          </a:prstGeom>
        </p:spPr>
        <p:txBody>
          <a:bodyPr vert="horz" wrap="square" lIns="0" tIns="3466" rIns="0" bIns="0" rtlCol="0">
            <a:spAutoFit/>
          </a:bodyPr>
          <a:lstStyle/>
          <a:p>
            <a:pPr marL="227188" marR="3081" indent="-219872">
              <a:lnSpc>
                <a:spcPct val="103099"/>
              </a:lnSpc>
              <a:spcBef>
                <a:spcPts val="27"/>
              </a:spcBef>
            </a:pPr>
            <a:r>
              <a:rPr sz="1334" spc="-9" dirty="0">
                <a:latin typeface="Arial MT"/>
                <a:cs typeface="Arial MT"/>
              </a:rPr>
              <a:t>Yamagishi,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-94" dirty="0">
                <a:latin typeface="Arial MT"/>
                <a:cs typeface="Arial MT"/>
              </a:rPr>
              <a:t>T.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24" dirty="0">
                <a:latin typeface="Arial MT"/>
                <a:cs typeface="Arial MT"/>
              </a:rPr>
              <a:t>(1986).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The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2" dirty="0">
                <a:latin typeface="Arial MT"/>
                <a:cs typeface="Arial MT"/>
              </a:rPr>
              <a:t>provision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of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8" dirty="0">
                <a:latin typeface="Arial MT"/>
                <a:cs typeface="Arial MT"/>
              </a:rPr>
              <a:t>sanctioning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15" dirty="0">
                <a:latin typeface="Arial MT"/>
                <a:cs typeface="Arial MT"/>
              </a:rPr>
              <a:t>system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6" dirty="0">
                <a:latin typeface="Arial MT"/>
                <a:cs typeface="Arial MT"/>
              </a:rPr>
              <a:t>as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 </a:t>
            </a:r>
            <a:r>
              <a:rPr sz="1334" spc="-361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public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good.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i="1" spc="9" dirty="0">
                <a:latin typeface="Arial"/>
                <a:cs typeface="Arial"/>
              </a:rPr>
              <a:t>Journal</a:t>
            </a:r>
            <a:r>
              <a:rPr sz="1334" i="1" spc="6" dirty="0">
                <a:latin typeface="Arial"/>
                <a:cs typeface="Arial"/>
              </a:rPr>
              <a:t> </a:t>
            </a:r>
            <a:r>
              <a:rPr sz="1334" i="1" spc="30" dirty="0">
                <a:latin typeface="Arial"/>
                <a:cs typeface="Arial"/>
              </a:rPr>
              <a:t>of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-3" dirty="0">
                <a:latin typeface="Arial"/>
                <a:cs typeface="Arial"/>
              </a:rPr>
              <a:t>Personality</a:t>
            </a:r>
            <a:r>
              <a:rPr sz="1334" i="1" spc="6" dirty="0">
                <a:latin typeface="Arial"/>
                <a:cs typeface="Arial"/>
              </a:rPr>
              <a:t> and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6" dirty="0">
                <a:latin typeface="Arial"/>
                <a:cs typeface="Arial"/>
              </a:rPr>
              <a:t>social </a:t>
            </a:r>
            <a:r>
              <a:rPr sz="1334" i="1" dirty="0">
                <a:latin typeface="Arial"/>
                <a:cs typeface="Arial"/>
              </a:rPr>
              <a:t>Psychology.</a:t>
            </a:r>
            <a:endParaRPr sz="1334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2193" y="6332659"/>
            <a:ext cx="3312325" cy="373539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3" dirty="0">
                <a:latin typeface="Arial MT"/>
                <a:cs typeface="Arial MT"/>
              </a:rPr>
              <a:t>Hechter,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30" dirty="0">
                <a:latin typeface="Arial MT"/>
                <a:cs typeface="Arial MT"/>
              </a:rPr>
              <a:t>M.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(1988).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i="1" spc="9" dirty="0">
                <a:latin typeface="Arial"/>
                <a:cs typeface="Arial"/>
              </a:rPr>
              <a:t>Principles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27" dirty="0">
                <a:latin typeface="Arial"/>
                <a:cs typeface="Arial"/>
              </a:rPr>
              <a:t>of</a:t>
            </a:r>
            <a:r>
              <a:rPr sz="1182" i="1" spc="6" dirty="0">
                <a:latin typeface="Arial"/>
                <a:cs typeface="Arial"/>
              </a:rPr>
              <a:t> </a:t>
            </a:r>
            <a:r>
              <a:rPr sz="1182" i="1" spc="21" dirty="0">
                <a:latin typeface="Arial"/>
                <a:cs typeface="Arial"/>
              </a:rPr>
              <a:t>group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6" dirty="0">
                <a:latin typeface="Arial"/>
                <a:cs typeface="Arial"/>
              </a:rPr>
              <a:t>solidarity</a:t>
            </a:r>
            <a:r>
              <a:rPr sz="1182" spc="6" dirty="0">
                <a:latin typeface="Arial MT"/>
                <a:cs typeface="Arial MT"/>
              </a:rPr>
              <a:t>.</a:t>
            </a:r>
            <a:endParaRPr sz="1182">
              <a:latin typeface="Arial MT"/>
              <a:cs typeface="Arial MT"/>
            </a:endParaRPr>
          </a:p>
          <a:p>
            <a:pPr marL="1303442">
              <a:spcBef>
                <a:spcPts val="33"/>
              </a:spcBef>
            </a:pPr>
            <a:r>
              <a:rPr sz="1182" spc="9" dirty="0">
                <a:latin typeface="Arial MT"/>
                <a:cs typeface="Arial MT"/>
              </a:rPr>
              <a:t>University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27" dirty="0">
                <a:latin typeface="Arial MT"/>
                <a:cs typeface="Arial MT"/>
              </a:rPr>
              <a:t>of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9" dirty="0">
                <a:latin typeface="Arial MT"/>
                <a:cs typeface="Arial MT"/>
              </a:rPr>
              <a:t>California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6" dirty="0">
                <a:latin typeface="Arial MT"/>
                <a:cs typeface="Arial MT"/>
              </a:rPr>
              <a:t>Press.</a:t>
            </a:r>
            <a:endParaRPr sz="1182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284" y="2045725"/>
            <a:ext cx="10950851" cy="2188544"/>
          </a:xfrm>
          <a:prstGeom prst="rect">
            <a:avLst/>
          </a:prstGeom>
        </p:spPr>
        <p:txBody>
          <a:bodyPr vert="horz" wrap="square" lIns="0" tIns="174049" rIns="0" bIns="0" rtlCol="0">
            <a:spAutoFit/>
          </a:bodyPr>
          <a:lstStyle/>
          <a:p>
            <a:pPr marL="14632">
              <a:spcBef>
                <a:spcPts val="1370"/>
              </a:spcBef>
            </a:pPr>
            <a:r>
              <a:rPr sz="2335" spc="3" dirty="0">
                <a:latin typeface="Arial MT"/>
                <a:cs typeface="Arial MT"/>
              </a:rPr>
              <a:t>If </a:t>
            </a:r>
            <a:r>
              <a:rPr sz="2335" spc="30" dirty="0">
                <a:latin typeface="Arial MT"/>
                <a:cs typeface="Arial MT"/>
              </a:rPr>
              <a:t>monitoring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-79" dirty="0">
                <a:latin typeface="Arial MT"/>
                <a:cs typeface="Arial MT"/>
              </a:rPr>
              <a:t>&amp;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24" dirty="0">
                <a:latin typeface="Arial MT"/>
                <a:cs typeface="Arial MT"/>
              </a:rPr>
              <a:t>punishment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produce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49" dirty="0">
                <a:latin typeface="Arial MT"/>
                <a:cs typeface="Arial MT"/>
              </a:rPr>
              <a:t>public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61" dirty="0">
                <a:latin typeface="Arial MT"/>
                <a:cs typeface="Arial MT"/>
              </a:rPr>
              <a:t>good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18" dirty="0">
                <a:latin typeface="Arial MT"/>
                <a:cs typeface="Arial MT"/>
              </a:rPr>
              <a:t>benefits,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spc="15" dirty="0">
                <a:latin typeface="Arial MT"/>
                <a:cs typeface="Arial MT"/>
              </a:rPr>
              <a:t>then:</a:t>
            </a:r>
            <a:endParaRPr sz="2335" dirty="0">
              <a:latin typeface="Arial MT"/>
              <a:cs typeface="Arial MT"/>
            </a:endParaRPr>
          </a:p>
          <a:p>
            <a:pPr marL="318448" marR="119755" indent="-260688">
              <a:lnSpc>
                <a:spcPct val="100899"/>
              </a:lnSpc>
              <a:spcBef>
                <a:spcPts val="1865"/>
              </a:spcBef>
              <a:buSzPct val="123880"/>
              <a:buChar char="•"/>
              <a:tabLst>
                <a:tab pos="318448" algn="l"/>
                <a:tab pos="318833" algn="l"/>
              </a:tabLst>
            </a:pPr>
            <a:r>
              <a:rPr sz="2031" b="1" spc="21" dirty="0">
                <a:latin typeface="Arial"/>
                <a:cs typeface="Arial"/>
              </a:rPr>
              <a:t>If</a:t>
            </a:r>
            <a:r>
              <a:rPr sz="2031" b="1" spc="3" dirty="0">
                <a:latin typeface="Arial"/>
                <a:cs typeface="Arial"/>
              </a:rPr>
              <a:t> </a:t>
            </a:r>
            <a:r>
              <a:rPr sz="2031" b="1" spc="9" dirty="0">
                <a:latin typeface="Arial"/>
                <a:cs typeface="Arial"/>
              </a:rPr>
              <a:t>others</a:t>
            </a:r>
            <a:r>
              <a:rPr sz="2031" b="1" spc="6" dirty="0">
                <a:latin typeface="Arial"/>
                <a:cs typeface="Arial"/>
              </a:rPr>
              <a:t> </a:t>
            </a:r>
            <a:r>
              <a:rPr sz="2031" b="1" spc="12" dirty="0">
                <a:latin typeface="Arial"/>
                <a:cs typeface="Arial"/>
              </a:rPr>
              <a:t>contribute</a:t>
            </a:r>
            <a:r>
              <a:rPr sz="2031" b="1" spc="3" dirty="0">
                <a:latin typeface="Arial"/>
                <a:cs typeface="Arial"/>
              </a:rPr>
              <a:t> </a:t>
            </a:r>
            <a:r>
              <a:rPr sz="2031" spc="64" dirty="0">
                <a:latin typeface="Arial MT"/>
                <a:cs typeface="Arial MT"/>
              </a:rPr>
              <a:t>to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monitoring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21" dirty="0">
                <a:latin typeface="Arial MT"/>
                <a:cs typeface="Arial MT"/>
              </a:rPr>
              <a:t>and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21" dirty="0">
                <a:latin typeface="Arial MT"/>
                <a:cs typeface="Arial MT"/>
              </a:rPr>
              <a:t>punishment,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-36" dirty="0">
                <a:latin typeface="Arial MT"/>
                <a:cs typeface="Arial MT"/>
              </a:rPr>
              <a:t>I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12" dirty="0">
                <a:latin typeface="Arial MT"/>
                <a:cs typeface="Arial MT"/>
              </a:rPr>
              <a:t>am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better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off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12" dirty="0">
                <a:latin typeface="Arial MT"/>
                <a:cs typeface="Arial MT"/>
              </a:rPr>
              <a:t>enjoying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18" dirty="0">
                <a:latin typeface="Arial MT"/>
                <a:cs typeface="Arial MT"/>
              </a:rPr>
              <a:t>the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21" dirty="0">
                <a:latin typeface="Arial MT"/>
                <a:cs typeface="Arial MT"/>
              </a:rPr>
              <a:t>benefits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42" dirty="0">
                <a:latin typeface="Arial MT"/>
                <a:cs typeface="Arial MT"/>
              </a:rPr>
              <a:t>of </a:t>
            </a:r>
            <a:r>
              <a:rPr sz="2031" spc="-557" dirty="0">
                <a:latin typeface="Arial MT"/>
                <a:cs typeface="Arial MT"/>
              </a:rPr>
              <a:t> </a:t>
            </a:r>
            <a:r>
              <a:rPr sz="2031" spc="6" dirty="0">
                <a:latin typeface="Arial MT"/>
                <a:cs typeface="Arial MT"/>
              </a:rPr>
              <a:t>increased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cooperation</a:t>
            </a:r>
            <a:r>
              <a:rPr sz="2031" spc="6" dirty="0">
                <a:latin typeface="Arial MT"/>
                <a:cs typeface="Arial MT"/>
              </a:rPr>
              <a:t> in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my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group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45" dirty="0">
                <a:latin typeface="Arial MT"/>
                <a:cs typeface="Arial MT"/>
              </a:rPr>
              <a:t>without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18" dirty="0">
                <a:latin typeface="Arial MT"/>
                <a:cs typeface="Arial MT"/>
              </a:rPr>
              <a:t>paying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18" dirty="0">
                <a:latin typeface="Arial MT"/>
                <a:cs typeface="Arial MT"/>
              </a:rPr>
              <a:t>the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55" dirty="0">
                <a:latin typeface="Arial MT"/>
                <a:cs typeface="Arial MT"/>
              </a:rPr>
              <a:t>cost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42" dirty="0">
                <a:latin typeface="Arial MT"/>
                <a:cs typeface="Arial MT"/>
              </a:rPr>
              <a:t>of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monitoring/punishing</a:t>
            </a:r>
            <a:endParaRPr sz="2031" dirty="0">
              <a:latin typeface="Arial MT"/>
              <a:cs typeface="Arial MT"/>
            </a:endParaRPr>
          </a:p>
          <a:p>
            <a:pPr marL="268004" marR="3081" indent="-260688">
              <a:lnSpc>
                <a:spcPct val="100899"/>
              </a:lnSpc>
              <a:spcBef>
                <a:spcPts val="1328"/>
              </a:spcBef>
              <a:buSzPct val="123880"/>
              <a:buChar char="•"/>
              <a:tabLst>
                <a:tab pos="267619" algn="l"/>
                <a:tab pos="268390" algn="l"/>
              </a:tabLst>
            </a:pPr>
            <a:r>
              <a:rPr sz="2031" b="1" spc="21" dirty="0">
                <a:latin typeface="Arial"/>
                <a:cs typeface="Arial"/>
              </a:rPr>
              <a:t>If </a:t>
            </a:r>
            <a:r>
              <a:rPr sz="2031" b="1" spc="9" dirty="0">
                <a:latin typeface="Arial"/>
                <a:cs typeface="Arial"/>
              </a:rPr>
              <a:t>others </a:t>
            </a:r>
            <a:r>
              <a:rPr sz="2031" b="1" i="1" spc="-9" dirty="0">
                <a:latin typeface="Arial"/>
                <a:cs typeface="Arial"/>
              </a:rPr>
              <a:t>do </a:t>
            </a:r>
            <a:r>
              <a:rPr sz="2031" b="1" i="1" spc="21" dirty="0">
                <a:latin typeface="Arial"/>
                <a:cs typeface="Arial"/>
              </a:rPr>
              <a:t>not </a:t>
            </a:r>
            <a:r>
              <a:rPr sz="2031" b="1" spc="12" dirty="0">
                <a:latin typeface="Arial"/>
                <a:cs typeface="Arial"/>
              </a:rPr>
              <a:t>contribute </a:t>
            </a:r>
            <a:r>
              <a:rPr sz="2031" spc="64" dirty="0">
                <a:latin typeface="Arial MT"/>
                <a:cs typeface="Arial MT"/>
              </a:rPr>
              <a:t>to </a:t>
            </a:r>
            <a:r>
              <a:rPr sz="2031" spc="30" dirty="0">
                <a:latin typeface="Arial MT"/>
                <a:cs typeface="Arial MT"/>
              </a:rPr>
              <a:t>monitoring </a:t>
            </a:r>
            <a:r>
              <a:rPr sz="2031" spc="21" dirty="0">
                <a:latin typeface="Arial MT"/>
                <a:cs typeface="Arial MT"/>
              </a:rPr>
              <a:t>and punishment, </a:t>
            </a:r>
            <a:r>
              <a:rPr sz="2031" spc="-36" dirty="0">
                <a:latin typeface="Arial MT"/>
                <a:cs typeface="Arial MT"/>
              </a:rPr>
              <a:t>I </a:t>
            </a:r>
            <a:r>
              <a:rPr sz="2031" spc="12" dirty="0">
                <a:latin typeface="Arial MT"/>
                <a:cs typeface="Arial MT"/>
              </a:rPr>
              <a:t>am </a:t>
            </a:r>
            <a:r>
              <a:rPr sz="2031" spc="30" dirty="0">
                <a:latin typeface="Arial MT"/>
                <a:cs typeface="Arial MT"/>
              </a:rPr>
              <a:t>better off </a:t>
            </a:r>
            <a:r>
              <a:rPr sz="2031" spc="45" dirty="0">
                <a:latin typeface="Arial MT"/>
                <a:cs typeface="Arial MT"/>
              </a:rPr>
              <a:t>not </a:t>
            </a:r>
            <a:r>
              <a:rPr sz="2031" spc="18" dirty="0">
                <a:latin typeface="Arial MT"/>
                <a:cs typeface="Arial MT"/>
              </a:rPr>
              <a:t>paying the </a:t>
            </a:r>
            <a:r>
              <a:rPr sz="2031" spc="21" dirty="0">
                <a:latin typeface="Arial MT"/>
                <a:cs typeface="Arial MT"/>
              </a:rPr>
              <a:t> </a:t>
            </a:r>
            <a:r>
              <a:rPr sz="2031" spc="45" dirty="0">
                <a:latin typeface="Arial MT"/>
                <a:cs typeface="Arial MT"/>
              </a:rPr>
              <a:t>costs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42" dirty="0">
                <a:latin typeface="Arial MT"/>
                <a:cs typeface="Arial MT"/>
              </a:rPr>
              <a:t>of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monitoring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-64" dirty="0">
                <a:latin typeface="Arial MT"/>
                <a:cs typeface="Arial MT"/>
              </a:rPr>
              <a:t>&amp;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24" dirty="0">
                <a:latin typeface="Arial MT"/>
                <a:cs typeface="Arial MT"/>
              </a:rPr>
              <a:t>punishment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15" dirty="0">
                <a:latin typeface="Arial MT"/>
                <a:cs typeface="Arial MT"/>
              </a:rPr>
              <a:t>(cooperation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24" dirty="0">
                <a:latin typeface="Arial MT"/>
                <a:cs typeface="Arial MT"/>
              </a:rPr>
              <a:t>will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9" dirty="0">
                <a:latin typeface="Arial MT"/>
                <a:cs typeface="Arial MT"/>
              </a:rPr>
              <a:t>anyway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45" dirty="0">
                <a:latin typeface="Arial MT"/>
                <a:cs typeface="Arial MT"/>
              </a:rPr>
              <a:t>not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27" dirty="0">
                <a:latin typeface="Arial MT"/>
                <a:cs typeface="Arial MT"/>
              </a:rPr>
              <a:t>be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12" dirty="0">
                <a:latin typeface="Arial MT"/>
                <a:cs typeface="Arial MT"/>
              </a:rPr>
              <a:t>achieved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21" dirty="0">
                <a:latin typeface="Arial MT"/>
                <a:cs typeface="Arial MT"/>
              </a:rPr>
              <a:t>if</a:t>
            </a:r>
            <a:r>
              <a:rPr sz="2031" spc="3" dirty="0">
                <a:latin typeface="Arial MT"/>
                <a:cs typeface="Arial MT"/>
              </a:rPr>
              <a:t> </a:t>
            </a:r>
            <a:r>
              <a:rPr sz="2031" spc="-36" dirty="0">
                <a:latin typeface="Arial MT"/>
                <a:cs typeface="Arial MT"/>
              </a:rPr>
              <a:t>I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30" dirty="0">
                <a:latin typeface="Arial MT"/>
                <a:cs typeface="Arial MT"/>
              </a:rPr>
              <a:t>police</a:t>
            </a:r>
            <a:r>
              <a:rPr sz="2031" spc="6" dirty="0">
                <a:latin typeface="Arial MT"/>
                <a:cs typeface="Arial MT"/>
              </a:rPr>
              <a:t> </a:t>
            </a:r>
            <a:r>
              <a:rPr sz="2031" spc="-24" dirty="0">
                <a:latin typeface="Arial MT"/>
                <a:cs typeface="Arial MT"/>
              </a:rPr>
              <a:t>alone)</a:t>
            </a:r>
            <a:endParaRPr sz="2031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7527" y="4836832"/>
            <a:ext cx="3056643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3184" spc="27" dirty="0">
                <a:solidFill>
                  <a:srgbClr val="5E5E5E"/>
                </a:solidFill>
                <a:latin typeface="Arial MT"/>
                <a:cs typeface="Arial MT"/>
              </a:rPr>
              <a:t>Sounds</a:t>
            </a:r>
            <a:r>
              <a:rPr sz="3184" spc="-49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3184" spc="6" dirty="0">
                <a:solidFill>
                  <a:srgbClr val="5E5E5E"/>
                </a:solidFill>
                <a:latin typeface="Arial MT"/>
                <a:cs typeface="Arial MT"/>
              </a:rPr>
              <a:t>familiar?</a:t>
            </a:r>
            <a:endParaRPr sz="3184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420163"/>
            <a:ext cx="10817619" cy="815309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4"/>
              </a:spcBef>
            </a:pPr>
            <a:r>
              <a:rPr sz="5245" spc="-252" dirty="0"/>
              <a:t>Th</a:t>
            </a:r>
            <a:r>
              <a:rPr sz="5245" spc="-91" dirty="0"/>
              <a:t>e</a:t>
            </a:r>
            <a:r>
              <a:rPr sz="5245" spc="-206" dirty="0"/>
              <a:t> </a:t>
            </a:r>
            <a:r>
              <a:rPr sz="5245" spc="-285" dirty="0"/>
              <a:t>second-o</a:t>
            </a:r>
            <a:r>
              <a:rPr sz="5245" spc="-246" dirty="0"/>
              <a:t>r</a:t>
            </a:r>
            <a:r>
              <a:rPr sz="5245" spc="-79" dirty="0"/>
              <a:t>de</a:t>
            </a:r>
            <a:r>
              <a:rPr sz="5245" spc="49" dirty="0"/>
              <a:t>r</a:t>
            </a:r>
            <a:r>
              <a:rPr sz="5245" spc="-206" dirty="0"/>
              <a:t> </a:t>
            </a:r>
            <a:r>
              <a:rPr sz="5245" spc="-52" dirty="0"/>
              <a:t>f</a:t>
            </a:r>
            <a:r>
              <a:rPr sz="5245" spc="-246" dirty="0"/>
              <a:t>r</a:t>
            </a:r>
            <a:r>
              <a:rPr sz="5245" spc="-127" dirty="0"/>
              <a:t>ee-ride</a:t>
            </a:r>
            <a:r>
              <a:rPr sz="5245" spc="21" dirty="0"/>
              <a:t>r</a:t>
            </a:r>
            <a:r>
              <a:rPr sz="5245" spc="-206" dirty="0"/>
              <a:t> </a:t>
            </a:r>
            <a:r>
              <a:rPr sz="5245" spc="-49" dirty="0"/>
              <a:t>p</a:t>
            </a:r>
            <a:r>
              <a:rPr sz="5245" spc="-246" dirty="0"/>
              <a:t>r</a:t>
            </a:r>
            <a:r>
              <a:rPr sz="5245" spc="-152" dirty="0"/>
              <a:t>oblem</a:t>
            </a:r>
            <a:endParaRPr sz="5245"/>
          </a:p>
        </p:txBody>
      </p:sp>
      <p:sp>
        <p:nvSpPr>
          <p:cNvPr id="3" name="object 3"/>
          <p:cNvSpPr txBox="1"/>
          <p:nvPr/>
        </p:nvSpPr>
        <p:spPr>
          <a:xfrm>
            <a:off x="1498617" y="2755332"/>
            <a:ext cx="9010896" cy="153280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spcBef>
                <a:spcPts val="55"/>
              </a:spcBef>
            </a:pPr>
            <a:r>
              <a:rPr sz="3305" spc="-67" dirty="0">
                <a:latin typeface="Arial MT"/>
                <a:cs typeface="Arial MT"/>
              </a:rPr>
              <a:t>The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3" dirty="0">
                <a:latin typeface="Arial MT"/>
                <a:cs typeface="Arial MT"/>
              </a:rPr>
              <a:t>behaviors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42" dirty="0">
                <a:latin typeface="Arial MT"/>
                <a:cs typeface="Arial MT"/>
              </a:rPr>
              <a:t>that</a:t>
            </a:r>
            <a:r>
              <a:rPr sz="3305" spc="-3" dirty="0">
                <a:latin typeface="Arial MT"/>
                <a:cs typeface="Arial MT"/>
              </a:rPr>
              <a:t> </a:t>
            </a:r>
            <a:r>
              <a:rPr sz="3305" spc="58" dirty="0">
                <a:latin typeface="Arial MT"/>
                <a:cs typeface="Arial MT"/>
              </a:rPr>
              <a:t>could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18" dirty="0">
                <a:latin typeface="Arial MT"/>
                <a:cs typeface="Arial MT"/>
              </a:rPr>
              <a:t>allow</a:t>
            </a:r>
            <a:r>
              <a:rPr sz="3305" spc="-3" dirty="0">
                <a:latin typeface="Arial MT"/>
                <a:cs typeface="Arial MT"/>
              </a:rPr>
              <a:t> </a:t>
            </a:r>
            <a:r>
              <a:rPr sz="3305" spc="88" dirty="0">
                <a:latin typeface="Arial MT"/>
                <a:cs typeface="Arial MT"/>
              </a:rPr>
              <a:t>to</a:t>
            </a:r>
            <a:r>
              <a:rPr sz="3305" spc="-6" dirty="0">
                <a:latin typeface="Arial MT"/>
                <a:cs typeface="Arial MT"/>
              </a:rPr>
              <a:t> solve</a:t>
            </a:r>
            <a:r>
              <a:rPr sz="3305" spc="-3" dirty="0">
                <a:latin typeface="Arial MT"/>
                <a:cs typeface="Arial MT"/>
              </a:rPr>
              <a:t> </a:t>
            </a:r>
            <a:r>
              <a:rPr sz="3305" spc="15" dirty="0">
                <a:latin typeface="Arial MT"/>
                <a:cs typeface="Arial MT"/>
              </a:rPr>
              <a:t>the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9" dirty="0">
                <a:latin typeface="Arial MT"/>
                <a:cs typeface="Arial MT"/>
              </a:rPr>
              <a:t>free- </a:t>
            </a:r>
            <a:r>
              <a:rPr sz="3305" spc="-910" dirty="0">
                <a:latin typeface="Arial MT"/>
                <a:cs typeface="Arial MT"/>
              </a:rPr>
              <a:t> </a:t>
            </a:r>
            <a:r>
              <a:rPr sz="3305" spc="9" dirty="0">
                <a:latin typeface="Arial MT"/>
                <a:cs typeface="Arial MT"/>
              </a:rPr>
              <a:t>rider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30" dirty="0">
                <a:latin typeface="Arial MT"/>
                <a:cs typeface="Arial MT"/>
              </a:rPr>
              <a:t>problem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-45" dirty="0">
                <a:latin typeface="Arial MT"/>
                <a:cs typeface="Arial MT"/>
              </a:rPr>
              <a:t>(e.g.,</a:t>
            </a:r>
            <a:r>
              <a:rPr sz="3305" spc="-3" dirty="0">
                <a:latin typeface="Arial MT"/>
                <a:cs typeface="Arial MT"/>
              </a:rPr>
              <a:t> </a:t>
            </a:r>
            <a:r>
              <a:rPr sz="3305" spc="33" dirty="0">
                <a:latin typeface="Arial MT"/>
                <a:cs typeface="Arial MT"/>
              </a:rPr>
              <a:t>monitoring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-127" dirty="0">
                <a:latin typeface="Arial MT"/>
                <a:cs typeface="Arial MT"/>
              </a:rPr>
              <a:t>&amp;</a:t>
            </a:r>
            <a:r>
              <a:rPr sz="3305" spc="-6" dirty="0">
                <a:latin typeface="Arial MT"/>
                <a:cs typeface="Arial MT"/>
              </a:rPr>
              <a:t> </a:t>
            </a:r>
            <a:r>
              <a:rPr sz="3305" spc="-3" dirty="0">
                <a:latin typeface="Arial MT"/>
                <a:cs typeface="Arial MT"/>
              </a:rPr>
              <a:t>punishment) </a:t>
            </a:r>
            <a:r>
              <a:rPr sz="3305" dirty="0">
                <a:latin typeface="Arial MT"/>
                <a:cs typeface="Arial MT"/>
              </a:rPr>
              <a:t> </a:t>
            </a:r>
            <a:r>
              <a:rPr sz="3305" b="1" spc="-12" dirty="0">
                <a:latin typeface="Arial"/>
                <a:cs typeface="Arial"/>
              </a:rPr>
              <a:t>themselves</a:t>
            </a:r>
            <a:r>
              <a:rPr sz="3305" b="1" spc="-6" dirty="0">
                <a:latin typeface="Arial"/>
                <a:cs typeface="Arial"/>
              </a:rPr>
              <a:t> raise</a:t>
            </a:r>
            <a:r>
              <a:rPr sz="3305" b="1" spc="-3" dirty="0">
                <a:latin typeface="Arial"/>
                <a:cs typeface="Arial"/>
              </a:rPr>
              <a:t> </a:t>
            </a:r>
            <a:r>
              <a:rPr sz="3305" b="1" spc="55" dirty="0">
                <a:latin typeface="Arial"/>
                <a:cs typeface="Arial"/>
              </a:rPr>
              <a:t>a</a:t>
            </a:r>
            <a:r>
              <a:rPr sz="3305" b="1" spc="-3" dirty="0">
                <a:latin typeface="Arial"/>
                <a:cs typeface="Arial"/>
              </a:rPr>
              <a:t> </a:t>
            </a:r>
            <a:r>
              <a:rPr sz="3305" b="1" spc="24" dirty="0">
                <a:latin typeface="Arial"/>
                <a:cs typeface="Arial"/>
              </a:rPr>
              <a:t>free-rider</a:t>
            </a:r>
            <a:r>
              <a:rPr sz="3305" b="1" spc="-3" dirty="0">
                <a:latin typeface="Arial"/>
                <a:cs typeface="Arial"/>
              </a:rPr>
              <a:t> </a:t>
            </a:r>
            <a:r>
              <a:rPr sz="3305" b="1" spc="-27" dirty="0">
                <a:latin typeface="Arial"/>
                <a:cs typeface="Arial"/>
              </a:rPr>
              <a:t>problem!</a:t>
            </a:r>
            <a:endParaRPr sz="33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077" y="6334684"/>
            <a:ext cx="4890320" cy="412523"/>
          </a:xfrm>
          <a:prstGeom prst="rect">
            <a:avLst/>
          </a:prstGeom>
        </p:spPr>
        <p:txBody>
          <a:bodyPr vert="horz" wrap="square" lIns="0" tIns="3466" rIns="0" bIns="0" rtlCol="0">
            <a:spAutoFit/>
          </a:bodyPr>
          <a:lstStyle/>
          <a:p>
            <a:pPr marL="227188" marR="3081" indent="-219872">
              <a:lnSpc>
                <a:spcPct val="103099"/>
              </a:lnSpc>
              <a:spcBef>
                <a:spcPts val="27"/>
              </a:spcBef>
            </a:pPr>
            <a:r>
              <a:rPr sz="1334" spc="-9" dirty="0">
                <a:latin typeface="Arial MT"/>
                <a:cs typeface="Arial MT"/>
              </a:rPr>
              <a:t>Yamagishi,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-94" dirty="0">
                <a:latin typeface="Arial MT"/>
                <a:cs typeface="Arial MT"/>
              </a:rPr>
              <a:t>T.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24" dirty="0">
                <a:latin typeface="Arial MT"/>
                <a:cs typeface="Arial MT"/>
              </a:rPr>
              <a:t>(1986).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The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2" dirty="0">
                <a:latin typeface="Arial MT"/>
                <a:cs typeface="Arial MT"/>
              </a:rPr>
              <a:t>provision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of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18" dirty="0">
                <a:latin typeface="Arial MT"/>
                <a:cs typeface="Arial MT"/>
              </a:rPr>
              <a:t>sanctioning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15" dirty="0">
                <a:latin typeface="Arial MT"/>
                <a:cs typeface="Arial MT"/>
              </a:rPr>
              <a:t>system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6" dirty="0">
                <a:latin typeface="Arial MT"/>
                <a:cs typeface="Arial MT"/>
              </a:rPr>
              <a:t>as</a:t>
            </a:r>
            <a:r>
              <a:rPr sz="1334" spc="6" dirty="0">
                <a:latin typeface="Arial MT"/>
                <a:cs typeface="Arial MT"/>
              </a:rPr>
              <a:t> </a:t>
            </a:r>
            <a:r>
              <a:rPr sz="1334" spc="-18" dirty="0">
                <a:latin typeface="Arial MT"/>
                <a:cs typeface="Arial MT"/>
              </a:rPr>
              <a:t>a </a:t>
            </a:r>
            <a:r>
              <a:rPr sz="1334" spc="-361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public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spc="30" dirty="0">
                <a:latin typeface="Arial MT"/>
                <a:cs typeface="Arial MT"/>
              </a:rPr>
              <a:t>good.</a:t>
            </a:r>
            <a:r>
              <a:rPr sz="1334" spc="3" dirty="0">
                <a:latin typeface="Arial MT"/>
                <a:cs typeface="Arial MT"/>
              </a:rPr>
              <a:t> </a:t>
            </a:r>
            <a:r>
              <a:rPr sz="1334" i="1" spc="9" dirty="0">
                <a:latin typeface="Arial"/>
                <a:cs typeface="Arial"/>
              </a:rPr>
              <a:t>Journal</a:t>
            </a:r>
            <a:r>
              <a:rPr sz="1334" i="1" spc="6" dirty="0">
                <a:latin typeface="Arial"/>
                <a:cs typeface="Arial"/>
              </a:rPr>
              <a:t> </a:t>
            </a:r>
            <a:r>
              <a:rPr sz="1334" i="1" spc="30" dirty="0">
                <a:latin typeface="Arial"/>
                <a:cs typeface="Arial"/>
              </a:rPr>
              <a:t>of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-3" dirty="0">
                <a:latin typeface="Arial"/>
                <a:cs typeface="Arial"/>
              </a:rPr>
              <a:t>Personality</a:t>
            </a:r>
            <a:r>
              <a:rPr sz="1334" i="1" spc="6" dirty="0">
                <a:latin typeface="Arial"/>
                <a:cs typeface="Arial"/>
              </a:rPr>
              <a:t> and</a:t>
            </a:r>
            <a:r>
              <a:rPr sz="1334" i="1" spc="3" dirty="0">
                <a:latin typeface="Arial"/>
                <a:cs typeface="Arial"/>
              </a:rPr>
              <a:t> </a:t>
            </a:r>
            <a:r>
              <a:rPr sz="1334" i="1" spc="6" dirty="0">
                <a:latin typeface="Arial"/>
                <a:cs typeface="Arial"/>
              </a:rPr>
              <a:t>social </a:t>
            </a:r>
            <a:r>
              <a:rPr sz="1334" i="1" dirty="0">
                <a:latin typeface="Arial"/>
                <a:cs typeface="Arial"/>
              </a:rPr>
              <a:t>Psychology.</a:t>
            </a:r>
            <a:endParaRPr sz="133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2193" y="6332659"/>
            <a:ext cx="3312325" cy="373539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spc="-3" dirty="0">
                <a:latin typeface="Arial MT"/>
                <a:cs typeface="Arial MT"/>
              </a:rPr>
              <a:t>Hechter,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30" dirty="0">
                <a:latin typeface="Arial MT"/>
                <a:cs typeface="Arial MT"/>
              </a:rPr>
              <a:t>M.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spc="-18" dirty="0">
                <a:latin typeface="Arial MT"/>
                <a:cs typeface="Arial MT"/>
              </a:rPr>
              <a:t>(1988).</a:t>
            </a:r>
            <a:r>
              <a:rPr sz="1182" spc="3" dirty="0">
                <a:latin typeface="Arial MT"/>
                <a:cs typeface="Arial MT"/>
              </a:rPr>
              <a:t> </a:t>
            </a:r>
            <a:r>
              <a:rPr sz="1182" i="1" spc="9" dirty="0">
                <a:latin typeface="Arial"/>
                <a:cs typeface="Arial"/>
              </a:rPr>
              <a:t>Principles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27" dirty="0">
                <a:latin typeface="Arial"/>
                <a:cs typeface="Arial"/>
              </a:rPr>
              <a:t>of</a:t>
            </a:r>
            <a:r>
              <a:rPr sz="1182" i="1" spc="6" dirty="0">
                <a:latin typeface="Arial"/>
                <a:cs typeface="Arial"/>
              </a:rPr>
              <a:t> </a:t>
            </a:r>
            <a:r>
              <a:rPr sz="1182" i="1" spc="21" dirty="0">
                <a:latin typeface="Arial"/>
                <a:cs typeface="Arial"/>
              </a:rPr>
              <a:t>group</a:t>
            </a:r>
            <a:r>
              <a:rPr sz="1182" i="1" spc="3" dirty="0">
                <a:latin typeface="Arial"/>
                <a:cs typeface="Arial"/>
              </a:rPr>
              <a:t> </a:t>
            </a:r>
            <a:r>
              <a:rPr sz="1182" i="1" spc="6" dirty="0">
                <a:latin typeface="Arial"/>
                <a:cs typeface="Arial"/>
              </a:rPr>
              <a:t>solidarity</a:t>
            </a:r>
            <a:r>
              <a:rPr sz="1182" spc="6" dirty="0">
                <a:latin typeface="Arial MT"/>
                <a:cs typeface="Arial MT"/>
              </a:rPr>
              <a:t>.</a:t>
            </a:r>
            <a:endParaRPr sz="1182">
              <a:latin typeface="Arial MT"/>
              <a:cs typeface="Arial MT"/>
            </a:endParaRPr>
          </a:p>
          <a:p>
            <a:pPr marL="1303442">
              <a:spcBef>
                <a:spcPts val="33"/>
              </a:spcBef>
            </a:pPr>
            <a:r>
              <a:rPr sz="1182" spc="9" dirty="0">
                <a:latin typeface="Arial MT"/>
                <a:cs typeface="Arial MT"/>
              </a:rPr>
              <a:t>University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27" dirty="0">
                <a:latin typeface="Arial MT"/>
                <a:cs typeface="Arial MT"/>
              </a:rPr>
              <a:t>of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9" dirty="0">
                <a:latin typeface="Arial MT"/>
                <a:cs typeface="Arial MT"/>
              </a:rPr>
              <a:t>California</a:t>
            </a:r>
            <a:r>
              <a:rPr sz="1182" spc="-9" dirty="0">
                <a:latin typeface="Arial MT"/>
                <a:cs typeface="Arial MT"/>
              </a:rPr>
              <a:t> </a:t>
            </a:r>
            <a:r>
              <a:rPr sz="1182" spc="-6" dirty="0">
                <a:latin typeface="Arial MT"/>
                <a:cs typeface="Arial MT"/>
              </a:rPr>
              <a:t>Press.</a:t>
            </a:r>
            <a:endParaRPr sz="118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BC424C7-4FBE-FF65-D69E-9979AD83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86" y="517912"/>
            <a:ext cx="11064644" cy="572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00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794A79C-ABE6-070D-1A98-9FBA5DC7F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0" y="471704"/>
            <a:ext cx="10978960" cy="609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57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77997"/>
            <a:ext cx="11011692" cy="1361698"/>
          </a:xfrm>
          <a:prstGeom prst="rect">
            <a:avLst/>
          </a:prstGeom>
        </p:spPr>
        <p:txBody>
          <a:bodyPr vert="horz" wrap="square" lIns="0" tIns="76243" rIns="0" bIns="0" rtlCol="0" anchor="ctr">
            <a:spAutoFit/>
          </a:bodyPr>
          <a:lstStyle/>
          <a:p>
            <a:pPr marL="7701" marR="7701">
              <a:lnSpc>
                <a:spcPts val="5039"/>
              </a:lnSpc>
              <a:spcBef>
                <a:spcPts val="600"/>
              </a:spcBef>
            </a:pPr>
            <a:r>
              <a:rPr sz="4578" spc="-121" dirty="0">
                <a:solidFill>
                  <a:srgbClr val="0076BA"/>
                </a:solidFill>
              </a:rPr>
              <a:t>Self-interest</a:t>
            </a:r>
            <a:r>
              <a:rPr sz="4578" spc="-121" dirty="0"/>
              <a:t>,</a:t>
            </a:r>
            <a:r>
              <a:rPr sz="4578" spc="-115" dirty="0"/>
              <a:t> </a:t>
            </a:r>
            <a:r>
              <a:rPr sz="4578" spc="-176" dirty="0">
                <a:solidFill>
                  <a:srgbClr val="B51600"/>
                </a:solidFill>
              </a:rPr>
              <a:t>reciprocity</a:t>
            </a:r>
            <a:r>
              <a:rPr sz="4578" spc="-176" dirty="0"/>
              <a:t>,</a:t>
            </a:r>
            <a:r>
              <a:rPr sz="4578" spc="-112" dirty="0"/>
              <a:t> and </a:t>
            </a:r>
            <a:r>
              <a:rPr sz="4578" spc="-73" dirty="0">
                <a:solidFill>
                  <a:srgbClr val="027001"/>
                </a:solidFill>
              </a:rPr>
              <a:t>reputation </a:t>
            </a:r>
            <a:r>
              <a:rPr sz="4578" spc="-69" dirty="0">
                <a:solidFill>
                  <a:srgbClr val="027001"/>
                </a:solidFill>
              </a:rPr>
              <a:t> </a:t>
            </a:r>
            <a:r>
              <a:rPr sz="4578" spc="-209" dirty="0"/>
              <a:t>solve</a:t>
            </a:r>
            <a:r>
              <a:rPr sz="4578" spc="-112" dirty="0"/>
              <a:t> </a:t>
            </a:r>
            <a:r>
              <a:rPr sz="4578" dirty="0"/>
              <a:t>the</a:t>
            </a:r>
            <a:r>
              <a:rPr sz="4578" spc="-112" dirty="0"/>
              <a:t> </a:t>
            </a:r>
            <a:r>
              <a:rPr sz="4578" spc="-154" dirty="0"/>
              <a:t>second-order</a:t>
            </a:r>
            <a:r>
              <a:rPr sz="4578" spc="-112" dirty="0"/>
              <a:t> </a:t>
            </a:r>
            <a:r>
              <a:rPr sz="4578" spc="-64" dirty="0"/>
              <a:t>free-rider</a:t>
            </a:r>
            <a:r>
              <a:rPr sz="4578" spc="-112" dirty="0"/>
              <a:t> </a:t>
            </a:r>
            <a:r>
              <a:rPr sz="4578" spc="-91" dirty="0"/>
              <a:t>problem</a:t>
            </a:r>
            <a:endParaRPr sz="4578"/>
          </a:p>
        </p:txBody>
      </p:sp>
      <p:sp>
        <p:nvSpPr>
          <p:cNvPr id="3" name="object 3"/>
          <p:cNvSpPr txBox="1"/>
          <p:nvPr/>
        </p:nvSpPr>
        <p:spPr>
          <a:xfrm>
            <a:off x="341952" y="1902638"/>
            <a:ext cx="5879166" cy="110904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93419" marR="3081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293804" algn="l"/>
              </a:tabLst>
            </a:pPr>
            <a:r>
              <a:rPr sz="2153" b="1" u="heavy" spc="-2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Self-interest</a:t>
            </a:r>
            <a:r>
              <a:rPr sz="2153" spc="-21" dirty="0">
                <a:latin typeface="Microsoft Sans Serif"/>
                <a:cs typeface="Microsoft Sans Serif"/>
              </a:rPr>
              <a:t>: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42" dirty="0">
                <a:latin typeface="Microsoft Sans Serif"/>
                <a:cs typeface="Microsoft Sans Serif"/>
              </a:rPr>
              <a:t>Often,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-30" dirty="0">
                <a:latin typeface="Microsoft Sans Serif"/>
                <a:cs typeface="Microsoft Sans Serif"/>
              </a:rPr>
              <a:t>rules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that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55" dirty="0">
                <a:latin typeface="Microsoft Sans Serif"/>
                <a:cs typeface="Microsoft Sans Serif"/>
              </a:rPr>
              <a:t>people </a:t>
            </a:r>
            <a:r>
              <a:rPr sz="2153" spc="58" dirty="0">
                <a:latin typeface="Microsoft Sans Serif"/>
                <a:cs typeface="Microsoft Sans Serif"/>
              </a:rPr>
              <a:t> </a:t>
            </a:r>
            <a:r>
              <a:rPr sz="2153" spc="15" dirty="0">
                <a:latin typeface="Microsoft Sans Serif"/>
                <a:cs typeface="Microsoft Sans Serif"/>
              </a:rPr>
              <a:t>design</a:t>
            </a:r>
            <a:r>
              <a:rPr sz="2153" spc="18" dirty="0">
                <a:latin typeface="Microsoft Sans Serif"/>
                <a:cs typeface="Microsoft Sans Serif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are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-52" dirty="0">
                <a:latin typeface="Microsoft Sans Serif"/>
                <a:cs typeface="Microsoft Sans Serif"/>
              </a:rPr>
              <a:t>such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that</a:t>
            </a:r>
            <a:r>
              <a:rPr sz="2153" spc="18" dirty="0">
                <a:latin typeface="Microsoft Sans Serif"/>
                <a:cs typeface="Microsoft Sans Serif"/>
              </a:rPr>
              <a:t> </a:t>
            </a:r>
            <a:r>
              <a:rPr sz="2153" spc="-12" dirty="0">
                <a:latin typeface="Microsoft Sans Serif"/>
                <a:cs typeface="Microsoft Sans Serif"/>
              </a:rPr>
              <a:t>some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3" dirty="0">
                <a:latin typeface="Microsoft Sans Serif"/>
                <a:cs typeface="Microsoft Sans Serif"/>
              </a:rPr>
              <a:t>individuals</a:t>
            </a:r>
            <a:r>
              <a:rPr sz="2153" spc="21" dirty="0">
                <a:latin typeface="Microsoft Sans Serif"/>
                <a:cs typeface="Microsoft Sans Serif"/>
              </a:rPr>
              <a:t> </a:t>
            </a:r>
            <a:r>
              <a:rPr sz="2153" spc="-33" dirty="0">
                <a:latin typeface="Microsoft Sans Serif"/>
                <a:cs typeface="Microsoft Sans Serif"/>
              </a:rPr>
              <a:t>have</a:t>
            </a:r>
            <a:r>
              <a:rPr sz="2153" spc="18" dirty="0">
                <a:latin typeface="Microsoft Sans Serif"/>
                <a:cs typeface="Microsoft Sans Serif"/>
              </a:rPr>
              <a:t> </a:t>
            </a:r>
            <a:r>
              <a:rPr sz="2153" spc="-42" dirty="0">
                <a:latin typeface="Microsoft Sans Serif"/>
                <a:cs typeface="Microsoft Sans Serif"/>
              </a:rPr>
              <a:t>an </a:t>
            </a:r>
            <a:r>
              <a:rPr sz="2153" spc="-561" dirty="0">
                <a:latin typeface="Microsoft Sans Serif"/>
                <a:cs typeface="Microsoft Sans Serif"/>
              </a:rPr>
              <a:t> </a:t>
            </a:r>
            <a:r>
              <a:rPr sz="2153" b="1" dirty="0">
                <a:latin typeface="Arial"/>
                <a:cs typeface="Arial"/>
              </a:rPr>
              <a:t>immediate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b="1" spc="-27" dirty="0">
                <a:latin typeface="Arial"/>
                <a:cs typeface="Arial"/>
              </a:rPr>
              <a:t>self-interest</a:t>
            </a:r>
            <a:r>
              <a:rPr sz="2153" b="1" spc="-3" dirty="0">
                <a:latin typeface="Arial"/>
                <a:cs typeface="Arial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45" dirty="0">
                <a:latin typeface="Microsoft Sans Serif"/>
                <a:cs typeface="Microsoft Sans Serif"/>
              </a:rPr>
              <a:t>monitor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5" dirty="0">
                <a:latin typeface="Microsoft Sans Serif"/>
                <a:cs typeface="Microsoft Sans Serif"/>
              </a:rPr>
              <a:t>cheating</a:t>
            </a:r>
            <a:endParaRPr sz="2153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333" y="3673059"/>
            <a:ext cx="6807171" cy="2798019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lnSpc>
                <a:spcPct val="116300"/>
              </a:lnSpc>
              <a:spcBef>
                <a:spcPts val="55"/>
              </a:spcBef>
            </a:pPr>
            <a:r>
              <a:rPr sz="1577" spc="52" dirty="0">
                <a:latin typeface="Microsoft Sans Serif"/>
                <a:cs typeface="Microsoft Sans Serif"/>
              </a:rPr>
              <a:t>“Irrigation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-24" dirty="0">
                <a:latin typeface="Microsoft Sans Serif"/>
                <a:cs typeface="Microsoft Sans Serif"/>
              </a:rPr>
              <a:t>systems,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for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15" dirty="0">
                <a:latin typeface="Microsoft Sans Serif"/>
                <a:cs typeface="Microsoft Sans Serif"/>
              </a:rPr>
              <a:t>example,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-15" dirty="0">
                <a:latin typeface="Microsoft Sans Serif"/>
                <a:cs typeface="Microsoft Sans Serif"/>
              </a:rPr>
              <a:t>usually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12" dirty="0">
                <a:latin typeface="Microsoft Sans Serif"/>
                <a:cs typeface="Microsoft Sans Serif"/>
              </a:rPr>
              <a:t>place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39" dirty="0">
                <a:latin typeface="Microsoft Sans Serif"/>
                <a:cs typeface="Microsoft Sans Serif"/>
              </a:rPr>
              <a:t>the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58" dirty="0">
                <a:latin typeface="Microsoft Sans Serif"/>
                <a:cs typeface="Microsoft Sans Serif"/>
              </a:rPr>
              <a:t>two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dirty="0">
                <a:latin typeface="Microsoft Sans Serif"/>
                <a:cs typeface="Microsoft Sans Serif"/>
              </a:rPr>
              <a:t>actors</a:t>
            </a:r>
            <a:r>
              <a:rPr sz="1577" spc="24" dirty="0">
                <a:latin typeface="Microsoft Sans Serif"/>
                <a:cs typeface="Microsoft Sans Serif"/>
              </a:rPr>
              <a:t> most 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4" dirty="0">
                <a:latin typeface="Microsoft Sans Serif"/>
                <a:cs typeface="Microsoft Sans Serif"/>
              </a:rPr>
              <a:t>concerned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with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1" dirty="0">
                <a:latin typeface="Microsoft Sans Serif"/>
                <a:cs typeface="Microsoft Sans Serif"/>
              </a:rPr>
              <a:t>cheating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18" dirty="0">
                <a:latin typeface="Microsoft Sans Serif"/>
                <a:cs typeface="Microsoft Sans Serif"/>
              </a:rPr>
              <a:t>in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0" dirty="0">
                <a:latin typeface="Microsoft Sans Serif"/>
                <a:cs typeface="Microsoft Sans Serif"/>
              </a:rPr>
              <a:t>direct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4" dirty="0">
                <a:latin typeface="Microsoft Sans Serif"/>
                <a:cs typeface="Microsoft Sans Serif"/>
              </a:rPr>
              <a:t>contact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with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0" dirty="0">
                <a:latin typeface="Microsoft Sans Serif"/>
                <a:cs typeface="Microsoft Sans Serif"/>
              </a:rPr>
              <a:t>one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dirty="0">
                <a:latin typeface="Microsoft Sans Serif"/>
                <a:cs typeface="Microsoft Sans Serif"/>
              </a:rPr>
              <a:t>another.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-9" dirty="0">
                <a:latin typeface="Microsoft Sans Serif"/>
                <a:cs typeface="Microsoft Sans Serif"/>
              </a:rPr>
              <a:t>The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0" dirty="0">
                <a:latin typeface="Microsoft Sans Serif"/>
                <a:cs typeface="Microsoft Sans Serif"/>
              </a:rPr>
              <a:t>irrigator </a:t>
            </a:r>
            <a:r>
              <a:rPr sz="1577" spc="33" dirty="0">
                <a:latin typeface="Microsoft Sans Serif"/>
                <a:cs typeface="Microsoft Sans Serif"/>
              </a:rPr>
              <a:t> who </a:t>
            </a:r>
            <a:r>
              <a:rPr sz="1577" spc="-27" dirty="0">
                <a:latin typeface="Microsoft Sans Serif"/>
                <a:cs typeface="Microsoft Sans Serif"/>
              </a:rPr>
              <a:t>nears </a:t>
            </a:r>
            <a:r>
              <a:rPr sz="1577" spc="39" dirty="0">
                <a:latin typeface="Microsoft Sans Serif"/>
                <a:cs typeface="Microsoft Sans Serif"/>
              </a:rPr>
              <a:t>the end </a:t>
            </a:r>
            <a:r>
              <a:rPr sz="1577" spc="52" dirty="0">
                <a:latin typeface="Microsoft Sans Serif"/>
                <a:cs typeface="Microsoft Sans Serif"/>
              </a:rPr>
              <a:t>of </a:t>
            </a:r>
            <a:r>
              <a:rPr sz="1577" spc="-49" dirty="0">
                <a:latin typeface="Microsoft Sans Serif"/>
                <a:cs typeface="Microsoft Sans Serif"/>
              </a:rPr>
              <a:t>a </a:t>
            </a:r>
            <a:r>
              <a:rPr sz="1577" spc="36" dirty="0">
                <a:latin typeface="Microsoft Sans Serif"/>
                <a:cs typeface="Microsoft Sans Serif"/>
              </a:rPr>
              <a:t>rotation turn </a:t>
            </a:r>
            <a:r>
              <a:rPr sz="1577" spc="42" dirty="0">
                <a:latin typeface="Microsoft Sans Serif"/>
                <a:cs typeface="Microsoft Sans Serif"/>
              </a:rPr>
              <a:t>would </a:t>
            </a:r>
            <a:r>
              <a:rPr sz="1577" spc="9" dirty="0">
                <a:latin typeface="Microsoft Sans Serif"/>
                <a:cs typeface="Microsoft Sans Serif"/>
              </a:rPr>
              <a:t>like </a:t>
            </a:r>
            <a:r>
              <a:rPr sz="1577" spc="82" dirty="0">
                <a:latin typeface="Microsoft Sans Serif"/>
                <a:cs typeface="Microsoft Sans Serif"/>
              </a:rPr>
              <a:t>to </a:t>
            </a:r>
            <a:r>
              <a:rPr sz="1577" spc="33" dirty="0">
                <a:latin typeface="Microsoft Sans Serif"/>
                <a:cs typeface="Microsoft Sans Serif"/>
              </a:rPr>
              <a:t>extend </a:t>
            </a:r>
            <a:r>
              <a:rPr sz="1577" spc="39" dirty="0">
                <a:latin typeface="Microsoft Sans Serif"/>
                <a:cs typeface="Microsoft Sans Serif"/>
              </a:rPr>
              <a:t>the </a:t>
            </a:r>
            <a:r>
              <a:rPr sz="1577" spc="42" dirty="0">
                <a:latin typeface="Microsoft Sans Serif"/>
                <a:cs typeface="Microsoft Sans Serif"/>
              </a:rPr>
              <a:t>time </a:t>
            </a:r>
            <a:r>
              <a:rPr sz="1577" spc="52" dirty="0">
                <a:latin typeface="Microsoft Sans Serif"/>
                <a:cs typeface="Microsoft Sans Serif"/>
              </a:rPr>
              <a:t>of </a:t>
            </a:r>
            <a:r>
              <a:rPr sz="1577" spc="-24" dirty="0">
                <a:latin typeface="Microsoft Sans Serif"/>
                <a:cs typeface="Microsoft Sans Serif"/>
              </a:rPr>
              <a:t>his </a:t>
            </a:r>
            <a:r>
              <a:rPr sz="1577" spc="-21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turn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-12" dirty="0">
                <a:latin typeface="Microsoft Sans Serif"/>
                <a:cs typeface="Microsoft Sans Serif"/>
              </a:rPr>
              <a:t>(and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dirty="0">
                <a:latin typeface="Microsoft Sans Serif"/>
                <a:cs typeface="Microsoft Sans Serif"/>
              </a:rPr>
              <a:t>thus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39" dirty="0">
                <a:latin typeface="Microsoft Sans Serif"/>
                <a:cs typeface="Microsoft Sans Serif"/>
              </a:rPr>
              <a:t>the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0" dirty="0">
                <a:latin typeface="Microsoft Sans Serif"/>
                <a:cs typeface="Microsoft Sans Serif"/>
              </a:rPr>
              <a:t>amount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52" dirty="0">
                <a:latin typeface="Microsoft Sans Serif"/>
                <a:cs typeface="Microsoft Sans Serif"/>
              </a:rPr>
              <a:t>of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15" dirty="0">
                <a:latin typeface="Microsoft Sans Serif"/>
                <a:cs typeface="Microsoft Sans Serif"/>
              </a:rPr>
              <a:t>water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4" dirty="0">
                <a:latin typeface="Microsoft Sans Serif"/>
                <a:cs typeface="Microsoft Sans Serif"/>
              </a:rPr>
              <a:t>obtained). </a:t>
            </a:r>
            <a:r>
              <a:rPr sz="1577" spc="-9" dirty="0">
                <a:latin typeface="Microsoft Sans Serif"/>
                <a:cs typeface="Microsoft Sans Serif"/>
              </a:rPr>
              <a:t>The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4" dirty="0">
                <a:latin typeface="Microsoft Sans Serif"/>
                <a:cs typeface="Microsoft Sans Serif"/>
              </a:rPr>
              <a:t>next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0" dirty="0">
                <a:latin typeface="Microsoft Sans Serif"/>
                <a:cs typeface="Microsoft Sans Serif"/>
              </a:rPr>
              <a:t>irrigator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spc="18" dirty="0">
                <a:latin typeface="Microsoft Sans Serif"/>
                <a:cs typeface="Microsoft Sans Serif"/>
              </a:rPr>
              <a:t>in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9" dirty="0">
                <a:latin typeface="Microsoft Sans Serif"/>
                <a:cs typeface="Microsoft Sans Serif"/>
              </a:rPr>
              <a:t>the </a:t>
            </a:r>
            <a:r>
              <a:rPr sz="1577" spc="42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rotation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-15" dirty="0">
                <a:latin typeface="Microsoft Sans Serif"/>
                <a:cs typeface="Microsoft Sans Serif"/>
              </a:rPr>
              <a:t>system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-6" dirty="0">
                <a:latin typeface="Microsoft Sans Serif"/>
                <a:cs typeface="Microsoft Sans Serif"/>
              </a:rPr>
              <a:t>waits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9" dirty="0">
                <a:latin typeface="Microsoft Sans Serif"/>
                <a:cs typeface="Microsoft Sans Serif"/>
              </a:rPr>
              <a:t>nearby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6" dirty="0">
                <a:latin typeface="Microsoft Sans Serif"/>
                <a:cs typeface="Microsoft Sans Serif"/>
              </a:rPr>
              <a:t>for</a:t>
            </a:r>
            <a:r>
              <a:rPr sz="1577" spc="27" dirty="0">
                <a:latin typeface="Microsoft Sans Serif"/>
                <a:cs typeface="Microsoft Sans Serif"/>
              </a:rPr>
              <a:t> him </a:t>
            </a:r>
            <a:r>
              <a:rPr sz="1577" spc="82" dirty="0">
                <a:latin typeface="Microsoft Sans Serif"/>
                <a:cs typeface="Microsoft Sans Serif"/>
              </a:rPr>
              <a:t>to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dirty="0">
                <a:latin typeface="Microsoft Sans Serif"/>
                <a:cs typeface="Microsoft Sans Serif"/>
              </a:rPr>
              <a:t>finish,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21" dirty="0">
                <a:latin typeface="Microsoft Sans Serif"/>
                <a:cs typeface="Microsoft Sans Serif"/>
              </a:rPr>
              <a:t>and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42" dirty="0">
                <a:latin typeface="Microsoft Sans Serif"/>
                <a:cs typeface="Microsoft Sans Serif"/>
              </a:rPr>
              <a:t>would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3" dirty="0">
                <a:latin typeface="Microsoft Sans Serif"/>
                <a:cs typeface="Microsoft Sans Serif"/>
              </a:rPr>
              <a:t>even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9" dirty="0">
                <a:latin typeface="Microsoft Sans Serif"/>
                <a:cs typeface="Microsoft Sans Serif"/>
              </a:rPr>
              <a:t>like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82" dirty="0">
                <a:latin typeface="Microsoft Sans Serif"/>
                <a:cs typeface="Microsoft Sans Serif"/>
              </a:rPr>
              <a:t>to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6" dirty="0">
                <a:latin typeface="Microsoft Sans Serif"/>
                <a:cs typeface="Microsoft Sans Serif"/>
              </a:rPr>
              <a:t>start </a:t>
            </a:r>
            <a:r>
              <a:rPr sz="1577" spc="9" dirty="0">
                <a:latin typeface="Microsoft Sans Serif"/>
                <a:cs typeface="Microsoft Sans Serif"/>
              </a:rPr>
              <a:t> </a:t>
            </a:r>
            <a:r>
              <a:rPr sz="1577" spc="-27" dirty="0">
                <a:latin typeface="Microsoft Sans Serif"/>
                <a:cs typeface="Microsoft Sans Serif"/>
              </a:rPr>
              <a:t>early.</a:t>
            </a:r>
            <a:r>
              <a:rPr sz="1577" spc="24" dirty="0">
                <a:latin typeface="Microsoft Sans Serif"/>
                <a:cs typeface="Microsoft Sans Serif"/>
              </a:rPr>
              <a:t> </a:t>
            </a:r>
            <a:r>
              <a:rPr sz="1577" b="1" spc="-18" dirty="0">
                <a:latin typeface="Arial"/>
                <a:cs typeface="Arial"/>
              </a:rPr>
              <a:t>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21" dirty="0">
                <a:latin typeface="Arial"/>
                <a:cs typeface="Arial"/>
              </a:rPr>
              <a:t>presence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24" dirty="0">
                <a:latin typeface="Arial"/>
                <a:cs typeface="Arial"/>
              </a:rPr>
              <a:t>of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30" dirty="0">
                <a:latin typeface="Arial"/>
                <a:cs typeface="Arial"/>
              </a:rPr>
              <a:t>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9" dirty="0">
                <a:latin typeface="Arial"/>
                <a:cs typeface="Arial"/>
              </a:rPr>
              <a:t>first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12" dirty="0">
                <a:latin typeface="Arial"/>
                <a:cs typeface="Arial"/>
              </a:rPr>
              <a:t>irrigator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9" dirty="0">
                <a:latin typeface="Arial"/>
                <a:cs typeface="Arial"/>
              </a:rPr>
              <a:t>deters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30" dirty="0">
                <a:latin typeface="Arial"/>
                <a:cs typeface="Arial"/>
              </a:rPr>
              <a:t>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36" dirty="0">
                <a:latin typeface="Arial"/>
                <a:cs typeface="Arial"/>
              </a:rPr>
              <a:t>second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3" dirty="0">
                <a:latin typeface="Arial"/>
                <a:cs typeface="Arial"/>
              </a:rPr>
              <a:t>from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33" dirty="0">
                <a:latin typeface="Arial"/>
                <a:cs typeface="Arial"/>
              </a:rPr>
              <a:t>an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9" dirty="0">
                <a:latin typeface="Arial"/>
                <a:cs typeface="Arial"/>
              </a:rPr>
              <a:t>early </a:t>
            </a:r>
            <a:r>
              <a:rPr sz="1577" b="1" spc="-428" dirty="0">
                <a:latin typeface="Arial"/>
                <a:cs typeface="Arial"/>
              </a:rPr>
              <a:t> </a:t>
            </a:r>
            <a:r>
              <a:rPr sz="1577" b="1" spc="9" dirty="0">
                <a:latin typeface="Arial"/>
                <a:cs typeface="Arial"/>
              </a:rPr>
              <a:t>start,</a:t>
            </a:r>
            <a:r>
              <a:rPr sz="1577" b="1" spc="30" dirty="0">
                <a:latin typeface="Arial"/>
                <a:cs typeface="Arial"/>
              </a:rPr>
              <a:t> 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21" dirty="0">
                <a:latin typeface="Arial"/>
                <a:cs typeface="Arial"/>
              </a:rPr>
              <a:t>presence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24" dirty="0">
                <a:latin typeface="Arial"/>
                <a:cs typeface="Arial"/>
              </a:rPr>
              <a:t>of</a:t>
            </a:r>
            <a:r>
              <a:rPr sz="1577" b="1" spc="30" dirty="0">
                <a:latin typeface="Arial"/>
                <a:cs typeface="Arial"/>
              </a:rPr>
              <a:t> 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36" dirty="0">
                <a:latin typeface="Arial"/>
                <a:cs typeface="Arial"/>
              </a:rPr>
              <a:t>second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12" dirty="0">
                <a:latin typeface="Arial"/>
                <a:cs typeface="Arial"/>
              </a:rPr>
              <a:t>irrigator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9" dirty="0">
                <a:latin typeface="Arial"/>
                <a:cs typeface="Arial"/>
              </a:rPr>
              <a:t>deters</a:t>
            </a:r>
            <a:r>
              <a:rPr sz="1577" b="1" spc="30" dirty="0">
                <a:latin typeface="Arial"/>
                <a:cs typeface="Arial"/>
              </a:rPr>
              <a:t> the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-9" dirty="0">
                <a:latin typeface="Arial"/>
                <a:cs typeface="Arial"/>
              </a:rPr>
              <a:t>first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3" dirty="0">
                <a:latin typeface="Arial"/>
                <a:cs typeface="Arial"/>
              </a:rPr>
              <a:t>from</a:t>
            </a:r>
            <a:r>
              <a:rPr sz="1577" b="1" spc="30" dirty="0">
                <a:latin typeface="Arial"/>
                <a:cs typeface="Arial"/>
              </a:rPr>
              <a:t> </a:t>
            </a:r>
            <a:r>
              <a:rPr sz="1577" b="1" spc="-18" dirty="0">
                <a:latin typeface="Arial"/>
                <a:cs typeface="Arial"/>
              </a:rPr>
              <a:t>a</a:t>
            </a:r>
            <a:r>
              <a:rPr sz="1577" b="1" spc="33" dirty="0">
                <a:latin typeface="Arial"/>
                <a:cs typeface="Arial"/>
              </a:rPr>
              <a:t> </a:t>
            </a:r>
            <a:r>
              <a:rPr sz="1577" b="1" spc="24" dirty="0">
                <a:latin typeface="Arial"/>
                <a:cs typeface="Arial"/>
              </a:rPr>
              <a:t>late </a:t>
            </a:r>
            <a:r>
              <a:rPr sz="1577" b="1" spc="27" dirty="0">
                <a:latin typeface="Arial"/>
                <a:cs typeface="Arial"/>
              </a:rPr>
              <a:t> </a:t>
            </a:r>
            <a:r>
              <a:rPr sz="1577" b="1" spc="6" dirty="0">
                <a:latin typeface="Arial"/>
                <a:cs typeface="Arial"/>
              </a:rPr>
              <a:t>ending. </a:t>
            </a:r>
            <a:r>
              <a:rPr sz="1577" b="1" spc="36" dirty="0">
                <a:solidFill>
                  <a:srgbClr val="EE230C"/>
                </a:solidFill>
                <a:latin typeface="Arial"/>
                <a:cs typeface="Arial"/>
              </a:rPr>
              <a:t>Neither </a:t>
            </a:r>
            <a:r>
              <a:rPr sz="1577" b="1" spc="-79" dirty="0">
                <a:solidFill>
                  <a:srgbClr val="EE230C"/>
                </a:solidFill>
                <a:latin typeface="Arial"/>
                <a:cs typeface="Arial"/>
              </a:rPr>
              <a:t>has</a:t>
            </a:r>
            <a:r>
              <a:rPr sz="1577" b="1" spc="-7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55" dirty="0">
                <a:solidFill>
                  <a:srgbClr val="EE230C"/>
                </a:solidFill>
                <a:latin typeface="Arial"/>
                <a:cs typeface="Arial"/>
              </a:rPr>
              <a:t>to </a:t>
            </a:r>
            <a:r>
              <a:rPr sz="1577" b="1" spc="-24" dirty="0">
                <a:solidFill>
                  <a:srgbClr val="EE230C"/>
                </a:solidFill>
                <a:latin typeface="Arial"/>
                <a:cs typeface="Arial"/>
              </a:rPr>
              <a:t>invest </a:t>
            </a:r>
            <a:r>
              <a:rPr sz="1577" b="1" spc="3" dirty="0">
                <a:solidFill>
                  <a:srgbClr val="EE230C"/>
                </a:solidFill>
                <a:latin typeface="Arial"/>
                <a:cs typeface="Arial"/>
              </a:rPr>
              <a:t>additional </a:t>
            </a:r>
            <a:r>
              <a:rPr sz="1577" b="1" spc="-49" dirty="0">
                <a:solidFill>
                  <a:srgbClr val="EE230C"/>
                </a:solidFill>
                <a:latin typeface="Arial"/>
                <a:cs typeface="Arial"/>
              </a:rPr>
              <a:t>resources </a:t>
            </a:r>
            <a:r>
              <a:rPr sz="1577" b="1" spc="-36" dirty="0">
                <a:solidFill>
                  <a:srgbClr val="EE230C"/>
                </a:solidFill>
                <a:latin typeface="Arial"/>
                <a:cs typeface="Arial"/>
              </a:rPr>
              <a:t>in </a:t>
            </a:r>
            <a:r>
              <a:rPr sz="1577" b="1" spc="3" dirty="0">
                <a:solidFill>
                  <a:srgbClr val="EE230C"/>
                </a:solidFill>
                <a:latin typeface="Arial"/>
                <a:cs typeface="Arial"/>
              </a:rPr>
              <a:t>monitoring </a:t>
            </a:r>
            <a:r>
              <a:rPr sz="1577" b="1" spc="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12" dirty="0">
                <a:solidFill>
                  <a:srgbClr val="EE230C"/>
                </a:solidFill>
                <a:latin typeface="Arial"/>
                <a:cs typeface="Arial"/>
              </a:rPr>
              <a:t>activities.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18" dirty="0">
                <a:solidFill>
                  <a:srgbClr val="EE230C"/>
                </a:solidFill>
                <a:latin typeface="Arial"/>
                <a:cs typeface="Arial"/>
              </a:rPr>
              <a:t>Monitoring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97" dirty="0">
                <a:solidFill>
                  <a:srgbClr val="EE230C"/>
                </a:solidFill>
                <a:latin typeface="Arial"/>
                <a:cs typeface="Arial"/>
              </a:rPr>
              <a:t>is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18" dirty="0">
                <a:solidFill>
                  <a:srgbClr val="EE230C"/>
                </a:solidFill>
                <a:latin typeface="Arial"/>
                <a:cs typeface="Arial"/>
              </a:rPr>
              <a:t>a</a:t>
            </a:r>
            <a:r>
              <a:rPr sz="1577" b="1" spc="7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3" dirty="0">
                <a:solidFill>
                  <a:srgbClr val="EE230C"/>
                </a:solidFill>
                <a:latin typeface="Arial"/>
                <a:cs typeface="Arial"/>
              </a:rPr>
              <a:t>by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3" dirty="0">
                <a:solidFill>
                  <a:srgbClr val="EE230C"/>
                </a:solidFill>
                <a:latin typeface="Arial"/>
                <a:cs typeface="Arial"/>
              </a:rPr>
              <a:t>product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24" dirty="0">
                <a:solidFill>
                  <a:srgbClr val="EE230C"/>
                </a:solidFill>
                <a:latin typeface="Arial"/>
                <a:cs typeface="Arial"/>
              </a:rPr>
              <a:t>of</a:t>
            </a:r>
            <a:r>
              <a:rPr sz="1577" b="1" spc="7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15" dirty="0">
                <a:solidFill>
                  <a:srgbClr val="EE230C"/>
                </a:solidFill>
                <a:latin typeface="Arial"/>
                <a:cs typeface="Arial"/>
              </a:rPr>
              <a:t>their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3" dirty="0">
                <a:solidFill>
                  <a:srgbClr val="EE230C"/>
                </a:solidFill>
                <a:latin typeface="Arial"/>
                <a:cs typeface="Arial"/>
              </a:rPr>
              <a:t>own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15" dirty="0">
                <a:solidFill>
                  <a:srgbClr val="EE230C"/>
                </a:solidFill>
                <a:latin typeface="Arial"/>
                <a:cs typeface="Arial"/>
              </a:rPr>
              <a:t>strong</a:t>
            </a:r>
            <a:r>
              <a:rPr sz="1577" b="1" spc="6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12" dirty="0">
                <a:solidFill>
                  <a:srgbClr val="EE230C"/>
                </a:solidFill>
                <a:latin typeface="Arial"/>
                <a:cs typeface="Arial"/>
              </a:rPr>
              <a:t>motivations </a:t>
            </a:r>
            <a:r>
              <a:rPr sz="1577" b="1" spc="-9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55" dirty="0">
                <a:solidFill>
                  <a:srgbClr val="EE230C"/>
                </a:solidFill>
                <a:latin typeface="Arial"/>
                <a:cs typeface="Arial"/>
              </a:rPr>
              <a:t>to</a:t>
            </a:r>
            <a:r>
              <a:rPr sz="157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58" dirty="0">
                <a:solidFill>
                  <a:srgbClr val="EE230C"/>
                </a:solidFill>
                <a:latin typeface="Arial"/>
                <a:cs typeface="Arial"/>
              </a:rPr>
              <a:t>use</a:t>
            </a:r>
            <a:r>
              <a:rPr sz="157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15" dirty="0">
                <a:solidFill>
                  <a:srgbClr val="EE230C"/>
                </a:solidFill>
                <a:latin typeface="Arial"/>
                <a:cs typeface="Arial"/>
              </a:rPr>
              <a:t>their</a:t>
            </a:r>
            <a:r>
              <a:rPr sz="157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33" dirty="0">
                <a:solidFill>
                  <a:srgbClr val="EE230C"/>
                </a:solidFill>
                <a:latin typeface="Arial"/>
                <a:cs typeface="Arial"/>
              </a:rPr>
              <a:t>water </a:t>
            </a:r>
            <a:r>
              <a:rPr sz="1577" b="1" spc="12" dirty="0">
                <a:solidFill>
                  <a:srgbClr val="EE230C"/>
                </a:solidFill>
                <a:latin typeface="Arial"/>
                <a:cs typeface="Arial"/>
              </a:rPr>
              <a:t>rotation</a:t>
            </a:r>
            <a:r>
              <a:rPr sz="157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27" dirty="0">
                <a:solidFill>
                  <a:srgbClr val="EE230C"/>
                </a:solidFill>
                <a:latin typeface="Arial"/>
                <a:cs typeface="Arial"/>
              </a:rPr>
              <a:t>turns</a:t>
            </a:r>
            <a:r>
              <a:rPr sz="157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36" dirty="0">
                <a:solidFill>
                  <a:srgbClr val="EE230C"/>
                </a:solidFill>
                <a:latin typeface="Arial"/>
                <a:cs typeface="Arial"/>
              </a:rPr>
              <a:t>in</a:t>
            </a:r>
            <a:r>
              <a:rPr sz="157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30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57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-12" dirty="0">
                <a:solidFill>
                  <a:srgbClr val="EE230C"/>
                </a:solidFill>
                <a:latin typeface="Arial"/>
                <a:cs typeface="Arial"/>
              </a:rPr>
              <a:t>fullest</a:t>
            </a:r>
            <a:r>
              <a:rPr sz="157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77" b="1" spc="39" dirty="0">
                <a:solidFill>
                  <a:srgbClr val="EE230C"/>
                </a:solidFill>
                <a:latin typeface="Arial"/>
                <a:cs typeface="Arial"/>
              </a:rPr>
              <a:t>extent.</a:t>
            </a:r>
            <a:r>
              <a:rPr sz="1577" b="1" spc="39" dirty="0">
                <a:solidFill>
                  <a:srgbClr val="0076BA"/>
                </a:solidFill>
                <a:latin typeface="Arial"/>
                <a:cs typeface="Arial"/>
              </a:rPr>
              <a:t>"</a:t>
            </a:r>
            <a:r>
              <a:rPr sz="1577" b="1" spc="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577" spc="-3" dirty="0">
                <a:latin typeface="Microsoft Sans Serif"/>
                <a:cs typeface="Microsoft Sans Serif"/>
              </a:rPr>
              <a:t>(p.</a:t>
            </a:r>
            <a:r>
              <a:rPr sz="1577" spc="27" dirty="0">
                <a:latin typeface="Microsoft Sans Serif"/>
                <a:cs typeface="Microsoft Sans Serif"/>
              </a:rPr>
              <a:t> </a:t>
            </a:r>
            <a:r>
              <a:rPr sz="1577" spc="-21" dirty="0">
                <a:latin typeface="Microsoft Sans Serif"/>
                <a:cs typeface="Microsoft Sans Serif"/>
              </a:rPr>
              <a:t>95).</a:t>
            </a:r>
            <a:endParaRPr sz="1577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6694" y="2041331"/>
            <a:ext cx="2705817" cy="37422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98201" y="6309871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77997"/>
            <a:ext cx="11011692" cy="1361698"/>
          </a:xfrm>
          <a:prstGeom prst="rect">
            <a:avLst/>
          </a:prstGeom>
        </p:spPr>
        <p:txBody>
          <a:bodyPr vert="horz" wrap="square" lIns="0" tIns="76243" rIns="0" bIns="0" rtlCol="0" anchor="ctr">
            <a:spAutoFit/>
          </a:bodyPr>
          <a:lstStyle/>
          <a:p>
            <a:pPr marL="7701" marR="7701">
              <a:lnSpc>
                <a:spcPts val="5039"/>
              </a:lnSpc>
              <a:spcBef>
                <a:spcPts val="600"/>
              </a:spcBef>
            </a:pPr>
            <a:r>
              <a:rPr sz="4578" spc="-121" dirty="0">
                <a:solidFill>
                  <a:srgbClr val="0076BA"/>
                </a:solidFill>
              </a:rPr>
              <a:t>Self-interest</a:t>
            </a:r>
            <a:r>
              <a:rPr sz="4578" spc="-121" dirty="0"/>
              <a:t>,</a:t>
            </a:r>
            <a:r>
              <a:rPr sz="4578" spc="-115" dirty="0"/>
              <a:t> </a:t>
            </a:r>
            <a:r>
              <a:rPr sz="4578" spc="-176" dirty="0">
                <a:solidFill>
                  <a:srgbClr val="B51600"/>
                </a:solidFill>
              </a:rPr>
              <a:t>reciprocity</a:t>
            </a:r>
            <a:r>
              <a:rPr sz="4578" spc="-176" dirty="0"/>
              <a:t>,</a:t>
            </a:r>
            <a:r>
              <a:rPr sz="4578" spc="-112" dirty="0"/>
              <a:t> and </a:t>
            </a:r>
            <a:r>
              <a:rPr sz="4578" spc="-73" dirty="0">
                <a:solidFill>
                  <a:srgbClr val="027001"/>
                </a:solidFill>
              </a:rPr>
              <a:t>reputation </a:t>
            </a:r>
            <a:r>
              <a:rPr sz="4578" spc="-69" dirty="0">
                <a:solidFill>
                  <a:srgbClr val="027001"/>
                </a:solidFill>
              </a:rPr>
              <a:t> </a:t>
            </a:r>
            <a:r>
              <a:rPr sz="4578" spc="-209" dirty="0"/>
              <a:t>solve</a:t>
            </a:r>
            <a:r>
              <a:rPr sz="4578" spc="-112" dirty="0"/>
              <a:t> </a:t>
            </a:r>
            <a:r>
              <a:rPr sz="4578" dirty="0"/>
              <a:t>the</a:t>
            </a:r>
            <a:r>
              <a:rPr sz="4578" spc="-112" dirty="0"/>
              <a:t> </a:t>
            </a:r>
            <a:r>
              <a:rPr sz="4578" spc="-154" dirty="0"/>
              <a:t>second-order</a:t>
            </a:r>
            <a:r>
              <a:rPr sz="4578" spc="-112" dirty="0"/>
              <a:t> </a:t>
            </a:r>
            <a:r>
              <a:rPr sz="4578" spc="-64" dirty="0"/>
              <a:t>free-rider</a:t>
            </a:r>
            <a:r>
              <a:rPr sz="4578" spc="-112" dirty="0"/>
              <a:t> </a:t>
            </a:r>
            <a:r>
              <a:rPr sz="4578" spc="-91" dirty="0"/>
              <a:t>problem</a:t>
            </a:r>
            <a:endParaRPr sz="4578"/>
          </a:p>
        </p:txBody>
      </p:sp>
      <p:sp>
        <p:nvSpPr>
          <p:cNvPr id="3" name="object 3"/>
          <p:cNvSpPr txBox="1"/>
          <p:nvPr/>
        </p:nvSpPr>
        <p:spPr>
          <a:xfrm>
            <a:off x="326991" y="1736141"/>
            <a:ext cx="7062854" cy="164148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61844" marR="3081" indent="-254527">
              <a:lnSpc>
                <a:spcPct val="115199"/>
              </a:lnSpc>
              <a:spcBef>
                <a:spcPts val="58"/>
              </a:spcBef>
              <a:buSzPct val="124193"/>
              <a:buChar char="•"/>
              <a:tabLst>
                <a:tab pos="262228" algn="l"/>
              </a:tabLst>
            </a:pPr>
            <a:r>
              <a:rPr sz="188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Reciprocity/conditional</a:t>
            </a:r>
            <a:r>
              <a:rPr sz="1880" b="1" u="heavy" spc="4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8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cooperation</a:t>
            </a:r>
            <a:r>
              <a:rPr sz="1880" dirty="0">
                <a:latin typeface="Microsoft Sans Serif"/>
                <a:cs typeface="Microsoft Sans Serif"/>
              </a:rPr>
              <a:t>:</a:t>
            </a:r>
            <a:r>
              <a:rPr sz="1880" spc="30" dirty="0">
                <a:latin typeface="Microsoft Sans Serif"/>
                <a:cs typeface="Microsoft Sans Serif"/>
              </a:rPr>
              <a:t> </a:t>
            </a:r>
            <a:r>
              <a:rPr sz="1880" spc="49" dirty="0">
                <a:latin typeface="Microsoft Sans Serif"/>
                <a:cs typeface="Microsoft Sans Serif"/>
              </a:rPr>
              <a:t>Often,</a:t>
            </a:r>
            <a:r>
              <a:rPr sz="1880" spc="33" dirty="0">
                <a:latin typeface="Microsoft Sans Serif"/>
                <a:cs typeface="Microsoft Sans Serif"/>
              </a:rPr>
              <a:t> </a:t>
            </a:r>
            <a:r>
              <a:rPr sz="1880" spc="21" dirty="0">
                <a:latin typeface="Microsoft Sans Serif"/>
                <a:cs typeface="Microsoft Sans Serif"/>
              </a:rPr>
              <a:t>there</a:t>
            </a:r>
            <a:r>
              <a:rPr sz="1880" spc="30" dirty="0">
                <a:latin typeface="Microsoft Sans Serif"/>
                <a:cs typeface="Microsoft Sans Serif"/>
              </a:rPr>
              <a:t> </a:t>
            </a:r>
            <a:r>
              <a:rPr sz="1880" spc="-55" dirty="0">
                <a:latin typeface="Microsoft Sans Serif"/>
                <a:cs typeface="Microsoft Sans Serif"/>
              </a:rPr>
              <a:t>is</a:t>
            </a:r>
            <a:r>
              <a:rPr sz="1880" spc="33" dirty="0">
                <a:latin typeface="Microsoft Sans Serif"/>
                <a:cs typeface="Microsoft Sans Serif"/>
              </a:rPr>
              <a:t> </a:t>
            </a:r>
            <a:r>
              <a:rPr sz="1880" spc="-61" dirty="0">
                <a:latin typeface="Microsoft Sans Serif"/>
                <a:cs typeface="Microsoft Sans Serif"/>
              </a:rPr>
              <a:t>a</a:t>
            </a:r>
            <a:r>
              <a:rPr sz="1880" spc="30" dirty="0">
                <a:latin typeface="Microsoft Sans Serif"/>
                <a:cs typeface="Microsoft Sans Serif"/>
              </a:rPr>
              <a:t> </a:t>
            </a:r>
            <a:r>
              <a:rPr sz="1880" spc="15" dirty="0">
                <a:latin typeface="Microsoft Sans Serif"/>
                <a:cs typeface="Microsoft Sans Serif"/>
              </a:rPr>
              <a:t>division </a:t>
            </a:r>
            <a:r>
              <a:rPr sz="1880" spc="-491" dirty="0">
                <a:latin typeface="Microsoft Sans Serif"/>
                <a:cs typeface="Microsoft Sans Serif"/>
              </a:rPr>
              <a:t> </a:t>
            </a:r>
            <a:r>
              <a:rPr sz="1880" spc="58" dirty="0">
                <a:latin typeface="Microsoft Sans Serif"/>
                <a:cs typeface="Microsoft Sans Serif"/>
              </a:rPr>
              <a:t>of</a:t>
            </a:r>
            <a:r>
              <a:rPr sz="1880" spc="24" dirty="0">
                <a:latin typeface="Microsoft Sans Serif"/>
                <a:cs typeface="Microsoft Sans Serif"/>
              </a:rPr>
              <a:t> </a:t>
            </a:r>
            <a:r>
              <a:rPr sz="1880" spc="33" dirty="0">
                <a:latin typeface="Microsoft Sans Serif"/>
                <a:cs typeface="Microsoft Sans Serif"/>
              </a:rPr>
              <a:t>labor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spc="18" dirty="0">
                <a:latin typeface="Microsoft Sans Serif"/>
                <a:cs typeface="Microsoft Sans Serif"/>
              </a:rPr>
              <a:t>in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spc="6" dirty="0">
                <a:latin typeface="Microsoft Sans Serif"/>
                <a:cs typeface="Microsoft Sans Serif"/>
              </a:rPr>
              <a:t>which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b="1" spc="-42" dirty="0">
                <a:latin typeface="Arial"/>
                <a:cs typeface="Arial"/>
              </a:rPr>
              <a:t>some</a:t>
            </a:r>
            <a:r>
              <a:rPr sz="1880" b="1" spc="39" dirty="0">
                <a:latin typeface="Arial"/>
                <a:cs typeface="Arial"/>
              </a:rPr>
              <a:t> </a:t>
            </a:r>
            <a:r>
              <a:rPr sz="1880" b="1" spc="27" dirty="0">
                <a:latin typeface="Arial"/>
                <a:cs typeface="Arial"/>
              </a:rPr>
              <a:t>people</a:t>
            </a:r>
            <a:r>
              <a:rPr sz="1880" b="1" spc="39" dirty="0">
                <a:latin typeface="Arial"/>
                <a:cs typeface="Arial"/>
              </a:rPr>
              <a:t> </a:t>
            </a:r>
            <a:r>
              <a:rPr sz="1880" b="1" spc="-3" dirty="0">
                <a:latin typeface="Arial"/>
                <a:cs typeface="Arial"/>
              </a:rPr>
              <a:t>are</a:t>
            </a:r>
            <a:r>
              <a:rPr sz="1880" b="1" spc="39" dirty="0">
                <a:latin typeface="Arial"/>
                <a:cs typeface="Arial"/>
              </a:rPr>
              <a:t> </a:t>
            </a:r>
            <a:r>
              <a:rPr sz="1880" b="1" spc="9" dirty="0">
                <a:latin typeface="Arial"/>
                <a:cs typeface="Arial"/>
              </a:rPr>
              <a:t>paid</a:t>
            </a:r>
            <a:r>
              <a:rPr sz="1880" b="1" spc="39" dirty="0">
                <a:latin typeface="Arial"/>
                <a:cs typeface="Arial"/>
              </a:rPr>
              <a:t> </a:t>
            </a:r>
            <a:r>
              <a:rPr sz="1880" spc="45" dirty="0">
                <a:latin typeface="Microsoft Sans Serif"/>
                <a:cs typeface="Microsoft Sans Serif"/>
              </a:rPr>
              <a:t>by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spc="42" dirty="0">
                <a:latin typeface="Microsoft Sans Serif"/>
                <a:cs typeface="Microsoft Sans Serif"/>
              </a:rPr>
              <a:t>the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spc="-12" dirty="0">
                <a:latin typeface="Microsoft Sans Serif"/>
                <a:cs typeface="Microsoft Sans Serif"/>
              </a:rPr>
              <a:t>rest</a:t>
            </a:r>
            <a:r>
              <a:rPr sz="1880" spc="24" dirty="0">
                <a:latin typeface="Microsoft Sans Serif"/>
                <a:cs typeface="Microsoft Sans Serif"/>
              </a:rPr>
              <a:t> </a:t>
            </a:r>
            <a:r>
              <a:rPr sz="1880" spc="58" dirty="0">
                <a:latin typeface="Microsoft Sans Serif"/>
                <a:cs typeface="Microsoft Sans Serif"/>
              </a:rPr>
              <a:t>of</a:t>
            </a:r>
            <a:r>
              <a:rPr sz="1880" spc="27" dirty="0">
                <a:latin typeface="Microsoft Sans Serif"/>
                <a:cs typeface="Microsoft Sans Serif"/>
              </a:rPr>
              <a:t> </a:t>
            </a:r>
            <a:r>
              <a:rPr sz="1880" spc="42" dirty="0">
                <a:latin typeface="Microsoft Sans Serif"/>
                <a:cs typeface="Microsoft Sans Serif"/>
              </a:rPr>
              <a:t>the </a:t>
            </a:r>
            <a:r>
              <a:rPr sz="1880" spc="45" dirty="0">
                <a:latin typeface="Microsoft Sans Serif"/>
                <a:cs typeface="Microsoft Sans Serif"/>
              </a:rPr>
              <a:t> </a:t>
            </a:r>
            <a:r>
              <a:rPr sz="1880" spc="30" dirty="0">
                <a:latin typeface="Microsoft Sans Serif"/>
                <a:cs typeface="Microsoft Sans Serif"/>
              </a:rPr>
              <a:t>community</a:t>
            </a:r>
            <a:r>
              <a:rPr sz="1880" spc="76" dirty="0">
                <a:latin typeface="Microsoft Sans Serif"/>
                <a:cs typeface="Microsoft Sans Serif"/>
              </a:rPr>
              <a:t> </a:t>
            </a:r>
            <a:r>
              <a:rPr sz="1880" spc="94" dirty="0">
                <a:latin typeface="Microsoft Sans Serif"/>
                <a:cs typeface="Microsoft Sans Serif"/>
              </a:rPr>
              <a:t>to</a:t>
            </a:r>
            <a:r>
              <a:rPr sz="1880" spc="76" dirty="0">
                <a:latin typeface="Microsoft Sans Serif"/>
                <a:cs typeface="Microsoft Sans Serif"/>
              </a:rPr>
              <a:t> </a:t>
            </a:r>
            <a:r>
              <a:rPr sz="1880" b="1" spc="3" dirty="0">
                <a:latin typeface="Arial"/>
                <a:cs typeface="Arial"/>
              </a:rPr>
              <a:t>monitor</a:t>
            </a:r>
            <a:r>
              <a:rPr sz="1880" b="1" spc="88" dirty="0">
                <a:latin typeface="Arial"/>
                <a:cs typeface="Arial"/>
              </a:rPr>
              <a:t> </a:t>
            </a:r>
            <a:r>
              <a:rPr sz="1880" spc="27" dirty="0">
                <a:latin typeface="Microsoft Sans Serif"/>
                <a:cs typeface="Microsoft Sans Serif"/>
              </a:rPr>
              <a:t>free-riding.</a:t>
            </a:r>
            <a:r>
              <a:rPr sz="1880" spc="76" dirty="0">
                <a:latin typeface="Microsoft Sans Serif"/>
                <a:cs typeface="Microsoft Sans Serif"/>
              </a:rPr>
              <a:t> </a:t>
            </a:r>
            <a:r>
              <a:rPr sz="1880" spc="-15" dirty="0">
                <a:latin typeface="Microsoft Sans Serif"/>
                <a:cs typeface="Microsoft Sans Serif"/>
              </a:rPr>
              <a:t>They</a:t>
            </a:r>
            <a:r>
              <a:rPr sz="1880" spc="76" dirty="0">
                <a:latin typeface="Microsoft Sans Serif"/>
                <a:cs typeface="Microsoft Sans Serif"/>
              </a:rPr>
              <a:t> </a:t>
            </a:r>
            <a:r>
              <a:rPr sz="1880" spc="-27" dirty="0">
                <a:latin typeface="Microsoft Sans Serif"/>
                <a:cs typeface="Microsoft Sans Serif"/>
              </a:rPr>
              <a:t>are</a:t>
            </a:r>
            <a:r>
              <a:rPr sz="1880" spc="76" dirty="0">
                <a:latin typeface="Microsoft Sans Serif"/>
                <a:cs typeface="Microsoft Sans Serif"/>
              </a:rPr>
              <a:t> </a:t>
            </a:r>
            <a:r>
              <a:rPr sz="1880" b="1" spc="-24" dirty="0">
                <a:latin typeface="Arial"/>
                <a:cs typeface="Arial"/>
              </a:rPr>
              <a:t>accountable</a:t>
            </a:r>
            <a:r>
              <a:rPr sz="1880" b="1" spc="52" dirty="0">
                <a:latin typeface="Arial"/>
                <a:cs typeface="Arial"/>
              </a:rPr>
              <a:t> </a:t>
            </a:r>
            <a:r>
              <a:rPr sz="1880" spc="94" dirty="0">
                <a:latin typeface="Microsoft Sans Serif"/>
                <a:cs typeface="Microsoft Sans Serif"/>
              </a:rPr>
              <a:t>to </a:t>
            </a:r>
            <a:r>
              <a:rPr sz="1880" spc="97" dirty="0">
                <a:latin typeface="Microsoft Sans Serif"/>
                <a:cs typeface="Microsoft Sans Serif"/>
              </a:rPr>
              <a:t> </a:t>
            </a:r>
            <a:r>
              <a:rPr sz="1880" spc="42" dirty="0">
                <a:latin typeface="Microsoft Sans Serif"/>
                <a:cs typeface="Microsoft Sans Serif"/>
              </a:rPr>
              <a:t>the </a:t>
            </a:r>
            <a:r>
              <a:rPr sz="1880" spc="27" dirty="0">
                <a:latin typeface="Microsoft Sans Serif"/>
                <a:cs typeface="Microsoft Sans Serif"/>
              </a:rPr>
              <a:t>community: </a:t>
            </a:r>
            <a:r>
              <a:rPr sz="1880" spc="33" dirty="0">
                <a:latin typeface="Microsoft Sans Serif"/>
                <a:cs typeface="Microsoft Sans Serif"/>
              </a:rPr>
              <a:t>if </a:t>
            </a:r>
            <a:r>
              <a:rPr sz="1880" spc="24" dirty="0">
                <a:latin typeface="Microsoft Sans Serif"/>
                <a:cs typeface="Microsoft Sans Serif"/>
              </a:rPr>
              <a:t>they </a:t>
            </a:r>
            <a:r>
              <a:rPr sz="1880" spc="88" dirty="0">
                <a:latin typeface="Microsoft Sans Serif"/>
                <a:cs typeface="Microsoft Sans Serif"/>
              </a:rPr>
              <a:t>don't </a:t>
            </a:r>
            <a:r>
              <a:rPr sz="1880" spc="97" dirty="0">
                <a:latin typeface="Microsoft Sans Serif"/>
                <a:cs typeface="Microsoft Sans Serif"/>
              </a:rPr>
              <a:t>do </a:t>
            </a:r>
            <a:r>
              <a:rPr sz="1880" spc="30" dirty="0">
                <a:latin typeface="Microsoft Sans Serif"/>
                <a:cs typeface="Microsoft Sans Serif"/>
              </a:rPr>
              <a:t>their </a:t>
            </a:r>
            <a:r>
              <a:rPr sz="1880" spc="73" dirty="0">
                <a:latin typeface="Microsoft Sans Serif"/>
                <a:cs typeface="Microsoft Sans Serif"/>
              </a:rPr>
              <a:t>job </a:t>
            </a:r>
            <a:r>
              <a:rPr sz="1880" spc="15" dirty="0">
                <a:latin typeface="Microsoft Sans Serif"/>
                <a:cs typeface="Microsoft Sans Serif"/>
              </a:rPr>
              <a:t>well, </a:t>
            </a:r>
            <a:r>
              <a:rPr sz="1880" spc="24" dirty="0">
                <a:latin typeface="Microsoft Sans Serif"/>
                <a:cs typeface="Microsoft Sans Serif"/>
              </a:rPr>
              <a:t>they </a:t>
            </a:r>
            <a:r>
              <a:rPr sz="1880" spc="-27" dirty="0">
                <a:latin typeface="Microsoft Sans Serif"/>
                <a:cs typeface="Microsoft Sans Serif"/>
              </a:rPr>
              <a:t>are </a:t>
            </a:r>
            <a:r>
              <a:rPr sz="1880" spc="30" dirty="0">
                <a:latin typeface="Microsoft Sans Serif"/>
                <a:cs typeface="Microsoft Sans Serif"/>
              </a:rPr>
              <a:t>fired </a:t>
            </a:r>
            <a:r>
              <a:rPr sz="1880" spc="33" dirty="0">
                <a:latin typeface="Microsoft Sans Serif"/>
                <a:cs typeface="Microsoft Sans Serif"/>
              </a:rPr>
              <a:t> </a:t>
            </a:r>
            <a:r>
              <a:rPr sz="1880" spc="-3" dirty="0">
                <a:latin typeface="Microsoft Sans Serif"/>
                <a:cs typeface="Microsoft Sans Serif"/>
              </a:rPr>
              <a:t>(reciprocity)</a:t>
            </a:r>
            <a:endParaRPr sz="188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703" y="1666708"/>
            <a:ext cx="2705817" cy="3742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71211" y="593524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730" y="4310136"/>
            <a:ext cx="7415573" cy="221613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>
              <a:lnSpc>
                <a:spcPct val="126000"/>
              </a:lnSpc>
              <a:spcBef>
                <a:spcPts val="58"/>
              </a:spcBef>
            </a:pPr>
            <a:r>
              <a:rPr sz="1637" spc="61" dirty="0">
                <a:latin typeface="Microsoft Sans Serif"/>
                <a:cs typeface="Microsoft Sans Serif"/>
              </a:rPr>
              <a:t>"When </a:t>
            </a:r>
            <a:r>
              <a:rPr sz="1637" spc="15" dirty="0">
                <a:latin typeface="Microsoft Sans Serif"/>
                <a:cs typeface="Microsoft Sans Serif"/>
              </a:rPr>
              <a:t>internal </a:t>
            </a:r>
            <a:r>
              <a:rPr sz="1637" spc="42" dirty="0">
                <a:latin typeface="Microsoft Sans Serif"/>
                <a:cs typeface="Microsoft Sans Serif"/>
              </a:rPr>
              <a:t>monitoring </a:t>
            </a:r>
            <a:r>
              <a:rPr sz="1637" spc="-49" dirty="0">
                <a:latin typeface="Microsoft Sans Serif"/>
                <a:cs typeface="Microsoft Sans Serif"/>
              </a:rPr>
              <a:t>is </a:t>
            </a:r>
            <a:r>
              <a:rPr sz="1637" spc="12" dirty="0">
                <a:latin typeface="Microsoft Sans Serif"/>
                <a:cs typeface="Microsoft Sans Serif"/>
              </a:rPr>
              <a:t>accomplished </a:t>
            </a:r>
            <a:r>
              <a:rPr sz="1637" spc="-88" dirty="0">
                <a:latin typeface="Microsoft Sans Serif"/>
                <a:cs typeface="Microsoft Sans Serif"/>
              </a:rPr>
              <a:t>as</a:t>
            </a:r>
            <a:r>
              <a:rPr sz="1637" spc="-85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part </a:t>
            </a:r>
            <a:r>
              <a:rPr sz="1637" spc="49" dirty="0">
                <a:latin typeface="Microsoft Sans Serif"/>
                <a:cs typeface="Microsoft Sans Serif"/>
              </a:rPr>
              <a:t>of </a:t>
            </a:r>
            <a:r>
              <a:rPr sz="1637" spc="-55" dirty="0">
                <a:latin typeface="Microsoft Sans Serif"/>
                <a:cs typeface="Microsoft Sans Serif"/>
              </a:rPr>
              <a:t>a </a:t>
            </a:r>
            <a:r>
              <a:rPr sz="1637" spc="-3" dirty="0">
                <a:latin typeface="Microsoft Sans Serif"/>
                <a:cs typeface="Microsoft Sans Serif"/>
              </a:rPr>
              <a:t>specialized </a:t>
            </a:r>
            <a:r>
              <a:rPr sz="1637" spc="30" dirty="0">
                <a:latin typeface="Microsoft Sans Serif"/>
                <a:cs typeface="Microsoft Sans Serif"/>
              </a:rPr>
              <a:t>position </a:t>
            </a:r>
            <a:r>
              <a:rPr sz="1637" spc="33" dirty="0">
                <a:latin typeface="Microsoft Sans Serif"/>
                <a:cs typeface="Microsoft Sans Serif"/>
              </a:rPr>
              <a:t> </a:t>
            </a:r>
            <a:r>
              <a:rPr sz="1637" spc="12" dirty="0">
                <a:latin typeface="Microsoft Sans Serif"/>
                <a:cs typeface="Microsoft Sans Serif"/>
              </a:rPr>
              <a:t>accountable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79" dirty="0">
                <a:latin typeface="Microsoft Sans Serif"/>
                <a:cs typeface="Microsoft Sans Serif"/>
              </a:rPr>
              <a:t>to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other</a:t>
            </a:r>
            <a:r>
              <a:rPr sz="1637" spc="21" dirty="0">
                <a:latin typeface="Microsoft Sans Serif"/>
                <a:cs typeface="Microsoft Sans Serif"/>
              </a:rPr>
              <a:t> appropriators, </a:t>
            </a:r>
            <a:r>
              <a:rPr sz="1637" b="1" spc="-30" dirty="0">
                <a:latin typeface="Arial"/>
                <a:cs typeface="Arial"/>
              </a:rPr>
              <a:t>several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-64" dirty="0">
                <a:latin typeface="Arial"/>
                <a:cs typeface="Arial"/>
              </a:rPr>
              <a:t>mechanisms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-45" dirty="0">
                <a:latin typeface="Arial"/>
                <a:cs typeface="Arial"/>
              </a:rPr>
              <a:t>increase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24" dirty="0">
                <a:latin typeface="Arial"/>
                <a:cs typeface="Arial"/>
              </a:rPr>
              <a:t>the </a:t>
            </a:r>
            <a:r>
              <a:rPr sz="1637" b="1" spc="27" dirty="0">
                <a:latin typeface="Arial"/>
                <a:cs typeface="Arial"/>
              </a:rPr>
              <a:t> </a:t>
            </a:r>
            <a:r>
              <a:rPr sz="1637" b="1" spc="-21" dirty="0">
                <a:latin typeface="Arial"/>
                <a:cs typeface="Arial"/>
              </a:rPr>
              <a:t>rewards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15" dirty="0">
                <a:latin typeface="Arial"/>
                <a:cs typeface="Arial"/>
              </a:rPr>
              <a:t>for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dirty="0">
                <a:latin typeface="Arial"/>
                <a:cs typeface="Arial"/>
              </a:rPr>
              <a:t>doing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-27" dirty="0">
                <a:latin typeface="Arial"/>
                <a:cs typeface="Arial"/>
              </a:rPr>
              <a:t>a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21" dirty="0">
                <a:latin typeface="Arial"/>
                <a:cs typeface="Arial"/>
              </a:rPr>
              <a:t>good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6" dirty="0">
                <a:latin typeface="Arial"/>
                <a:cs typeface="Arial"/>
              </a:rPr>
              <a:t>job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3" dirty="0">
                <a:latin typeface="Arial"/>
                <a:cs typeface="Arial"/>
              </a:rPr>
              <a:t>or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-21" dirty="0">
                <a:latin typeface="Arial"/>
                <a:cs typeface="Arial"/>
              </a:rPr>
              <a:t>exposing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-64" dirty="0">
                <a:latin typeface="Arial"/>
                <a:cs typeface="Arial"/>
              </a:rPr>
              <a:t>slackards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49" dirty="0">
                <a:latin typeface="Arial"/>
                <a:cs typeface="Arial"/>
              </a:rPr>
              <a:t>to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24" dirty="0">
                <a:latin typeface="Arial"/>
                <a:cs typeface="Arial"/>
              </a:rPr>
              <a:t>the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-58" dirty="0">
                <a:latin typeface="Arial"/>
                <a:cs typeface="Arial"/>
              </a:rPr>
              <a:t>risk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b="1" spc="18" dirty="0">
                <a:latin typeface="Arial"/>
                <a:cs typeface="Arial"/>
              </a:rPr>
              <a:t>of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-42" dirty="0">
                <a:latin typeface="Arial"/>
                <a:cs typeface="Arial"/>
              </a:rPr>
              <a:t>losing </a:t>
            </a:r>
            <a:r>
              <a:rPr sz="1637" b="1" spc="-39" dirty="0">
                <a:latin typeface="Arial"/>
                <a:cs typeface="Arial"/>
              </a:rPr>
              <a:t> </a:t>
            </a:r>
            <a:r>
              <a:rPr sz="1637" b="1" spc="9" dirty="0">
                <a:latin typeface="Arial"/>
                <a:cs typeface="Arial"/>
              </a:rPr>
              <a:t>their</a:t>
            </a:r>
            <a:r>
              <a:rPr sz="1637" b="1" spc="33" dirty="0">
                <a:latin typeface="Arial"/>
                <a:cs typeface="Arial"/>
              </a:rPr>
              <a:t> </a:t>
            </a:r>
            <a:r>
              <a:rPr sz="1637" b="1" spc="-12" dirty="0">
                <a:latin typeface="Arial"/>
                <a:cs typeface="Arial"/>
              </a:rPr>
              <a:t>position.</a:t>
            </a:r>
            <a:r>
              <a:rPr sz="1637" b="1" spc="36" dirty="0">
                <a:latin typeface="Arial"/>
                <a:cs typeface="Arial"/>
              </a:rPr>
              <a:t> </a:t>
            </a:r>
            <a:r>
              <a:rPr sz="1637" spc="-9" dirty="0">
                <a:latin typeface="Microsoft Sans Serif"/>
                <a:cs typeface="Microsoft Sans Serif"/>
              </a:rPr>
              <a:t>In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30" dirty="0">
                <a:latin typeface="Microsoft Sans Serif"/>
                <a:cs typeface="Microsoft Sans Serif"/>
              </a:rPr>
              <a:t>Spanish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9" dirty="0">
                <a:latin typeface="Microsoft Sans Serif"/>
                <a:cs typeface="Microsoft Sans Serif"/>
              </a:rPr>
              <a:t>huertas,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-55" dirty="0">
                <a:latin typeface="Microsoft Sans Serif"/>
                <a:cs typeface="Microsoft Sans Serif"/>
              </a:rPr>
              <a:t>a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49" dirty="0">
                <a:latin typeface="Microsoft Sans Serif"/>
                <a:cs typeface="Microsoft Sans Serif"/>
              </a:rPr>
              <a:t>portion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49" dirty="0">
                <a:latin typeface="Microsoft Sans Serif"/>
                <a:cs typeface="Microsoft Sans Serif"/>
              </a:rPr>
              <a:t>of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-12" dirty="0">
                <a:latin typeface="Microsoft Sans Serif"/>
                <a:cs typeface="Microsoft Sans Serif"/>
              </a:rPr>
              <a:t>fines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49" dirty="0">
                <a:latin typeface="Microsoft Sans Serif"/>
                <a:cs typeface="Microsoft Sans Serif"/>
              </a:rPr>
              <a:t>is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42" dirty="0">
                <a:latin typeface="Microsoft Sans Serif"/>
                <a:cs typeface="Microsoft Sans Serif"/>
              </a:rPr>
              <a:t>kept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6" dirty="0">
                <a:latin typeface="Microsoft Sans Serif"/>
                <a:cs typeface="Microsoft Sans Serif"/>
              </a:rPr>
              <a:t>by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 </a:t>
            </a:r>
            <a:r>
              <a:rPr sz="1637" spc="36" dirty="0">
                <a:latin typeface="Microsoft Sans Serif"/>
                <a:cs typeface="Microsoft Sans Serif"/>
              </a:rPr>
              <a:t> </a:t>
            </a:r>
            <a:r>
              <a:rPr sz="1637" dirty="0">
                <a:latin typeface="Microsoft Sans Serif"/>
                <a:cs typeface="Microsoft Sans Serif"/>
              </a:rPr>
              <a:t>guards;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18" dirty="0">
                <a:latin typeface="Microsoft Sans Serif"/>
                <a:cs typeface="Microsoft Sans Serif"/>
              </a:rPr>
              <a:t>Japanese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15" dirty="0">
                <a:latin typeface="Microsoft Sans Serif"/>
                <a:cs typeface="Microsoft Sans Serif"/>
              </a:rPr>
              <a:t>detectives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21" dirty="0">
                <a:latin typeface="Microsoft Sans Serif"/>
                <a:cs typeface="Microsoft Sans Serif"/>
              </a:rPr>
              <a:t>also</a:t>
            </a:r>
            <a:r>
              <a:rPr sz="1637" spc="27" dirty="0">
                <a:latin typeface="Microsoft Sans Serif"/>
                <a:cs typeface="Microsoft Sans Serif"/>
              </a:rPr>
              <a:t> </a:t>
            </a:r>
            <a:r>
              <a:rPr sz="1637" spc="21" dirty="0">
                <a:latin typeface="Microsoft Sans Serif"/>
                <a:cs typeface="Microsoft Sans Serif"/>
              </a:rPr>
              <a:t>keep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3" dirty="0">
                <a:latin typeface="Microsoft Sans Serif"/>
                <a:cs typeface="Microsoft Sans Serif"/>
              </a:rPr>
              <a:t>the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-49" dirty="0">
                <a:latin typeface="Microsoft Sans Serif"/>
                <a:cs typeface="Microsoft Sans Serif"/>
              </a:rPr>
              <a:t>saké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18" dirty="0">
                <a:latin typeface="Microsoft Sans Serif"/>
                <a:cs typeface="Microsoft Sans Serif"/>
              </a:rPr>
              <a:t>they</a:t>
            </a:r>
            <a:r>
              <a:rPr sz="1637" spc="27" dirty="0">
                <a:latin typeface="Microsoft Sans Serif"/>
                <a:cs typeface="Microsoft Sans Serif"/>
              </a:rPr>
              <a:t> </a:t>
            </a:r>
            <a:r>
              <a:rPr sz="1637" spc="21" dirty="0">
                <a:latin typeface="Microsoft Sans Serif"/>
                <a:cs typeface="Microsoft Sans Serif"/>
              </a:rPr>
              <a:t>collect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27" dirty="0">
                <a:latin typeface="Microsoft Sans Serif"/>
                <a:cs typeface="Microsoft Sans Serif"/>
              </a:rPr>
              <a:t>from</a:t>
            </a:r>
            <a:r>
              <a:rPr sz="1637" spc="24" dirty="0">
                <a:latin typeface="Microsoft Sans Serif"/>
                <a:cs typeface="Microsoft Sans Serif"/>
              </a:rPr>
              <a:t> </a:t>
            </a:r>
            <a:r>
              <a:rPr sz="1637" spc="3" dirty="0">
                <a:latin typeface="Microsoft Sans Serif"/>
                <a:cs typeface="Microsoft Sans Serif"/>
              </a:rPr>
              <a:t>infractors.</a:t>
            </a:r>
            <a:endParaRPr sz="1637" dirty="0">
              <a:latin typeface="Microsoft Sans Serif"/>
              <a:cs typeface="Microsoft Sans Serif"/>
            </a:endParaRPr>
          </a:p>
          <a:p>
            <a:pPr marL="26954" marR="22334" algn="ctr">
              <a:lnSpc>
                <a:spcPts val="2474"/>
              </a:lnSpc>
              <a:spcBef>
                <a:spcPts val="64"/>
              </a:spcBef>
            </a:pPr>
            <a:r>
              <a:rPr sz="1637" b="1" spc="-15" dirty="0">
                <a:solidFill>
                  <a:srgbClr val="EE230C"/>
                </a:solidFill>
                <a:latin typeface="Arial"/>
                <a:cs typeface="Arial"/>
              </a:rPr>
              <a:t>All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18" dirty="0">
                <a:solidFill>
                  <a:srgbClr val="EE230C"/>
                </a:solidFill>
                <a:latin typeface="Arial"/>
                <a:cs typeface="Arial"/>
              </a:rPr>
              <a:t>of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24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dirty="0">
                <a:solidFill>
                  <a:srgbClr val="EE230C"/>
                </a:solidFill>
                <a:latin typeface="Arial"/>
                <a:cs typeface="Arial"/>
              </a:rPr>
              <a:t>formal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6" dirty="0">
                <a:solidFill>
                  <a:srgbClr val="EE230C"/>
                </a:solidFill>
                <a:latin typeface="Arial"/>
                <a:cs typeface="Arial"/>
              </a:rPr>
              <a:t>guard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36" dirty="0">
                <a:solidFill>
                  <a:srgbClr val="EE230C"/>
                </a:solidFill>
                <a:latin typeface="Arial"/>
                <a:cs typeface="Arial"/>
              </a:rPr>
              <a:t>positions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6" dirty="0">
                <a:solidFill>
                  <a:srgbClr val="EE230C"/>
                </a:solidFill>
                <a:latin typeface="Arial"/>
                <a:cs typeface="Arial"/>
              </a:rPr>
              <a:t>are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21" dirty="0">
                <a:solidFill>
                  <a:srgbClr val="EE230C"/>
                </a:solidFill>
                <a:latin typeface="Arial"/>
                <a:cs typeface="Arial"/>
              </a:rPr>
              <a:t>accountable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49" dirty="0">
                <a:solidFill>
                  <a:srgbClr val="EE230C"/>
                </a:solidFill>
                <a:latin typeface="Arial"/>
                <a:cs typeface="Arial"/>
              </a:rPr>
              <a:t>to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24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3" dirty="0">
                <a:solidFill>
                  <a:srgbClr val="EE230C"/>
                </a:solidFill>
                <a:latin typeface="Arial"/>
                <a:cs typeface="Arial"/>
              </a:rPr>
              <a:t>appropriators,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15" dirty="0">
                <a:solidFill>
                  <a:srgbClr val="EE230C"/>
                </a:solidFill>
                <a:latin typeface="Arial"/>
                <a:cs typeface="Arial"/>
              </a:rPr>
              <a:t>and </a:t>
            </a:r>
            <a:r>
              <a:rPr sz="1637" b="1" spc="-44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49" dirty="0">
                <a:solidFill>
                  <a:srgbClr val="EE230C"/>
                </a:solidFill>
                <a:latin typeface="Arial"/>
                <a:cs typeface="Arial"/>
              </a:rPr>
              <a:t>thus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24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21" dirty="0">
                <a:solidFill>
                  <a:srgbClr val="EE230C"/>
                </a:solidFill>
                <a:latin typeface="Arial"/>
                <a:cs typeface="Arial"/>
              </a:rPr>
              <a:t>monitors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67" dirty="0">
                <a:solidFill>
                  <a:srgbClr val="EE230C"/>
                </a:solidFill>
                <a:latin typeface="Arial"/>
                <a:cs typeface="Arial"/>
              </a:rPr>
              <a:t>can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be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9" dirty="0">
                <a:solidFill>
                  <a:srgbClr val="EE230C"/>
                </a:solidFill>
                <a:latin typeface="Arial"/>
                <a:cs typeface="Arial"/>
              </a:rPr>
              <a:t>fired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45" dirty="0">
                <a:solidFill>
                  <a:srgbClr val="EE230C"/>
                </a:solidFill>
                <a:latin typeface="Arial"/>
                <a:cs typeface="Arial"/>
              </a:rPr>
              <a:t>easily</a:t>
            </a:r>
            <a:r>
              <a:rPr sz="1637" b="1" spc="3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3" dirty="0">
                <a:solidFill>
                  <a:srgbClr val="EE230C"/>
                </a:solidFill>
                <a:latin typeface="Arial"/>
                <a:cs typeface="Arial"/>
              </a:rPr>
              <a:t>if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24" dirty="0">
                <a:solidFill>
                  <a:srgbClr val="EE230C"/>
                </a:solidFill>
                <a:latin typeface="Arial"/>
                <a:cs typeface="Arial"/>
              </a:rPr>
              <a:t>discovered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-52" dirty="0">
                <a:solidFill>
                  <a:srgbClr val="EE230C"/>
                </a:solidFill>
                <a:latin typeface="Arial"/>
                <a:cs typeface="Arial"/>
              </a:rPr>
              <a:t>slacking</a:t>
            </a:r>
            <a:r>
              <a:rPr sz="1637" b="1" spc="3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637" b="1" spc="69" dirty="0">
                <a:solidFill>
                  <a:srgbClr val="EE230C"/>
                </a:solidFill>
                <a:latin typeface="Arial"/>
                <a:cs typeface="Arial"/>
              </a:rPr>
              <a:t>off.</a:t>
            </a:r>
            <a:r>
              <a:rPr sz="1637" spc="69" dirty="0">
                <a:latin typeface="Microsoft Sans Serif"/>
                <a:cs typeface="Microsoft Sans Serif"/>
              </a:rPr>
              <a:t>"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-6" dirty="0">
                <a:latin typeface="Microsoft Sans Serif"/>
                <a:cs typeface="Microsoft Sans Serif"/>
              </a:rPr>
              <a:t>(p.</a:t>
            </a:r>
            <a:r>
              <a:rPr sz="1637" spc="21" dirty="0">
                <a:latin typeface="Microsoft Sans Serif"/>
                <a:cs typeface="Microsoft Sans Serif"/>
              </a:rPr>
              <a:t> </a:t>
            </a:r>
            <a:r>
              <a:rPr sz="1637" spc="-36" dirty="0">
                <a:latin typeface="Microsoft Sans Serif"/>
                <a:cs typeface="Microsoft Sans Serif"/>
              </a:rPr>
              <a:t>96)</a:t>
            </a:r>
            <a:endParaRPr sz="1637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05" y="177997"/>
            <a:ext cx="11011692" cy="1361698"/>
          </a:xfrm>
          <a:prstGeom prst="rect">
            <a:avLst/>
          </a:prstGeom>
        </p:spPr>
        <p:txBody>
          <a:bodyPr vert="horz" wrap="square" lIns="0" tIns="76243" rIns="0" bIns="0" rtlCol="0" anchor="ctr">
            <a:spAutoFit/>
          </a:bodyPr>
          <a:lstStyle/>
          <a:p>
            <a:pPr marL="7701" marR="7701">
              <a:lnSpc>
                <a:spcPts val="5039"/>
              </a:lnSpc>
              <a:spcBef>
                <a:spcPts val="600"/>
              </a:spcBef>
            </a:pPr>
            <a:r>
              <a:rPr sz="4578" spc="-121" dirty="0">
                <a:solidFill>
                  <a:srgbClr val="0076BA"/>
                </a:solidFill>
              </a:rPr>
              <a:t>Self-interest</a:t>
            </a:r>
            <a:r>
              <a:rPr sz="4578" spc="-121" dirty="0"/>
              <a:t>,</a:t>
            </a:r>
            <a:r>
              <a:rPr sz="4578" spc="-115" dirty="0"/>
              <a:t> </a:t>
            </a:r>
            <a:r>
              <a:rPr sz="4578" spc="-176" dirty="0">
                <a:solidFill>
                  <a:srgbClr val="B51600"/>
                </a:solidFill>
              </a:rPr>
              <a:t>reciprocity</a:t>
            </a:r>
            <a:r>
              <a:rPr sz="4578" spc="-176" dirty="0"/>
              <a:t>,</a:t>
            </a:r>
            <a:r>
              <a:rPr sz="4578" spc="-112" dirty="0"/>
              <a:t> and </a:t>
            </a:r>
            <a:r>
              <a:rPr sz="4578" spc="-73" dirty="0">
                <a:solidFill>
                  <a:srgbClr val="027001"/>
                </a:solidFill>
              </a:rPr>
              <a:t>reputation </a:t>
            </a:r>
            <a:r>
              <a:rPr sz="4578" spc="-69" dirty="0">
                <a:solidFill>
                  <a:srgbClr val="027001"/>
                </a:solidFill>
              </a:rPr>
              <a:t> </a:t>
            </a:r>
            <a:r>
              <a:rPr sz="4578" spc="-209" dirty="0"/>
              <a:t>solve</a:t>
            </a:r>
            <a:r>
              <a:rPr sz="4578" spc="-112" dirty="0"/>
              <a:t> </a:t>
            </a:r>
            <a:r>
              <a:rPr sz="4578" dirty="0"/>
              <a:t>the</a:t>
            </a:r>
            <a:r>
              <a:rPr sz="4578" spc="-112" dirty="0"/>
              <a:t> </a:t>
            </a:r>
            <a:r>
              <a:rPr sz="4578" spc="-154" dirty="0"/>
              <a:t>second-order</a:t>
            </a:r>
            <a:r>
              <a:rPr sz="4578" spc="-112" dirty="0"/>
              <a:t> </a:t>
            </a:r>
            <a:r>
              <a:rPr sz="4578" spc="-64" dirty="0"/>
              <a:t>free-rider</a:t>
            </a:r>
            <a:r>
              <a:rPr sz="4578" spc="-112" dirty="0"/>
              <a:t> </a:t>
            </a:r>
            <a:r>
              <a:rPr sz="4578" spc="-91" dirty="0"/>
              <a:t>problem</a:t>
            </a:r>
            <a:endParaRPr sz="4578"/>
          </a:p>
        </p:txBody>
      </p:sp>
      <p:sp>
        <p:nvSpPr>
          <p:cNvPr id="3" name="object 3"/>
          <p:cNvSpPr txBox="1"/>
          <p:nvPr/>
        </p:nvSpPr>
        <p:spPr>
          <a:xfrm>
            <a:off x="340797" y="1915721"/>
            <a:ext cx="7395165" cy="110782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93419" marR="3081" indent="-286103">
              <a:lnSpc>
                <a:spcPct val="114199"/>
              </a:lnSpc>
              <a:spcBef>
                <a:spcPts val="61"/>
              </a:spcBef>
              <a:buSzPct val="122535"/>
              <a:buChar char="•"/>
              <a:tabLst>
                <a:tab pos="293804" algn="l"/>
              </a:tabLst>
            </a:pPr>
            <a:r>
              <a:rPr sz="2153" b="1" u="heavy" spc="-2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Reputation</a:t>
            </a:r>
            <a:r>
              <a:rPr sz="2153" b="1" spc="-21" dirty="0">
                <a:latin typeface="Arial"/>
                <a:cs typeface="Arial"/>
              </a:rPr>
              <a:t>:</a:t>
            </a:r>
            <a:r>
              <a:rPr sz="2153" b="1" dirty="0">
                <a:latin typeface="Arial"/>
                <a:cs typeface="Arial"/>
              </a:rPr>
              <a:t> </a:t>
            </a:r>
            <a:r>
              <a:rPr sz="2153" dirty="0">
                <a:latin typeface="Microsoft Sans Serif"/>
                <a:cs typeface="Microsoft Sans Serif"/>
              </a:rPr>
              <a:t>People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24" dirty="0">
                <a:latin typeface="Microsoft Sans Serif"/>
                <a:cs typeface="Microsoft Sans Serif"/>
              </a:rPr>
              <a:t>who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45" dirty="0">
                <a:latin typeface="Microsoft Sans Serif"/>
                <a:cs typeface="Microsoft Sans Serif"/>
              </a:rPr>
              <a:t>monitor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b="1" spc="-15" dirty="0">
                <a:latin typeface="Arial"/>
                <a:cs typeface="Arial"/>
              </a:rPr>
              <a:t>earn</a:t>
            </a:r>
            <a:r>
              <a:rPr sz="2153" b="1" spc="42" dirty="0">
                <a:latin typeface="Arial"/>
                <a:cs typeface="Arial"/>
              </a:rPr>
              <a:t> </a:t>
            </a:r>
            <a:r>
              <a:rPr sz="2153" b="1" spc="-9" dirty="0">
                <a:latin typeface="Arial"/>
                <a:cs typeface="Arial"/>
              </a:rPr>
              <a:t>prestige</a:t>
            </a:r>
            <a:r>
              <a:rPr sz="2153" b="1" spc="39" dirty="0">
                <a:latin typeface="Arial"/>
                <a:cs typeface="Arial"/>
              </a:rPr>
              <a:t> </a:t>
            </a:r>
            <a:r>
              <a:rPr sz="2153" b="1" spc="36" dirty="0">
                <a:latin typeface="Arial"/>
                <a:cs typeface="Arial"/>
              </a:rPr>
              <a:t>&amp;</a:t>
            </a:r>
            <a:r>
              <a:rPr sz="2153" b="1" spc="39" dirty="0">
                <a:latin typeface="Arial"/>
                <a:cs typeface="Arial"/>
              </a:rPr>
              <a:t> </a:t>
            </a:r>
            <a:r>
              <a:rPr sz="2153" b="1" spc="-45" dirty="0">
                <a:latin typeface="Arial"/>
                <a:cs typeface="Arial"/>
              </a:rPr>
              <a:t>a</a:t>
            </a:r>
            <a:r>
              <a:rPr sz="2153" b="1" spc="42" dirty="0">
                <a:latin typeface="Arial"/>
                <a:cs typeface="Arial"/>
              </a:rPr>
              <a:t> </a:t>
            </a:r>
            <a:r>
              <a:rPr sz="2153" b="1" spc="15" dirty="0">
                <a:latin typeface="Arial"/>
                <a:cs typeface="Arial"/>
              </a:rPr>
              <a:t>good </a:t>
            </a:r>
            <a:r>
              <a:rPr sz="2153" b="1" spc="-591" dirty="0">
                <a:latin typeface="Arial"/>
                <a:cs typeface="Arial"/>
              </a:rPr>
              <a:t> </a:t>
            </a:r>
            <a:r>
              <a:rPr sz="2153" b="1" dirty="0">
                <a:latin typeface="Arial"/>
                <a:cs typeface="Arial"/>
              </a:rPr>
              <a:t>reputation</a:t>
            </a:r>
            <a:r>
              <a:rPr sz="2153" b="1" spc="36" dirty="0">
                <a:latin typeface="Arial"/>
                <a:cs typeface="Arial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in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dirty="0">
                <a:latin typeface="Microsoft Sans Serif"/>
                <a:cs typeface="Microsoft Sans Serif"/>
              </a:rPr>
              <a:t>community,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making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other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55" dirty="0">
                <a:latin typeface="Microsoft Sans Serif"/>
                <a:cs typeface="Microsoft Sans Serif"/>
              </a:rPr>
              <a:t>people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15" dirty="0">
                <a:latin typeface="Microsoft Sans Serif"/>
                <a:cs typeface="Microsoft Sans Serif"/>
              </a:rPr>
              <a:t>more </a:t>
            </a:r>
            <a:r>
              <a:rPr sz="2153" spc="18" dirty="0">
                <a:latin typeface="Microsoft Sans Serif"/>
                <a:cs typeface="Microsoft Sans Serif"/>
              </a:rPr>
              <a:t> </a:t>
            </a:r>
            <a:r>
              <a:rPr sz="2153" spc="-3" dirty="0">
                <a:latin typeface="Microsoft Sans Serif"/>
                <a:cs typeface="Microsoft Sans Serif"/>
              </a:rPr>
              <a:t>likely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4" dirty="0">
                <a:latin typeface="Microsoft Sans Serif"/>
                <a:cs typeface="Microsoft Sans Serif"/>
              </a:rPr>
              <a:t>to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27" dirty="0">
                <a:latin typeface="Microsoft Sans Serif"/>
                <a:cs typeface="Microsoft Sans Serif"/>
              </a:rPr>
              <a:t>cooperate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3" dirty="0">
                <a:latin typeface="Microsoft Sans Serif"/>
                <a:cs typeface="Microsoft Sans Serif"/>
              </a:rPr>
              <a:t>with</a:t>
            </a:r>
            <a:r>
              <a:rPr sz="2153" spc="27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them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9" dirty="0">
                <a:latin typeface="Microsoft Sans Serif"/>
                <a:cs typeface="Microsoft Sans Serif"/>
              </a:rPr>
              <a:t>in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6" dirty="0">
                <a:latin typeface="Microsoft Sans Serif"/>
                <a:cs typeface="Microsoft Sans Serif"/>
              </a:rPr>
              <a:t>other</a:t>
            </a:r>
            <a:r>
              <a:rPr sz="2153" spc="24" dirty="0">
                <a:latin typeface="Microsoft Sans Serif"/>
                <a:cs typeface="Microsoft Sans Serif"/>
              </a:rPr>
              <a:t> </a:t>
            </a:r>
            <a:r>
              <a:rPr sz="2153" spc="3" dirty="0">
                <a:latin typeface="Microsoft Sans Serif"/>
                <a:cs typeface="Microsoft Sans Serif"/>
              </a:rPr>
              <a:t>interactions</a:t>
            </a:r>
            <a:endParaRPr sz="2153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703" y="1666708"/>
            <a:ext cx="2705817" cy="3742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71211" y="593524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1582" y="3845357"/>
            <a:ext cx="6732469" cy="720859"/>
          </a:xfrm>
          <a:prstGeom prst="rect">
            <a:avLst/>
          </a:prstGeom>
        </p:spPr>
        <p:txBody>
          <a:bodyPr vert="horz" wrap="square" lIns="0" tIns="1925" rIns="0" bIns="0" rtlCol="0">
            <a:spAutoFit/>
          </a:bodyPr>
          <a:lstStyle/>
          <a:p>
            <a:pPr marL="7316" marR="3081" algn="ctr">
              <a:lnSpc>
                <a:spcPct val="102600"/>
              </a:lnSpc>
              <a:spcBef>
                <a:spcPts val="15"/>
              </a:spcBef>
            </a:pPr>
            <a:r>
              <a:rPr sz="1546" spc="55" dirty="0">
                <a:latin typeface="Arial MT"/>
                <a:cs typeface="Arial MT"/>
              </a:rPr>
              <a:t>"it </a:t>
            </a:r>
            <a:r>
              <a:rPr sz="1546" dirty="0">
                <a:latin typeface="Arial MT"/>
                <a:cs typeface="Arial MT"/>
              </a:rPr>
              <a:t>is </a:t>
            </a:r>
            <a:r>
              <a:rPr sz="1546" spc="6" dirty="0">
                <a:latin typeface="Arial MT"/>
                <a:cs typeface="Arial MT"/>
              </a:rPr>
              <a:t>apparent </a:t>
            </a:r>
            <a:r>
              <a:rPr sz="1546" spc="21" dirty="0">
                <a:latin typeface="Arial MT"/>
                <a:cs typeface="Arial MT"/>
              </a:rPr>
              <a:t>that </a:t>
            </a:r>
            <a:r>
              <a:rPr sz="1546" spc="3" dirty="0">
                <a:latin typeface="Arial MT"/>
                <a:cs typeface="Arial MT"/>
              </a:rPr>
              <a:t>personal </a:t>
            </a:r>
            <a:r>
              <a:rPr sz="1546" dirty="0">
                <a:latin typeface="Arial MT"/>
                <a:cs typeface="Arial MT"/>
              </a:rPr>
              <a:t>rewards </a:t>
            </a:r>
            <a:r>
              <a:rPr sz="1546" spc="18" dirty="0">
                <a:latin typeface="Arial MT"/>
                <a:cs typeface="Arial MT"/>
              </a:rPr>
              <a:t>for </a:t>
            </a:r>
            <a:r>
              <a:rPr sz="1546" spc="21" dirty="0">
                <a:latin typeface="Arial MT"/>
                <a:cs typeface="Arial MT"/>
              </a:rPr>
              <a:t>doing </a:t>
            </a:r>
            <a:r>
              <a:rPr sz="1546" spc="-30" dirty="0">
                <a:latin typeface="Arial MT"/>
                <a:cs typeface="Arial MT"/>
              </a:rPr>
              <a:t>a </a:t>
            </a:r>
            <a:r>
              <a:rPr sz="1546" spc="36" dirty="0">
                <a:latin typeface="Arial MT"/>
                <a:cs typeface="Arial MT"/>
              </a:rPr>
              <a:t>good </a:t>
            </a:r>
            <a:r>
              <a:rPr sz="1546" spc="27" dirty="0">
                <a:latin typeface="Arial MT"/>
                <a:cs typeface="Arial MT"/>
              </a:rPr>
              <a:t>job </a:t>
            </a:r>
            <a:r>
              <a:rPr sz="1546" spc="-30" dirty="0">
                <a:latin typeface="Arial MT"/>
                <a:cs typeface="Arial MT"/>
              </a:rPr>
              <a:t>are </a:t>
            </a:r>
            <a:r>
              <a:rPr sz="1546" dirty="0">
                <a:latin typeface="Arial MT"/>
                <a:cs typeface="Arial MT"/>
              </a:rPr>
              <a:t>given </a:t>
            </a:r>
            <a:r>
              <a:rPr sz="1546" spc="42" dirty="0">
                <a:latin typeface="Arial MT"/>
                <a:cs typeface="Arial MT"/>
              </a:rPr>
              <a:t>to </a:t>
            </a:r>
            <a:r>
              <a:rPr sz="1546" spc="45" dirty="0">
                <a:latin typeface="Arial MT"/>
                <a:cs typeface="Arial MT"/>
              </a:rPr>
              <a:t> </a:t>
            </a:r>
            <a:r>
              <a:rPr sz="1546" spc="15" dirty="0">
                <a:latin typeface="Arial MT"/>
                <a:cs typeface="Arial MT"/>
              </a:rPr>
              <a:t>appropriators </a:t>
            </a:r>
            <a:r>
              <a:rPr sz="1546" spc="27" dirty="0">
                <a:latin typeface="Arial MT"/>
                <a:cs typeface="Arial MT"/>
              </a:rPr>
              <a:t>who </a:t>
            </a:r>
            <a:r>
              <a:rPr sz="1546" dirty="0">
                <a:latin typeface="Arial MT"/>
                <a:cs typeface="Arial MT"/>
              </a:rPr>
              <a:t>monitor.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The </a:t>
            </a:r>
            <a:r>
              <a:rPr sz="1546" b="1" spc="-21" dirty="0">
                <a:solidFill>
                  <a:srgbClr val="EE230C"/>
                </a:solidFill>
                <a:latin typeface="Arial"/>
                <a:cs typeface="Arial"/>
              </a:rPr>
              <a:t>individual </a:t>
            </a:r>
            <a:r>
              <a:rPr sz="1546" b="1" spc="9" dirty="0">
                <a:solidFill>
                  <a:srgbClr val="EE230C"/>
                </a:solidFill>
                <a:latin typeface="Arial"/>
                <a:cs typeface="Arial"/>
              </a:rPr>
              <a:t>who </a:t>
            </a:r>
            <a:r>
              <a:rPr sz="1546" b="1" spc="-18" dirty="0">
                <a:solidFill>
                  <a:srgbClr val="EE230C"/>
                </a:solidFill>
                <a:latin typeface="Arial"/>
                <a:cs typeface="Arial"/>
              </a:rPr>
              <a:t>finds </a:t>
            </a:r>
            <a:r>
              <a:rPr sz="1546" b="1" spc="27" dirty="0">
                <a:solidFill>
                  <a:srgbClr val="EE230C"/>
                </a:solidFill>
                <a:latin typeface="Arial"/>
                <a:cs typeface="Arial"/>
              </a:rPr>
              <a:t>a </a:t>
            </a:r>
            <a:r>
              <a:rPr sz="1546" b="1" spc="9" dirty="0">
                <a:solidFill>
                  <a:srgbClr val="EE230C"/>
                </a:solidFill>
                <a:latin typeface="Arial"/>
                <a:cs typeface="Arial"/>
              </a:rPr>
              <a:t>rule-infractor </a:t>
            </a:r>
            <a:r>
              <a:rPr sz="1546" b="1" spc="-12" dirty="0">
                <a:solidFill>
                  <a:srgbClr val="EE230C"/>
                </a:solidFill>
                <a:latin typeface="Arial"/>
                <a:cs typeface="Arial"/>
              </a:rPr>
              <a:t>gains </a:t>
            </a:r>
            <a:r>
              <a:rPr sz="1546" b="1" spc="-421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status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and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prestige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for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-6" dirty="0">
                <a:solidFill>
                  <a:srgbClr val="EE230C"/>
                </a:solidFill>
                <a:latin typeface="Arial"/>
                <a:cs typeface="Arial"/>
              </a:rPr>
              <a:t>being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27" dirty="0">
                <a:solidFill>
                  <a:srgbClr val="EE230C"/>
                </a:solidFill>
                <a:latin typeface="Arial"/>
                <a:cs typeface="Arial"/>
              </a:rPr>
              <a:t>a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good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9" dirty="0">
                <a:solidFill>
                  <a:srgbClr val="EE230C"/>
                </a:solidFill>
                <a:latin typeface="Arial"/>
                <a:cs typeface="Arial"/>
              </a:rPr>
              <a:t>protector</a:t>
            </a:r>
            <a:r>
              <a:rPr sz="1546" b="1" spc="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of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9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15" dirty="0">
                <a:solidFill>
                  <a:srgbClr val="EE230C"/>
                </a:solidFill>
                <a:latin typeface="Arial"/>
                <a:cs typeface="Arial"/>
              </a:rPr>
              <a:t>commons.</a:t>
            </a:r>
            <a:r>
              <a:rPr sz="1546" spc="15" dirty="0">
                <a:latin typeface="Arial MT"/>
                <a:cs typeface="Arial MT"/>
              </a:rPr>
              <a:t>"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-18" dirty="0">
                <a:latin typeface="Arial MT"/>
                <a:cs typeface="Arial MT"/>
              </a:rPr>
              <a:t>(p.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96)</a:t>
            </a:r>
            <a:endParaRPr sz="1546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6808" y="4969129"/>
            <a:ext cx="6975445" cy="1210864"/>
          </a:xfrm>
          <a:prstGeom prst="rect">
            <a:avLst/>
          </a:prstGeom>
        </p:spPr>
        <p:txBody>
          <a:bodyPr vert="horz" wrap="square" lIns="0" tIns="1925" rIns="0" bIns="0" rtlCol="0">
            <a:spAutoFit/>
          </a:bodyPr>
          <a:lstStyle/>
          <a:p>
            <a:pPr marL="7316" marR="3081" algn="ctr">
              <a:lnSpc>
                <a:spcPct val="102600"/>
              </a:lnSpc>
              <a:spcBef>
                <a:spcPts val="15"/>
              </a:spcBef>
            </a:pPr>
            <a:r>
              <a:rPr sz="1546" spc="55" dirty="0">
                <a:latin typeface="Arial MT"/>
                <a:cs typeface="Arial MT"/>
              </a:rPr>
              <a:t>"</a:t>
            </a:r>
            <a:r>
              <a:rPr sz="1546" b="1" spc="55" dirty="0">
                <a:solidFill>
                  <a:srgbClr val="EE230C"/>
                </a:solidFill>
                <a:latin typeface="Arial"/>
                <a:cs typeface="Arial"/>
              </a:rPr>
              <a:t>It </a:t>
            </a:r>
            <a:r>
              <a:rPr sz="1546" b="1" spc="-30" dirty="0">
                <a:solidFill>
                  <a:srgbClr val="EE230C"/>
                </a:solidFill>
                <a:latin typeface="Arial"/>
                <a:cs typeface="Arial"/>
              </a:rPr>
              <a:t>is </a:t>
            </a:r>
            <a:r>
              <a:rPr sz="1546" b="1" spc="6" dirty="0">
                <a:solidFill>
                  <a:srgbClr val="EE230C"/>
                </a:solidFill>
                <a:latin typeface="Arial"/>
                <a:cs typeface="Arial"/>
              </a:rPr>
              <a:t>important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for </a:t>
            </a:r>
            <a:r>
              <a:rPr sz="1546" b="1" spc="-21" dirty="0">
                <a:solidFill>
                  <a:srgbClr val="EE230C"/>
                </a:solidFill>
                <a:latin typeface="Arial"/>
                <a:cs typeface="Arial"/>
              </a:rPr>
              <a:t>individuals </a:t>
            </a:r>
            <a:r>
              <a:rPr sz="1546" b="1" spc="15" dirty="0">
                <a:solidFill>
                  <a:srgbClr val="EE230C"/>
                </a:solidFill>
                <a:latin typeface="Arial"/>
                <a:cs typeface="Arial"/>
              </a:rPr>
              <a:t>to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maintain their reputation as </a:t>
            </a:r>
            <a:r>
              <a:rPr sz="1546" b="1" spc="-6" dirty="0">
                <a:solidFill>
                  <a:srgbClr val="EE230C"/>
                </a:solidFill>
                <a:latin typeface="Arial"/>
                <a:cs typeface="Arial"/>
              </a:rPr>
              <a:t>reliable </a:t>
            </a:r>
            <a:r>
              <a:rPr sz="1546" b="1" spc="-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12" dirty="0">
                <a:solidFill>
                  <a:srgbClr val="EE230C"/>
                </a:solidFill>
                <a:latin typeface="Arial"/>
                <a:cs typeface="Arial"/>
              </a:rPr>
              <a:t>members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dirty="0">
                <a:solidFill>
                  <a:srgbClr val="EE230C"/>
                </a:solidFill>
                <a:latin typeface="Arial"/>
                <a:cs typeface="Arial"/>
              </a:rPr>
              <a:t>of</a:t>
            </a:r>
            <a:r>
              <a:rPr sz="1546" b="1" spc="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9" dirty="0">
                <a:solidFill>
                  <a:srgbClr val="EE230C"/>
                </a:solidFill>
                <a:latin typeface="Arial"/>
                <a:cs typeface="Arial"/>
              </a:rPr>
              <a:t>the</a:t>
            </a:r>
            <a:r>
              <a:rPr sz="1546" b="1" spc="3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b="1" spc="-15" dirty="0">
                <a:solidFill>
                  <a:srgbClr val="EE230C"/>
                </a:solidFill>
                <a:latin typeface="Arial"/>
                <a:cs typeface="Arial"/>
              </a:rPr>
              <a:t>community.</a:t>
            </a:r>
            <a:r>
              <a:rPr sz="1546" b="1" spc="6" dirty="0">
                <a:solidFill>
                  <a:srgbClr val="EE230C"/>
                </a:solidFill>
                <a:latin typeface="Arial"/>
                <a:cs typeface="Arial"/>
              </a:rPr>
              <a:t> </a:t>
            </a:r>
            <a:r>
              <a:rPr sz="1546" spc="-24" dirty="0">
                <a:latin typeface="Arial MT"/>
                <a:cs typeface="Arial MT"/>
              </a:rPr>
              <a:t>These</a:t>
            </a:r>
            <a:r>
              <a:rPr sz="1546" spc="6" dirty="0">
                <a:latin typeface="Arial MT"/>
                <a:cs typeface="Arial MT"/>
              </a:rPr>
              <a:t> individuals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-9" dirty="0">
                <a:latin typeface="Arial MT"/>
                <a:cs typeface="Arial MT"/>
              </a:rPr>
              <a:t>live</a:t>
            </a:r>
            <a:r>
              <a:rPr sz="1546" spc="6" dirty="0">
                <a:latin typeface="Arial MT"/>
                <a:cs typeface="Arial MT"/>
              </a:rPr>
              <a:t> side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30" dirty="0">
                <a:latin typeface="Arial MT"/>
                <a:cs typeface="Arial MT"/>
              </a:rPr>
              <a:t>by</a:t>
            </a:r>
            <a:r>
              <a:rPr sz="1546" spc="6" dirty="0">
                <a:latin typeface="Arial MT"/>
                <a:cs typeface="Arial MT"/>
              </a:rPr>
              <a:t> side </a:t>
            </a:r>
            <a:r>
              <a:rPr sz="1546" spc="9" dirty="0">
                <a:latin typeface="Arial MT"/>
                <a:cs typeface="Arial MT"/>
              </a:rPr>
              <a:t>and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farm</a:t>
            </a:r>
            <a:r>
              <a:rPr sz="1546" spc="6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the </a:t>
            </a:r>
            <a:r>
              <a:rPr sz="1546" spc="12" dirty="0">
                <a:latin typeface="Arial MT"/>
                <a:cs typeface="Arial MT"/>
              </a:rPr>
              <a:t> </a:t>
            </a:r>
            <a:r>
              <a:rPr sz="1546" spc="-6" dirty="0">
                <a:latin typeface="Arial MT"/>
                <a:cs typeface="Arial MT"/>
              </a:rPr>
              <a:t>same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27" dirty="0">
                <a:latin typeface="Arial MT"/>
                <a:cs typeface="Arial MT"/>
              </a:rPr>
              <a:t>plots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-15" dirty="0">
                <a:latin typeface="Arial MT"/>
                <a:cs typeface="Arial MT"/>
              </a:rPr>
              <a:t>year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6" dirty="0">
                <a:latin typeface="Arial MT"/>
                <a:cs typeface="Arial MT"/>
              </a:rPr>
              <a:t>after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year.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-21" dirty="0">
                <a:latin typeface="Arial MT"/>
                <a:cs typeface="Arial MT"/>
              </a:rPr>
              <a:t>They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24" dirty="0">
                <a:latin typeface="Arial MT"/>
                <a:cs typeface="Arial MT"/>
              </a:rPr>
              <a:t>expect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6" dirty="0">
                <a:latin typeface="Arial MT"/>
                <a:cs typeface="Arial MT"/>
              </a:rPr>
              <a:t>their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6" dirty="0">
                <a:latin typeface="Arial MT"/>
                <a:cs typeface="Arial MT"/>
              </a:rPr>
              <a:t>children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and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6" dirty="0">
                <a:latin typeface="Arial MT"/>
                <a:cs typeface="Arial MT"/>
              </a:rPr>
              <a:t>their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grandchildren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42" dirty="0">
                <a:latin typeface="Arial MT"/>
                <a:cs typeface="Arial MT"/>
              </a:rPr>
              <a:t>to </a:t>
            </a:r>
            <a:r>
              <a:rPr sz="1546" spc="-418" dirty="0">
                <a:latin typeface="Arial MT"/>
                <a:cs typeface="Arial MT"/>
              </a:rPr>
              <a:t> </a:t>
            </a:r>
            <a:r>
              <a:rPr sz="1546" spc="3" dirty="0">
                <a:latin typeface="Arial MT"/>
                <a:cs typeface="Arial MT"/>
              </a:rPr>
              <a:t>inherit </a:t>
            </a:r>
            <a:r>
              <a:rPr sz="1546" spc="6" dirty="0">
                <a:latin typeface="Arial MT"/>
                <a:cs typeface="Arial MT"/>
              </a:rPr>
              <a:t>their land. </a:t>
            </a:r>
            <a:r>
              <a:rPr sz="1546" spc="-45" dirty="0">
                <a:latin typeface="Arial MT"/>
                <a:cs typeface="Arial MT"/>
              </a:rPr>
              <a:t>(...) </a:t>
            </a:r>
            <a:r>
              <a:rPr sz="1546" dirty="0">
                <a:latin typeface="Arial MT"/>
                <a:cs typeface="Arial MT"/>
              </a:rPr>
              <a:t>If </a:t>
            </a:r>
            <a:r>
              <a:rPr sz="1546" spc="24" dirty="0">
                <a:latin typeface="Arial MT"/>
                <a:cs typeface="Arial MT"/>
              </a:rPr>
              <a:t>costly </a:t>
            </a:r>
            <a:r>
              <a:rPr sz="1546" spc="9" dirty="0">
                <a:latin typeface="Arial MT"/>
                <a:cs typeface="Arial MT"/>
              </a:rPr>
              <a:t>investment </a:t>
            </a:r>
            <a:r>
              <a:rPr sz="1546" dirty="0">
                <a:latin typeface="Arial MT"/>
                <a:cs typeface="Arial MT"/>
              </a:rPr>
              <a:t>in </a:t>
            </a:r>
            <a:r>
              <a:rPr sz="1546" spc="9" dirty="0">
                <a:latin typeface="Arial MT"/>
                <a:cs typeface="Arial MT"/>
              </a:rPr>
              <a:t>provision </a:t>
            </a:r>
            <a:r>
              <a:rPr sz="1546" spc="-30" dirty="0">
                <a:latin typeface="Arial MT"/>
                <a:cs typeface="Arial MT"/>
              </a:rPr>
              <a:t>are </a:t>
            </a:r>
            <a:r>
              <a:rPr sz="1546" spc="9" dirty="0">
                <a:latin typeface="Arial MT"/>
                <a:cs typeface="Arial MT"/>
              </a:rPr>
              <a:t>made </a:t>
            </a:r>
            <a:r>
              <a:rPr sz="1546" spc="15" dirty="0">
                <a:latin typeface="Arial MT"/>
                <a:cs typeface="Arial MT"/>
              </a:rPr>
              <a:t>at </a:t>
            </a:r>
            <a:r>
              <a:rPr sz="1546" dirty="0">
                <a:latin typeface="Arial MT"/>
                <a:cs typeface="Arial MT"/>
              </a:rPr>
              <a:t>one </a:t>
            </a:r>
            <a:r>
              <a:rPr sz="1546" spc="27" dirty="0">
                <a:latin typeface="Arial MT"/>
                <a:cs typeface="Arial MT"/>
              </a:rPr>
              <a:t>point </a:t>
            </a:r>
            <a:r>
              <a:rPr sz="1546" dirty="0">
                <a:latin typeface="Arial MT"/>
                <a:cs typeface="Arial MT"/>
              </a:rPr>
              <a:t>in 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12" dirty="0">
                <a:latin typeface="Arial MT"/>
                <a:cs typeface="Arial MT"/>
              </a:rPr>
              <a:t>time,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the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15" dirty="0">
                <a:latin typeface="Arial MT"/>
                <a:cs typeface="Arial MT"/>
              </a:rPr>
              <a:t>proprietors—or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6" dirty="0">
                <a:latin typeface="Arial MT"/>
                <a:cs typeface="Arial MT"/>
              </a:rPr>
              <a:t>their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-6" dirty="0">
                <a:latin typeface="Arial MT"/>
                <a:cs typeface="Arial MT"/>
              </a:rPr>
              <a:t>families—are</a:t>
            </a:r>
            <a:r>
              <a:rPr sz="1546" dirty="0">
                <a:latin typeface="Arial MT"/>
                <a:cs typeface="Arial MT"/>
              </a:rPr>
              <a:t> likely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42" dirty="0">
                <a:latin typeface="Arial MT"/>
                <a:cs typeface="Arial MT"/>
              </a:rPr>
              <a:t>to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-9" dirty="0">
                <a:latin typeface="Arial MT"/>
                <a:cs typeface="Arial MT"/>
              </a:rPr>
              <a:t>reap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9" dirty="0">
                <a:latin typeface="Arial MT"/>
                <a:cs typeface="Arial MT"/>
              </a:rPr>
              <a:t>the</a:t>
            </a:r>
            <a:r>
              <a:rPr sz="1546" spc="3" dirty="0">
                <a:latin typeface="Arial MT"/>
                <a:cs typeface="Arial MT"/>
              </a:rPr>
              <a:t> </a:t>
            </a:r>
            <a:r>
              <a:rPr sz="1546" spc="21" dirty="0">
                <a:latin typeface="Arial MT"/>
                <a:cs typeface="Arial MT"/>
              </a:rPr>
              <a:t>benefits"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-18" dirty="0">
                <a:latin typeface="Arial MT"/>
                <a:cs typeface="Arial MT"/>
              </a:rPr>
              <a:t>(p.</a:t>
            </a:r>
            <a:r>
              <a:rPr sz="1546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88)</a:t>
            </a:r>
            <a:endParaRPr sz="1546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7701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53" y="1744592"/>
            <a:ext cx="7643049" cy="5496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7701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13" y="1745287"/>
            <a:ext cx="7639446" cy="11858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80" y="1745223"/>
            <a:ext cx="7645442" cy="18171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55" y="1745043"/>
            <a:ext cx="7643228" cy="2444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67" y="1745072"/>
            <a:ext cx="7644362" cy="27610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19" y="1745067"/>
            <a:ext cx="7640085" cy="33604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76" y="1745077"/>
            <a:ext cx="7645066" cy="40313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53" y="1745161"/>
            <a:ext cx="7643049" cy="46663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987" y="1717504"/>
            <a:ext cx="2705817" cy="3742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0900" y="6087637"/>
            <a:ext cx="1263012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546" spc="9" dirty="0">
                <a:latin typeface="Arial MT"/>
                <a:cs typeface="Arial MT"/>
              </a:rPr>
              <a:t>Ostrom</a:t>
            </a:r>
            <a:r>
              <a:rPr sz="1546" spc="-27" dirty="0">
                <a:latin typeface="Arial MT"/>
                <a:cs typeface="Arial MT"/>
              </a:rPr>
              <a:t> </a:t>
            </a:r>
            <a:r>
              <a:rPr sz="1546" spc="-39" dirty="0">
                <a:latin typeface="Arial MT"/>
                <a:cs typeface="Arial MT"/>
              </a:rPr>
              <a:t>(1990)</a:t>
            </a:r>
            <a:endParaRPr sz="1546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713" y="-1408302"/>
            <a:ext cx="6376669" cy="4063252"/>
          </a:xfrm>
          <a:prstGeom prst="rect">
            <a:avLst/>
          </a:prstGeom>
        </p:spPr>
        <p:txBody>
          <a:bodyPr vert="horz" wrap="square" lIns="0" tIns="2310" rIns="0" bIns="0" rtlCol="0" anchor="ctr">
            <a:spAutoFit/>
          </a:bodyPr>
          <a:lstStyle/>
          <a:p>
            <a:pPr marL="54679" marR="3081">
              <a:lnSpc>
                <a:spcPct val="100899"/>
              </a:lnSpc>
              <a:spcBef>
                <a:spcPts val="18"/>
              </a:spcBef>
            </a:pPr>
            <a:r>
              <a:rPr spc="-6" dirty="0"/>
              <a:t>Design-principles</a:t>
            </a:r>
            <a:r>
              <a:rPr spc="6" dirty="0"/>
              <a:t> </a:t>
            </a:r>
            <a:r>
              <a:rPr spc="-3" dirty="0"/>
              <a:t>for</a:t>
            </a:r>
            <a:r>
              <a:rPr spc="9" dirty="0"/>
              <a:t> </a:t>
            </a:r>
            <a:r>
              <a:rPr spc="-30" dirty="0"/>
              <a:t>institutions</a:t>
            </a:r>
            <a:r>
              <a:rPr spc="9" dirty="0"/>
              <a:t> </a:t>
            </a:r>
            <a:r>
              <a:rPr spc="-6" dirty="0"/>
              <a:t>managing</a:t>
            </a:r>
            <a:r>
              <a:rPr spc="9" dirty="0"/>
              <a:t> </a:t>
            </a:r>
            <a:r>
              <a:rPr u="heavy" spc="21" dirty="0">
                <a:uFill>
                  <a:solidFill>
                    <a:srgbClr val="000000"/>
                  </a:solidFill>
                </a:uFill>
              </a:rPr>
              <a:t>common-pool </a:t>
            </a:r>
            <a:r>
              <a:rPr spc="-910" dirty="0"/>
              <a:t> </a:t>
            </a:r>
            <a:r>
              <a:rPr u="heavy" spc="-18" dirty="0">
                <a:uFill>
                  <a:solidFill>
                    <a:srgbClr val="000000"/>
                  </a:solidFill>
                </a:uFill>
              </a:rPr>
              <a:t>resources</a:t>
            </a:r>
            <a:r>
              <a:rPr spc="-3" dirty="0"/>
              <a:t> </a:t>
            </a:r>
            <a:r>
              <a:rPr spc="-55" dirty="0">
                <a:latin typeface="Arial MT"/>
                <a:cs typeface="Arial MT"/>
              </a:rPr>
              <a:t>(i.e.,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8" dirty="0">
                <a:latin typeface="Arial MT"/>
                <a:cs typeface="Arial MT"/>
              </a:rPr>
              <a:t>common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goods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27" dirty="0">
                <a:latin typeface="Arial MT"/>
                <a:cs typeface="Arial MT"/>
              </a:rPr>
              <a:t>such</a:t>
            </a:r>
            <a:r>
              <a:rPr spc="-3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as</a:t>
            </a:r>
            <a:r>
              <a:rPr spc="-3" dirty="0">
                <a:latin typeface="Arial MT"/>
                <a:cs typeface="Arial MT"/>
              </a:rPr>
              <a:t> natural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spc="-36" dirty="0">
                <a:latin typeface="Arial MT"/>
                <a:cs typeface="Arial MT"/>
              </a:rPr>
              <a:t>resources)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D40B269-A55B-F24C-F269-071F739C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663" y="-133505"/>
            <a:ext cx="6018909" cy="47222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8888F97-4E74-92CA-6968-665F61C80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189" y="4495299"/>
            <a:ext cx="5770998" cy="236270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6BC083-8E5B-B788-C1DD-F6B4FC35A7C3}"/>
              </a:ext>
            </a:extLst>
          </p:cNvPr>
          <p:cNvSpPr txBox="1"/>
          <p:nvPr/>
        </p:nvSpPr>
        <p:spPr>
          <a:xfrm>
            <a:off x="689693" y="6524919"/>
            <a:ext cx="6094802" cy="26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92" dirty="0" err="1">
                <a:solidFill>
                  <a:srgbClr val="222222"/>
                </a:solidFill>
                <a:latin typeface="Arial" panose="020B0604020202020204" pitchFamily="34" charset="0"/>
              </a:rPr>
              <a:t>Glowacki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 L. (2024). The evolution of peace. </a:t>
            </a:r>
            <a:r>
              <a:rPr lang="en-US" sz="1092" i="1" dirty="0">
                <a:solidFill>
                  <a:srgbClr val="222222"/>
                </a:solidFill>
                <a:latin typeface="Arial" panose="020B0604020202020204" pitchFamily="34" charset="0"/>
              </a:rPr>
              <a:t>Behavioral and brain sciences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1092" i="1" dirty="0">
                <a:solidFill>
                  <a:srgbClr val="222222"/>
                </a:solidFill>
                <a:latin typeface="Arial" panose="020B0604020202020204" pitchFamily="34" charset="0"/>
              </a:rPr>
              <a:t>47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 e1.</a:t>
            </a:r>
            <a:endParaRPr lang="fr-FR" sz="1092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127432-B07F-64A5-6D47-7D5DA2E47301}"/>
              </a:ext>
            </a:extLst>
          </p:cNvPr>
          <p:cNvSpPr txBox="1"/>
          <p:nvPr/>
        </p:nvSpPr>
        <p:spPr>
          <a:xfrm>
            <a:off x="114480" y="3312135"/>
            <a:ext cx="6094951" cy="428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92" dirty="0" err="1">
                <a:solidFill>
                  <a:srgbClr val="222222"/>
                </a:solidFill>
                <a:latin typeface="Arial" panose="020B0604020202020204" pitchFamily="34" charset="0"/>
              </a:rPr>
              <a:t>Lienard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 P. (2014). Beyond kin: cooperation in a tribal society. </a:t>
            </a:r>
            <a:r>
              <a:rPr lang="en-US" sz="1092" i="1" dirty="0">
                <a:solidFill>
                  <a:srgbClr val="222222"/>
                </a:solidFill>
                <a:latin typeface="Arial" panose="020B0604020202020204" pitchFamily="34" charset="0"/>
              </a:rPr>
              <a:t>Reward and punishment in social dilemmas</a:t>
            </a:r>
            <a:r>
              <a:rPr lang="en-US" sz="1092" dirty="0">
                <a:solidFill>
                  <a:srgbClr val="222222"/>
                </a:solidFill>
                <a:latin typeface="Arial" panose="020B0604020202020204" pitchFamily="34" charset="0"/>
              </a:rPr>
              <a:t>, 214-234.</a:t>
            </a:r>
            <a:endParaRPr lang="fr-FR" sz="1092" dirty="0"/>
          </a:p>
        </p:txBody>
      </p:sp>
      <p:pic>
        <p:nvPicPr>
          <p:cNvPr id="11266" name="Picture 2" descr="AFRICA | 101 Last Tribes - Turkana people">
            <a:extLst>
              <a:ext uri="{FF2B5EF4-FFF2-40B4-BE49-F238E27FC236}">
                <a16:creationId xmlns:a16="http://schemas.microsoft.com/office/drawing/2014/main" id="{287E937A-F878-11D9-B623-79CF0879E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0" y="333081"/>
            <a:ext cx="3766535" cy="250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5E0AB2B-D7D9-778C-8EB0-ED226A72198C}"/>
              </a:ext>
            </a:extLst>
          </p:cNvPr>
          <p:cNvSpPr txBox="1"/>
          <p:nvPr/>
        </p:nvSpPr>
        <p:spPr>
          <a:xfrm>
            <a:off x="151249" y="2987412"/>
            <a:ext cx="6094951" cy="26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92" b="1" dirty="0">
                <a:solidFill>
                  <a:srgbClr val="222222"/>
                </a:solidFill>
                <a:latin typeface="Arial" panose="020B0604020202020204" pitchFamily="34" charset="0"/>
              </a:rPr>
              <a:t>Age set systems in East African pastoralists</a:t>
            </a:r>
            <a:endParaRPr lang="fr-FR" sz="1092" b="1" dirty="0"/>
          </a:p>
        </p:txBody>
      </p:sp>
    </p:spTree>
    <p:extLst>
      <p:ext uri="{BB962C8B-B14F-4D97-AF65-F5344CB8AC3E}">
        <p14:creationId xmlns:p14="http://schemas.microsoft.com/office/powerpoint/2010/main" val="370519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EE5E-E081-E12B-A122-96354866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4E0DD2-3BD9-44B3-E60E-889DEE13C34A}"/>
              </a:ext>
            </a:extLst>
          </p:cNvPr>
          <p:cNvSpPr/>
          <p:nvPr/>
        </p:nvSpPr>
        <p:spPr>
          <a:xfrm>
            <a:off x="0" y="0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Option 3: Saving RCT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from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itself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. The case of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behavioral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econ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803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2904</Words>
  <Application>Microsoft Office PowerPoint</Application>
  <PresentationFormat>Widescreen</PresentationFormat>
  <Paragraphs>222</Paragraphs>
  <Slides>53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7" baseType="lpstr">
      <vt:lpstr>MS UI Gothic</vt:lpstr>
      <vt:lpstr>Aptos</vt:lpstr>
      <vt:lpstr>Aptos Display</vt:lpstr>
      <vt:lpstr>Arial</vt:lpstr>
      <vt:lpstr>Arial MT</vt:lpstr>
      <vt:lpstr>Avenir Next LT Pro</vt:lpstr>
      <vt:lpstr>Calibri</vt:lpstr>
      <vt:lpstr>Garamond</vt:lpstr>
      <vt:lpstr>Microsoft Sans Serif</vt:lpstr>
      <vt:lpstr>Symbol</vt:lpstr>
      <vt:lpstr>Times New Roman</vt:lpstr>
      <vt:lpstr>Verdana</vt:lpstr>
      <vt:lpstr>Wingdings</vt:lpstr>
      <vt:lpstr>Office Theme</vt:lpstr>
      <vt:lpstr>PowerPoint Presentation</vt:lpstr>
      <vt:lpstr>A typical individualist or (“agentic”) paradigm: Rational Choice Theory</vt:lpstr>
      <vt:lpstr>Rational Choice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problem so far</vt:lpstr>
      <vt:lpstr>The problem so far</vt:lpstr>
      <vt:lpstr>The problem so far</vt:lpstr>
      <vt:lpstr>Problem 1: Non-excludable goods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problem so far</vt:lpstr>
      <vt:lpstr>This is when institutions come into play!</vt:lpstr>
      <vt:lpstr>Outline</vt:lpstr>
      <vt:lpstr>What are institutions?</vt:lpstr>
      <vt:lpstr>What does it mean to "change the rules of  the game"?</vt:lpstr>
      <vt:lpstr>PowerPoint Presentation</vt:lpstr>
      <vt:lpstr>PowerPoint Presentation</vt:lpstr>
      <vt:lpstr>PowerPoint Presentation</vt:lpstr>
      <vt:lpstr>The most important person in RCT critique</vt:lpstr>
      <vt:lpstr>Before Ostrom…</vt:lpstr>
      <vt:lpstr>The « Leviathan »</vt:lpstr>
      <vt:lpstr>PowerPoint Presentation</vt:lpstr>
      <vt:lpstr>Private property</vt:lpstr>
      <vt:lpstr>Ostrom’s critique</vt:lpstr>
      <vt:lpstr>Ostrom and Rational Choice Theory</vt:lpstr>
      <vt:lpstr>How can we change the rules of the  game?</vt:lpstr>
      <vt:lpstr>But enforcement is… a public good</vt:lpstr>
      <vt:lpstr>The second-order free-rider problem</vt:lpstr>
      <vt:lpstr>The second-order free-rider problem</vt:lpstr>
      <vt:lpstr>PowerPoint Presentation</vt:lpstr>
      <vt:lpstr>PowerPoint Presentation</vt:lpstr>
      <vt:lpstr>Self-interest, reciprocity, and reputation  solve the second-order free-rider problem</vt:lpstr>
      <vt:lpstr>Self-interest, reciprocity, and reputation  solve the second-order free-rider problem</vt:lpstr>
      <vt:lpstr>Self-interest, reciprocity, and reputation  solve the second-order free-rider problem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Design-principles for institutions managing common-pool  resources (i.e., common goods such as natural resources)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SIJILMASSI</dc:creator>
  <cp:lastModifiedBy>Amine SIJILMASSI</cp:lastModifiedBy>
  <cp:revision>11</cp:revision>
  <dcterms:created xsi:type="dcterms:W3CDTF">2026-09-29T23:14:54Z</dcterms:created>
  <dcterms:modified xsi:type="dcterms:W3CDTF">2026-10-07T08:48:16Z</dcterms:modified>
</cp:coreProperties>
</file>